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.jpeg" ContentType="image/jpeg"/>
  <Override PartName="/ppt/notesSlides/notesSlide2.xml" ContentType="application/vnd.openxmlformats-officedocument.presentationml.notesSlide+xml"/>
  <Override PartName="/ppt/media/image2.jpeg" ContentType="image/jpeg"/>
  <Override PartName="/ppt/media/image3.jpe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Shape 1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Hello everyone, I am Rolle from Dude.</a:t>
            </a:r>
          </a:p>
          <a:p>
            <a:pPr/>
            <a:r>
              <a:t>This talk is about replacing ACF with core WordPress.</a:t>
            </a:r>
          </a:p>
          <a:p>
            <a:pPr/>
            <a:r>
              <a:t>We used ACF for ten years, and only recently moved on to core blocks.</a:t>
            </a:r>
          </a:p>
          <a:p>
            <a:pPr/>
            <a:r>
              <a:t>I will share what we learned on the way.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Shape 1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Most of you already know me, so I keep this short.</a:t>
            </a:r>
          </a:p>
          <a:p>
            <a:pPr/>
            <a:r>
              <a:t>I am the founder and CTO of Dude, and I have built WordPress sites since 2005.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6" name="Shape 2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Nobody gets shamed today for using ACF or plugins.</a:t>
            </a:r>
          </a:p>
          <a:p>
            <a:pPr/>
            <a:r>
              <a:t>We used ACF for more than ten years, and it built a lot of good sites.</a:t>
            </a:r>
          </a:p>
          <a:p>
            <a:pPr/>
            <a:r>
              <a:t>ACF solved a real problem back when core could not.</a:t>
            </a:r>
          </a:p>
          <a:p>
            <a:pPr/>
            <a:r>
              <a:t>Core can do much more today, and this talk is about that.</a:t>
            </a:r>
          </a:p>
          <a:p>
            <a:pPr/>
            <a:r>
              <a:t>Nobody here is going to ask who the hell still uses ACF. Not today.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4" name="Shape 2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Ask for hands up on each option.</a:t>
            </a:r>
          </a:p>
          <a:p>
            <a:pPr/>
            <a:r>
              <a:t>Get the room to answer before I say anything about going ACF-free.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4" name="Shape 2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Hands up for option 1: ACF on every site, for everything.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6" name="Shape 2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Hands up for option 2: ACF for some things, core blocks for the rest.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0" name="Shape 2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Hands up for option 3: ACF is legacy, and you have moved on to native or core blocks.</a:t>
            </a:r>
          </a:p>
          <a:p>
            <a:pPr/>
            <a:r>
              <a:t>Say the split out loud. It shows how much of this talk is new to the room.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9" name="Shape 2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could talk for hours about dependencies, so we start with a definition.</a:t>
            </a:r>
          </a:p>
          <a:p>
            <a:pPr/>
            <a:r>
              <a:t>WordPress itself is a dependency too.</a:t>
            </a:r>
          </a:p>
          <a:p>
            <a:pPr/>
            <a:r>
              <a:t>A site depends on the host, Linux, the web server, PHP, the database, WordPress, the theme, the plugins and outside services like DNS and email.</a:t>
            </a:r>
          </a:p>
          <a:p>
            <a:pPr/>
            <a:r>
              <a:t>A site always has dependencies, so the goal is to choose them on purpose.</a:t>
            </a:r>
          </a:p>
          <a:p>
            <a:pPr/>
            <a:r>
              <a:t>A good dependency has an open licence, can be replaced, keeps your data in a standard format and outlives the site.</a:t>
            </a:r>
          </a:p>
          <a:p>
            <a:pPr/>
            <a:r>
              <a:t>WordPress core passes all four: GPL, over 20 years old, thousands of contributors and plain database tables.</a:t>
            </a:r>
          </a:p>
          <a:p>
            <a:pPr/>
            <a:r>
              <a:t>A plugin owning your content format does worse on every check. ACF is that kind of plugin.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7" name="Shape 2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First a short look back.</a:t>
            </a:r>
          </a:p>
          <a:p>
            <a:pPr/>
            <a:r>
              <a:t>Fields come first, then dependencies, then Gutenberg.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8" name="Shape 3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Custom fields have been in core since WordPress 1.2 in 2004. I started with WordPress in 2005.</a:t>
            </a:r>
          </a:p>
          <a:p>
            <a:pPr/>
            <a:r>
              <a:t>2010: WordPress 3.0 brings custom post types.</a:t>
            </a:r>
          </a:p>
          <a:p>
            <a:pPr/>
            <a:r>
              <a:t>2011: ACF gets its first commit.</a:t>
            </a:r>
          </a:p>
          <a:p>
            <a:pPr/>
            <a:r>
              <a:t>2014: our starter stack dudestack required ACF from its first commit.</a:t>
            </a:r>
          </a:p>
          <a:p>
            <a:pPr/>
            <a:r>
              <a:t>2018: WordPress 5.0 ships Gutenberg, built on React.</a:t>
            </a:r>
          </a:p>
          <a:p>
            <a:pPr/>
            <a:r>
              <a:t>2019: ACF Blocks put fields inside blocks.</a:t>
            </a:r>
          </a:p>
          <a:p>
            <a:pPr/>
            <a:r>
              <a:t>2021: WordPress 5.8 brings theme.json and block.json.</a:t>
            </a:r>
          </a:p>
          <a:p>
            <a:pPr/>
            <a:r>
              <a:t>2022: WP Engine buys ACF.</a:t>
            </a:r>
          </a:p>
          <a:p>
            <a:pPr/>
            <a:r>
              <a:t>2024: Block Bindings arrive in 6.5, and ACF is forked as Secure Custom Fields.</a:t>
            </a:r>
          </a:p>
          <a:p>
            <a:pPr/>
            <a:r>
              <a:t>2025: WordPress 6.9 gives bindings a real UI, and we build our first native blocks at Dude.</a:t>
            </a:r>
          </a:p>
          <a:p>
            <a:pPr/>
            <a:r>
              <a:t>2026: WordPress 7.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0" name="Shape 3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ACF means Advanced Custom Fields. Drop the word Advanced and you get plain custom fields.</a:t>
            </a:r>
          </a:p>
          <a:p>
            <a:pPr/>
            <a:r>
              <a:t>Core has had custom fields since 2004.</a:t>
            </a:r>
          </a:p>
          <a:p>
            <a:pPr/>
            <a:r>
              <a:t>A field is a named value on a post: a key and a value in wp_postmeta.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0" name="Shape 3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a bit of a joke, but it is real history.</a:t>
            </a:r>
          </a:p>
          <a:p>
            <a:pPr/>
            <a:r>
              <a:t>We used to build sites with meta fields only, back when WordPress was a blogging tool.</a:t>
            </a:r>
          </a:p>
          <a:p>
            <a:pPr/>
            <a:r>
              <a:t>Meta fields work fine for a developer. It feels like knifing the database.</a:t>
            </a:r>
          </a:p>
          <a:p>
            <a:pPr/>
            <a:r>
              <a:t>A client needs a real system to update content easily.</a:t>
            </a:r>
          </a:p>
          <a:p>
            <a:pPr/>
            <a:r>
              <a:t>If asked: the box only ever did text. wp_postmeta stores every value as a string, with no type column.</a:t>
            </a:r>
          </a:p>
          <a:p>
            <a:pPr/>
            <a:r>
              <a:t>If asked: featured images arrived in WordPress 2.9 in 2009 and took over the main job of the box. That explains the best before 2009 stamp.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5" name="Shape 3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fun aside. I do not recommend this box for client sites.</a:t>
            </a:r>
          </a:p>
          <a:p>
            <a:pPr/>
            <a:r>
              <a:t>To turn it on: Options, Preferences, General, Advanced, Custom fields. The editor reloads.</a:t>
            </a:r>
          </a:p>
          <a:p>
            <a:pPr/>
            <a:r>
              <a:t>ACF hides the box by default. The ACF filter on the slide brings it back.</a:t>
            </a:r>
          </a:p>
          <a:p>
            <a:pPr/>
            <a:r>
              <a:t>ACF hides it because the box runs a slow query over the whole wp_postmeta table.</a:t>
            </a:r>
          </a:p>
          <a:p>
            <a:pPr/>
            <a:r>
              <a:t>The box only does text. Keys are typed by hand, so Photo credit and photo_credit become two different fields.</a:t>
            </a:r>
          </a:p>
          <a:p>
            <a:pPr/>
            <a:r>
              <a:t>Today register_post_meta() and Block Bindings do the job properly.</a:t>
            </a:r>
          </a:p>
          <a:p>
            <a:pPr/>
            <a:r>
              <a:t>The 100% dependency-free stamp is true. No plugin is involved.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3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6" name="Shape 3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ACF got its first commit on 28.3.2011.</a:t>
            </a:r>
          </a:p>
          <a:p>
            <a:pPr/>
            <a:r>
              <a:t>ACF made custom fields usable with field types, a real UI and repeaters.</a:t>
            </a:r>
          </a:p>
          <a:p>
            <a:pPr/>
            <a:r>
              <a:t>Everything ACF adds is still a field in wp_postmeta, printed by a template.</a:t>
            </a:r>
          </a:p>
          <a:p>
            <a:pPr/>
            <a:r>
              <a:t>Blocks changed the unit of content from a field to a block. This talk is about that change.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3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1" name="Shape 3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have always liked the core way of WordPress. air-light started from Automattic's Underscores in 2016.</a:t>
            </a:r>
          </a:p>
          <a:p>
            <a:pPr/>
            <a:r>
              <a:t>We felt we did things the core way, but we still used ACF. With ACF it is not the core way.</a:t>
            </a:r>
          </a:p>
          <a:p>
            <a:pPr/>
            <a:r>
              <a:t>You do not want to be a purist. You want something fast to build that works for years.</a:t>
            </a:r>
          </a:p>
          <a:p>
            <a:pPr/>
            <a:r>
              <a:t>ACF was that, until it wasn't.</a:t>
            </a:r>
          </a:p>
          <a:p>
            <a:pPr/>
            <a:r>
              <a:t>air-light still ships no blocks, on purpose. For a long time I saw blocks as a dependency too.</a:t>
            </a:r>
          </a:p>
          <a:p>
            <a:pPr/>
            <a:r>
              <a:t>If asked: our first native block code in air-light is from 28.2.2025.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2" name="Shape 39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 years our answer was Gutenberg for articles and ACF for everything else.</a:t>
            </a:r>
          </a:p>
          <a:p>
            <a:pPr/>
            <a:r>
              <a:t>In 2018 I did not even have time to test Gutenberg properly.</a:t>
            </a:r>
          </a:p>
          <a:p>
            <a:pPr/>
            <a:r>
              <a:t>When we went native in 2025, we thought blocks meant React. So we coded every block ourselves, with every option in React.</a:t>
            </a:r>
          </a:p>
          <a:p>
            <a:pPr/>
            <a:r>
              <a:t>The GIF is Deep Thought from The Hitchhiker's Guide to the Galaxy. The answer was 42, and just as useful.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8" name="Shape 4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2017: we added the Classic Editor to our stack to prepare for Gutenberg.</a:t>
            </a:r>
          </a:p>
          <a:p>
            <a:pPr/>
            <a:r>
              <a:t>2018 to 2020: Gutenberg for articles only. Pages stayed on ACF.</a:t>
            </a:r>
          </a:p>
          <a:p>
            <a:pPr/>
            <a:r>
              <a:t>2021: ACF blocks became our standard.</a:t>
            </a:r>
          </a:p>
          <a:p>
            <a:pPr/>
            <a:r>
              <a:t>In 2018 a custom block needed JavaScript and a build step. PHP developers did not want to write React, so ACF Blocks, Block Lab and Lazy Blocks appeared.</a:t>
            </a:r>
          </a:p>
          <a:p>
            <a:pPr/>
            <a:r>
              <a:t>2025: our first native blocks, with every option written in React.</a:t>
            </a:r>
          </a:p>
          <a:p>
            <a:pPr/>
            <a:r>
              <a:t>The peak was one client site in 2026: 23 custom blocks and about 4,130 lines of JavaScript.</a:t>
            </a:r>
          </a:p>
          <a:p>
            <a:pPr/>
            <a:r>
              <a:t>Markup coded into the blocks hurt the most. A pattern could not drop the buttons, because the buttons were in the code.</a:t>
            </a:r>
          </a:p>
          <a:p>
            <a:pPr/>
            <a:r>
              <a:t>From 5.2026 that site moved to core Group blocks and patterns.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4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7" name="Shape 4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am a traditional WordPress developer. I come from Underscores, with PHP, HTML and CSS.</a:t>
            </a:r>
          </a:p>
          <a:p>
            <a:pPr/>
            <a:r>
              <a:t>I never got into Sage, Twig, Blade or other templating languages.</a:t>
            </a:r>
          </a:p>
          <a:p>
            <a:pPr/>
            <a:r>
              <a:t>Then WordPress took a huge leap and moved to React.</a:t>
            </a:r>
          </a:p>
          <a:p>
            <a:pPr/>
            <a:r>
              <a:t>Learning React still paid off. It taught us how the block editor works, and now we can tell when a custom block is really needed.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0" name="Shape 4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media and text block coded by hand, the way we built blocks in 2025 and 2026.</a:t>
            </a:r>
          </a:p>
          <a:p>
            <a:pPr/>
            <a:r>
              <a:t>Nine files. Every option needs an attribute in block.json and a control in edit.js.</a:t>
            </a:r>
          </a:p>
          <a:p>
            <a:pPr/>
            <a:r>
              <a:t>save.js must print the same HTML as the database, or the editor marks the block invalid.</a:t>
            </a:r>
          </a:p>
          <a:p>
            <a:pPr/>
            <a:r>
              <a:t>The core Media &amp; Text block already has all these controls. It has been in core since WordPress 5.0 in 2018.</a:t>
            </a:r>
          </a:p>
          <a:p>
            <a:pPr/>
            <a:r>
              <a:t>Our sidebar text fields lost bold text, links and lists.</a:t>
            </a:r>
          </a:p>
          <a:p>
            <a:pPr/>
            <a:r>
              <a:t>We maintained all this code ourselves, while core maintains the same block for free.</a:t>
            </a:r>
          </a:p>
          <a:p>
            <a:pPr/>
            <a:r>
              <a:t>Since 2021, theme.json can style the core Media &amp; Text block fully, with no code.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1" name="Shape 4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block editor is built with React. React is for the people building WordPress core.</a:t>
            </a:r>
          </a:p>
          <a:p>
            <a:pPr/>
            <a:r>
              <a:t>Themes, patterns, block styles and theme.json need no React. They are HTML and JSON.</a:t>
            </a:r>
          </a:p>
          <a:p>
            <a:pPr/>
            <a:r>
              <a:t>You can build custom blocks without JSX or a build step.</a:t>
            </a:r>
          </a:p>
          <a:p>
            <a:pPr/>
            <a:r>
              <a:t>On the front end, the Interactivity API works without React.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Shape 4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2" name="Shape 4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Jokes aside, dependency-free here means no plugin owns the content.</a:t>
            </a:r>
          </a:p>
          <a:p>
            <a:pPr/>
            <a:r>
              <a:t>WordPress itself is the one dependency we choose on purpose.</a:t>
            </a:r>
          </a:p>
          <a:p>
            <a:pPr/>
            <a:r>
              <a:t>The rest of the talk shows our route away from ten years of ACF.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4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84" name="Shape 4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stuck to PHP, HTML and CSS and the core way. The core way avoids vendor lock-in, and it feels good to build things the way core intended.</a:t>
            </a:r>
          </a:p>
          <a:p>
            <a:pPr/>
            <a:r>
              <a:t>Traditional: Underscores from Automattic, launched in 2012. PHP templates and the template hierarchy.</a:t>
            </a:r>
          </a:p>
          <a:p>
            <a:pPr/>
            <a:r>
              <a:t>Innovative: Sage by Roots, started in 2011. Blade views, Composer and Vite.</a:t>
            </a:r>
          </a:p>
          <a:p>
            <a:pPr/>
            <a:r>
              <a:t>Modern: block themes since WordPress 5.9 in 2022. HTML templates and theme.json, edited in the Site Editor.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hape 5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22" name="Shape 5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 do not have to jump in one go. Every step works inside a classic theme, and that makes a hybrid theme.</a:t>
            </a:r>
          </a:p>
          <a:p>
            <a:pPr/>
            <a:r>
              <a:t>Step 1: replace ACF blocks with core blocks, patterns and your own blocks.</a:t>
            </a:r>
          </a:p>
          <a:p>
            <a:pPr/>
            <a:r>
              <a:t>Step 2: replace ACF fields with register_post_meta() and Block Bindings.</a:t>
            </a:r>
          </a:p>
          <a:p>
            <a:pPr/>
            <a:r>
              <a:t>Step 3: add theme.json to the classic theme.</a:t>
            </a:r>
          </a:p>
          <a:p>
            <a:pPr/>
            <a:r>
              <a:t>Step 4: add block template parts for the header and footer.</a:t>
            </a:r>
          </a:p>
          <a:p>
            <a:pPr/>
            <a:r>
              <a:t>The last step is a full block theme with HTML templates.</a:t>
            </a:r>
          </a:p>
          <a:p>
            <a:pPr/>
            <a:r>
              <a:t>A hybrid theme is a fine place to stop.</a:t>
            </a:r>
          </a:p>
          <a:p>
            <a:pPr/>
            <a:r>
              <a:t>If asked about full site editing: block themes had 8.3% of non-default theme installs in June 2026. Classic themes still win about 11 to 1.</a:t>
            </a:r>
          </a:p>
          <a:p>
            <a:pPr/>
            <a:r>
              <a:t>If asked: templates edited in the Site Editor are saved to the database and drift from git.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5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1" name="Shape 5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Performance: work moves from the server to the browser. The next slide shows the difference.</a:t>
            </a:r>
          </a:p>
          <a:p>
            <a:pPr/>
            <a:r>
              <a:t>The basics are built in: heading levels, colours and spacing. With ACF, even changing an h1 to an h2 was a job for a developer.</a:t>
            </a:r>
          </a:p>
          <a:p>
            <a:pPr/>
            <a:r>
              <a:t>Our editors could not add bold text or a link in the middle of a sentence in the ACF WYSIWYG field.</a:t>
            </a:r>
          </a:p>
          <a:p>
            <a:pPr/>
            <a:r>
              <a:t>The client edits in the preview. Our big ACF blocks flickered every time you touched them.</a:t>
            </a:r>
          </a:p>
          <a:p>
            <a:pPr/>
            <a:r>
              <a:t>Lego and Duplo at once: big and small pieces, mixed freely.</a:t>
            </a:r>
          </a:p>
          <a:p>
            <a:pPr/>
            <a:r>
              <a:t>A client once called an old site "the WordPress straitjacket Dude knitted". He was half joking.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87" name="Shape 5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With ACF, things live in four places: field groups in the database, the ACF plugin, PHP templates and wp_postmeta.</a:t>
            </a:r>
          </a:p>
          <a:p>
            <a:pPr/>
            <a:r>
              <a:t>Lose the database and you lose the field groups. ACF added Local JSON in 2014 to copy them into the theme for git.</a:t>
            </a:r>
          </a:p>
          <a:p>
            <a:pPr/>
            <a:r>
              <a:t>Many of us built field groups in code instead, with acf_add_local_field_group() or ACF Codifier. That adds one more dependency on top of ACF.</a:t>
            </a:r>
          </a:p>
          <a:p>
            <a:pPr/>
            <a:r>
              <a:t>With core blocks there are three places and no plugin: the block in core, the styles in theme.json and the content in post_content.</a:t>
            </a:r>
          </a:p>
          <a:p>
            <a:pPr/>
            <a:r>
              <a:t>There are no field groups to set up. The block is the field.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6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4" name="Shape 6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With ACF, PHP renders every block on every cache miss and reads the fields one at a time from the database.</a:t>
            </a:r>
          </a:p>
          <a:p>
            <a:pPr/>
            <a:r>
              <a:t>With core blocks, the block markup is already saved in the page, so there is nothing to build.</a:t>
            </a:r>
          </a:p>
          <a:p>
            <a:pPr/>
            <a:r>
              <a:t>Only the live parts, like a job listing, fetch data from the REST API in the browser.</a:t>
            </a:r>
          </a:p>
          <a:p>
            <a:pPr/>
            <a:r>
              <a:t>A cache hit ends the request in both cases.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Shape 6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1" name="Shape 6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cons: a steep learning curve for the whole team.</a:t>
            </a:r>
          </a:p>
          <a:p>
            <a:pPr/>
            <a:r>
              <a:t>Less PHP and more JSON, in theme.json and block.json.</a:t>
            </a:r>
          </a:p>
          <a:p>
            <a:pPr/>
            <a:r>
              <a:t>Old habits to unlearn: we used to build every block from scratch.</a:t>
            </a:r>
          </a:p>
          <a:p>
            <a:pPr/>
            <a:r>
              <a:t>Heavy build tooling for custom blocks: React, npm and a build step.</a:t>
            </a:r>
          </a:p>
          <a:p>
            <a:pPr/>
            <a:r>
              <a:t>Core moves fast, and the docs are scattered.</a:t>
            </a:r>
          </a:p>
          <a:p>
            <a:pPr/>
            <a:r>
              <a:t>I said this would take our team a year or more to absorb. It is wonderful and horrible at the same time.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Shape 6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62" name="Shape 6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Designers used to limit the client. Now the client gets full freedom.</a:t>
            </a:r>
          </a:p>
          <a:p>
            <a:pPr/>
            <a:r>
              <a:t>Every block has to look like the client's brand in any combination.</a:t>
            </a:r>
          </a:p>
          <a:p>
            <a:pPr/>
            <a:r>
              <a:t>With great power comes great responsibility.</a:t>
            </a:r>
          </a:p>
          <a:p>
            <a:pPr/>
            <a:r>
              <a:t>The design system lives in theme.json, block styles and patterns. We lock the parts that must not change.</a:t>
            </a:r>
          </a:p>
          <a:p>
            <a:pPr/>
            <a:r>
              <a:t>We give as many choices as we can and make them all look good.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Shape 7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19" name="Shape 7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There are 21 ways to build a block. No wonder moving off ACF feels confusing.</a:t>
            </a:r>
          </a:p>
          <a:p>
            <a:pPr/>
            <a:r>
              <a:t>You do not need all of them.</a:t>
            </a:r>
          </a:p>
          <a:p>
            <a:pPr/>
            <a:r>
              <a:t>Column 1 needs no custom code: core blocks, variations, patterns, styles and synced patterns.</a:t>
            </a:r>
          </a:p>
          <a:p>
            <a:pPr/>
            <a:r>
              <a:t>Column 2 is your own code: block.json, render.php, React, InnerBlocks and the Interactivity API.</a:t>
            </a:r>
          </a:p>
          <a:p>
            <a:pPr/>
            <a:r>
              <a:t>Column 3 has the in-betweens and third parties: ACF blocks, Block Bindings and page builders.</a:t>
            </a:r>
          </a:p>
          <a:p>
            <a:pPr/>
            <a:r>
              <a:t>Elementor stores layouts as JSON in post meta, so the content needs the plugin. Same problem as ACF, only bigger.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Shape 7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4" name="Shape 7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 in this order: core blocks, then patterns, then variations and styles.</a:t>
            </a:r>
          </a:p>
          <a:p>
            <a:pPr/>
            <a:r>
              <a:t>Write a custom block only when nothing above fits.</a:t>
            </a:r>
          </a:p>
          <a:p>
            <a:pPr/>
            <a:r>
              <a:t>If asked: 115 is the core block count in WordPress 7.1.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Shape 7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6" name="Shape 7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same block, built two ways.</a:t>
            </a:r>
          </a:p>
          <a:p>
            <a:pPr/>
            <a:r>
              <a:t>Left: our most recent ACF site, launched in 5.2026. The editor fills a fixed form with a title, a text box, a link and an image.</a:t>
            </a:r>
          </a:p>
          <a:p>
            <a:pPr/>
            <a:r>
              <a:t>Every new variation needs a developer to add a field.</a:t>
            </a:r>
          </a:p>
          <a:p>
            <a:pPr/>
            <a:r>
              <a:t>Right: the core Media &amp; Text block, in core since WordPress 5.0. There is nothing to build.</a:t>
            </a:r>
          </a:p>
          <a:p>
            <a:pPr/>
            <a:r>
              <a:t>The client can put any blocks inside it, like headings, lists and buttons.</a:t>
            </a:r>
          </a:p>
          <a:p>
            <a:pPr/>
            <a:r>
              <a:t>theme.json and block styles handle the look. A pattern file gives editors a ready starting point.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Shape 7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7" name="Shape 7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Search the inserter first. The core block often already exists.</a:t>
            </a:r>
          </a:p>
          <a:p>
            <a:pPr/>
            <a:r>
              <a:t>One of our 2026 sites has zero custom blocks: core blocks, three block styles, theme.json and patterns.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Shape 7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80" name="Shape 7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When we do write code, we follow this order at Dude.</a:t>
            </a:r>
          </a:p>
          <a:p>
            <a:pPr/>
            <a:r>
              <a:t>1. Lock theme.json first: palette, type scale and spacing. The client picks from our scale.</a:t>
            </a:r>
          </a:p>
          <a:p>
            <a:pPr/>
            <a:r>
              <a:t>2. Core blocks by default, curated per post type.</a:t>
            </a:r>
          </a:p>
          <a:p>
            <a:pPr/>
            <a:r>
              <a:t>3. Style core blocks in theme.json. SCSS only for the rest.</a:t>
            </a:r>
          </a:p>
          <a:p>
            <a:pPr/>
            <a:r>
              <a:t>4. Layouts are patterns. We deleted custom blocks that were only layout.</a:t>
            </a:r>
          </a:p>
          <a:p>
            <a:pPr/>
            <a:r>
              <a:t>5. Public data comes from the REST API and renders in the browser. We avoid render.php.</a:t>
            </a:r>
          </a:p>
          <a:p>
            <a:pPr/>
            <a:r>
              <a:t>6. Interactive parts use the Interactivity API. No React on the front end.</a:t>
            </a:r>
          </a:p>
          <a:p>
            <a:pPr/>
            <a:r>
              <a:t>7. A custom block is the last resort.</a:t>
            </a:r>
          </a:p>
          <a:p>
            <a:pPr/>
            <a:r>
              <a:t>ACF is still installed on these sites, but it builds no blocks. It handles data forms like settings screens.</a:t>
            </a:r>
          </a:p>
          <a:p>
            <a:pPr/>
            <a:r>
              <a:t>If asked: some of our current blocks still use render.php, and we are moving away from it.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Shape 7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95" name="Shape 7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Our first full site editing build was a small route guide site, from 5.2026 to 6.2026.</a:t>
            </a:r>
          </a:p>
          <a:p>
            <a:pPr/>
            <a:r>
              <a:t>Templates and parts are HTML files. theme.json turns off custom colours and sizes.</a:t>
            </a:r>
          </a:p>
          <a:p>
            <a:pPr/>
            <a:r>
              <a:t>No custom blocks and no ACF. Editors change the header, footer and menus in the Site Editor.</a:t>
            </a:r>
          </a:p>
          <a:p>
            <a:pPr/>
            <a:r>
              <a:t>Lesson 1: git and the database drift apart. A Site Editor change on production stays in the database. Decide up front if files or the database own the templates.</a:t>
            </a:r>
          </a:p>
          <a:p>
            <a:pPr/>
            <a:r>
              <a:t>Lesson 2: core Navigation does not suit a sidebar menu. We solved it with our own JS and SCSS.</a:t>
            </a:r>
          </a:p>
          <a:p>
            <a:pPr/>
            <a:r>
              <a:t>Lesson 3: multilingual was hard with Polylang.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Shape 80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10" name="Shape 81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 far it was all page content. Custom post types and their fields work without ACF too.</a:t>
            </a:r>
          </a:p>
          <a:p>
            <a:pPr/>
            <a:r>
              <a:t>register_post_type() goes in the theme. It has been in core since 2010.</a:t>
            </a:r>
          </a:p>
          <a:p>
            <a:pPr/>
            <a:r>
              <a:t>register_post_meta() adds the fields, and Block Bindings show them. The editor edits them in place.</a:t>
            </a:r>
          </a:p>
          <a:p>
            <a:pPr/>
            <a:r>
              <a:t>Templates and the Query Loop block handle single and archive pages.</a:t>
            </a:r>
          </a:p>
          <a:p>
            <a:pPr/>
            <a:r>
              <a:t>ACF still makes sense for repeaters, relationships and options pages. Core has no editing UI for those.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Shape 8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18" name="Shape 8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If you take one thing home, take patterns.</a:t>
            </a:r>
          </a:p>
          <a:p>
            <a:pPr/>
            <a:r>
              <a:t>Patterns need no code and work in every theme, classic or block.</a:t>
            </a:r>
          </a:p>
          <a:p>
            <a:pPr/>
            <a:r>
              <a:t>They are the fastest way away from ACF blocks.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Shape 8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33" name="Shape 8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went through the 49 ACF blocks of one client site. 32 of them only printed layout and text.</a:t>
            </a:r>
          </a:p>
          <a:p>
            <a:pPr/>
            <a:r>
              <a:t>Every one of them could have been a pattern.</a:t>
            </a:r>
          </a:p>
          <a:p>
            <a:pPr/>
            <a:r>
              <a:t>A pattern is core blocks arranged once and saved. The client can change anything in it.</a:t>
            </a:r>
          </a:p>
          <a:p>
            <a:pPr/>
            <a:r>
              <a:t>Patterns have been in core since WordPress 5.5 in 2020.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Shape 8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7" name="Shape 8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New from the last weeks.</a:t>
            </a:r>
          </a:p>
          <a:p>
            <a:pPr/>
            <a:r>
              <a:t>A new empty page opens on a blank canvas, and clients do not find the finished sections.</a:t>
            </a:r>
          </a:p>
          <a:p>
            <a:pPr/>
            <a:r>
              <a:t>The core pattern window only shows patterns registered for post content. Patterns saved in the editor never show there.</a:t>
            </a:r>
          </a:p>
          <a:p>
            <a:pPr/>
            <a:r>
              <a:t>Left: the core way, for patterns in theme files.</a:t>
            </a:r>
          </a:p>
          <a:p>
            <a:pPr/>
            <a:r>
              <a:t>Right: our fix for editor-saved patterns. A new empty page opens the inserter on the Patterns tab.</a:t>
            </a:r>
          </a:p>
          <a:p>
            <a:pPr/>
            <a:r>
              <a:t>This is coming to air-helper, on by default, with a filter to turn it off.</a:t>
            </a:r>
          </a:p>
          <a:p>
            <a:pPr/>
            <a:r>
              <a:t>If asked: it uses __experimental props, so we recheck it on every major release.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Shape 8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55" name="Shape 8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client opens a new page, and the Patterns tab is already open.</a:t>
            </a:r>
          </a:p>
          <a:p>
            <a:pPr/>
            <a:r>
              <a:t>The finished sections are right there. Drag one in and edit it.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Shape 87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71" name="Shape 87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is great for learning this, with one caution.</a:t>
            </a:r>
          </a:p>
          <a:p>
            <a:pPr/>
            <a:r>
              <a:t>AI makes the same mistakes we did. Ask for a block and it often writes a full React block.</a:t>
            </a:r>
          </a:p>
          <a:p>
            <a:pPr/>
            <a:r>
              <a:t>Give it the priority order first: core blocks, patterns, block styles, and a custom block last.</a:t>
            </a:r>
          </a:p>
          <a:p>
            <a:pPr/>
            <a:r>
              <a:t>Ask it to show the handbook page behind the answer. Review the code like a colleague's code.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Shape 8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84" name="Shape 8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ACF is still the better choice in a few places.</a:t>
            </a:r>
          </a:p>
          <a:p>
            <a:pPr/>
            <a:r>
              <a:t>Integrations: Polylang, FacetWP, Relevanssi and SEO plugins read ACF fields directly.</a:t>
            </a:r>
          </a:p>
          <a:p>
            <a:pPr/>
            <a:r>
              <a:t>Settings pages: an ACF options page takes a few lines.</a:t>
            </a:r>
          </a:p>
          <a:p>
            <a:pPr/>
            <a:r>
              <a:t>Relationships: ACF has a ready picker. Core stores the link but has no UI for it.</a:t>
            </a:r>
          </a:p>
          <a:p>
            <a:pPr/>
            <a:r>
              <a:t>Structured data like product specs, opening hours and event dates needs a form.</a:t>
            </a:r>
          </a:p>
          <a:p>
            <a:pPr/>
            <a:r>
              <a:t>The rule: pages and layouts with core blocks and patterns, structured data with the easiest form. Often that is still ACF.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.jpe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.gif"/><Relationship Id="rId5" Type="http://schemas.openxmlformats.org/officeDocument/2006/relationships/image" Target="../media/image27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28.png"/><Relationship Id="rId7" Type="http://schemas.openxmlformats.org/officeDocument/2006/relationships/image" Target="../media/image35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7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51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5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56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gif"/><Relationship Id="rId5" Type="http://schemas.openxmlformats.org/officeDocument/2006/relationships/image" Target="../media/image57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59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60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64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67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Relationship Id="rId4" Type="http://schemas.openxmlformats.org/officeDocument/2006/relationships/image" Target="../media/image68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69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70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78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Relationship Id="rId3" Type="http://schemas.openxmlformats.org/officeDocument/2006/relationships/image" Target="../media/image79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Relationship Id="rId3" Type="http://schemas.openxmlformats.org/officeDocument/2006/relationships/hyperlink" Target="http://github.com/rollecode/wpsuomi2026-talk-slides" TargetMode="External"/><Relationship Id="rId4" Type="http://schemas.openxmlformats.org/officeDocument/2006/relationships/image" Target="../media/image8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portrait-crop.jpg" descr="portrait-crop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554700" y="0"/>
            <a:ext cx="58293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3" name="wpsuomi.png" descr="wpsuomi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97000" y="965200"/>
            <a:ext cx="3012764" cy="723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icons.png" descr="icons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371600" y="12407900"/>
            <a:ext cx="3922713" cy="355600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WP Suomi 2026, Oulu, 16th of October, 2026"/>
          <p:cNvSpPr txBox="1"/>
          <p:nvPr/>
        </p:nvSpPr>
        <p:spPr>
          <a:xfrm>
            <a:off x="1346200" y="1803400"/>
            <a:ext cx="68199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665A7C"/>
                </a:solidFill>
                <a:latin typeface="Geist Medium"/>
                <a:ea typeface="Geist Medium"/>
                <a:cs typeface="Geist Medium"/>
                <a:sym typeface="Geist Medium"/>
              </a:defRPr>
            </a:lvl1pPr>
          </a:lstStyle>
          <a:p>
            <a:pPr/>
            <a:r>
              <a:t>WP Suomi 2026, Oulu, 16th of October, 2026</a:t>
            </a:r>
          </a:p>
        </p:txBody>
      </p:sp>
      <p:sp>
        <p:nvSpPr>
          <p:cNvPr id="176" name="Going"/>
          <p:cNvSpPr txBox="1"/>
          <p:nvPr/>
        </p:nvSpPr>
        <p:spPr>
          <a:xfrm>
            <a:off x="1295400" y="3670300"/>
            <a:ext cx="18072100" cy="227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38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Going</a:t>
            </a:r>
          </a:p>
        </p:txBody>
      </p:sp>
      <p:sp>
        <p:nvSpPr>
          <p:cNvPr id="177" name="ACF-free"/>
          <p:cNvSpPr txBox="1"/>
          <p:nvPr/>
        </p:nvSpPr>
        <p:spPr>
          <a:xfrm>
            <a:off x="1409700" y="5105400"/>
            <a:ext cx="18072100" cy="297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174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ACF-free</a:t>
            </a:r>
          </a:p>
        </p:txBody>
      </p:sp>
      <p:sp>
        <p:nvSpPr>
          <p:cNvPr id="178" name="Replacing a plugin dependency"/>
          <p:cNvSpPr txBox="1"/>
          <p:nvPr/>
        </p:nvSpPr>
        <p:spPr>
          <a:xfrm>
            <a:off x="1320800" y="7937500"/>
            <a:ext cx="180721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Replacing a plugin dependency</a:t>
            </a:r>
          </a:p>
        </p:txBody>
      </p:sp>
      <p:sp>
        <p:nvSpPr>
          <p:cNvPr id="179" name="with core WordPress"/>
          <p:cNvSpPr txBox="1"/>
          <p:nvPr/>
        </p:nvSpPr>
        <p:spPr>
          <a:xfrm>
            <a:off x="1320800" y="8597900"/>
            <a:ext cx="180721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with core WordPress</a:t>
            </a:r>
          </a:p>
        </p:txBody>
      </p:sp>
      <p:sp>
        <p:nvSpPr>
          <p:cNvPr id="180" name="Rolle Laukkarinen"/>
          <p:cNvSpPr txBox="1"/>
          <p:nvPr/>
        </p:nvSpPr>
        <p:spPr>
          <a:xfrm>
            <a:off x="1320800" y="11010899"/>
            <a:ext cx="180721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220D44"/>
                </a:solidFill>
                <a:latin typeface="Geist SemiBold"/>
                <a:ea typeface="Geist SemiBold"/>
                <a:cs typeface="Geist SemiBold"/>
                <a:sym typeface="Geist SemiBold"/>
              </a:defRPr>
            </a:lvl1pPr>
          </a:lstStyle>
          <a:p>
            <a:pPr/>
            <a:r>
              <a:t>Rolle Laukkarinen</a:t>
            </a:r>
          </a:p>
        </p:txBody>
      </p:sp>
      <p:sp>
        <p:nvSpPr>
          <p:cNvPr id="181" name="Founder and CTO, Digitoimisto Dude Oy"/>
          <p:cNvSpPr txBox="1"/>
          <p:nvPr/>
        </p:nvSpPr>
        <p:spPr>
          <a:xfrm>
            <a:off x="1320800" y="11645899"/>
            <a:ext cx="1807210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Founder and CTO, Digitoimisto Dude Oy</a:t>
            </a:r>
          </a:p>
        </p:txBody>
      </p:sp>
      <p:sp>
        <p:nvSpPr>
          <p:cNvPr id="182" name="→ rolle.social"/>
          <p:cNvSpPr txBox="1"/>
          <p:nvPr/>
        </p:nvSpPr>
        <p:spPr>
          <a:xfrm>
            <a:off x="5524500" y="12306300"/>
            <a:ext cx="23622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>
                <a:solidFill>
                  <a:srgbClr val="5D4E61"/>
                </a:solidFill>
                <a:latin typeface="Geist Medium"/>
                <a:ea typeface="Geist Medium"/>
                <a:cs typeface="Geist Medium"/>
                <a:sym typeface="Geist Medium"/>
              </a:defRPr>
            </a:lvl1pPr>
          </a:lstStyle>
          <a:p>
            <a:pPr/>
            <a:r>
              <a:t>→ rolle.social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rolle-90s.jpg" descr="rolle-90s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24000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dudella.jpg" descr="dudella.jp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5240000" y="685800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About Rolle"/>
          <p:cNvSpPr txBox="1"/>
          <p:nvPr/>
        </p:nvSpPr>
        <p:spPr>
          <a:xfrm>
            <a:off x="1308100" y="1574800"/>
            <a:ext cx="13512800" cy="144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64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About </a:t>
            </a:r>
            <a:r>
              <a:rPr i="1" sz="82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Rolle</a:t>
            </a:r>
          </a:p>
        </p:txBody>
      </p:sp>
      <p:sp>
        <p:nvSpPr>
          <p:cNvPr id="190" name="Founder and CTO of Digitoimisto Dude Oy. Code soon 30 years, WordPress since 2005, online since 1999. Accessibility, open source, Linux servers, and building my own tools. Free time: running, bilingual family, knows sign language."/>
          <p:cNvSpPr txBox="1"/>
          <p:nvPr/>
        </p:nvSpPr>
        <p:spPr>
          <a:xfrm>
            <a:off x="1320800" y="3073399"/>
            <a:ext cx="12567634" cy="2169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Founder and CTO of Digitoimisto Dude Oy. Code soon</a:t>
            </a:r>
            <a:br/>
            <a:r>
              <a:t>30 years, WordPress since 2005, online since 1999. Accessibility, open source, Linux servers, and building my own tools. Free time: running, bilingual family, knows sign language.</a:t>
            </a:r>
          </a:p>
        </p:txBody>
      </p:sp>
      <p:sp>
        <p:nvSpPr>
          <p:cNvPr id="191" name="Dude &amp; WordPress"/>
          <p:cNvSpPr txBox="1"/>
          <p:nvPr/>
        </p:nvSpPr>
        <p:spPr>
          <a:xfrm>
            <a:off x="1308100" y="5765800"/>
            <a:ext cx="13512800" cy="144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64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Dude &amp; </a:t>
            </a:r>
            <a:r>
              <a:rPr i="1" sz="82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WordPress</a:t>
            </a:r>
          </a:p>
        </p:txBody>
      </p:sp>
      <p:sp>
        <p:nvSpPr>
          <p:cNvPr id="192" name="Contributing to WordPress and open source since we founded Dude in 2013: 71 open source repositories on GitHub, including air-light, our starter theme with over 1100 stars."/>
          <p:cNvSpPr txBox="1"/>
          <p:nvPr/>
        </p:nvSpPr>
        <p:spPr>
          <a:xfrm>
            <a:off x="1320800" y="7226300"/>
            <a:ext cx="10824466" cy="2169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Contributing to WordPress and open source since we founded Dude in 2013: 71 open source repositories on GitHub, including air-light, our starter theme with over 1100 stars.</a:t>
            </a:r>
          </a:p>
        </p:txBody>
      </p:sp>
      <p:sp>
        <p:nvSpPr>
          <p:cNvPr id="193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194" name="pills.png" descr="pills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351280" y="10125062"/>
            <a:ext cx="11443976" cy="15405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No shame in"/>
          <p:cNvSpPr txBox="1"/>
          <p:nvPr/>
        </p:nvSpPr>
        <p:spPr>
          <a:xfrm>
            <a:off x="1308100" y="4203699"/>
            <a:ext cx="22707600" cy="156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92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No shame in</a:t>
            </a:r>
          </a:p>
        </p:txBody>
      </p:sp>
      <p:sp>
        <p:nvSpPr>
          <p:cNvPr id="200" name="using ACF or plugins"/>
          <p:cNvSpPr txBox="1"/>
          <p:nvPr/>
        </p:nvSpPr>
        <p:spPr>
          <a:xfrm>
            <a:off x="1308100" y="5372099"/>
            <a:ext cx="22707600" cy="205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11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using ACF or plugins</a:t>
            </a:r>
          </a:p>
        </p:txBody>
      </p:sp>
      <p:sp>
        <p:nvSpPr>
          <p:cNvPr id="201" name="WordPress has a great plugin ecosystem, and ACF is a very good plugin."/>
          <p:cNvSpPr txBox="1"/>
          <p:nvPr/>
        </p:nvSpPr>
        <p:spPr>
          <a:xfrm>
            <a:off x="1320800" y="7708899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WordPress has a great plugin ecosystem, and ACF is a very good plugin.</a:t>
            </a:r>
          </a:p>
        </p:txBody>
      </p:sp>
      <p:sp>
        <p:nvSpPr>
          <p:cNvPr id="202" name="ACF built a lot of good sites, ours included."/>
          <p:cNvSpPr txBox="1"/>
          <p:nvPr/>
        </p:nvSpPr>
        <p:spPr>
          <a:xfrm>
            <a:off x="1320800" y="8369299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ACF built a lot of good sites, ours included.</a:t>
            </a:r>
          </a:p>
        </p:txBody>
      </p:sp>
      <p:sp>
        <p:nvSpPr>
          <p:cNvPr id="203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204" name="prog-3.png" descr="prog-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210" name="A quick poll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A quick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poll</a:t>
            </a:r>
          </a:p>
        </p:txBody>
      </p:sp>
      <p:sp>
        <p:nvSpPr>
          <p:cNvPr id="211" name="How many of you…"/>
          <p:cNvSpPr txBox="1"/>
          <p:nvPr/>
        </p:nvSpPr>
        <p:spPr>
          <a:xfrm>
            <a:off x="1371600" y="4571999"/>
            <a:ext cx="20320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How many of you…</a:t>
            </a:r>
          </a:p>
        </p:txBody>
      </p:sp>
      <p:pic>
        <p:nvPicPr>
          <p:cNvPr id="212" name="prog-4.png" descr="prog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218" name="A quick poll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A quick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poll</a:t>
            </a:r>
          </a:p>
        </p:txBody>
      </p:sp>
      <p:sp>
        <p:nvSpPr>
          <p:cNvPr id="219" name="How many of you…"/>
          <p:cNvSpPr txBox="1"/>
          <p:nvPr/>
        </p:nvSpPr>
        <p:spPr>
          <a:xfrm>
            <a:off x="1371600" y="4571999"/>
            <a:ext cx="20320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How many of you…</a:t>
            </a:r>
          </a:p>
        </p:txBody>
      </p:sp>
      <p:sp>
        <p:nvSpPr>
          <p:cNvPr id="220" name="1"/>
          <p:cNvSpPr txBox="1"/>
          <p:nvPr/>
        </p:nvSpPr>
        <p:spPr>
          <a:xfrm>
            <a:off x="1371600" y="5842000"/>
            <a:ext cx="1016000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1" name="Still use ACF for everything (okay, with exceptions, let’s say 80%)"/>
          <p:cNvSpPr txBox="1"/>
          <p:nvPr/>
        </p:nvSpPr>
        <p:spPr>
          <a:xfrm>
            <a:off x="2489200" y="5969000"/>
            <a:ext cx="203200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Still use ACF for everything (okay, with exceptions, let’s say 80%)</a:t>
            </a:r>
          </a:p>
        </p:txBody>
      </p:sp>
      <p:pic>
        <p:nvPicPr>
          <p:cNvPr id="222" name="prog-5.png" descr="prog-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228" name="A quick poll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A quick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poll</a:t>
            </a:r>
          </a:p>
        </p:txBody>
      </p:sp>
      <p:sp>
        <p:nvSpPr>
          <p:cNvPr id="229" name="How many of you…"/>
          <p:cNvSpPr txBox="1"/>
          <p:nvPr/>
        </p:nvSpPr>
        <p:spPr>
          <a:xfrm>
            <a:off x="1371600" y="4571999"/>
            <a:ext cx="20320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How many of you…</a:t>
            </a:r>
          </a:p>
        </p:txBody>
      </p:sp>
      <p:sp>
        <p:nvSpPr>
          <p:cNvPr id="230" name="1"/>
          <p:cNvSpPr txBox="1"/>
          <p:nvPr/>
        </p:nvSpPr>
        <p:spPr>
          <a:xfrm>
            <a:off x="1371600" y="5842000"/>
            <a:ext cx="1016000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1" name="Still use ACF for everything (okay, with exceptions, let’s say 80%)"/>
          <p:cNvSpPr txBox="1"/>
          <p:nvPr/>
        </p:nvSpPr>
        <p:spPr>
          <a:xfrm>
            <a:off x="2489200" y="5969000"/>
            <a:ext cx="203200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Still use ACF for everything (okay, with exceptions, let’s say 80%)</a:t>
            </a:r>
          </a:p>
        </p:txBody>
      </p:sp>
      <p:sp>
        <p:nvSpPr>
          <p:cNvPr id="232" name="2"/>
          <p:cNvSpPr txBox="1"/>
          <p:nvPr/>
        </p:nvSpPr>
        <p:spPr>
          <a:xfrm>
            <a:off x="1371600" y="7366000"/>
            <a:ext cx="1016000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33" name="Use ACF for some things"/>
          <p:cNvSpPr txBox="1"/>
          <p:nvPr/>
        </p:nvSpPr>
        <p:spPr>
          <a:xfrm>
            <a:off x="2489200" y="7493000"/>
            <a:ext cx="203200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Use ACF for some things</a:t>
            </a:r>
          </a:p>
        </p:txBody>
      </p:sp>
      <p:pic>
        <p:nvPicPr>
          <p:cNvPr id="234" name="prog-6.png" descr="prog-6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240" name="A quick poll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A quick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poll</a:t>
            </a:r>
          </a:p>
        </p:txBody>
      </p:sp>
      <p:sp>
        <p:nvSpPr>
          <p:cNvPr id="241" name="How many of you…"/>
          <p:cNvSpPr txBox="1"/>
          <p:nvPr/>
        </p:nvSpPr>
        <p:spPr>
          <a:xfrm>
            <a:off x="1371600" y="4571999"/>
            <a:ext cx="20320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How many of you…</a:t>
            </a:r>
          </a:p>
        </p:txBody>
      </p:sp>
      <p:sp>
        <p:nvSpPr>
          <p:cNvPr id="242" name="1"/>
          <p:cNvSpPr txBox="1"/>
          <p:nvPr/>
        </p:nvSpPr>
        <p:spPr>
          <a:xfrm>
            <a:off x="1371600" y="5842000"/>
            <a:ext cx="1016000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43" name="Still use ACF for everything (okay, with exceptions, let’s say 80%)"/>
          <p:cNvSpPr txBox="1"/>
          <p:nvPr/>
        </p:nvSpPr>
        <p:spPr>
          <a:xfrm>
            <a:off x="2489200" y="5969000"/>
            <a:ext cx="203200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Still use ACF for everything (okay, with exceptions, let’s say 80%)</a:t>
            </a:r>
          </a:p>
        </p:txBody>
      </p:sp>
      <p:sp>
        <p:nvSpPr>
          <p:cNvPr id="244" name="2"/>
          <p:cNvSpPr txBox="1"/>
          <p:nvPr/>
        </p:nvSpPr>
        <p:spPr>
          <a:xfrm>
            <a:off x="1371600" y="7366000"/>
            <a:ext cx="1016000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45" name="Use ACF for some things"/>
          <p:cNvSpPr txBox="1"/>
          <p:nvPr/>
        </p:nvSpPr>
        <p:spPr>
          <a:xfrm>
            <a:off x="2489200" y="7493000"/>
            <a:ext cx="203200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Use ACF for some things</a:t>
            </a:r>
          </a:p>
        </p:txBody>
      </p:sp>
      <p:sp>
        <p:nvSpPr>
          <p:cNvPr id="246" name="3"/>
          <p:cNvSpPr txBox="1"/>
          <p:nvPr/>
        </p:nvSpPr>
        <p:spPr>
          <a:xfrm>
            <a:off x="1371600" y="8890000"/>
            <a:ext cx="1016000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47" name="Have fully moved on to native, React or core Gutenberg blocks"/>
          <p:cNvSpPr txBox="1"/>
          <p:nvPr/>
        </p:nvSpPr>
        <p:spPr>
          <a:xfrm>
            <a:off x="2489200" y="9017000"/>
            <a:ext cx="203200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Have fully moved on to native, React or core Gutenberg blocks</a:t>
            </a:r>
          </a:p>
        </p:txBody>
      </p:sp>
      <p:pic>
        <p:nvPicPr>
          <p:cNvPr id="248" name="prog-7.png" descr="prog-7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3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254" name="What is a dependency?"/>
          <p:cNvSpPr txBox="1"/>
          <p:nvPr/>
        </p:nvSpPr>
        <p:spPr>
          <a:xfrm>
            <a:off x="1308100" y="3581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What is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 dependency?</a:t>
            </a:r>
          </a:p>
        </p:txBody>
      </p:sp>
      <p:sp>
        <p:nvSpPr>
          <p:cNvPr id="255" name="“A situation in which you need something or someone and are unable to continue normally without them.”"/>
          <p:cNvSpPr txBox="1"/>
          <p:nvPr/>
        </p:nvSpPr>
        <p:spPr>
          <a:xfrm>
            <a:off x="1308100" y="5969000"/>
            <a:ext cx="19812000" cy="2152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6600">
                <a:solidFill>
                  <a:srgbClr val="220D44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“A situation in which you need something or someone and are unable to continue normally without them.”</a:t>
            </a:r>
          </a:p>
        </p:txBody>
      </p:sp>
      <p:sp>
        <p:nvSpPr>
          <p:cNvPr id="256" name="Cambridge Dictionary"/>
          <p:cNvSpPr txBox="1"/>
          <p:nvPr/>
        </p:nvSpPr>
        <p:spPr>
          <a:xfrm>
            <a:off x="1371600" y="8636000"/>
            <a:ext cx="101600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5D4E61"/>
                </a:solidFill>
                <a:latin typeface="Geist Medium"/>
                <a:ea typeface="Geist Medium"/>
                <a:cs typeface="Geist Medium"/>
                <a:sym typeface="Geist Medium"/>
              </a:defRPr>
            </a:lvl1pPr>
          </a:lstStyle>
          <a:p>
            <a:pPr/>
            <a:r>
              <a:t>Cambridge Dictionary</a:t>
            </a:r>
          </a:p>
        </p:txBody>
      </p:sp>
      <p:pic>
        <p:nvPicPr>
          <p:cNvPr id="257" name="prog-8.png" descr="prog-8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A brief history of"/>
          <p:cNvSpPr txBox="1"/>
          <p:nvPr/>
        </p:nvSpPr>
        <p:spPr>
          <a:xfrm>
            <a:off x="1278774" y="4898736"/>
            <a:ext cx="22707601" cy="156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92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A brief history of</a:t>
            </a:r>
          </a:p>
        </p:txBody>
      </p:sp>
      <p:sp>
        <p:nvSpPr>
          <p:cNvPr id="263" name="fields and dependencies in WordPress"/>
          <p:cNvSpPr txBox="1"/>
          <p:nvPr/>
        </p:nvSpPr>
        <p:spPr>
          <a:xfrm>
            <a:off x="1291474" y="6067136"/>
            <a:ext cx="22707601" cy="205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11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fields and dependencies in WordPress</a:t>
            </a:r>
          </a:p>
        </p:txBody>
      </p:sp>
      <p:sp>
        <p:nvSpPr>
          <p:cNvPr id="264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265" name="prog-9.png" descr="prog-9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Fields since 2004"/>
          <p:cNvSpPr txBox="1"/>
          <p:nvPr/>
        </p:nvSpPr>
        <p:spPr>
          <a:xfrm>
            <a:off x="1308100" y="31749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Fields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since 2004</a:t>
            </a:r>
          </a:p>
        </p:txBody>
      </p:sp>
      <p:sp>
        <p:nvSpPr>
          <p:cNvPr id="271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272" name="timeline.png" descr="timelin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0" y="5588000"/>
            <a:ext cx="24384000" cy="4064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2005"/>
          <p:cNvSpPr txBox="1"/>
          <p:nvPr/>
        </p:nvSpPr>
        <p:spPr>
          <a:xfrm>
            <a:off x="1778000" y="5676900"/>
            <a:ext cx="33274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2005</a:t>
            </a:r>
          </a:p>
        </p:txBody>
      </p:sp>
      <p:sp>
        <p:nvSpPr>
          <p:cNvPr id="274" name="2010"/>
          <p:cNvSpPr txBox="1"/>
          <p:nvPr/>
        </p:nvSpPr>
        <p:spPr>
          <a:xfrm>
            <a:off x="3556000" y="8064500"/>
            <a:ext cx="33274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2010</a:t>
            </a:r>
          </a:p>
        </p:txBody>
      </p:sp>
      <p:sp>
        <p:nvSpPr>
          <p:cNvPr id="275" name="2011"/>
          <p:cNvSpPr txBox="1"/>
          <p:nvPr/>
        </p:nvSpPr>
        <p:spPr>
          <a:xfrm>
            <a:off x="5334000" y="5676900"/>
            <a:ext cx="33274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2011</a:t>
            </a:r>
          </a:p>
        </p:txBody>
      </p:sp>
      <p:sp>
        <p:nvSpPr>
          <p:cNvPr id="276" name="2014"/>
          <p:cNvSpPr txBox="1"/>
          <p:nvPr/>
        </p:nvSpPr>
        <p:spPr>
          <a:xfrm>
            <a:off x="7112000" y="8064500"/>
            <a:ext cx="33274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2014</a:t>
            </a:r>
          </a:p>
        </p:txBody>
      </p:sp>
      <p:sp>
        <p:nvSpPr>
          <p:cNvPr id="277" name="2018"/>
          <p:cNvSpPr txBox="1"/>
          <p:nvPr/>
        </p:nvSpPr>
        <p:spPr>
          <a:xfrm>
            <a:off x="8890000" y="5676900"/>
            <a:ext cx="33274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2018</a:t>
            </a:r>
          </a:p>
        </p:txBody>
      </p:sp>
      <p:sp>
        <p:nvSpPr>
          <p:cNvPr id="278" name="2019"/>
          <p:cNvSpPr txBox="1"/>
          <p:nvPr/>
        </p:nvSpPr>
        <p:spPr>
          <a:xfrm>
            <a:off x="10668000" y="8064500"/>
            <a:ext cx="33274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2019</a:t>
            </a:r>
          </a:p>
        </p:txBody>
      </p:sp>
      <p:sp>
        <p:nvSpPr>
          <p:cNvPr id="279" name="2021"/>
          <p:cNvSpPr txBox="1"/>
          <p:nvPr/>
        </p:nvSpPr>
        <p:spPr>
          <a:xfrm>
            <a:off x="12446000" y="5676900"/>
            <a:ext cx="33274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2021</a:t>
            </a:r>
          </a:p>
        </p:txBody>
      </p:sp>
      <p:sp>
        <p:nvSpPr>
          <p:cNvPr id="280" name="2022"/>
          <p:cNvSpPr txBox="1"/>
          <p:nvPr/>
        </p:nvSpPr>
        <p:spPr>
          <a:xfrm>
            <a:off x="14224000" y="8064500"/>
            <a:ext cx="33274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2022</a:t>
            </a:r>
          </a:p>
        </p:txBody>
      </p:sp>
      <p:sp>
        <p:nvSpPr>
          <p:cNvPr id="281" name="2024"/>
          <p:cNvSpPr txBox="1"/>
          <p:nvPr/>
        </p:nvSpPr>
        <p:spPr>
          <a:xfrm>
            <a:off x="16002000" y="5676900"/>
            <a:ext cx="33274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2024</a:t>
            </a:r>
          </a:p>
        </p:txBody>
      </p:sp>
      <p:sp>
        <p:nvSpPr>
          <p:cNvPr id="282" name="2025"/>
          <p:cNvSpPr txBox="1"/>
          <p:nvPr/>
        </p:nvSpPr>
        <p:spPr>
          <a:xfrm>
            <a:off x="17780000" y="8064500"/>
            <a:ext cx="33274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2025</a:t>
            </a:r>
          </a:p>
        </p:txBody>
      </p:sp>
      <p:sp>
        <p:nvSpPr>
          <p:cNvPr id="283" name="2026"/>
          <p:cNvSpPr txBox="1"/>
          <p:nvPr/>
        </p:nvSpPr>
        <p:spPr>
          <a:xfrm>
            <a:off x="19558000" y="5676900"/>
            <a:ext cx="33274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2026</a:t>
            </a:r>
          </a:p>
        </p:txBody>
      </p:sp>
      <p:sp>
        <p:nvSpPr>
          <p:cNvPr id="284" name="My first WordPress"/>
          <p:cNvSpPr txBox="1"/>
          <p:nvPr/>
        </p:nvSpPr>
        <p:spPr>
          <a:xfrm>
            <a:off x="1803400" y="6286500"/>
            <a:ext cx="33274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220D44"/>
                </a:solidFill>
                <a:latin typeface="Geist SemiBold"/>
                <a:ea typeface="Geist SemiBold"/>
                <a:cs typeface="Geist SemiBold"/>
                <a:sym typeface="Geist SemiBold"/>
              </a:defRPr>
            </a:lvl1pPr>
          </a:lstStyle>
          <a:p>
            <a:pPr/>
            <a:r>
              <a:t>My first WordPress</a:t>
            </a:r>
          </a:p>
        </p:txBody>
      </p:sp>
      <p:sp>
        <p:nvSpPr>
          <p:cNvPr id="285" name="custom fields in core"/>
          <p:cNvSpPr txBox="1"/>
          <p:nvPr/>
        </p:nvSpPr>
        <p:spPr>
          <a:xfrm>
            <a:off x="1803400" y="6705599"/>
            <a:ext cx="33274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custom fields in core</a:t>
            </a:r>
          </a:p>
        </p:txBody>
      </p:sp>
      <p:sp>
        <p:nvSpPr>
          <p:cNvPr id="286" name="WordPress 3.0"/>
          <p:cNvSpPr txBox="1"/>
          <p:nvPr/>
        </p:nvSpPr>
        <p:spPr>
          <a:xfrm>
            <a:off x="3581400" y="8674100"/>
            <a:ext cx="33274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220D44"/>
                </a:solidFill>
                <a:latin typeface="Geist SemiBold"/>
                <a:ea typeface="Geist SemiBold"/>
                <a:cs typeface="Geist SemiBold"/>
                <a:sym typeface="Geist SemiBold"/>
              </a:defRPr>
            </a:lvl1pPr>
          </a:lstStyle>
          <a:p>
            <a:pPr/>
            <a:r>
              <a:t>WordPress 3.0</a:t>
            </a:r>
          </a:p>
        </p:txBody>
      </p:sp>
      <p:sp>
        <p:nvSpPr>
          <p:cNvPr id="287" name="custom post types"/>
          <p:cNvSpPr txBox="1"/>
          <p:nvPr/>
        </p:nvSpPr>
        <p:spPr>
          <a:xfrm>
            <a:off x="3581400" y="9093199"/>
            <a:ext cx="33274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custom post types</a:t>
            </a:r>
          </a:p>
        </p:txBody>
      </p:sp>
      <p:sp>
        <p:nvSpPr>
          <p:cNvPr id="288" name="ACF"/>
          <p:cNvSpPr txBox="1"/>
          <p:nvPr/>
        </p:nvSpPr>
        <p:spPr>
          <a:xfrm>
            <a:off x="5359400" y="6286500"/>
            <a:ext cx="33274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220D44"/>
                </a:solidFill>
                <a:latin typeface="Geist SemiBold"/>
                <a:ea typeface="Geist SemiBold"/>
                <a:cs typeface="Geist SemiBold"/>
                <a:sym typeface="Geist SemiBold"/>
              </a:defRPr>
            </a:lvl1pPr>
          </a:lstStyle>
          <a:p>
            <a:pPr/>
            <a:r>
              <a:t>ACF</a:t>
            </a:r>
          </a:p>
        </p:txBody>
      </p:sp>
      <p:sp>
        <p:nvSpPr>
          <p:cNvPr id="289" name="ACF’s first commit"/>
          <p:cNvSpPr txBox="1"/>
          <p:nvPr/>
        </p:nvSpPr>
        <p:spPr>
          <a:xfrm>
            <a:off x="5359400" y="6705599"/>
            <a:ext cx="33274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ACF’s first commit</a:t>
            </a:r>
          </a:p>
        </p:txBody>
      </p:sp>
      <p:sp>
        <p:nvSpPr>
          <p:cNvPr id="290" name="dudestack"/>
          <p:cNvSpPr txBox="1"/>
          <p:nvPr/>
        </p:nvSpPr>
        <p:spPr>
          <a:xfrm>
            <a:off x="7137400" y="8674100"/>
            <a:ext cx="33274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220D44"/>
                </a:solidFill>
                <a:latin typeface="Geist SemiBold"/>
                <a:ea typeface="Geist SemiBold"/>
                <a:cs typeface="Geist SemiBold"/>
                <a:sym typeface="Geist SemiBold"/>
              </a:defRPr>
            </a:lvl1pPr>
          </a:lstStyle>
          <a:p>
            <a:pPr/>
            <a:r>
              <a:t>dudestack</a:t>
            </a:r>
          </a:p>
        </p:txBody>
      </p:sp>
      <p:sp>
        <p:nvSpPr>
          <p:cNvPr id="291" name="ACF from commit one"/>
          <p:cNvSpPr txBox="1"/>
          <p:nvPr/>
        </p:nvSpPr>
        <p:spPr>
          <a:xfrm>
            <a:off x="7137400" y="9093199"/>
            <a:ext cx="33274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ACF from commit one</a:t>
            </a:r>
          </a:p>
        </p:txBody>
      </p:sp>
      <p:sp>
        <p:nvSpPr>
          <p:cNvPr id="292" name="WordPress 5.0"/>
          <p:cNvSpPr txBox="1"/>
          <p:nvPr/>
        </p:nvSpPr>
        <p:spPr>
          <a:xfrm>
            <a:off x="8915400" y="6286500"/>
            <a:ext cx="33274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220D44"/>
                </a:solidFill>
                <a:latin typeface="Geist SemiBold"/>
                <a:ea typeface="Geist SemiBold"/>
                <a:cs typeface="Geist SemiBold"/>
                <a:sym typeface="Geist SemiBold"/>
              </a:defRPr>
            </a:lvl1pPr>
          </a:lstStyle>
          <a:p>
            <a:pPr/>
            <a:r>
              <a:t>WordPress 5.0</a:t>
            </a:r>
          </a:p>
        </p:txBody>
      </p:sp>
      <p:sp>
        <p:nvSpPr>
          <p:cNvPr id="293" name="Gutenberg and React"/>
          <p:cNvSpPr txBox="1"/>
          <p:nvPr/>
        </p:nvSpPr>
        <p:spPr>
          <a:xfrm>
            <a:off x="8915400" y="6705599"/>
            <a:ext cx="33274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Gutenberg and React</a:t>
            </a:r>
          </a:p>
        </p:txBody>
      </p:sp>
      <p:sp>
        <p:nvSpPr>
          <p:cNvPr id="294" name="ACF Blocks"/>
          <p:cNvSpPr txBox="1"/>
          <p:nvPr/>
        </p:nvSpPr>
        <p:spPr>
          <a:xfrm>
            <a:off x="10693400" y="8674100"/>
            <a:ext cx="33274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220D44"/>
                </a:solidFill>
                <a:latin typeface="Geist SemiBold"/>
                <a:ea typeface="Geist SemiBold"/>
                <a:cs typeface="Geist SemiBold"/>
                <a:sym typeface="Geist SemiBold"/>
              </a:defRPr>
            </a:lvl1pPr>
          </a:lstStyle>
          <a:p>
            <a:pPr/>
            <a:r>
              <a:t>ACF Blocks</a:t>
            </a:r>
          </a:p>
        </p:txBody>
      </p:sp>
      <p:sp>
        <p:nvSpPr>
          <p:cNvPr id="295" name="fields inside blocks"/>
          <p:cNvSpPr txBox="1"/>
          <p:nvPr/>
        </p:nvSpPr>
        <p:spPr>
          <a:xfrm>
            <a:off x="10693400" y="9093199"/>
            <a:ext cx="33274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fields inside blocks</a:t>
            </a:r>
          </a:p>
        </p:txBody>
      </p:sp>
      <p:sp>
        <p:nvSpPr>
          <p:cNvPr id="296" name="WordPress 5.8"/>
          <p:cNvSpPr txBox="1"/>
          <p:nvPr/>
        </p:nvSpPr>
        <p:spPr>
          <a:xfrm>
            <a:off x="12471400" y="6286500"/>
            <a:ext cx="33274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220D44"/>
                </a:solidFill>
                <a:latin typeface="Geist SemiBold"/>
                <a:ea typeface="Geist SemiBold"/>
                <a:cs typeface="Geist SemiBold"/>
                <a:sym typeface="Geist SemiBold"/>
              </a:defRPr>
            </a:lvl1pPr>
          </a:lstStyle>
          <a:p>
            <a:pPr/>
            <a:r>
              <a:t>WordPress 5.8</a:t>
            </a:r>
          </a:p>
        </p:txBody>
      </p:sp>
      <p:sp>
        <p:nvSpPr>
          <p:cNvPr id="297" name="theme.json, block.json"/>
          <p:cNvSpPr txBox="1"/>
          <p:nvPr/>
        </p:nvSpPr>
        <p:spPr>
          <a:xfrm>
            <a:off x="12471400" y="6724649"/>
            <a:ext cx="33274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19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rPr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theme.json</a:t>
            </a:r>
            <a:r>
              <a:t>, </a:t>
            </a:r>
            <a:r>
              <a:rPr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block.json</a:t>
            </a:r>
          </a:p>
        </p:txBody>
      </p:sp>
      <p:sp>
        <p:nvSpPr>
          <p:cNvPr id="298" name="ACF to WP Engine"/>
          <p:cNvSpPr txBox="1"/>
          <p:nvPr/>
        </p:nvSpPr>
        <p:spPr>
          <a:xfrm>
            <a:off x="14249400" y="8674100"/>
            <a:ext cx="33274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220D44"/>
                </a:solidFill>
                <a:latin typeface="Geist SemiBold"/>
                <a:ea typeface="Geist SemiBold"/>
                <a:cs typeface="Geist SemiBold"/>
                <a:sym typeface="Geist SemiBold"/>
              </a:defRPr>
            </a:lvl1pPr>
          </a:lstStyle>
          <a:p>
            <a:pPr/>
            <a:r>
              <a:t>ACF to WP Engine</a:t>
            </a:r>
          </a:p>
        </p:txBody>
      </p:sp>
      <p:sp>
        <p:nvSpPr>
          <p:cNvPr id="299" name="via Delicious Brains"/>
          <p:cNvSpPr txBox="1"/>
          <p:nvPr/>
        </p:nvSpPr>
        <p:spPr>
          <a:xfrm>
            <a:off x="14249400" y="9093199"/>
            <a:ext cx="33274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via Delicious Brains</a:t>
            </a:r>
          </a:p>
        </p:txBody>
      </p:sp>
      <p:sp>
        <p:nvSpPr>
          <p:cNvPr id="300" name="ACF is forked"/>
          <p:cNvSpPr txBox="1"/>
          <p:nvPr/>
        </p:nvSpPr>
        <p:spPr>
          <a:xfrm>
            <a:off x="16027400" y="6286500"/>
            <a:ext cx="33274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220D44"/>
                </a:solidFill>
                <a:latin typeface="Geist SemiBold"/>
                <a:ea typeface="Geist SemiBold"/>
                <a:cs typeface="Geist SemiBold"/>
                <a:sym typeface="Geist SemiBold"/>
              </a:defRPr>
            </a:lvl1pPr>
          </a:lstStyle>
          <a:p>
            <a:pPr/>
            <a:r>
              <a:t>ACF is forked</a:t>
            </a:r>
          </a:p>
        </p:txBody>
      </p:sp>
      <p:sp>
        <p:nvSpPr>
          <p:cNvPr id="301" name="Bindings land in 6.5"/>
          <p:cNvSpPr txBox="1"/>
          <p:nvPr/>
        </p:nvSpPr>
        <p:spPr>
          <a:xfrm>
            <a:off x="16027400" y="6705599"/>
            <a:ext cx="33274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Bindings land in 6.5</a:t>
            </a:r>
          </a:p>
        </p:txBody>
      </p:sp>
      <p:sp>
        <p:nvSpPr>
          <p:cNvPr id="302" name="WordPress 6.9"/>
          <p:cNvSpPr txBox="1"/>
          <p:nvPr/>
        </p:nvSpPr>
        <p:spPr>
          <a:xfrm>
            <a:off x="17805400" y="8674100"/>
            <a:ext cx="33274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220D44"/>
                </a:solidFill>
                <a:latin typeface="Geist SemiBold"/>
                <a:ea typeface="Geist SemiBold"/>
                <a:cs typeface="Geist SemiBold"/>
                <a:sym typeface="Geist SemiBold"/>
              </a:defRPr>
            </a:lvl1pPr>
          </a:lstStyle>
          <a:p>
            <a:pPr/>
            <a:r>
              <a:t>WordPress 6.9</a:t>
            </a:r>
          </a:p>
        </p:txBody>
      </p:sp>
      <p:sp>
        <p:nvSpPr>
          <p:cNvPr id="303" name="Native blocks at Dude"/>
          <p:cNvSpPr txBox="1"/>
          <p:nvPr/>
        </p:nvSpPr>
        <p:spPr>
          <a:xfrm>
            <a:off x="17805400" y="9093199"/>
            <a:ext cx="300968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Native blocks at Dude</a:t>
            </a:r>
          </a:p>
        </p:txBody>
      </p:sp>
      <p:sp>
        <p:nvSpPr>
          <p:cNvPr id="304" name="WordPress 7 -&gt;"/>
          <p:cNvSpPr txBox="1"/>
          <p:nvPr/>
        </p:nvSpPr>
        <p:spPr>
          <a:xfrm>
            <a:off x="19583400" y="6286500"/>
            <a:ext cx="33274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220D44"/>
                </a:solidFill>
                <a:latin typeface="Geist SemiBold"/>
                <a:ea typeface="Geist SemiBold"/>
                <a:cs typeface="Geist SemiBold"/>
                <a:sym typeface="Geist SemiBold"/>
              </a:defRPr>
            </a:lvl1pPr>
          </a:lstStyle>
          <a:p>
            <a:pPr/>
            <a:r>
              <a:t>WordPress 7 -&gt;</a:t>
            </a:r>
          </a:p>
        </p:txBody>
      </p:sp>
      <p:sp>
        <p:nvSpPr>
          <p:cNvPr id="305" name="Going ACF-free"/>
          <p:cNvSpPr txBox="1"/>
          <p:nvPr/>
        </p:nvSpPr>
        <p:spPr>
          <a:xfrm>
            <a:off x="19583400" y="6705599"/>
            <a:ext cx="33274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306" name="prog-10.png" descr="prog-10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Advanced"/>
          <p:cNvSpPr txBox="1"/>
          <p:nvPr/>
        </p:nvSpPr>
        <p:spPr>
          <a:xfrm>
            <a:off x="1292120" y="4938419"/>
            <a:ext cx="22707601" cy="156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92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Advanced</a:t>
            </a:r>
          </a:p>
        </p:txBody>
      </p:sp>
      <p:sp>
        <p:nvSpPr>
          <p:cNvPr id="312" name="What is a field, anyway?"/>
          <p:cNvSpPr txBox="1"/>
          <p:nvPr/>
        </p:nvSpPr>
        <p:spPr>
          <a:xfrm>
            <a:off x="1320800" y="6959599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What is a field, anyway?</a:t>
            </a:r>
          </a:p>
        </p:txBody>
      </p:sp>
      <p:sp>
        <p:nvSpPr>
          <p:cNvPr id="313" name="We are talking about fields, right?"/>
          <p:cNvSpPr txBox="1"/>
          <p:nvPr/>
        </p:nvSpPr>
        <p:spPr>
          <a:xfrm>
            <a:off x="1320800" y="7619999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We are talking about fields, right?</a:t>
            </a:r>
          </a:p>
        </p:txBody>
      </p:sp>
      <p:sp>
        <p:nvSpPr>
          <p:cNvPr id="314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315" name="scratch.png" descr="scratch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07920" y="4836819"/>
            <a:ext cx="8890001" cy="1778001"/>
          </a:xfrm>
          <a:prstGeom prst="rect">
            <a:avLst/>
          </a:prstGeom>
          <a:ln w="12700">
            <a:miter lim="400000"/>
          </a:ln>
        </p:spPr>
      </p:pic>
      <p:sp>
        <p:nvSpPr>
          <p:cNvPr id="316" name="Custom fields"/>
          <p:cNvSpPr txBox="1"/>
          <p:nvPr/>
        </p:nvSpPr>
        <p:spPr>
          <a:xfrm>
            <a:off x="9359331" y="4970169"/>
            <a:ext cx="10769185" cy="149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8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Custom fields</a:t>
            </a:r>
          </a:p>
        </p:txBody>
      </p:sp>
      <p:sp>
        <p:nvSpPr>
          <p:cNvPr id="317" name="First there were"/>
          <p:cNvSpPr txBox="1"/>
          <p:nvPr/>
        </p:nvSpPr>
        <p:spPr>
          <a:xfrm>
            <a:off x="1295400" y="3175000"/>
            <a:ext cx="12014200" cy="196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88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First </a:t>
            </a:r>
            <a:r>
              <a:rPr i="1" sz="113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there were</a:t>
            </a:r>
          </a:p>
        </p:txBody>
      </p:sp>
      <p:pic>
        <p:nvPicPr>
          <p:cNvPr id="318" name="prog-11.png" descr="prog-11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23" name="No dependencies?"/>
          <p:cNvSpPr txBox="1"/>
          <p:nvPr/>
        </p:nvSpPr>
        <p:spPr>
          <a:xfrm>
            <a:off x="1308100" y="2489200"/>
            <a:ext cx="22707600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No dependencies?</a:t>
            </a:r>
          </a:p>
        </p:txBody>
      </p:sp>
      <p:sp>
        <p:nvSpPr>
          <p:cNvPr id="324" name="—"/>
          <p:cNvSpPr txBox="1"/>
          <p:nvPr/>
        </p:nvSpPr>
        <p:spPr>
          <a:xfrm>
            <a:off x="1320800" y="5842000"/>
            <a:ext cx="9906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325" name="In the early days, some of us used plain meta fields, and it was enough."/>
          <p:cNvSpPr txBox="1"/>
          <p:nvPr/>
        </p:nvSpPr>
        <p:spPr>
          <a:xfrm>
            <a:off x="2082800" y="5841999"/>
            <a:ext cx="9621818" cy="1283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In the early days, some of us used plain meta fields, and it was enough.</a:t>
            </a:r>
          </a:p>
        </p:txBody>
      </p:sp>
      <p:sp>
        <p:nvSpPr>
          <p:cNvPr id="326" name="—"/>
          <p:cNvSpPr txBox="1"/>
          <p:nvPr/>
        </p:nvSpPr>
        <p:spPr>
          <a:xfrm>
            <a:off x="1320800" y="7531100"/>
            <a:ext cx="9906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327" name="For a developer, get_post_meta() is fine. It is a knife straight into a row."/>
          <p:cNvSpPr txBox="1"/>
          <p:nvPr/>
        </p:nvSpPr>
        <p:spPr>
          <a:xfrm>
            <a:off x="2082800" y="7531099"/>
            <a:ext cx="9225995" cy="1283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8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For a developer, </a:t>
            </a:r>
            <a:r>
              <a:rPr sz="34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get_post_meta()</a:t>
            </a:r>
            <a:r>
              <a:t> is fine. It is a knife straight into a row.</a:t>
            </a:r>
          </a:p>
        </p:txBody>
      </p:sp>
      <p:sp>
        <p:nvSpPr>
          <p:cNvPr id="328" name="—"/>
          <p:cNvSpPr txBox="1"/>
          <p:nvPr/>
        </p:nvSpPr>
        <p:spPr>
          <a:xfrm>
            <a:off x="1320800" y="9220200"/>
            <a:ext cx="9906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329" name="Once clients edit content themselves, they need a proper editing interface. Also, text fields are way too limited."/>
          <p:cNvSpPr txBox="1"/>
          <p:nvPr/>
        </p:nvSpPr>
        <p:spPr>
          <a:xfrm>
            <a:off x="2082800" y="9220199"/>
            <a:ext cx="8652888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Once clients edit content themselves, they need a proper editing interface. Also, text fields are way too limited.</a:t>
            </a:r>
          </a:p>
        </p:txBody>
      </p:sp>
      <p:sp>
        <p:nvSpPr>
          <p:cNvPr id="330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331" name="custom-fields.png" descr="custom-fields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090400" y="5918200"/>
            <a:ext cx="10929526" cy="4229100"/>
          </a:xfrm>
          <a:prstGeom prst="rect">
            <a:avLst/>
          </a:prstGeom>
          <a:ln w="12700">
            <a:miter lim="400000"/>
          </a:ln>
        </p:spPr>
      </p:pic>
      <p:sp>
        <p:nvSpPr>
          <p:cNvPr id="332" name="Let’s knife the database!"/>
          <p:cNvSpPr txBox="1"/>
          <p:nvPr/>
        </p:nvSpPr>
        <p:spPr>
          <a:xfrm>
            <a:off x="1308100" y="3555999"/>
            <a:ext cx="165100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Let’s knife the database!</a:t>
            </a:r>
          </a:p>
        </p:txBody>
      </p:sp>
      <p:sp>
        <p:nvSpPr>
          <p:cNvPr id="333" name="Let’s go back to"/>
          <p:cNvSpPr txBox="1"/>
          <p:nvPr/>
        </p:nvSpPr>
        <p:spPr>
          <a:xfrm>
            <a:off x="13977619" y="937894"/>
            <a:ext cx="5334001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49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Let’s go back to</a:t>
            </a:r>
          </a:p>
        </p:txBody>
      </p:sp>
      <p:sp>
        <p:nvSpPr>
          <p:cNvPr id="334" name="prehistoric times…"/>
          <p:cNvSpPr txBox="1"/>
          <p:nvPr/>
        </p:nvSpPr>
        <p:spPr>
          <a:xfrm>
            <a:off x="13977619" y="1598295"/>
            <a:ext cx="5334001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49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prehistoric times…</a:t>
            </a:r>
          </a:p>
        </p:txBody>
      </p:sp>
      <p:pic>
        <p:nvPicPr>
          <p:cNvPr id="335" name="arrow.png" descr="arrow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16988635">
            <a:off x="18097935" y="1393913"/>
            <a:ext cx="929326" cy="1323164"/>
          </a:xfrm>
          <a:prstGeom prst="rect">
            <a:avLst/>
          </a:prstGeom>
          <a:ln w="12700">
            <a:miter lim="400000"/>
          </a:ln>
        </p:spPr>
      </p:pic>
      <p:pic>
        <p:nvPicPr>
          <p:cNvPr id="336" name="trex-only.png" descr="trex-only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8923000" y="1790700"/>
            <a:ext cx="4191000" cy="355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7" name="stamp-best-before.png" descr="stamp-best-befor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4859000" y="7772400"/>
            <a:ext cx="8629650" cy="383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8" name="prog-12.png" descr="prog-12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Using (prehistoric) custom fields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Using (prehistoric)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custom fields</a:t>
            </a:r>
          </a:p>
        </p:txBody>
      </p:sp>
      <p:sp>
        <p:nvSpPr>
          <p:cNvPr id="344" name="Turn them on"/>
          <p:cNvSpPr txBox="1"/>
          <p:nvPr/>
        </p:nvSpPr>
        <p:spPr>
          <a:xfrm>
            <a:off x="1295400" y="4813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Turn them on</a:t>
            </a:r>
          </a:p>
        </p:txBody>
      </p:sp>
      <p:sp>
        <p:nvSpPr>
          <p:cNvPr id="345" name="Options (three dots), Preferences, General, Advanced, Custom fields. The editor reloads."/>
          <p:cNvSpPr txBox="1"/>
          <p:nvPr/>
        </p:nvSpPr>
        <p:spPr>
          <a:xfrm>
            <a:off x="1320800" y="5638799"/>
            <a:ext cx="10364867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Options (three dots), Preferences, General, Advanced, Custom fields. The editor reloads.</a:t>
            </a:r>
          </a:p>
        </p:txBody>
      </p:sp>
      <p:sp>
        <p:nvSpPr>
          <p:cNvPr id="346" name="ACF actually disables them"/>
          <p:cNvSpPr txBox="1"/>
          <p:nvPr/>
        </p:nvSpPr>
        <p:spPr>
          <a:xfrm>
            <a:off x="12801600" y="4813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ACF actually disables them</a:t>
            </a:r>
          </a:p>
        </p:txBody>
      </p:sp>
      <p:sp>
        <p:nvSpPr>
          <p:cNvPr id="347" name="ACF removes the Custom Fields box by default, so on an ACF site the toggle is not there at all. One filter brings it back."/>
          <p:cNvSpPr txBox="1"/>
          <p:nvPr/>
        </p:nvSpPr>
        <p:spPr>
          <a:xfrm>
            <a:off x="12827000" y="5638800"/>
            <a:ext cx="10101144" cy="166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ACF removes the Custom Fields box by default, so on an ACF site the toggle is not there at all. One filter brings it back.</a:t>
            </a:r>
          </a:p>
        </p:txBody>
      </p:sp>
      <p:sp>
        <p:nvSpPr>
          <p:cNvPr id="348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349" name="code-acf-metabox-4.png" descr="code-acf-metabox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27000" y="7620000"/>
            <a:ext cx="8890000" cy="269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0" name="custom-fields-toggle.png" descr="custom-fields-toggl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20800" y="7620000"/>
            <a:ext cx="10148048" cy="3657600"/>
          </a:xfrm>
          <a:prstGeom prst="rect">
            <a:avLst/>
          </a:prstGeom>
          <a:ln w="12700">
            <a:miter lim="400000"/>
          </a:ln>
        </p:spPr>
      </p:pic>
      <p:sp>
        <p:nvSpPr>
          <p:cNvPr id="351" name="Hidden in Preferences since 2018. Bring a shovel."/>
          <p:cNvSpPr txBox="1"/>
          <p:nvPr/>
        </p:nvSpPr>
        <p:spPr>
          <a:xfrm>
            <a:off x="12750800" y="10617199"/>
            <a:ext cx="10160000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44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Hidden in Preferences since 2018. Bring a shovel.</a:t>
            </a:r>
          </a:p>
        </p:txBody>
      </p:sp>
      <p:pic>
        <p:nvPicPr>
          <p:cNvPr id="352" name="stamp-dependency-free.png" descr="stamp-dependency-fre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699000" y="8280400"/>
            <a:ext cx="8629650" cy="383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3" name="prog-13.png" descr="prog-13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58" name="Advanced Custom Fields"/>
          <p:cNvSpPr txBox="1"/>
          <p:nvPr/>
        </p:nvSpPr>
        <p:spPr>
          <a:xfrm>
            <a:off x="1308100" y="4207395"/>
            <a:ext cx="22707600" cy="156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92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Advanced Custom Fields</a:t>
            </a:r>
          </a:p>
        </p:txBody>
      </p:sp>
      <p:sp>
        <p:nvSpPr>
          <p:cNvPr id="359" name="since 2011"/>
          <p:cNvSpPr txBox="1"/>
          <p:nvPr/>
        </p:nvSpPr>
        <p:spPr>
          <a:xfrm>
            <a:off x="1308100" y="5366740"/>
            <a:ext cx="22707600" cy="205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11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since 2011</a:t>
            </a:r>
          </a:p>
        </p:txBody>
      </p:sp>
      <p:sp>
        <p:nvSpPr>
          <p:cNvPr id="360" name="ACF was born to extend custom fields."/>
          <p:cNvSpPr txBox="1"/>
          <p:nvPr/>
        </p:nvSpPr>
        <p:spPr>
          <a:xfrm>
            <a:off x="1320800" y="7714209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ACF was born to extend custom fields.</a:t>
            </a:r>
          </a:p>
        </p:txBody>
      </p:sp>
      <p:sp>
        <p:nvSpPr>
          <p:cNvPr id="361" name="Better fields, but still fields."/>
          <p:cNvSpPr txBox="1"/>
          <p:nvPr/>
        </p:nvSpPr>
        <p:spPr>
          <a:xfrm>
            <a:off x="1320800" y="8374609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Better fields, but still fields.</a:t>
            </a:r>
          </a:p>
        </p:txBody>
      </p:sp>
      <p:sp>
        <p:nvSpPr>
          <p:cNvPr id="362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363" name="We are past the field era and into the block era."/>
          <p:cNvSpPr txBox="1"/>
          <p:nvPr/>
        </p:nvSpPr>
        <p:spPr>
          <a:xfrm>
            <a:off x="1320800" y="9009609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We are past the field era and into the block era.</a:t>
            </a:r>
          </a:p>
        </p:txBody>
      </p:sp>
      <p:pic>
        <p:nvPicPr>
          <p:cNvPr id="364" name="prog-14.png" descr="prog-1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We thought we did “the core way”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We thought we did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“the core way”</a:t>
            </a:r>
          </a:p>
        </p:txBody>
      </p:sp>
      <p:sp>
        <p:nvSpPr>
          <p:cNvPr id="370" name="Underscores, 2016"/>
          <p:cNvSpPr txBox="1"/>
          <p:nvPr/>
        </p:nvSpPr>
        <p:spPr>
          <a:xfrm>
            <a:off x="1295400" y="4813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Underscores, 2016</a:t>
            </a:r>
          </a:p>
        </p:txBody>
      </p:sp>
      <p:sp>
        <p:nvSpPr>
          <p:cNvPr id="371" name="air-light started from Automattic’s starter theme, a traditional theme kept as close to core as we could."/>
          <p:cNvSpPr txBox="1"/>
          <p:nvPr/>
        </p:nvSpPr>
        <p:spPr>
          <a:xfrm>
            <a:off x="1320800" y="5638799"/>
            <a:ext cx="10693400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air-light started from Automattic’s starter theme,</a:t>
            </a:r>
            <a:br/>
            <a:r>
              <a:t>a traditional theme kept as close to core as we could.</a:t>
            </a:r>
          </a:p>
        </p:txBody>
      </p:sp>
      <p:sp>
        <p:nvSpPr>
          <p:cNvPr id="372" name="Core functions"/>
          <p:cNvSpPr txBox="1"/>
          <p:nvPr/>
        </p:nvSpPr>
        <p:spPr>
          <a:xfrm>
            <a:off x="12801600" y="4813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Core functions</a:t>
            </a:r>
          </a:p>
        </p:txBody>
      </p:sp>
      <p:sp>
        <p:nvSpPr>
          <p:cNvPr id="373" name="Templates built from WordPress’s own parts: the loop, template parts, WP_Query."/>
          <p:cNvSpPr txBox="1"/>
          <p:nvPr/>
        </p:nvSpPr>
        <p:spPr>
          <a:xfrm>
            <a:off x="12827000" y="5638799"/>
            <a:ext cx="10101144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Templates built from WordPress’s own parts: the loop, template parts, </a:t>
            </a:r>
            <a:r>
              <a:rPr sz="31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WP_Query</a:t>
            </a:r>
            <a:r>
              <a:t>.</a:t>
            </a:r>
          </a:p>
        </p:txBody>
      </p:sp>
      <p:sp>
        <p:nvSpPr>
          <p:cNvPr id="374" name="ACF on every site"/>
          <p:cNvSpPr txBox="1"/>
          <p:nvPr/>
        </p:nvSpPr>
        <p:spPr>
          <a:xfrm>
            <a:off x="1295400" y="7734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ACF on every site</a:t>
            </a:r>
          </a:p>
        </p:txBody>
      </p:sp>
      <p:sp>
        <p:nvSpPr>
          <p:cNvPr id="375" name="The content in those templates came from ACF fields. That is not the core way."/>
          <p:cNvSpPr txBox="1"/>
          <p:nvPr/>
        </p:nvSpPr>
        <p:spPr>
          <a:xfrm>
            <a:off x="1320800" y="8559799"/>
            <a:ext cx="10101144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The content in those templates came from ACF fields. That is not the core way.</a:t>
            </a:r>
          </a:p>
        </p:txBody>
      </p:sp>
      <p:sp>
        <p:nvSpPr>
          <p:cNvPr id="376" name="Why we kept doing ACF"/>
          <p:cNvSpPr txBox="1"/>
          <p:nvPr/>
        </p:nvSpPr>
        <p:spPr>
          <a:xfrm>
            <a:off x="12801600" y="7734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Why we kept doing ACF</a:t>
            </a:r>
          </a:p>
        </p:txBody>
      </p:sp>
      <p:sp>
        <p:nvSpPr>
          <p:cNvPr id="377" name="ACF was quick to build with, and the sites built on it kept working for years."/>
          <p:cNvSpPr txBox="1"/>
          <p:nvPr/>
        </p:nvSpPr>
        <p:spPr>
          <a:xfrm>
            <a:off x="12827000" y="8559799"/>
            <a:ext cx="9959979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ACF was quick to build with, and the sites built on it kept working for years.</a:t>
            </a:r>
          </a:p>
        </p:txBody>
      </p:sp>
      <p:sp>
        <p:nvSpPr>
          <p:cNvPr id="378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379" name="prog-15.png" descr="prog-1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84" name="So what’s"/>
          <p:cNvSpPr txBox="1"/>
          <p:nvPr/>
        </p:nvSpPr>
        <p:spPr>
          <a:xfrm>
            <a:off x="1308100" y="4203699"/>
            <a:ext cx="22707600" cy="156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92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So what’s</a:t>
            </a:r>
          </a:p>
        </p:txBody>
      </p:sp>
      <p:sp>
        <p:nvSpPr>
          <p:cNvPr id="385" name="the answer?"/>
          <p:cNvSpPr txBox="1"/>
          <p:nvPr/>
        </p:nvSpPr>
        <p:spPr>
          <a:xfrm>
            <a:off x="1308100" y="5372099"/>
            <a:ext cx="22707600" cy="205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11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the answer?</a:t>
            </a:r>
          </a:p>
        </p:txBody>
      </p:sp>
      <p:sp>
        <p:nvSpPr>
          <p:cNvPr id="386" name="When we finally went native in 2025,"/>
          <p:cNvSpPr txBox="1"/>
          <p:nvPr/>
        </p:nvSpPr>
        <p:spPr>
          <a:xfrm>
            <a:off x="1320800" y="7708899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When we finally went native in 2025,</a:t>
            </a:r>
          </a:p>
        </p:txBody>
      </p:sp>
      <p:sp>
        <p:nvSpPr>
          <p:cNvPr id="387" name="we thought we knew."/>
          <p:cNvSpPr txBox="1"/>
          <p:nvPr/>
        </p:nvSpPr>
        <p:spPr>
          <a:xfrm>
            <a:off x="1320800" y="8369299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we thought we knew.</a:t>
            </a:r>
          </a:p>
        </p:txBody>
      </p:sp>
      <p:sp>
        <p:nvSpPr>
          <p:cNvPr id="388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389" name="deep-thought-42.gif" descr="deep-thought-42.gif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462000" y="4572000"/>
            <a:ext cx="9534574" cy="381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0" name="prog-16.png" descr="prog-16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95" name="We thought “native” meant React.js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We thought “native”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meant React.js</a:t>
            </a:r>
          </a:p>
        </p:txBody>
      </p:sp>
      <p:sp>
        <p:nvSpPr>
          <p:cNvPr id="396" name="2018 to 2024"/>
          <p:cNvSpPr txBox="1"/>
          <p:nvPr/>
        </p:nvSpPr>
        <p:spPr>
          <a:xfrm>
            <a:off x="1295400" y="4813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2018 to 2024</a:t>
            </a:r>
          </a:p>
        </p:txBody>
      </p:sp>
      <p:sp>
        <p:nvSpPr>
          <p:cNvPr id="397" name="We used core Gutenberg for articles, ACF for everything else. ACF Gutenberg blocks since 2021."/>
          <p:cNvSpPr txBox="1"/>
          <p:nvPr/>
        </p:nvSpPr>
        <p:spPr>
          <a:xfrm>
            <a:off x="1320800" y="5638800"/>
            <a:ext cx="7932559" cy="166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We used core Gutenberg for articles, ACF for everything else.</a:t>
            </a:r>
            <a:br/>
            <a:r>
              <a:t>ACF Gutenberg blocks since 2021.</a:t>
            </a:r>
          </a:p>
        </p:txBody>
      </p:sp>
      <p:sp>
        <p:nvSpPr>
          <p:cNvPr id="398" name="2025"/>
          <p:cNvSpPr txBox="1"/>
          <p:nvPr/>
        </p:nvSpPr>
        <p:spPr>
          <a:xfrm>
            <a:off x="12801600" y="4813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2025</a:t>
            </a:r>
          </a:p>
        </p:txBody>
      </p:sp>
      <p:sp>
        <p:nvSpPr>
          <p:cNvPr id="399" name="Our first real native blocks: every option written by hand in React."/>
          <p:cNvSpPr txBox="1"/>
          <p:nvPr/>
        </p:nvSpPr>
        <p:spPr>
          <a:xfrm>
            <a:off x="12827000" y="5638799"/>
            <a:ext cx="9057700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Our first </a:t>
            </a:r>
            <a:r>
              <a:t>real</a:t>
            </a:r>
            <a:r>
              <a:t> native blocks:</a:t>
            </a:r>
            <a:br/>
            <a:r>
              <a:t>every option written by hand in React.</a:t>
            </a:r>
          </a:p>
        </p:txBody>
      </p:sp>
      <p:sp>
        <p:nvSpPr>
          <p:cNvPr id="400" name="One site, when we still stumbled"/>
          <p:cNvSpPr txBox="1"/>
          <p:nvPr/>
        </p:nvSpPr>
        <p:spPr>
          <a:xfrm>
            <a:off x="1295400" y="7734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One site, when we still stumbled</a:t>
            </a:r>
          </a:p>
        </p:txBody>
      </p:sp>
      <p:sp>
        <p:nvSpPr>
          <p:cNvPr id="401" name="23 custom blocks, 77 attributes, about 3000 lines of edit.js JavaScript."/>
          <p:cNvSpPr txBox="1"/>
          <p:nvPr/>
        </p:nvSpPr>
        <p:spPr>
          <a:xfrm>
            <a:off x="1320800" y="8559799"/>
            <a:ext cx="8742793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23 custom blocks, 77 attributes, about 3000 lines of edit.js JavaScript.</a:t>
            </a:r>
          </a:p>
        </p:txBody>
      </p:sp>
      <p:sp>
        <p:nvSpPr>
          <p:cNvPr id="402" name="The result"/>
          <p:cNvSpPr txBox="1"/>
          <p:nvPr/>
        </p:nvSpPr>
        <p:spPr>
          <a:xfrm>
            <a:off x="12801600" y="7734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The result</a:t>
            </a:r>
          </a:p>
        </p:txBody>
      </p:sp>
      <p:sp>
        <p:nvSpPr>
          <p:cNvPr id="403" name="Too static blocks, “reinventing the wheel” like with ACF…"/>
          <p:cNvSpPr txBox="1"/>
          <p:nvPr/>
        </p:nvSpPr>
        <p:spPr>
          <a:xfrm>
            <a:off x="12827000" y="8559799"/>
            <a:ext cx="6984510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Too static blocks, “reinventing the wheel” like with ACF…</a:t>
            </a:r>
          </a:p>
        </p:txBody>
      </p:sp>
      <p:sp>
        <p:nvSpPr>
          <p:cNvPr id="404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405" name="stamp-not-quite.png" descr="stamp-not-quit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526374" y="9279588"/>
            <a:ext cx="7620001" cy="2857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6" name="prog-17.png" descr="prog-17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11" name="And suddenly we were"/>
          <p:cNvSpPr txBox="1"/>
          <p:nvPr/>
        </p:nvSpPr>
        <p:spPr>
          <a:xfrm>
            <a:off x="1308100" y="2959100"/>
            <a:ext cx="22707600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And suddenly we were</a:t>
            </a:r>
          </a:p>
        </p:txBody>
      </p:sp>
      <p:sp>
        <p:nvSpPr>
          <p:cNvPr id="412" name="2012"/>
          <p:cNvSpPr txBox="1"/>
          <p:nvPr/>
        </p:nvSpPr>
        <p:spPr>
          <a:xfrm>
            <a:off x="1295400" y="5011420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2012</a:t>
            </a:r>
          </a:p>
        </p:txBody>
      </p:sp>
      <p:sp>
        <p:nvSpPr>
          <p:cNvPr id="413" name="Underscores. PHP, HTML and CSS. Where I learned themes, and where I stayed for the longest time."/>
          <p:cNvSpPr txBox="1"/>
          <p:nvPr/>
        </p:nvSpPr>
        <p:spPr>
          <a:xfrm>
            <a:off x="1320800" y="5836919"/>
            <a:ext cx="10744200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Underscores. PHP, HTML and CSS. Where I learned themes, and where I stayed for the longest time.</a:t>
            </a:r>
          </a:p>
        </p:txBody>
      </p:sp>
      <p:sp>
        <p:nvSpPr>
          <p:cNvPr id="414" name="Flashback, historical hard pass"/>
          <p:cNvSpPr txBox="1"/>
          <p:nvPr/>
        </p:nvSpPr>
        <p:spPr>
          <a:xfrm>
            <a:off x="12801600" y="5011420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Flashback, historical hard pass</a:t>
            </a:r>
          </a:p>
        </p:txBody>
      </p:sp>
      <p:sp>
        <p:nvSpPr>
          <p:cNvPr id="415" name="Sage, Twig, Timber, Blade, Dust.js, exotic ways of building WordPress. I kept at doing traditional WordPress."/>
          <p:cNvSpPr txBox="1"/>
          <p:nvPr/>
        </p:nvSpPr>
        <p:spPr>
          <a:xfrm>
            <a:off x="12827000" y="5814059"/>
            <a:ext cx="8655785" cy="166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Sage, Twig, Timber, Blade, Dust.js, exotic ways of building WordPress. I kept at doing traditional WordPress.</a:t>
            </a:r>
          </a:p>
        </p:txBody>
      </p:sp>
      <p:sp>
        <p:nvSpPr>
          <p:cNvPr id="416" name="2017"/>
          <p:cNvSpPr txBox="1"/>
          <p:nvPr/>
        </p:nvSpPr>
        <p:spPr>
          <a:xfrm>
            <a:off x="1295400" y="793241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2017</a:t>
            </a:r>
          </a:p>
        </p:txBody>
      </p:sp>
      <p:sp>
        <p:nvSpPr>
          <p:cNvPr id="417" name="WordPress nearly dropped React over its patent clause. Facebook relicensed it as MIT."/>
          <p:cNvSpPr txBox="1"/>
          <p:nvPr/>
        </p:nvSpPr>
        <p:spPr>
          <a:xfrm>
            <a:off x="1320800" y="8757919"/>
            <a:ext cx="10744200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WordPress nearly dropped React over its patent clause. Facebook relicensed it as MIT.</a:t>
            </a:r>
          </a:p>
        </p:txBody>
      </p:sp>
      <p:sp>
        <p:nvSpPr>
          <p:cNvPr id="418" name="2018"/>
          <p:cNvSpPr txBox="1"/>
          <p:nvPr/>
        </p:nvSpPr>
        <p:spPr>
          <a:xfrm>
            <a:off x="12801600" y="793241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2018</a:t>
            </a:r>
          </a:p>
        </p:txBody>
      </p:sp>
      <p:sp>
        <p:nvSpPr>
          <p:cNvPr id="419" name="Blocks are React components, built with npm and @wordpress/scripts."/>
          <p:cNvSpPr txBox="1"/>
          <p:nvPr/>
        </p:nvSpPr>
        <p:spPr>
          <a:xfrm>
            <a:off x="12827000" y="8762999"/>
            <a:ext cx="8351466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Blocks are React components, built with npm and </a:t>
            </a:r>
            <a:r>
              <a:rPr sz="31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@wordpress/scripts</a:t>
            </a:r>
            <a:r>
              <a:t>.</a:t>
            </a:r>
          </a:p>
        </p:txBody>
      </p:sp>
      <p:sp>
        <p:nvSpPr>
          <p:cNvPr id="420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421" name="-devs"/>
          <p:cNvSpPr txBox="1"/>
          <p:nvPr/>
        </p:nvSpPr>
        <p:spPr>
          <a:xfrm>
            <a:off x="19359880" y="2701289"/>
            <a:ext cx="6096001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-devs</a:t>
            </a:r>
          </a:p>
        </p:txBody>
      </p:sp>
      <p:pic>
        <p:nvPicPr>
          <p:cNvPr id="422" name="js-logo.png" descr="js-log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374619" y="3114039"/>
            <a:ext cx="965201" cy="965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react-lockup.png" descr="react-lockup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512539" y="3181350"/>
            <a:ext cx="3118339" cy="965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4" name="stamp-not-quite.png" descr="stamp-not-quit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7345931" y="6512559"/>
            <a:ext cx="5177262" cy="1941474"/>
          </a:xfrm>
          <a:prstGeom prst="rect">
            <a:avLst/>
          </a:prstGeom>
          <a:ln w="12700">
            <a:miter lim="400000"/>
          </a:ln>
        </p:spPr>
      </p:pic>
      <p:pic>
        <p:nvPicPr>
          <p:cNvPr id="425" name="prog-18.png" descr="prog-18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30" name="Media and text, coded by hand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Media and text,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coded by hand</a:t>
            </a:r>
          </a:p>
        </p:txBody>
      </p:sp>
      <p:sp>
        <p:nvSpPr>
          <p:cNvPr id="431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432" name="panel-470x456.png" descr="panel-470x456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4826000"/>
            <a:ext cx="5969000" cy="5791200"/>
          </a:xfrm>
          <a:prstGeom prst="rect">
            <a:avLst/>
          </a:prstGeom>
          <a:ln w="12700">
            <a:miter lim="400000"/>
          </a:ln>
        </p:spPr>
      </p:pic>
      <p:sp>
        <p:nvSpPr>
          <p:cNvPr id="433" name="blocks/media-text/ ├── block.json ├── build/ └── src/     ├── index.js     ├── edit.js     ├── save.js     ├── deprecated.js     ├── editor.scss     └── style.scss"/>
          <p:cNvSpPr txBox="1"/>
          <p:nvPr/>
        </p:nvSpPr>
        <p:spPr>
          <a:xfrm>
            <a:off x="1676400" y="5079999"/>
            <a:ext cx="5461000" cy="568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pPr>
            <a:r>
              <a:t>blocks/media-text/</a:t>
            </a:r>
            <a:br>
              <a:rPr sz="3400"/>
            </a:br>
            <a:r>
              <a:t>├── block</a:t>
            </a:r>
            <a:r>
              <a:rPr>
                <a:solidFill>
                  <a:srgbClr val="C4B7E9"/>
                </a:solidFill>
              </a:rPr>
              <a:t>.</a:t>
            </a:r>
            <a:r>
              <a:t>json</a:t>
            </a:r>
            <a:br>
              <a:rPr sz="3400"/>
            </a:br>
            <a:r>
              <a:t>├── build/</a:t>
            </a:r>
            <a:br>
              <a:rPr sz="3400"/>
            </a:br>
            <a:r>
              <a:t>└── src/</a:t>
            </a:r>
            <a:br>
              <a:rPr sz="3400"/>
            </a:br>
            <a:r>
              <a:t>    ├── index</a:t>
            </a:r>
            <a:r>
              <a:rPr>
                <a:solidFill>
                  <a:srgbClr val="C4B7E9"/>
                </a:solidFill>
              </a:rPr>
              <a:t>.</a:t>
            </a:r>
            <a:r>
              <a:t>js</a:t>
            </a:r>
            <a:br>
              <a:rPr sz="3400"/>
            </a:br>
            <a:r>
              <a:t>    ├── edit</a:t>
            </a:r>
            <a:r>
              <a:rPr>
                <a:solidFill>
                  <a:srgbClr val="C4B7E9"/>
                </a:solidFill>
              </a:rPr>
              <a:t>.</a:t>
            </a:r>
            <a:r>
              <a:t>js</a:t>
            </a:r>
            <a:br>
              <a:rPr sz="3400"/>
            </a:br>
            <a:r>
              <a:t>    ├── save</a:t>
            </a:r>
            <a:r>
              <a:rPr>
                <a:solidFill>
                  <a:srgbClr val="C4B7E9"/>
                </a:solidFill>
              </a:rPr>
              <a:t>.</a:t>
            </a:r>
            <a:r>
              <a:t>js</a:t>
            </a:r>
            <a:br>
              <a:rPr sz="3400"/>
            </a:br>
            <a:r>
              <a:t>    ├── deprecated</a:t>
            </a:r>
            <a:r>
              <a:rPr>
                <a:solidFill>
                  <a:srgbClr val="C4B7E9"/>
                </a:solidFill>
              </a:rPr>
              <a:t>.</a:t>
            </a:r>
            <a:r>
              <a:t>js</a:t>
            </a:r>
            <a:br>
              <a:rPr sz="3400"/>
            </a:br>
            <a:r>
              <a:t>    ├── editor</a:t>
            </a:r>
            <a:r>
              <a:rPr>
                <a:solidFill>
                  <a:srgbClr val="C4B7E9"/>
                </a:solidFill>
              </a:rPr>
              <a:t>.</a:t>
            </a:r>
            <a:r>
              <a:t>scss</a:t>
            </a:r>
            <a:br>
              <a:rPr sz="3400"/>
            </a:br>
            <a:r>
              <a:t>    └── style</a:t>
            </a:r>
            <a:r>
              <a:rPr>
                <a:solidFill>
                  <a:srgbClr val="C4B7E9"/>
                </a:solidFill>
              </a:rPr>
              <a:t>.</a:t>
            </a:r>
            <a:r>
              <a:t>scss</a:t>
            </a:r>
            <a:br>
              <a:rPr sz="3400"/>
            </a:br>
          </a:p>
        </p:txBody>
      </p:sp>
      <p:pic>
        <p:nvPicPr>
          <p:cNvPr id="434" name="panel-1210x456.png" descr="panel-1210x456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645400" y="4826000"/>
            <a:ext cx="15367000" cy="5791200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const { heading, level, mediaUrl,   mediaRight, bgColor, padding } = attributes; &lt;InspectorControls&gt;   &lt;SelectControl label=&quot;Heading level&quot; value={ level } /&gt;   &lt;ToggleControl label=&quot;Media right&quot; checked={ mediaRight } /&gt;   &lt;ColorPalette value={ bgColor "/>
          <p:cNvSpPr txBox="1"/>
          <p:nvPr/>
        </p:nvSpPr>
        <p:spPr>
          <a:xfrm>
            <a:off x="7950200" y="5079999"/>
            <a:ext cx="14859000" cy="568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pPr>
            <a:r>
              <a:rPr>
                <a:solidFill>
                  <a:srgbClr val="FF97E2"/>
                </a:solidFill>
              </a:rPr>
              <a:t>const</a:t>
            </a:r>
            <a:r>
              <a:t> </a:t>
            </a:r>
            <a:r>
              <a:rPr>
                <a:solidFill>
                  <a:srgbClr val="C4B7E9"/>
                </a:solidFill>
              </a:rPr>
              <a:t>{</a:t>
            </a:r>
            <a:r>
              <a:t> heading</a:t>
            </a:r>
            <a:r>
              <a:rPr>
                <a:solidFill>
                  <a:srgbClr val="C4B7E9"/>
                </a:solidFill>
              </a:rPr>
              <a:t>,</a:t>
            </a:r>
            <a:r>
              <a:t> level</a:t>
            </a:r>
            <a:r>
              <a:rPr>
                <a:solidFill>
                  <a:srgbClr val="C4B7E9"/>
                </a:solidFill>
              </a:rPr>
              <a:t>,</a:t>
            </a:r>
            <a:r>
              <a:t> mediaUrl</a:t>
            </a:r>
            <a:r>
              <a:rPr>
                <a:solidFill>
                  <a:srgbClr val="C4B7E9"/>
                </a:solidFill>
              </a:rPr>
              <a:t>,</a:t>
            </a:r>
            <a:br>
              <a:rPr sz="3400"/>
            </a:br>
            <a:r>
              <a:t>  mediaRight</a:t>
            </a:r>
            <a:r>
              <a:rPr>
                <a:solidFill>
                  <a:srgbClr val="C4B7E9"/>
                </a:solidFill>
              </a:rPr>
              <a:t>,</a:t>
            </a:r>
            <a:r>
              <a:t> bgColor</a:t>
            </a:r>
            <a:r>
              <a:rPr>
                <a:solidFill>
                  <a:srgbClr val="C4B7E9"/>
                </a:solidFill>
              </a:rPr>
              <a:t>,</a:t>
            </a:r>
            <a:r>
              <a:t> padding </a:t>
            </a:r>
            <a:r>
              <a:rPr>
                <a:solidFill>
                  <a:srgbClr val="C4B7E9"/>
                </a:solidFill>
              </a:rPr>
              <a:t>}</a:t>
            </a:r>
            <a:r>
              <a:t> </a:t>
            </a:r>
            <a:r>
              <a:rPr>
                <a:solidFill>
                  <a:srgbClr val="C4B7E9"/>
                </a:solidFill>
              </a:rPr>
              <a:t>=</a:t>
            </a:r>
            <a:r>
              <a:t> attributes</a:t>
            </a:r>
            <a:r>
              <a:rPr>
                <a:solidFill>
                  <a:srgbClr val="C4B7E9"/>
                </a:solidFill>
              </a:rPr>
              <a:t>;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&lt;</a:t>
            </a:r>
            <a:r>
              <a:t>InspectorControls</a:t>
            </a:r>
            <a:r>
              <a:rPr>
                <a:solidFill>
                  <a:srgbClr val="C4B7E9"/>
                </a:solidFill>
              </a:rPr>
              <a:t>&gt;</a:t>
            </a:r>
            <a:br>
              <a:rPr sz="3400"/>
            </a:br>
            <a:r>
              <a:t>  </a:t>
            </a:r>
            <a:r>
              <a:rPr>
                <a:solidFill>
                  <a:srgbClr val="C4B7E9"/>
                </a:solidFill>
              </a:rPr>
              <a:t>&lt;</a:t>
            </a:r>
            <a:r>
              <a:t>SelectControl label</a:t>
            </a:r>
            <a:r>
              <a:rPr>
                <a:solidFill>
                  <a:srgbClr val="C4B7E9"/>
                </a:solidFill>
              </a:rPr>
              <a:t>=</a:t>
            </a:r>
            <a:r>
              <a:rPr>
                <a:solidFill>
                  <a:srgbClr val="FFC3E7"/>
                </a:solidFill>
              </a:rPr>
              <a:t>"Heading level"</a:t>
            </a:r>
            <a:r>
              <a:t> value</a:t>
            </a:r>
            <a:r>
              <a:rPr>
                <a:solidFill>
                  <a:srgbClr val="C4B7E9"/>
                </a:solidFill>
              </a:rPr>
              <a:t>={</a:t>
            </a:r>
            <a:r>
              <a:t> level </a:t>
            </a:r>
            <a:r>
              <a:rPr>
                <a:solidFill>
                  <a:srgbClr val="C4B7E9"/>
                </a:solidFill>
              </a:rPr>
              <a:t>}</a:t>
            </a:r>
            <a:r>
              <a:t> /</a:t>
            </a:r>
            <a:r>
              <a:rPr>
                <a:solidFill>
                  <a:srgbClr val="C4B7E9"/>
                </a:solidFill>
              </a:rPr>
              <a:t>&gt;</a:t>
            </a:r>
            <a:br>
              <a:rPr sz="3400"/>
            </a:br>
            <a:r>
              <a:t>  </a:t>
            </a:r>
            <a:r>
              <a:rPr>
                <a:solidFill>
                  <a:srgbClr val="C4B7E9"/>
                </a:solidFill>
              </a:rPr>
              <a:t>&lt;</a:t>
            </a:r>
            <a:r>
              <a:t>ToggleControl label</a:t>
            </a:r>
            <a:r>
              <a:rPr>
                <a:solidFill>
                  <a:srgbClr val="C4B7E9"/>
                </a:solidFill>
              </a:rPr>
              <a:t>=</a:t>
            </a:r>
            <a:r>
              <a:rPr>
                <a:solidFill>
                  <a:srgbClr val="FFC3E7"/>
                </a:solidFill>
              </a:rPr>
              <a:t>"Media right"</a:t>
            </a:r>
            <a:r>
              <a:t> checked</a:t>
            </a:r>
            <a:r>
              <a:rPr>
                <a:solidFill>
                  <a:srgbClr val="C4B7E9"/>
                </a:solidFill>
              </a:rPr>
              <a:t>={</a:t>
            </a:r>
            <a:r>
              <a:t> mediaRight </a:t>
            </a:r>
            <a:r>
              <a:rPr>
                <a:solidFill>
                  <a:srgbClr val="C4B7E9"/>
                </a:solidFill>
              </a:rPr>
              <a:t>}</a:t>
            </a:r>
            <a:r>
              <a:t> /</a:t>
            </a:r>
            <a:r>
              <a:rPr>
                <a:solidFill>
                  <a:srgbClr val="C4B7E9"/>
                </a:solidFill>
              </a:rPr>
              <a:t>&gt;</a:t>
            </a:r>
            <a:br>
              <a:rPr sz="3400"/>
            </a:br>
            <a:r>
              <a:t>  </a:t>
            </a:r>
            <a:r>
              <a:rPr>
                <a:solidFill>
                  <a:srgbClr val="C4B7E9"/>
                </a:solidFill>
              </a:rPr>
              <a:t>&lt;</a:t>
            </a:r>
            <a:r>
              <a:t>ColorPalette value</a:t>
            </a:r>
            <a:r>
              <a:rPr>
                <a:solidFill>
                  <a:srgbClr val="C4B7E9"/>
                </a:solidFill>
              </a:rPr>
              <a:t>={</a:t>
            </a:r>
            <a:r>
              <a:t> bgColor </a:t>
            </a:r>
            <a:r>
              <a:rPr>
                <a:solidFill>
                  <a:srgbClr val="C4B7E9"/>
                </a:solidFill>
              </a:rPr>
              <a:t>}</a:t>
            </a:r>
            <a:r>
              <a:t> onChange</a:t>
            </a:r>
            <a:r>
              <a:rPr>
                <a:solidFill>
                  <a:srgbClr val="C4B7E9"/>
                </a:solidFill>
              </a:rPr>
              <a:t>={</a:t>
            </a:r>
            <a:r>
              <a:t> setBg </a:t>
            </a:r>
            <a:r>
              <a:rPr>
                <a:solidFill>
                  <a:srgbClr val="C4B7E9"/>
                </a:solidFill>
              </a:rPr>
              <a:t>}</a:t>
            </a:r>
            <a:r>
              <a:t> /</a:t>
            </a:r>
            <a:r>
              <a:rPr>
                <a:solidFill>
                  <a:srgbClr val="C4B7E9"/>
                </a:solidFill>
              </a:rPr>
              <a:t>&gt;</a:t>
            </a:r>
            <a:br>
              <a:rPr sz="3400"/>
            </a:br>
            <a:r>
              <a:t>  </a:t>
            </a:r>
            <a:r>
              <a:rPr>
                <a:solidFill>
                  <a:srgbClr val="C4B7E9"/>
                </a:solidFill>
              </a:rPr>
              <a:t>&lt;</a:t>
            </a:r>
            <a:r>
              <a:t>RangeControl label</a:t>
            </a:r>
            <a:r>
              <a:rPr>
                <a:solidFill>
                  <a:srgbClr val="C4B7E9"/>
                </a:solidFill>
              </a:rPr>
              <a:t>=</a:t>
            </a:r>
            <a:r>
              <a:rPr>
                <a:solidFill>
                  <a:srgbClr val="FFC3E7"/>
                </a:solidFill>
              </a:rPr>
              <a:t>"Padding"</a:t>
            </a:r>
            <a:r>
              <a:t> value</a:t>
            </a:r>
            <a:r>
              <a:rPr>
                <a:solidFill>
                  <a:srgbClr val="C4B7E9"/>
                </a:solidFill>
              </a:rPr>
              <a:t>={</a:t>
            </a:r>
            <a:r>
              <a:t> padding </a:t>
            </a:r>
            <a:r>
              <a:rPr>
                <a:solidFill>
                  <a:srgbClr val="C4B7E9"/>
                </a:solidFill>
              </a:rPr>
              <a:t>}</a:t>
            </a:r>
            <a:r>
              <a:t> /</a:t>
            </a:r>
            <a:r>
              <a:rPr>
                <a:solidFill>
                  <a:srgbClr val="C4B7E9"/>
                </a:solidFill>
              </a:rPr>
              <a:t>&gt;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&lt;</a:t>
            </a:r>
            <a:r>
              <a:t>/InspectorControls</a:t>
            </a:r>
            <a:r>
              <a:rPr>
                <a:solidFill>
                  <a:srgbClr val="C4B7E9"/>
                </a:solidFill>
              </a:rPr>
              <a:t>&gt;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&lt;</a:t>
            </a:r>
            <a:r>
              <a:t>RichText tagName</a:t>
            </a:r>
            <a:r>
              <a:rPr>
                <a:solidFill>
                  <a:srgbClr val="C4B7E9"/>
                </a:solidFill>
              </a:rPr>
              <a:t>={</a:t>
            </a:r>
            <a:r>
              <a:t> level </a:t>
            </a:r>
            <a:r>
              <a:rPr>
                <a:solidFill>
                  <a:srgbClr val="C4B7E9"/>
                </a:solidFill>
              </a:rPr>
              <a:t>}</a:t>
            </a:r>
            <a:r>
              <a:t> value</a:t>
            </a:r>
            <a:r>
              <a:rPr>
                <a:solidFill>
                  <a:srgbClr val="C4B7E9"/>
                </a:solidFill>
              </a:rPr>
              <a:t>={</a:t>
            </a:r>
            <a:r>
              <a:t> heading </a:t>
            </a:r>
            <a:r>
              <a:rPr>
                <a:solidFill>
                  <a:srgbClr val="C4B7E9"/>
                </a:solidFill>
              </a:rPr>
              <a:t>}</a:t>
            </a:r>
            <a:r>
              <a:t> /</a:t>
            </a:r>
            <a:r>
              <a:rPr>
                <a:solidFill>
                  <a:srgbClr val="C4B7E9"/>
                </a:solidFill>
              </a:rPr>
              <a:t>&gt;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&lt;</a:t>
            </a:r>
            <a:r>
              <a:t>MediaUpload onSelect</a:t>
            </a:r>
            <a:r>
              <a:rPr>
                <a:solidFill>
                  <a:srgbClr val="C4B7E9"/>
                </a:solidFill>
              </a:rPr>
              <a:t>={</a:t>
            </a:r>
            <a:r>
              <a:t> setMedia </a:t>
            </a:r>
            <a:r>
              <a:rPr>
                <a:solidFill>
                  <a:srgbClr val="C4B7E9"/>
                </a:solidFill>
              </a:rPr>
              <a:t>}</a:t>
            </a:r>
            <a:r>
              <a:t> render</a:t>
            </a:r>
            <a:r>
              <a:rPr>
                <a:solidFill>
                  <a:srgbClr val="C4B7E9"/>
                </a:solidFill>
              </a:rPr>
              <a:t>={</a:t>
            </a:r>
            <a:r>
              <a:t> button </a:t>
            </a:r>
            <a:r>
              <a:rPr>
                <a:solidFill>
                  <a:srgbClr val="C4B7E9"/>
                </a:solidFill>
              </a:rPr>
              <a:t>}</a:t>
            </a:r>
            <a:r>
              <a:t> /</a:t>
            </a:r>
            <a:r>
              <a:rPr>
                <a:solidFill>
                  <a:srgbClr val="C4B7E9"/>
                </a:solidFill>
              </a:rPr>
              <a:t>&gt;</a:t>
            </a:r>
            <a:br>
              <a:rPr sz="3400"/>
            </a:br>
          </a:p>
        </p:txBody>
      </p:sp>
      <p:sp>
        <p:nvSpPr>
          <p:cNvPr id="436" name="Every one of these controls already ships with core Media &amp; Text, in core since WordPress 5.0 (2018)."/>
          <p:cNvSpPr txBox="1"/>
          <p:nvPr/>
        </p:nvSpPr>
        <p:spPr>
          <a:xfrm>
            <a:off x="1320800" y="10998199"/>
            <a:ext cx="2159000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Every one of these controls already ships with core Media &amp; Text, in core since WordPress 5.0 (2018).</a:t>
            </a:r>
          </a:p>
        </p:txBody>
      </p:sp>
      <p:pic>
        <p:nvPicPr>
          <p:cNvPr id="437" name="stamp-not-quite.png" descr="stamp-not-quit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7640349" y="3069388"/>
            <a:ext cx="5960535" cy="2235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8" name="prog-19.png" descr="prog-19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43" name="React is for"/>
          <p:cNvSpPr txBox="1"/>
          <p:nvPr/>
        </p:nvSpPr>
        <p:spPr>
          <a:xfrm>
            <a:off x="1308100" y="4203699"/>
            <a:ext cx="22707600" cy="156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92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React is for</a:t>
            </a:r>
          </a:p>
        </p:txBody>
      </p:sp>
      <p:sp>
        <p:nvSpPr>
          <p:cNvPr id="444" name="WordPress core developers"/>
          <p:cNvSpPr txBox="1"/>
          <p:nvPr/>
        </p:nvSpPr>
        <p:spPr>
          <a:xfrm>
            <a:off x="1308100" y="5372099"/>
            <a:ext cx="22707600" cy="205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11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WordPress core developers</a:t>
            </a:r>
          </a:p>
        </p:txBody>
      </p:sp>
      <p:sp>
        <p:nvSpPr>
          <p:cNvPr id="445" name="The WordPress block editor itself is built with React.js."/>
          <p:cNvSpPr txBox="1"/>
          <p:nvPr/>
        </p:nvSpPr>
        <p:spPr>
          <a:xfrm>
            <a:off x="1320800" y="7708899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The WordPress block editor itself is built with React.js.</a:t>
            </a:r>
          </a:p>
        </p:txBody>
      </p:sp>
      <p:sp>
        <p:nvSpPr>
          <p:cNvPr id="446" name="Themes, patterns, styles and theme.json need none of it."/>
          <p:cNvSpPr txBox="1"/>
          <p:nvPr/>
        </p:nvSpPr>
        <p:spPr>
          <a:xfrm>
            <a:off x="1320800" y="8369299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Themes, patterns, styles and theme.json need none of it.</a:t>
            </a:r>
          </a:p>
        </p:txBody>
      </p:sp>
      <p:sp>
        <p:nvSpPr>
          <p:cNvPr id="447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448" name="React only comes in for a custom block, and that's the last resort."/>
          <p:cNvSpPr txBox="1"/>
          <p:nvPr/>
        </p:nvSpPr>
        <p:spPr>
          <a:xfrm>
            <a:off x="1320800" y="9029699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React only comes in for a custom block, and that's the last resort.</a:t>
            </a:r>
          </a:p>
        </p:txBody>
      </p:sp>
      <p:pic>
        <p:nvPicPr>
          <p:cNvPr id="449" name="prog-20.png" descr="prog-20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54" name="True dependency-free WordPress"/>
          <p:cNvSpPr txBox="1"/>
          <p:nvPr/>
        </p:nvSpPr>
        <p:spPr>
          <a:xfrm>
            <a:off x="1308100" y="3276862"/>
            <a:ext cx="22707600" cy="2876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92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True dependency-free WordPress</a:t>
            </a:r>
          </a:p>
        </p:txBody>
      </p:sp>
      <p:sp>
        <p:nvSpPr>
          <p:cNvPr id="455" name="is the core way"/>
          <p:cNvSpPr txBox="1"/>
          <p:nvPr/>
        </p:nvSpPr>
        <p:spPr>
          <a:xfrm>
            <a:off x="1308100" y="5714217"/>
            <a:ext cx="22707600" cy="205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11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is the core way</a:t>
            </a:r>
          </a:p>
        </p:txBody>
      </p:sp>
      <p:sp>
        <p:nvSpPr>
          <p:cNvPr id="456" name="The WordPress block editor (also called simply the block editor,"/>
          <p:cNvSpPr txBox="1"/>
          <p:nvPr/>
        </p:nvSpPr>
        <p:spPr>
          <a:xfrm>
            <a:off x="1320800" y="7873217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The WordPress block editor (also called simply the block editor,</a:t>
            </a:r>
          </a:p>
        </p:txBody>
      </p:sp>
      <p:sp>
        <p:nvSpPr>
          <p:cNvPr id="457" name="WordPress editor or Gutenberg editor) as the content management system,"/>
          <p:cNvSpPr txBox="1"/>
          <p:nvPr/>
        </p:nvSpPr>
        <p:spPr>
          <a:xfrm>
            <a:off x="1320800" y="8533617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WordPress editor or Gutenberg editor) as the content management system,</a:t>
            </a:r>
          </a:p>
        </p:txBody>
      </p:sp>
      <p:sp>
        <p:nvSpPr>
          <p:cNvPr id="458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459" name="with no plugin that the content depends on."/>
          <p:cNvSpPr txBox="1"/>
          <p:nvPr/>
        </p:nvSpPr>
        <p:spPr>
          <a:xfrm>
            <a:off x="1320800" y="9174967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with no plugin that the content depends on.</a:t>
            </a:r>
          </a:p>
        </p:txBody>
      </p:sp>
      <p:pic>
        <p:nvPicPr>
          <p:cNvPr id="460" name="prog-21.png" descr="prog-2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65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466" name="Three ways to build a sovereign theme"/>
          <p:cNvSpPr txBox="1"/>
          <p:nvPr/>
        </p:nvSpPr>
        <p:spPr>
          <a:xfrm>
            <a:off x="1308100" y="14350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Three ways to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build a sovereign theme</a:t>
            </a:r>
          </a:p>
        </p:txBody>
      </p:sp>
      <p:sp>
        <p:nvSpPr>
          <p:cNvPr id="467" name="Traditional"/>
          <p:cNvSpPr txBox="1"/>
          <p:nvPr/>
        </p:nvSpPr>
        <p:spPr>
          <a:xfrm>
            <a:off x="1346200" y="3327399"/>
            <a:ext cx="6807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Traditional</a:t>
            </a:r>
          </a:p>
        </p:txBody>
      </p:sp>
      <p:sp>
        <p:nvSpPr>
          <p:cNvPr id="468" name="Underscores, 2012. PHP templates and the template hierarchy."/>
          <p:cNvSpPr txBox="1"/>
          <p:nvPr/>
        </p:nvSpPr>
        <p:spPr>
          <a:xfrm>
            <a:off x="1371600" y="10744199"/>
            <a:ext cx="6807200" cy="922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Underscores, 2012. PHP templates and the template hierarchy.</a:t>
            </a:r>
          </a:p>
        </p:txBody>
      </p:sp>
      <p:sp>
        <p:nvSpPr>
          <p:cNvPr id="469" name="Innovative"/>
          <p:cNvSpPr txBox="1"/>
          <p:nvPr/>
        </p:nvSpPr>
        <p:spPr>
          <a:xfrm>
            <a:off x="8763000" y="3327399"/>
            <a:ext cx="6807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Innovative</a:t>
            </a:r>
          </a:p>
        </p:txBody>
      </p:sp>
      <p:sp>
        <p:nvSpPr>
          <p:cNvPr id="470" name="Sage by Roots. Blade, Composer and a build step on top of WordPress."/>
          <p:cNvSpPr txBox="1"/>
          <p:nvPr/>
        </p:nvSpPr>
        <p:spPr>
          <a:xfrm>
            <a:off x="8788400" y="10744199"/>
            <a:ext cx="6807200" cy="922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Sage by Roots. Blade, Composer and a build step on top of WordPress.</a:t>
            </a:r>
          </a:p>
        </p:txBody>
      </p:sp>
      <p:sp>
        <p:nvSpPr>
          <p:cNvPr id="471" name="Modern"/>
          <p:cNvSpPr txBox="1"/>
          <p:nvPr/>
        </p:nvSpPr>
        <p:spPr>
          <a:xfrm>
            <a:off x="16179800" y="3327399"/>
            <a:ext cx="6807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Modern</a:t>
            </a:r>
          </a:p>
        </p:txBody>
      </p:sp>
      <p:sp>
        <p:nvSpPr>
          <p:cNvPr id="472" name="Block theme, WordPress 5.9. HTML templates and theme.json."/>
          <p:cNvSpPr txBox="1"/>
          <p:nvPr/>
        </p:nvSpPr>
        <p:spPr>
          <a:xfrm>
            <a:off x="16205200" y="10744199"/>
            <a:ext cx="6807200" cy="922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Block theme, WordPress 5.9. HTML templates and </a:t>
            </a:r>
            <a:r>
              <a:rPr sz="23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theme.json</a:t>
            </a:r>
            <a:r>
              <a:t>.</a:t>
            </a:r>
          </a:p>
        </p:txBody>
      </p:sp>
      <p:pic>
        <p:nvPicPr>
          <p:cNvPr id="473" name="tree-panel.png" descr="tree-panel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4267200"/>
            <a:ext cx="6807200" cy="6248400"/>
          </a:xfrm>
          <a:prstGeom prst="rect">
            <a:avLst/>
          </a:prstGeom>
          <a:ln w="12700">
            <a:miter lim="400000"/>
          </a:ln>
        </p:spPr>
      </p:pic>
      <p:sp>
        <p:nvSpPr>
          <p:cNvPr id="474" name="_s/ ├── style.css ├── functions.php ├── header.php ├── footer.php ├── index.php ├── single.php ├── page.php ├── template-parts/ │   └── content.php └── inc/"/>
          <p:cNvSpPr txBox="1"/>
          <p:nvPr/>
        </p:nvSpPr>
        <p:spPr>
          <a:xfrm>
            <a:off x="1752600" y="4521199"/>
            <a:ext cx="6350000" cy="6192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0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pPr>
            <a:r>
              <a:rPr>
                <a:solidFill>
                  <a:srgbClr val="D2B0FF"/>
                </a:solidFill>
              </a:rPr>
              <a:t>_s/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t>style.css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t>functions.php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t>header.php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t>footer.php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t>index.php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rPr>
                <a:solidFill>
                  <a:srgbClr val="FF97E2"/>
                </a:solidFill>
              </a:rPr>
              <a:t>single.php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t>page.php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rPr>
                <a:solidFill>
                  <a:srgbClr val="D2B0FF"/>
                </a:solidFill>
              </a:rPr>
              <a:t>template-parts/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│   └── </a:t>
            </a:r>
            <a:r>
              <a:t>content.php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└── </a:t>
            </a:r>
            <a:r>
              <a:rPr>
                <a:solidFill>
                  <a:srgbClr val="D2B0FF"/>
                </a:solidFill>
              </a:rPr>
              <a:t>inc/</a:t>
            </a:r>
            <a:br>
              <a:rPr sz="3400">
                <a:solidFill>
                  <a:srgbClr val="D2B0FF"/>
                </a:solidFill>
              </a:rPr>
            </a:br>
          </a:p>
        </p:txBody>
      </p:sp>
      <p:pic>
        <p:nvPicPr>
          <p:cNvPr id="475" name="tree-panel.png" descr="tree-panel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788400" y="4267200"/>
            <a:ext cx="6807200" cy="6248400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sage/ ├── app/ │   └── View/Composers/ ├── resources/ │   ├── views/ │   │   └── index.blade.php │   ├── css/ │   └── js/ ├── composer.json ├── package.json └── vite.config.js"/>
          <p:cNvSpPr txBox="1"/>
          <p:nvPr/>
        </p:nvSpPr>
        <p:spPr>
          <a:xfrm>
            <a:off x="9169400" y="4521199"/>
            <a:ext cx="6350000" cy="6192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0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pPr>
            <a:r>
              <a:rPr>
                <a:solidFill>
                  <a:srgbClr val="D2B0FF"/>
                </a:solidFill>
              </a:rPr>
              <a:t>sage/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rPr>
                <a:solidFill>
                  <a:srgbClr val="D2B0FF"/>
                </a:solidFill>
              </a:rPr>
              <a:t>app/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│   └── </a:t>
            </a:r>
            <a:r>
              <a:rPr>
                <a:solidFill>
                  <a:srgbClr val="D2B0FF"/>
                </a:solidFill>
              </a:rPr>
              <a:t>View/Composers/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rPr>
                <a:solidFill>
                  <a:srgbClr val="D2B0FF"/>
                </a:solidFill>
              </a:rPr>
              <a:t>resources/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│   ├── </a:t>
            </a:r>
            <a:r>
              <a:rPr>
                <a:solidFill>
                  <a:srgbClr val="D2B0FF"/>
                </a:solidFill>
              </a:rPr>
              <a:t>views/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│   │   └── </a:t>
            </a:r>
            <a:r>
              <a:rPr>
                <a:solidFill>
                  <a:srgbClr val="FF97E2"/>
                </a:solidFill>
              </a:rPr>
              <a:t>index.blade.php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│   ├── </a:t>
            </a:r>
            <a:r>
              <a:rPr>
                <a:solidFill>
                  <a:srgbClr val="D2B0FF"/>
                </a:solidFill>
              </a:rPr>
              <a:t>css/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│   └── </a:t>
            </a:r>
            <a:r>
              <a:rPr>
                <a:solidFill>
                  <a:srgbClr val="D2B0FF"/>
                </a:solidFill>
              </a:rPr>
              <a:t>js/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t>composer.json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t>package.json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└── </a:t>
            </a:r>
            <a:r>
              <a:t>vite.config.js</a:t>
            </a:r>
            <a:br>
              <a:rPr sz="3400"/>
            </a:br>
          </a:p>
        </p:txBody>
      </p:sp>
      <p:pic>
        <p:nvPicPr>
          <p:cNvPr id="477" name="tree-panel.png" descr="tree-panel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205200" y="4267200"/>
            <a:ext cx="6807200" cy="6248400"/>
          </a:xfrm>
          <a:prstGeom prst="rect">
            <a:avLst/>
          </a:prstGeom>
          <a:ln w="12700">
            <a:miter lim="400000"/>
          </a:ln>
        </p:spPr>
      </p:pic>
      <p:sp>
        <p:nvSpPr>
          <p:cNvPr id="478" name="block-theme/ ├── style.css ├── theme.json ├── functions.php ├── templates/ │   ├── index.html │   └── single.html ├── parts/ │   └── header.html ├── patterns/ └── styles/"/>
          <p:cNvSpPr txBox="1"/>
          <p:nvPr/>
        </p:nvSpPr>
        <p:spPr>
          <a:xfrm>
            <a:off x="16586200" y="4533899"/>
            <a:ext cx="6350000" cy="6192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0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pPr>
            <a:r>
              <a:rPr>
                <a:solidFill>
                  <a:srgbClr val="D2B0FF"/>
                </a:solidFill>
              </a:rPr>
              <a:t>block-theme/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t>style.css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rPr>
                <a:solidFill>
                  <a:srgbClr val="FF97E2"/>
                </a:solidFill>
              </a:rPr>
              <a:t>theme.json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t>functions.php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rPr>
                <a:solidFill>
                  <a:srgbClr val="D2B0FF"/>
                </a:solidFill>
              </a:rPr>
              <a:t>templates/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│   ├── </a:t>
            </a:r>
            <a:r>
              <a:t>index.html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│   └── </a:t>
            </a:r>
            <a:r>
              <a:t>single.html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rPr>
                <a:solidFill>
                  <a:srgbClr val="D2B0FF"/>
                </a:solidFill>
              </a:rPr>
              <a:t>parts/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│   └── </a:t>
            </a:r>
            <a:r>
              <a:t>header.html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├── </a:t>
            </a:r>
            <a:r>
              <a:rPr>
                <a:solidFill>
                  <a:srgbClr val="D2B0FF"/>
                </a:solidFill>
              </a:rPr>
              <a:t>patterns/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└── </a:t>
            </a:r>
            <a:r>
              <a:rPr>
                <a:solidFill>
                  <a:srgbClr val="D2B0FF"/>
                </a:solidFill>
              </a:rPr>
              <a:t>styles/</a:t>
            </a:r>
            <a:br>
              <a:rPr sz="3400">
                <a:solidFill>
                  <a:srgbClr val="D2B0FF"/>
                </a:solidFill>
              </a:rPr>
            </a:br>
          </a:p>
        </p:txBody>
      </p:sp>
      <p:pic>
        <p:nvPicPr>
          <p:cNvPr id="479" name="stamp-core-way-2.png" descr="stamp-core-way-2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402300" y="2667000"/>
            <a:ext cx="4572000" cy="203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" name="stamp-not-core-way.png" descr="stamp-not-core-way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1988800" y="2667000"/>
            <a:ext cx="4572000" cy="203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" name="stamp-core-way.png" descr="stamp-core-way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432300" y="2692400"/>
            <a:ext cx="4572000" cy="203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2" name="prog-22.png" descr="prog-22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87" name="From Traditional to Modern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From Traditional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to Modern</a:t>
            </a:r>
          </a:p>
        </p:txBody>
      </p:sp>
      <p:pic>
        <p:nvPicPr>
          <p:cNvPr id="488" name="dg-panel.png" descr="dg-panel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20800" y="4953000"/>
            <a:ext cx="4572000" cy="533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" name="dg-panel.png" descr="dg-panel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491200" y="4953000"/>
            <a:ext cx="4572000" cy="533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" name="dg-step1.png" descr="dg-step1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00800" y="8255000"/>
            <a:ext cx="2768600" cy="203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" name="dg-step2.png" descr="dg-step2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334500" y="7658100"/>
            <a:ext cx="2768600" cy="2628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" name="dg-step3.png" descr="dg-step3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2268200" y="7061200"/>
            <a:ext cx="2768600" cy="322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" name="dg-step4.png" descr="dg-step4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5201900" y="6477000"/>
            <a:ext cx="2768600" cy="381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4" name="dg-arrow.png" descr="dg-arrow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5829300" y="4445000"/>
            <a:ext cx="12573000" cy="1397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5" name="dg-bracket.png" descr="dg-bracket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400800" y="10795000"/>
            <a:ext cx="11582400" cy="279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6" name="Traditional"/>
          <p:cNvSpPr txBox="1"/>
          <p:nvPr/>
        </p:nvSpPr>
        <p:spPr>
          <a:xfrm>
            <a:off x="1701800" y="5321299"/>
            <a:ext cx="4064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FFFFFF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Traditional</a:t>
            </a:r>
          </a:p>
        </p:txBody>
      </p:sp>
      <p:sp>
        <p:nvSpPr>
          <p:cNvPr id="497" name="PHP templates"/>
          <p:cNvSpPr txBox="1"/>
          <p:nvPr/>
        </p:nvSpPr>
        <p:spPr>
          <a:xfrm>
            <a:off x="1727200" y="6134100"/>
            <a:ext cx="4064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PHP templates</a:t>
            </a:r>
          </a:p>
        </p:txBody>
      </p:sp>
      <p:sp>
        <p:nvSpPr>
          <p:cNvPr id="498" name="ACF fields"/>
          <p:cNvSpPr txBox="1"/>
          <p:nvPr/>
        </p:nvSpPr>
        <p:spPr>
          <a:xfrm>
            <a:off x="1727200" y="6743700"/>
            <a:ext cx="4064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FF97E2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ACF fields</a:t>
            </a:r>
          </a:p>
        </p:txBody>
      </p:sp>
      <p:sp>
        <p:nvSpPr>
          <p:cNvPr id="499" name="ACF blocks"/>
          <p:cNvSpPr txBox="1"/>
          <p:nvPr/>
        </p:nvSpPr>
        <p:spPr>
          <a:xfrm>
            <a:off x="1727200" y="7340600"/>
            <a:ext cx="4064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FF97E2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ACF blocks</a:t>
            </a:r>
          </a:p>
        </p:txBody>
      </p:sp>
      <p:sp>
        <p:nvSpPr>
          <p:cNvPr id="500" name="style.css"/>
          <p:cNvSpPr txBox="1"/>
          <p:nvPr/>
        </p:nvSpPr>
        <p:spPr>
          <a:xfrm>
            <a:off x="1727200" y="7950200"/>
            <a:ext cx="4064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style.css</a:t>
            </a:r>
          </a:p>
        </p:txBody>
      </p:sp>
      <p:sp>
        <p:nvSpPr>
          <p:cNvPr id="501" name="jQuery/Vanilla JS"/>
          <p:cNvSpPr txBox="1"/>
          <p:nvPr/>
        </p:nvSpPr>
        <p:spPr>
          <a:xfrm>
            <a:off x="1727200" y="8547100"/>
            <a:ext cx="4064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jQuery/Vanilla JS</a:t>
            </a:r>
          </a:p>
        </p:txBody>
      </p:sp>
      <p:sp>
        <p:nvSpPr>
          <p:cNvPr id="502" name="WP REST API"/>
          <p:cNvSpPr txBox="1"/>
          <p:nvPr/>
        </p:nvSpPr>
        <p:spPr>
          <a:xfrm>
            <a:off x="1727200" y="9156700"/>
            <a:ext cx="4064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WP REST API</a:t>
            </a:r>
          </a:p>
        </p:txBody>
      </p:sp>
      <p:sp>
        <p:nvSpPr>
          <p:cNvPr id="503" name="Modern"/>
          <p:cNvSpPr txBox="1"/>
          <p:nvPr/>
        </p:nvSpPr>
        <p:spPr>
          <a:xfrm>
            <a:off x="18872200" y="5321299"/>
            <a:ext cx="4064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FFFFFF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Modern</a:t>
            </a:r>
          </a:p>
        </p:txBody>
      </p:sp>
      <p:sp>
        <p:nvSpPr>
          <p:cNvPr id="504" name="HTML templates"/>
          <p:cNvSpPr txBox="1"/>
          <p:nvPr/>
        </p:nvSpPr>
        <p:spPr>
          <a:xfrm>
            <a:off x="18897600" y="6134100"/>
            <a:ext cx="4064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HTML templates</a:t>
            </a:r>
          </a:p>
        </p:txBody>
      </p:sp>
      <p:sp>
        <p:nvSpPr>
          <p:cNvPr id="505" name="post meta"/>
          <p:cNvSpPr txBox="1"/>
          <p:nvPr/>
        </p:nvSpPr>
        <p:spPr>
          <a:xfrm>
            <a:off x="18897600" y="6743700"/>
            <a:ext cx="4064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9AEDFE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post meta</a:t>
            </a:r>
          </a:p>
        </p:txBody>
      </p:sp>
      <p:sp>
        <p:nvSpPr>
          <p:cNvPr id="506" name="native blocks"/>
          <p:cNvSpPr txBox="1"/>
          <p:nvPr/>
        </p:nvSpPr>
        <p:spPr>
          <a:xfrm>
            <a:off x="18897600" y="7340600"/>
            <a:ext cx="4064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9AEDFE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native blocks</a:t>
            </a:r>
          </a:p>
        </p:txBody>
      </p:sp>
      <p:sp>
        <p:nvSpPr>
          <p:cNvPr id="507" name="theme.json"/>
          <p:cNvSpPr txBox="1"/>
          <p:nvPr/>
        </p:nvSpPr>
        <p:spPr>
          <a:xfrm>
            <a:off x="18897600" y="7950200"/>
            <a:ext cx="4064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theme.json</a:t>
            </a:r>
          </a:p>
        </p:txBody>
      </p:sp>
      <p:sp>
        <p:nvSpPr>
          <p:cNvPr id="508" name="Interactivity API"/>
          <p:cNvSpPr txBox="1"/>
          <p:nvPr/>
        </p:nvSpPr>
        <p:spPr>
          <a:xfrm>
            <a:off x="18897600" y="8547100"/>
            <a:ext cx="4064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9AEDFE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Interactivity API</a:t>
            </a:r>
          </a:p>
        </p:txBody>
      </p:sp>
      <p:sp>
        <p:nvSpPr>
          <p:cNvPr id="509" name="AI client"/>
          <p:cNvSpPr txBox="1"/>
          <p:nvPr/>
        </p:nvSpPr>
        <p:spPr>
          <a:xfrm>
            <a:off x="18897600" y="9156700"/>
            <a:ext cx="4064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9AEDFE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AI client</a:t>
            </a:r>
          </a:p>
        </p:txBody>
      </p:sp>
      <p:sp>
        <p:nvSpPr>
          <p:cNvPr id="510" name="Native blocks"/>
          <p:cNvSpPr txBox="1"/>
          <p:nvPr/>
        </p:nvSpPr>
        <p:spPr>
          <a:xfrm>
            <a:off x="6553200" y="8496299"/>
            <a:ext cx="2413000" cy="922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6F3CC3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Native blocks</a:t>
            </a:r>
          </a:p>
        </p:txBody>
      </p:sp>
      <p:sp>
        <p:nvSpPr>
          <p:cNvPr id="511" name="5.0+"/>
          <p:cNvSpPr txBox="1"/>
          <p:nvPr/>
        </p:nvSpPr>
        <p:spPr>
          <a:xfrm>
            <a:off x="6578600" y="9385300"/>
            <a:ext cx="2413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6F3CC3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5.0+</a:t>
            </a:r>
          </a:p>
        </p:txBody>
      </p:sp>
      <p:sp>
        <p:nvSpPr>
          <p:cNvPr id="512" name="Post meta"/>
          <p:cNvSpPr txBox="1"/>
          <p:nvPr/>
        </p:nvSpPr>
        <p:spPr>
          <a:xfrm>
            <a:off x="9486900" y="7899400"/>
            <a:ext cx="24130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6F3CC3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Post meta</a:t>
            </a:r>
          </a:p>
        </p:txBody>
      </p:sp>
      <p:sp>
        <p:nvSpPr>
          <p:cNvPr id="513" name="6.5+"/>
          <p:cNvSpPr txBox="1"/>
          <p:nvPr/>
        </p:nvSpPr>
        <p:spPr>
          <a:xfrm>
            <a:off x="9512300" y="8394700"/>
            <a:ext cx="2413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6F3CC3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6.5+</a:t>
            </a:r>
          </a:p>
        </p:txBody>
      </p:sp>
      <p:sp>
        <p:nvSpPr>
          <p:cNvPr id="514" name="theme.json"/>
          <p:cNvSpPr txBox="1"/>
          <p:nvPr/>
        </p:nvSpPr>
        <p:spPr>
          <a:xfrm>
            <a:off x="12420600" y="7302500"/>
            <a:ext cx="27178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6F3CC3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theme.json</a:t>
            </a:r>
          </a:p>
        </p:txBody>
      </p:sp>
      <p:sp>
        <p:nvSpPr>
          <p:cNvPr id="515" name="5.8+"/>
          <p:cNvSpPr txBox="1"/>
          <p:nvPr/>
        </p:nvSpPr>
        <p:spPr>
          <a:xfrm>
            <a:off x="12446000" y="7797800"/>
            <a:ext cx="2413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6F3CC3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5.8+</a:t>
            </a:r>
          </a:p>
        </p:txBody>
      </p:sp>
      <p:sp>
        <p:nvSpPr>
          <p:cNvPr id="516" name="Block parts"/>
          <p:cNvSpPr txBox="1"/>
          <p:nvPr/>
        </p:nvSpPr>
        <p:spPr>
          <a:xfrm>
            <a:off x="15354300" y="6718299"/>
            <a:ext cx="2413000" cy="922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6F3CC3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Block parts</a:t>
            </a:r>
          </a:p>
        </p:txBody>
      </p:sp>
      <p:sp>
        <p:nvSpPr>
          <p:cNvPr id="517" name="6.1+"/>
          <p:cNvSpPr txBox="1"/>
          <p:nvPr/>
        </p:nvSpPr>
        <p:spPr>
          <a:xfrm>
            <a:off x="15379700" y="7607300"/>
            <a:ext cx="24130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6F3CC3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6.1+</a:t>
            </a:r>
          </a:p>
        </p:txBody>
      </p:sp>
      <p:sp>
        <p:nvSpPr>
          <p:cNvPr id="518" name="hybrid theme: every step works in a classic theme"/>
          <p:cNvSpPr txBox="1"/>
          <p:nvPr/>
        </p:nvSpPr>
        <p:spPr>
          <a:xfrm>
            <a:off x="7239000" y="11087099"/>
            <a:ext cx="10160000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4400">
                <a:solidFill>
                  <a:srgbClr val="6F3CC3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hybrid theme: every step works in a classic theme</a:t>
            </a:r>
          </a:p>
        </p:txBody>
      </p:sp>
      <p:sp>
        <p:nvSpPr>
          <p:cNvPr id="519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520" name="prog-23.png" descr="prog-23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25" name="Going 100% core: pros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Going 100% core: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pros</a:t>
            </a:r>
          </a:p>
        </p:txBody>
      </p:sp>
      <p:sp>
        <p:nvSpPr>
          <p:cNvPr id="526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527" name="—"/>
          <p:cNvSpPr txBox="1"/>
          <p:nvPr/>
        </p:nvSpPr>
        <p:spPr>
          <a:xfrm>
            <a:off x="1320800" y="4826000"/>
            <a:ext cx="5588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528" name="Performance, things moving from server to browser"/>
          <p:cNvSpPr txBox="1"/>
          <p:nvPr/>
        </p:nvSpPr>
        <p:spPr>
          <a:xfrm>
            <a:off x="2032000" y="4826000"/>
            <a:ext cx="213360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Performance, things moving from server to browser</a:t>
            </a:r>
          </a:p>
        </p:txBody>
      </p:sp>
      <p:sp>
        <p:nvSpPr>
          <p:cNvPr id="529" name="—"/>
          <p:cNvSpPr txBox="1"/>
          <p:nvPr/>
        </p:nvSpPr>
        <p:spPr>
          <a:xfrm>
            <a:off x="1320800" y="5880100"/>
            <a:ext cx="5588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530" name="Heading levels, colours and spacing are built in."/>
          <p:cNvSpPr txBox="1"/>
          <p:nvPr/>
        </p:nvSpPr>
        <p:spPr>
          <a:xfrm>
            <a:off x="2032000" y="5880100"/>
            <a:ext cx="213360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Heading levels, colours and spacing are built in.</a:t>
            </a:r>
          </a:p>
        </p:txBody>
      </p:sp>
      <p:sp>
        <p:nvSpPr>
          <p:cNvPr id="531" name="—"/>
          <p:cNvSpPr txBox="1"/>
          <p:nvPr/>
        </p:nvSpPr>
        <p:spPr>
          <a:xfrm>
            <a:off x="1320800" y="6934200"/>
            <a:ext cx="5588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532" name="The client edits in the preview itself."/>
          <p:cNvSpPr txBox="1"/>
          <p:nvPr/>
        </p:nvSpPr>
        <p:spPr>
          <a:xfrm>
            <a:off x="2032000" y="6934200"/>
            <a:ext cx="213360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The client edits in the preview itself.</a:t>
            </a:r>
          </a:p>
        </p:txBody>
      </p:sp>
      <p:sp>
        <p:nvSpPr>
          <p:cNvPr id="533" name="—"/>
          <p:cNvSpPr txBox="1"/>
          <p:nvPr/>
        </p:nvSpPr>
        <p:spPr>
          <a:xfrm>
            <a:off x="1320800" y="7988300"/>
            <a:ext cx="5588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534" name="Lego and Duplo at once, mixed freely."/>
          <p:cNvSpPr txBox="1"/>
          <p:nvPr/>
        </p:nvSpPr>
        <p:spPr>
          <a:xfrm>
            <a:off x="2032000" y="7988300"/>
            <a:ext cx="213360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Lego and Duplo at once, mixed freely.</a:t>
            </a:r>
          </a:p>
        </p:txBody>
      </p:sp>
      <p:sp>
        <p:nvSpPr>
          <p:cNvPr id="535" name="—"/>
          <p:cNvSpPr txBox="1"/>
          <p:nvPr/>
        </p:nvSpPr>
        <p:spPr>
          <a:xfrm>
            <a:off x="1320800" y="9042400"/>
            <a:ext cx="5588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536" name="Anything can be moved, reordered and combined."/>
          <p:cNvSpPr txBox="1"/>
          <p:nvPr/>
        </p:nvSpPr>
        <p:spPr>
          <a:xfrm>
            <a:off x="2032000" y="9042400"/>
            <a:ext cx="213360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Anything can be moved, reordered and combined.</a:t>
            </a:r>
          </a:p>
        </p:txBody>
      </p:sp>
      <p:sp>
        <p:nvSpPr>
          <p:cNvPr id="537" name="—"/>
          <p:cNvSpPr txBox="1"/>
          <p:nvPr/>
        </p:nvSpPr>
        <p:spPr>
          <a:xfrm>
            <a:off x="1320800" y="10096500"/>
            <a:ext cx="5588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538" name="The client gets a real tool. One client had called an old site “the WordPress straitjacket Dude knitted”."/>
          <p:cNvSpPr txBox="1"/>
          <p:nvPr/>
        </p:nvSpPr>
        <p:spPr>
          <a:xfrm>
            <a:off x="2032000" y="10096499"/>
            <a:ext cx="21336000" cy="1283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8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The client gets a real tool. One client had called an</a:t>
            </a:r>
            <a:br/>
            <a:r>
              <a:t>old site “the WordPress straitjacket Dude knitted”.</a:t>
            </a:r>
          </a:p>
        </p:txBody>
      </p:sp>
      <p:pic>
        <p:nvPicPr>
          <p:cNvPr id="539" name="prog-24.png" descr="prog-2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44" name="Content in ACF and in core"/>
          <p:cNvSpPr txBox="1"/>
          <p:nvPr/>
        </p:nvSpPr>
        <p:spPr>
          <a:xfrm>
            <a:off x="12192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Content in ACF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and in core</a:t>
            </a:r>
          </a:p>
        </p:txBody>
      </p:sp>
      <p:sp>
        <p:nvSpPr>
          <p:cNvPr id="545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546" name="With ACF"/>
          <p:cNvSpPr txBox="1"/>
          <p:nvPr/>
        </p:nvSpPr>
        <p:spPr>
          <a:xfrm>
            <a:off x="1270000" y="5486400"/>
            <a:ext cx="304800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With ACF</a:t>
            </a:r>
          </a:p>
        </p:txBody>
      </p:sp>
      <p:pic>
        <p:nvPicPr>
          <p:cNvPr id="547" name="dg-box.png" descr="dg-bo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622800" y="49149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548" name="DATABASE + acf-json/"/>
          <p:cNvSpPr txBox="1"/>
          <p:nvPr/>
        </p:nvSpPr>
        <p:spPr>
          <a:xfrm>
            <a:off x="4851400" y="5105399"/>
            <a:ext cx="36830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DC3F6D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DATABASE + acf-json/</a:t>
            </a:r>
          </a:p>
        </p:txBody>
      </p:sp>
      <p:sp>
        <p:nvSpPr>
          <p:cNvPr id="549" name="Field groups"/>
          <p:cNvSpPr txBox="1"/>
          <p:nvPr/>
        </p:nvSpPr>
        <p:spPr>
          <a:xfrm>
            <a:off x="4851400" y="5562599"/>
            <a:ext cx="3683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220D44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Field groups</a:t>
            </a:r>
          </a:p>
        </p:txBody>
      </p:sp>
      <p:sp>
        <p:nvSpPr>
          <p:cNvPr id="550" name="Set up by hand in the admin"/>
          <p:cNvSpPr txBox="1"/>
          <p:nvPr/>
        </p:nvSpPr>
        <p:spPr>
          <a:xfrm>
            <a:off x="4851400" y="6172200"/>
            <a:ext cx="36830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Set up by hand in the admin</a:t>
            </a:r>
          </a:p>
        </p:txBody>
      </p:sp>
      <p:sp>
        <p:nvSpPr>
          <p:cNvPr id="551" name="→"/>
          <p:cNvSpPr txBox="1"/>
          <p:nvPr/>
        </p:nvSpPr>
        <p:spPr>
          <a:xfrm>
            <a:off x="8813800" y="5638800"/>
            <a:ext cx="508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→</a:t>
            </a:r>
          </a:p>
        </p:txBody>
      </p:sp>
      <p:pic>
        <p:nvPicPr>
          <p:cNvPr id="552" name="dg-box.png" descr="dg-bo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372600" y="49149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553" name="PLUGIN"/>
          <p:cNvSpPr txBox="1"/>
          <p:nvPr/>
        </p:nvSpPr>
        <p:spPr>
          <a:xfrm>
            <a:off x="9601200" y="5105399"/>
            <a:ext cx="36830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DC3F6D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PLUGIN</a:t>
            </a:r>
          </a:p>
        </p:txBody>
      </p:sp>
      <p:sp>
        <p:nvSpPr>
          <p:cNvPr id="554" name="ACF"/>
          <p:cNvSpPr txBox="1"/>
          <p:nvPr/>
        </p:nvSpPr>
        <p:spPr>
          <a:xfrm>
            <a:off x="9601200" y="5562599"/>
            <a:ext cx="3683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220D44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ACF</a:t>
            </a:r>
          </a:p>
        </p:txBody>
      </p:sp>
      <p:sp>
        <p:nvSpPr>
          <p:cNvPr id="555" name="Reads the groups, draws the forms"/>
          <p:cNvSpPr txBox="1"/>
          <p:nvPr/>
        </p:nvSpPr>
        <p:spPr>
          <a:xfrm>
            <a:off x="9601200" y="6172200"/>
            <a:ext cx="36830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Reads the groups, draws the forms</a:t>
            </a:r>
          </a:p>
        </p:txBody>
      </p:sp>
      <p:sp>
        <p:nvSpPr>
          <p:cNvPr id="556" name="→"/>
          <p:cNvSpPr txBox="1"/>
          <p:nvPr/>
        </p:nvSpPr>
        <p:spPr>
          <a:xfrm>
            <a:off x="13563600" y="5638800"/>
            <a:ext cx="508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→</a:t>
            </a:r>
          </a:p>
        </p:txBody>
      </p:sp>
      <p:pic>
        <p:nvPicPr>
          <p:cNvPr id="557" name="dg-box.png" descr="dg-bo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122400" y="49149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558" name="THEME"/>
          <p:cNvSpPr txBox="1"/>
          <p:nvPr/>
        </p:nvSpPr>
        <p:spPr>
          <a:xfrm>
            <a:off x="14351000" y="5105399"/>
            <a:ext cx="36830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THEME</a:t>
            </a:r>
          </a:p>
        </p:txBody>
      </p:sp>
      <p:sp>
        <p:nvSpPr>
          <p:cNvPr id="559" name="PHP templates"/>
          <p:cNvSpPr txBox="1"/>
          <p:nvPr/>
        </p:nvSpPr>
        <p:spPr>
          <a:xfrm>
            <a:off x="14351000" y="5562599"/>
            <a:ext cx="3683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220D44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PHP templates</a:t>
            </a:r>
          </a:p>
        </p:txBody>
      </p:sp>
      <p:sp>
        <p:nvSpPr>
          <p:cNvPr id="560" name="Print each field with get_field()"/>
          <p:cNvSpPr txBox="1"/>
          <p:nvPr/>
        </p:nvSpPr>
        <p:spPr>
          <a:xfrm>
            <a:off x="14351000" y="6172199"/>
            <a:ext cx="3683000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Print each field with </a:t>
            </a:r>
            <a:r>
              <a:rPr sz="21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get_field()</a:t>
            </a:r>
          </a:p>
        </p:txBody>
      </p:sp>
      <p:sp>
        <p:nvSpPr>
          <p:cNvPr id="561" name="→"/>
          <p:cNvSpPr txBox="1"/>
          <p:nvPr/>
        </p:nvSpPr>
        <p:spPr>
          <a:xfrm>
            <a:off x="18313400" y="5638800"/>
            <a:ext cx="508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→</a:t>
            </a:r>
          </a:p>
        </p:txBody>
      </p:sp>
      <p:pic>
        <p:nvPicPr>
          <p:cNvPr id="562" name="dg-box.png" descr="dg-bo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872200" y="49149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563" name="DATABASE"/>
          <p:cNvSpPr txBox="1"/>
          <p:nvPr/>
        </p:nvSpPr>
        <p:spPr>
          <a:xfrm>
            <a:off x="19100800" y="5105399"/>
            <a:ext cx="36830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DC3F6D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DATABASE</a:t>
            </a:r>
          </a:p>
        </p:txBody>
      </p:sp>
      <p:sp>
        <p:nvSpPr>
          <p:cNvPr id="564" name="Field values"/>
          <p:cNvSpPr txBox="1"/>
          <p:nvPr/>
        </p:nvSpPr>
        <p:spPr>
          <a:xfrm>
            <a:off x="19100800" y="5562599"/>
            <a:ext cx="3683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220D44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Field values</a:t>
            </a:r>
          </a:p>
        </p:txBody>
      </p:sp>
      <p:sp>
        <p:nvSpPr>
          <p:cNvPr id="565" name="One wp_postmeta row per field"/>
          <p:cNvSpPr txBox="1"/>
          <p:nvPr/>
        </p:nvSpPr>
        <p:spPr>
          <a:xfrm>
            <a:off x="19100800" y="6172200"/>
            <a:ext cx="36830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One </a:t>
            </a:r>
            <a:r>
              <a:rPr sz="21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wp_postmeta</a:t>
            </a:r>
            <a:r>
              <a:t> row per field</a:t>
            </a:r>
          </a:p>
        </p:txBody>
      </p:sp>
      <p:sp>
        <p:nvSpPr>
          <p:cNvPr id="566" name="With core blocks"/>
          <p:cNvSpPr txBox="1"/>
          <p:nvPr/>
        </p:nvSpPr>
        <p:spPr>
          <a:xfrm>
            <a:off x="1270000" y="8432800"/>
            <a:ext cx="3048000" cy="994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With core blocks</a:t>
            </a:r>
          </a:p>
        </p:txBody>
      </p:sp>
      <p:pic>
        <p:nvPicPr>
          <p:cNvPr id="567" name="dg-box.png" descr="dg-bo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622800" y="78613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568" name="WORDPRESS CORE"/>
          <p:cNvSpPr txBox="1"/>
          <p:nvPr/>
        </p:nvSpPr>
        <p:spPr>
          <a:xfrm>
            <a:off x="4851400" y="8051799"/>
            <a:ext cx="36830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WORDPRESS CORE</a:t>
            </a:r>
          </a:p>
        </p:txBody>
      </p:sp>
      <p:sp>
        <p:nvSpPr>
          <p:cNvPr id="569" name="Blocks"/>
          <p:cNvSpPr txBox="1"/>
          <p:nvPr/>
        </p:nvSpPr>
        <p:spPr>
          <a:xfrm>
            <a:off x="4851400" y="8508999"/>
            <a:ext cx="3683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220D44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Blocks</a:t>
            </a:r>
          </a:p>
        </p:txBody>
      </p:sp>
      <p:sp>
        <p:nvSpPr>
          <p:cNvPr id="570" name="The options come with the block"/>
          <p:cNvSpPr txBox="1"/>
          <p:nvPr/>
        </p:nvSpPr>
        <p:spPr>
          <a:xfrm>
            <a:off x="4851400" y="9118600"/>
            <a:ext cx="36830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The options come with the block</a:t>
            </a:r>
          </a:p>
        </p:txBody>
      </p:sp>
      <p:sp>
        <p:nvSpPr>
          <p:cNvPr id="571" name="→"/>
          <p:cNvSpPr txBox="1"/>
          <p:nvPr/>
        </p:nvSpPr>
        <p:spPr>
          <a:xfrm>
            <a:off x="8813800" y="8585200"/>
            <a:ext cx="508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→</a:t>
            </a:r>
          </a:p>
        </p:txBody>
      </p:sp>
      <p:pic>
        <p:nvPicPr>
          <p:cNvPr id="572" name="dg-box-ghost.png" descr="dg-box-ghost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372600" y="78613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573" name="No plugin"/>
          <p:cNvSpPr txBox="1"/>
          <p:nvPr/>
        </p:nvSpPr>
        <p:spPr>
          <a:xfrm>
            <a:off x="9601200" y="8508999"/>
            <a:ext cx="3683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5D5377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No plugin</a:t>
            </a:r>
          </a:p>
        </p:txBody>
      </p:sp>
      <p:sp>
        <p:nvSpPr>
          <p:cNvPr id="574" name="Nothing to install or update"/>
          <p:cNvSpPr txBox="1"/>
          <p:nvPr/>
        </p:nvSpPr>
        <p:spPr>
          <a:xfrm>
            <a:off x="9601200" y="9118600"/>
            <a:ext cx="36830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5D5377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Nothing to install or update</a:t>
            </a:r>
          </a:p>
        </p:txBody>
      </p:sp>
      <p:sp>
        <p:nvSpPr>
          <p:cNvPr id="575" name="→"/>
          <p:cNvSpPr txBox="1"/>
          <p:nvPr/>
        </p:nvSpPr>
        <p:spPr>
          <a:xfrm>
            <a:off x="13563600" y="8585200"/>
            <a:ext cx="508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→</a:t>
            </a:r>
          </a:p>
        </p:txBody>
      </p:sp>
      <p:pic>
        <p:nvPicPr>
          <p:cNvPr id="576" name="dg-box.png" descr="dg-bo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122400" y="78613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577" name="THEME"/>
          <p:cNvSpPr txBox="1"/>
          <p:nvPr/>
        </p:nvSpPr>
        <p:spPr>
          <a:xfrm>
            <a:off x="14351000" y="8051799"/>
            <a:ext cx="36830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THEME</a:t>
            </a:r>
          </a:p>
        </p:txBody>
      </p:sp>
      <p:sp>
        <p:nvSpPr>
          <p:cNvPr id="578" name="theme.json"/>
          <p:cNvSpPr txBox="1"/>
          <p:nvPr/>
        </p:nvSpPr>
        <p:spPr>
          <a:xfrm>
            <a:off x="14351000" y="8509000"/>
            <a:ext cx="36830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>
              <a:defRPr sz="2800">
                <a:solidFill>
                  <a:srgbClr val="220D44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pPr>
            <a:r>
              <a:rPr sz="26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theme.json</a:t>
            </a:r>
          </a:p>
        </p:txBody>
      </p:sp>
      <p:sp>
        <p:nvSpPr>
          <p:cNvPr id="579" name="Colours, sizes, spacing, styles"/>
          <p:cNvSpPr txBox="1"/>
          <p:nvPr/>
        </p:nvSpPr>
        <p:spPr>
          <a:xfrm>
            <a:off x="14351000" y="9118600"/>
            <a:ext cx="36830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Colours, sizes, spacing, styles</a:t>
            </a:r>
          </a:p>
        </p:txBody>
      </p:sp>
      <p:sp>
        <p:nvSpPr>
          <p:cNvPr id="580" name="→"/>
          <p:cNvSpPr txBox="1"/>
          <p:nvPr/>
        </p:nvSpPr>
        <p:spPr>
          <a:xfrm>
            <a:off x="18313400" y="8585200"/>
            <a:ext cx="508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→</a:t>
            </a:r>
          </a:p>
        </p:txBody>
      </p:sp>
      <p:pic>
        <p:nvPicPr>
          <p:cNvPr id="581" name="dg-box.png" descr="dg-bo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872200" y="78613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582" name="DATABASE"/>
          <p:cNvSpPr txBox="1"/>
          <p:nvPr/>
        </p:nvSpPr>
        <p:spPr>
          <a:xfrm>
            <a:off x="19100800" y="8051799"/>
            <a:ext cx="36830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DC3F6D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DATABASE</a:t>
            </a:r>
          </a:p>
        </p:txBody>
      </p:sp>
      <p:sp>
        <p:nvSpPr>
          <p:cNvPr id="583" name="Content"/>
          <p:cNvSpPr txBox="1"/>
          <p:nvPr/>
        </p:nvSpPr>
        <p:spPr>
          <a:xfrm>
            <a:off x="19100800" y="8508999"/>
            <a:ext cx="3683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220D44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Content</a:t>
            </a:r>
          </a:p>
        </p:txBody>
      </p:sp>
      <p:sp>
        <p:nvSpPr>
          <p:cNvPr id="584" name="Block markup in post_content"/>
          <p:cNvSpPr txBox="1"/>
          <p:nvPr/>
        </p:nvSpPr>
        <p:spPr>
          <a:xfrm>
            <a:off x="19100800" y="9118599"/>
            <a:ext cx="3683000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Block markup in </a:t>
            </a:r>
            <a:r>
              <a:rPr sz="21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post_content</a:t>
            </a:r>
          </a:p>
        </p:txBody>
      </p:sp>
      <p:pic>
        <p:nvPicPr>
          <p:cNvPr id="585" name="prog-25.png" descr="prog-25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90" name="From server to browser"/>
          <p:cNvSpPr txBox="1"/>
          <p:nvPr/>
        </p:nvSpPr>
        <p:spPr>
          <a:xfrm>
            <a:off x="12192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From server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to browser</a:t>
            </a:r>
          </a:p>
        </p:txBody>
      </p:sp>
      <p:sp>
        <p:nvSpPr>
          <p:cNvPr id="591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592" name="With ACF"/>
          <p:cNvSpPr txBox="1"/>
          <p:nvPr/>
        </p:nvSpPr>
        <p:spPr>
          <a:xfrm>
            <a:off x="1270000" y="5486400"/>
            <a:ext cx="304800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With ACF</a:t>
            </a:r>
          </a:p>
        </p:txBody>
      </p:sp>
      <p:pic>
        <p:nvPicPr>
          <p:cNvPr id="593" name="dg-box.png" descr="dg-bo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622800" y="49149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594" name="VISITOR"/>
          <p:cNvSpPr txBox="1"/>
          <p:nvPr/>
        </p:nvSpPr>
        <p:spPr>
          <a:xfrm>
            <a:off x="4851400" y="5105399"/>
            <a:ext cx="36830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DC3F6D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VISITOR</a:t>
            </a:r>
          </a:p>
        </p:txBody>
      </p:sp>
      <p:sp>
        <p:nvSpPr>
          <p:cNvPr id="595" name="Page request"/>
          <p:cNvSpPr txBox="1"/>
          <p:nvPr/>
        </p:nvSpPr>
        <p:spPr>
          <a:xfrm>
            <a:off x="4851400" y="5562599"/>
            <a:ext cx="3683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220D44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Page request</a:t>
            </a:r>
          </a:p>
        </p:txBody>
      </p:sp>
      <p:sp>
        <p:nvSpPr>
          <p:cNvPr id="596" name="Asks for a page"/>
          <p:cNvSpPr txBox="1"/>
          <p:nvPr/>
        </p:nvSpPr>
        <p:spPr>
          <a:xfrm>
            <a:off x="4851400" y="6343650"/>
            <a:ext cx="368300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Asks for a page</a:t>
            </a:r>
          </a:p>
        </p:txBody>
      </p:sp>
      <p:sp>
        <p:nvSpPr>
          <p:cNvPr id="597" name="→"/>
          <p:cNvSpPr txBox="1"/>
          <p:nvPr/>
        </p:nvSpPr>
        <p:spPr>
          <a:xfrm>
            <a:off x="8813800" y="5638800"/>
            <a:ext cx="508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→</a:t>
            </a:r>
          </a:p>
        </p:txBody>
      </p:sp>
      <p:pic>
        <p:nvPicPr>
          <p:cNvPr id="598" name="dg-box.png" descr="dg-bo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372600" y="49149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599" name="CACHE"/>
          <p:cNvSpPr txBox="1"/>
          <p:nvPr/>
        </p:nvSpPr>
        <p:spPr>
          <a:xfrm>
            <a:off x="9601200" y="5105399"/>
            <a:ext cx="36830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DC3F6D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CACHE</a:t>
            </a:r>
          </a:p>
        </p:txBody>
      </p:sp>
      <p:sp>
        <p:nvSpPr>
          <p:cNvPr id="600" name="Page cache"/>
          <p:cNvSpPr txBox="1"/>
          <p:nvPr/>
        </p:nvSpPr>
        <p:spPr>
          <a:xfrm>
            <a:off x="9601200" y="5562599"/>
            <a:ext cx="3683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220D44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Page cache</a:t>
            </a:r>
          </a:p>
        </p:txBody>
      </p:sp>
      <p:sp>
        <p:nvSpPr>
          <p:cNvPr id="601" name="A hit ends here"/>
          <p:cNvSpPr txBox="1"/>
          <p:nvPr/>
        </p:nvSpPr>
        <p:spPr>
          <a:xfrm>
            <a:off x="9601200" y="6343650"/>
            <a:ext cx="368300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 hit ends here</a:t>
            </a:r>
          </a:p>
        </p:txBody>
      </p:sp>
      <p:sp>
        <p:nvSpPr>
          <p:cNvPr id="602" name="→"/>
          <p:cNvSpPr txBox="1"/>
          <p:nvPr/>
        </p:nvSpPr>
        <p:spPr>
          <a:xfrm>
            <a:off x="13563600" y="5638800"/>
            <a:ext cx="508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→</a:t>
            </a:r>
          </a:p>
        </p:txBody>
      </p:sp>
      <p:pic>
        <p:nvPicPr>
          <p:cNvPr id="603" name="dg-box.png" descr="dg-bo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122400" y="49149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604" name="THEME"/>
          <p:cNvSpPr txBox="1"/>
          <p:nvPr/>
        </p:nvSpPr>
        <p:spPr>
          <a:xfrm>
            <a:off x="14351000" y="5105399"/>
            <a:ext cx="36830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THEME</a:t>
            </a:r>
          </a:p>
        </p:txBody>
      </p:sp>
      <p:sp>
        <p:nvSpPr>
          <p:cNvPr id="605" name="PHP renders"/>
          <p:cNvSpPr txBox="1"/>
          <p:nvPr/>
        </p:nvSpPr>
        <p:spPr>
          <a:xfrm>
            <a:off x="14351000" y="5562599"/>
            <a:ext cx="3683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220D44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PHP renders</a:t>
            </a:r>
          </a:p>
        </p:txBody>
      </p:sp>
      <p:sp>
        <p:nvSpPr>
          <p:cNvPr id="606" name="Every block, on every cache miss"/>
          <p:cNvSpPr txBox="1"/>
          <p:nvPr/>
        </p:nvSpPr>
        <p:spPr>
          <a:xfrm>
            <a:off x="14351000" y="6153150"/>
            <a:ext cx="36830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Every block, on every cache miss</a:t>
            </a:r>
          </a:p>
        </p:txBody>
      </p:sp>
      <p:sp>
        <p:nvSpPr>
          <p:cNvPr id="607" name="→"/>
          <p:cNvSpPr txBox="1"/>
          <p:nvPr/>
        </p:nvSpPr>
        <p:spPr>
          <a:xfrm>
            <a:off x="18313400" y="5638800"/>
            <a:ext cx="508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→</a:t>
            </a:r>
          </a:p>
        </p:txBody>
      </p:sp>
      <p:pic>
        <p:nvPicPr>
          <p:cNvPr id="608" name="dg-box.png" descr="dg-bo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872200" y="49149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609" name="DATABASE"/>
          <p:cNvSpPr txBox="1"/>
          <p:nvPr/>
        </p:nvSpPr>
        <p:spPr>
          <a:xfrm>
            <a:off x="19100800" y="5105399"/>
            <a:ext cx="36830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DC3F6D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DATABASE</a:t>
            </a:r>
          </a:p>
        </p:txBody>
      </p:sp>
      <p:sp>
        <p:nvSpPr>
          <p:cNvPr id="610" name="Field values"/>
          <p:cNvSpPr txBox="1"/>
          <p:nvPr/>
        </p:nvSpPr>
        <p:spPr>
          <a:xfrm>
            <a:off x="19100800" y="5562599"/>
            <a:ext cx="3683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220D44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Field values</a:t>
            </a:r>
          </a:p>
        </p:txBody>
      </p:sp>
      <p:sp>
        <p:nvSpPr>
          <p:cNvPr id="611" name="Read one field at a time"/>
          <p:cNvSpPr txBox="1"/>
          <p:nvPr/>
        </p:nvSpPr>
        <p:spPr>
          <a:xfrm>
            <a:off x="19100800" y="6343650"/>
            <a:ext cx="368300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Read one field at a time</a:t>
            </a:r>
          </a:p>
        </p:txBody>
      </p:sp>
      <p:sp>
        <p:nvSpPr>
          <p:cNvPr id="612" name="With core blocks"/>
          <p:cNvSpPr txBox="1"/>
          <p:nvPr/>
        </p:nvSpPr>
        <p:spPr>
          <a:xfrm>
            <a:off x="1270000" y="8432800"/>
            <a:ext cx="3048000" cy="994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With core blocks</a:t>
            </a:r>
          </a:p>
        </p:txBody>
      </p:sp>
      <p:pic>
        <p:nvPicPr>
          <p:cNvPr id="613" name="dg-box.png" descr="dg-bo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622800" y="78613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614" name="VISITOR"/>
          <p:cNvSpPr txBox="1"/>
          <p:nvPr/>
        </p:nvSpPr>
        <p:spPr>
          <a:xfrm>
            <a:off x="4851400" y="8051799"/>
            <a:ext cx="36830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VISITOR</a:t>
            </a:r>
          </a:p>
        </p:txBody>
      </p:sp>
      <p:sp>
        <p:nvSpPr>
          <p:cNvPr id="615" name="Page request"/>
          <p:cNvSpPr txBox="1"/>
          <p:nvPr/>
        </p:nvSpPr>
        <p:spPr>
          <a:xfrm>
            <a:off x="4851400" y="8508999"/>
            <a:ext cx="3683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220D44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Page request</a:t>
            </a:r>
          </a:p>
        </p:txBody>
      </p:sp>
      <p:sp>
        <p:nvSpPr>
          <p:cNvPr id="616" name="Asks for a page"/>
          <p:cNvSpPr txBox="1"/>
          <p:nvPr/>
        </p:nvSpPr>
        <p:spPr>
          <a:xfrm>
            <a:off x="4851400" y="9290050"/>
            <a:ext cx="368300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Asks for a page</a:t>
            </a:r>
          </a:p>
        </p:txBody>
      </p:sp>
      <p:sp>
        <p:nvSpPr>
          <p:cNvPr id="617" name="→"/>
          <p:cNvSpPr txBox="1"/>
          <p:nvPr/>
        </p:nvSpPr>
        <p:spPr>
          <a:xfrm>
            <a:off x="8813800" y="8585200"/>
            <a:ext cx="508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→</a:t>
            </a:r>
          </a:p>
        </p:txBody>
      </p:sp>
      <p:pic>
        <p:nvPicPr>
          <p:cNvPr id="618" name="dg-box-ghost.png" descr="dg-box-ghost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872200" y="78613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619" name="→"/>
          <p:cNvSpPr txBox="1"/>
          <p:nvPr/>
        </p:nvSpPr>
        <p:spPr>
          <a:xfrm>
            <a:off x="13563600" y="8585200"/>
            <a:ext cx="508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→</a:t>
            </a:r>
          </a:p>
        </p:txBody>
      </p:sp>
      <p:pic>
        <p:nvPicPr>
          <p:cNvPr id="620" name="dg-box.png" descr="dg-bo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122400" y="78613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621" name="DATABASE"/>
          <p:cNvSpPr txBox="1"/>
          <p:nvPr/>
        </p:nvSpPr>
        <p:spPr>
          <a:xfrm>
            <a:off x="14351000" y="8051799"/>
            <a:ext cx="36830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DATABASE</a:t>
            </a:r>
          </a:p>
        </p:txBody>
      </p:sp>
      <p:sp>
        <p:nvSpPr>
          <p:cNvPr id="622" name="Saved HTML"/>
          <p:cNvSpPr txBox="1"/>
          <p:nvPr/>
        </p:nvSpPr>
        <p:spPr>
          <a:xfrm>
            <a:off x="14351000" y="8502649"/>
            <a:ext cx="3683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>
              <a:defRPr>
                <a:solidFill>
                  <a:srgbClr val="220D44"/>
                </a:solidFill>
              </a:defRPr>
            </a:pPr>
            <a:r>
              <a:rPr>
                <a:solidFill>
                  <a:srgbClr val="6033A6"/>
                </a:solidFill>
              </a:rPr>
              <a:t>Saved HTML</a:t>
            </a:r>
          </a:p>
        </p:txBody>
      </p:sp>
      <p:sp>
        <p:nvSpPr>
          <p:cNvPr id="623" name="Block markup is already in the page"/>
          <p:cNvSpPr txBox="1"/>
          <p:nvPr/>
        </p:nvSpPr>
        <p:spPr>
          <a:xfrm>
            <a:off x="14351000" y="9118600"/>
            <a:ext cx="36830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Block markup is already in the page</a:t>
            </a:r>
          </a:p>
        </p:txBody>
      </p:sp>
      <p:sp>
        <p:nvSpPr>
          <p:cNvPr id="624" name="→"/>
          <p:cNvSpPr txBox="1"/>
          <p:nvPr/>
        </p:nvSpPr>
        <p:spPr>
          <a:xfrm>
            <a:off x="18313400" y="8585200"/>
            <a:ext cx="5080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→</a:t>
            </a:r>
          </a:p>
        </p:txBody>
      </p:sp>
      <p:pic>
        <p:nvPicPr>
          <p:cNvPr id="625" name="dg-box.png" descr="dg-bo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372600" y="7861300"/>
            <a:ext cx="4191000" cy="2159000"/>
          </a:xfrm>
          <a:prstGeom prst="rect">
            <a:avLst/>
          </a:prstGeom>
          <a:ln w="12700">
            <a:miter lim="400000"/>
          </a:ln>
        </p:spPr>
      </p:pic>
      <p:sp>
        <p:nvSpPr>
          <p:cNvPr id="626" name="BROWSER"/>
          <p:cNvSpPr txBox="1"/>
          <p:nvPr/>
        </p:nvSpPr>
        <p:spPr>
          <a:xfrm>
            <a:off x="19100800" y="8051799"/>
            <a:ext cx="36830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DC3F6D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BROWSER</a:t>
            </a:r>
          </a:p>
        </p:txBody>
      </p:sp>
      <p:sp>
        <p:nvSpPr>
          <p:cNvPr id="627" name="REST API"/>
          <p:cNvSpPr txBox="1"/>
          <p:nvPr/>
        </p:nvSpPr>
        <p:spPr>
          <a:xfrm>
            <a:off x="19100800" y="8508999"/>
            <a:ext cx="3683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220D44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REST API</a:t>
            </a:r>
          </a:p>
        </p:txBody>
      </p:sp>
      <p:sp>
        <p:nvSpPr>
          <p:cNvPr id="628" name="Fetches only the live parts"/>
          <p:cNvSpPr txBox="1"/>
          <p:nvPr/>
        </p:nvSpPr>
        <p:spPr>
          <a:xfrm>
            <a:off x="19100800" y="9271000"/>
            <a:ext cx="368300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Fetches only the live parts</a:t>
            </a:r>
          </a:p>
        </p:txBody>
      </p:sp>
      <p:sp>
        <p:nvSpPr>
          <p:cNvPr id="629" name="CACHE"/>
          <p:cNvSpPr txBox="1"/>
          <p:nvPr/>
        </p:nvSpPr>
        <p:spPr>
          <a:xfrm>
            <a:off x="9601200" y="8051799"/>
            <a:ext cx="9906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DC3F6D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CACHE</a:t>
            </a:r>
          </a:p>
        </p:txBody>
      </p:sp>
      <p:sp>
        <p:nvSpPr>
          <p:cNvPr id="630" name="Page cache"/>
          <p:cNvSpPr txBox="1"/>
          <p:nvPr/>
        </p:nvSpPr>
        <p:spPr>
          <a:xfrm>
            <a:off x="9601200" y="8508999"/>
            <a:ext cx="2921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220D44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Page cache</a:t>
            </a:r>
          </a:p>
        </p:txBody>
      </p:sp>
      <p:sp>
        <p:nvSpPr>
          <p:cNvPr id="631" name="A hit ends here"/>
          <p:cNvSpPr txBox="1"/>
          <p:nvPr/>
        </p:nvSpPr>
        <p:spPr>
          <a:xfrm>
            <a:off x="9601200" y="9296400"/>
            <a:ext cx="241300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 hit ends here</a:t>
            </a:r>
          </a:p>
        </p:txBody>
      </p:sp>
      <p:pic>
        <p:nvPicPr>
          <p:cNvPr id="632" name="prog-26.png" descr="prog-26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637" name="Going 100% core: the “cons”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Going 100% core: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“cons”</a:t>
            </a:r>
          </a:p>
        </p:txBody>
      </p:sp>
      <p:sp>
        <p:nvSpPr>
          <p:cNvPr id="638" name="—"/>
          <p:cNvSpPr txBox="1"/>
          <p:nvPr/>
        </p:nvSpPr>
        <p:spPr>
          <a:xfrm>
            <a:off x="1320800" y="4826000"/>
            <a:ext cx="5588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39" name="A steep learning curve for the whole team."/>
          <p:cNvSpPr txBox="1"/>
          <p:nvPr/>
        </p:nvSpPr>
        <p:spPr>
          <a:xfrm>
            <a:off x="2032000" y="4826000"/>
            <a:ext cx="213360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 steep learning curve for the whole team.</a:t>
            </a:r>
          </a:p>
        </p:txBody>
      </p:sp>
      <p:sp>
        <p:nvSpPr>
          <p:cNvPr id="640" name="—"/>
          <p:cNvSpPr txBox="1"/>
          <p:nvPr/>
        </p:nvSpPr>
        <p:spPr>
          <a:xfrm>
            <a:off x="1320800" y="5880100"/>
            <a:ext cx="5588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41" name="Less PHP, more JSON: theme.json, block.json."/>
          <p:cNvSpPr txBox="1"/>
          <p:nvPr/>
        </p:nvSpPr>
        <p:spPr>
          <a:xfrm>
            <a:off x="2032000" y="5880100"/>
            <a:ext cx="213360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8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Less PHP, more JSON: </a:t>
            </a:r>
            <a:r>
              <a:rPr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theme.json</a:t>
            </a:r>
            <a:r>
              <a:t>, </a:t>
            </a:r>
            <a:r>
              <a:rPr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block.json</a:t>
            </a:r>
            <a:r>
              <a:t>.</a:t>
            </a:r>
          </a:p>
        </p:txBody>
      </p:sp>
      <p:sp>
        <p:nvSpPr>
          <p:cNvPr id="642" name="—"/>
          <p:cNvSpPr txBox="1"/>
          <p:nvPr/>
        </p:nvSpPr>
        <p:spPr>
          <a:xfrm>
            <a:off x="1320800" y="6934200"/>
            <a:ext cx="5588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43" name="Unlearning building every block from scratch."/>
          <p:cNvSpPr txBox="1"/>
          <p:nvPr/>
        </p:nvSpPr>
        <p:spPr>
          <a:xfrm>
            <a:off x="2032000" y="6934200"/>
            <a:ext cx="213360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Unlearning building every block from scratch.</a:t>
            </a:r>
          </a:p>
        </p:txBody>
      </p:sp>
      <p:sp>
        <p:nvSpPr>
          <p:cNvPr id="644" name="—"/>
          <p:cNvSpPr txBox="1"/>
          <p:nvPr/>
        </p:nvSpPr>
        <p:spPr>
          <a:xfrm>
            <a:off x="1320800" y="7988300"/>
            <a:ext cx="5588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45" name="Heavy build tooling: React, npm, a build step."/>
          <p:cNvSpPr txBox="1"/>
          <p:nvPr/>
        </p:nvSpPr>
        <p:spPr>
          <a:xfrm>
            <a:off x="2032000" y="7988300"/>
            <a:ext cx="213360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Heavy build tooling: React, npm, a build step.</a:t>
            </a:r>
          </a:p>
        </p:txBody>
      </p:sp>
      <p:sp>
        <p:nvSpPr>
          <p:cNvPr id="646" name="—"/>
          <p:cNvSpPr txBox="1"/>
          <p:nvPr/>
        </p:nvSpPr>
        <p:spPr>
          <a:xfrm>
            <a:off x="1320800" y="9042400"/>
            <a:ext cx="5588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47" name="Core moves fast, and the docs are scattered."/>
          <p:cNvSpPr txBox="1"/>
          <p:nvPr/>
        </p:nvSpPr>
        <p:spPr>
          <a:xfrm>
            <a:off x="2032000" y="9042400"/>
            <a:ext cx="213360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Core moves fast, and the docs are scattered.</a:t>
            </a:r>
          </a:p>
        </p:txBody>
      </p:sp>
      <p:sp>
        <p:nvSpPr>
          <p:cNvPr id="648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649" name="prog-27.png" descr="prog-27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654" name="The designer’s new job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The designer’s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new job</a:t>
            </a:r>
          </a:p>
        </p:txBody>
      </p:sp>
      <p:sp>
        <p:nvSpPr>
          <p:cNvPr id="655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656" name="uncle-ben.gif" descr="uncle-ben.gif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20800" y="5080000"/>
            <a:ext cx="10798098" cy="4445000"/>
          </a:xfrm>
          <a:prstGeom prst="rect">
            <a:avLst/>
          </a:prstGeom>
          <a:ln w="12700">
            <a:miter lim="400000"/>
          </a:ln>
        </p:spPr>
      </p:pic>
      <p:sp>
        <p:nvSpPr>
          <p:cNvPr id="657" name="We used to design the limits: fixed layouts the client could only fill in."/>
          <p:cNvSpPr txBox="1"/>
          <p:nvPr/>
        </p:nvSpPr>
        <p:spPr>
          <a:xfrm>
            <a:off x="12776200" y="5118099"/>
            <a:ext cx="8693886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We used to design the limits: fixed layouts the client could only fill in.</a:t>
            </a:r>
          </a:p>
        </p:txBody>
      </p:sp>
      <p:sp>
        <p:nvSpPr>
          <p:cNvPr id="658" name="Core gives the client every block, in any order, next to anything."/>
          <p:cNvSpPr txBox="1"/>
          <p:nvPr/>
        </p:nvSpPr>
        <p:spPr>
          <a:xfrm>
            <a:off x="12776200" y="6705599"/>
            <a:ext cx="9237010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Core gives the client every block, in any order, next to anything.</a:t>
            </a:r>
          </a:p>
        </p:txBody>
      </p:sp>
      <p:sp>
        <p:nvSpPr>
          <p:cNvPr id="659" name="Every block needs to look like the brand, in every combination."/>
          <p:cNvSpPr txBox="1"/>
          <p:nvPr/>
        </p:nvSpPr>
        <p:spPr>
          <a:xfrm>
            <a:off x="12776200" y="8293099"/>
            <a:ext cx="8371763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Every block needs to look like the brand, in every combination.</a:t>
            </a:r>
          </a:p>
        </p:txBody>
      </p:sp>
      <p:pic>
        <p:nvPicPr>
          <p:cNvPr id="660" name="prog-28.png" descr="prog-28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bg.png" descr="b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665" name="The leap is high,"/>
          <p:cNvSpPr txBox="1"/>
          <p:nvPr/>
        </p:nvSpPr>
        <p:spPr>
          <a:xfrm>
            <a:off x="1295400" y="4381499"/>
            <a:ext cx="22707600" cy="156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92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The leap is high,</a:t>
            </a:r>
          </a:p>
        </p:txBody>
      </p:sp>
      <p:sp>
        <p:nvSpPr>
          <p:cNvPr id="666" name="and that is not your fault"/>
          <p:cNvSpPr txBox="1"/>
          <p:nvPr/>
        </p:nvSpPr>
        <p:spPr>
          <a:xfrm>
            <a:off x="1308100" y="5346699"/>
            <a:ext cx="22707600" cy="205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11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and that is not your fault</a:t>
            </a:r>
          </a:p>
        </p:txBody>
      </p:sp>
      <p:sp>
        <p:nvSpPr>
          <p:cNvPr id="667" name="Since WordPress 5.0 in 2018, Gutenberg has added"/>
          <p:cNvSpPr txBox="1"/>
          <p:nvPr/>
        </p:nvSpPr>
        <p:spPr>
          <a:xfrm>
            <a:off x="1320800" y="7505699"/>
            <a:ext cx="2032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Since WordPress 5.0 in 2018, Gutenberg has added</a:t>
            </a:r>
          </a:p>
        </p:txBody>
      </p:sp>
      <p:sp>
        <p:nvSpPr>
          <p:cNvPr id="668" name="many ways to build sites without dependencies. And it has been a ride."/>
          <p:cNvSpPr txBox="1"/>
          <p:nvPr/>
        </p:nvSpPr>
        <p:spPr>
          <a:xfrm>
            <a:off x="1320800" y="8127999"/>
            <a:ext cx="2032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many ways to build sites without dependencies. And it has been a ride.</a:t>
            </a:r>
          </a:p>
        </p:txBody>
      </p:sp>
      <p:sp>
        <p:nvSpPr>
          <p:cNvPr id="669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670" name="prog-29.png" descr="prog-2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673" name="Ways to build a block"/>
          <p:cNvSpPr txBox="1"/>
          <p:nvPr/>
        </p:nvSpPr>
        <p:spPr>
          <a:xfrm>
            <a:off x="1308100" y="27685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Ways to build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 block</a:t>
            </a:r>
          </a:p>
        </p:txBody>
      </p:sp>
      <p:sp>
        <p:nvSpPr>
          <p:cNvPr id="674" name="—"/>
          <p:cNvSpPr txBox="1"/>
          <p:nvPr/>
        </p:nvSpPr>
        <p:spPr>
          <a:xfrm>
            <a:off x="1320800" y="49022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75" name="Core blocks, as shipped"/>
          <p:cNvSpPr txBox="1"/>
          <p:nvPr/>
        </p:nvSpPr>
        <p:spPr>
          <a:xfrm>
            <a:off x="1905000" y="49022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Core blocks, as shipped</a:t>
            </a:r>
          </a:p>
        </p:txBody>
      </p:sp>
      <p:sp>
        <p:nvSpPr>
          <p:cNvPr id="676" name="—"/>
          <p:cNvSpPr txBox="1"/>
          <p:nvPr/>
        </p:nvSpPr>
        <p:spPr>
          <a:xfrm>
            <a:off x="1320800" y="57531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77" name="Core block variations"/>
          <p:cNvSpPr txBox="1"/>
          <p:nvPr/>
        </p:nvSpPr>
        <p:spPr>
          <a:xfrm>
            <a:off x="1905000" y="57531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Core block variations</a:t>
            </a:r>
          </a:p>
        </p:txBody>
      </p:sp>
      <p:sp>
        <p:nvSpPr>
          <p:cNvPr id="678" name="—"/>
          <p:cNvSpPr txBox="1"/>
          <p:nvPr/>
        </p:nvSpPr>
        <p:spPr>
          <a:xfrm>
            <a:off x="1320800" y="66040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79" name="Block patterns"/>
          <p:cNvSpPr txBox="1"/>
          <p:nvPr/>
        </p:nvSpPr>
        <p:spPr>
          <a:xfrm>
            <a:off x="1905000" y="66040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Block patterns</a:t>
            </a:r>
          </a:p>
        </p:txBody>
      </p:sp>
      <p:sp>
        <p:nvSpPr>
          <p:cNvPr id="680" name="—"/>
          <p:cNvSpPr txBox="1"/>
          <p:nvPr/>
        </p:nvSpPr>
        <p:spPr>
          <a:xfrm>
            <a:off x="1320800" y="74549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81" name="Block styles"/>
          <p:cNvSpPr txBox="1"/>
          <p:nvPr/>
        </p:nvSpPr>
        <p:spPr>
          <a:xfrm>
            <a:off x="1905000" y="74549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Block styles</a:t>
            </a:r>
          </a:p>
        </p:txBody>
      </p:sp>
      <p:sp>
        <p:nvSpPr>
          <p:cNvPr id="682" name="—"/>
          <p:cNvSpPr txBox="1"/>
          <p:nvPr/>
        </p:nvSpPr>
        <p:spPr>
          <a:xfrm>
            <a:off x="1320800" y="83058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83" name="Filtering a core block in PHP"/>
          <p:cNvSpPr txBox="1"/>
          <p:nvPr/>
        </p:nvSpPr>
        <p:spPr>
          <a:xfrm>
            <a:off x="1905000" y="83058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Filtering a core block in PHP</a:t>
            </a:r>
          </a:p>
        </p:txBody>
      </p:sp>
      <p:sp>
        <p:nvSpPr>
          <p:cNvPr id="684" name="—"/>
          <p:cNvSpPr txBox="1"/>
          <p:nvPr/>
        </p:nvSpPr>
        <p:spPr>
          <a:xfrm>
            <a:off x="1320800" y="91567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85" name="Filtering a core block in JS"/>
          <p:cNvSpPr txBox="1"/>
          <p:nvPr/>
        </p:nvSpPr>
        <p:spPr>
          <a:xfrm>
            <a:off x="1905000" y="91567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Filtering a core block in JS</a:t>
            </a:r>
          </a:p>
        </p:txBody>
      </p:sp>
      <p:sp>
        <p:nvSpPr>
          <p:cNvPr id="686" name="—"/>
          <p:cNvSpPr txBox="1"/>
          <p:nvPr/>
        </p:nvSpPr>
        <p:spPr>
          <a:xfrm>
            <a:off x="8597900" y="49022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87" name="register_block_type in PHP"/>
          <p:cNvSpPr txBox="1"/>
          <p:nvPr/>
        </p:nvSpPr>
        <p:spPr>
          <a:xfrm>
            <a:off x="9182100" y="49022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rPr sz="27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register_block_type</a:t>
            </a:r>
            <a:r>
              <a:t> in PHP</a:t>
            </a:r>
          </a:p>
        </p:txBody>
      </p:sp>
      <p:sp>
        <p:nvSpPr>
          <p:cNvPr id="688" name="—"/>
          <p:cNvSpPr txBox="1"/>
          <p:nvPr/>
        </p:nvSpPr>
        <p:spPr>
          <a:xfrm>
            <a:off x="8597900" y="57531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89" name="registerBlockType in JS"/>
          <p:cNvSpPr txBox="1"/>
          <p:nvPr/>
        </p:nvSpPr>
        <p:spPr>
          <a:xfrm>
            <a:off x="9182100" y="57531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rPr sz="27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registerBlockType</a:t>
            </a:r>
            <a:r>
              <a:t> in JS</a:t>
            </a:r>
          </a:p>
        </p:txBody>
      </p:sp>
      <p:sp>
        <p:nvSpPr>
          <p:cNvPr id="690" name="—"/>
          <p:cNvSpPr txBox="1"/>
          <p:nvPr/>
        </p:nvSpPr>
        <p:spPr>
          <a:xfrm>
            <a:off x="8597900" y="66040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91" name="block.json metadata"/>
          <p:cNvSpPr txBox="1"/>
          <p:nvPr/>
        </p:nvSpPr>
        <p:spPr>
          <a:xfrm>
            <a:off x="9182100" y="66040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rPr sz="27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block.json</a:t>
            </a:r>
            <a:r>
              <a:t> metadata</a:t>
            </a:r>
          </a:p>
        </p:txBody>
      </p:sp>
      <p:sp>
        <p:nvSpPr>
          <p:cNvPr id="692" name="—"/>
          <p:cNvSpPr txBox="1"/>
          <p:nvPr/>
        </p:nvSpPr>
        <p:spPr>
          <a:xfrm>
            <a:off x="8597900" y="74549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93" name="Dynamic block with render.php"/>
          <p:cNvSpPr txBox="1"/>
          <p:nvPr/>
        </p:nvSpPr>
        <p:spPr>
          <a:xfrm>
            <a:off x="9182100" y="74549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Dynamic block with </a:t>
            </a:r>
            <a:r>
              <a:rPr sz="27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render.php</a:t>
            </a:r>
          </a:p>
        </p:txBody>
      </p:sp>
      <p:sp>
        <p:nvSpPr>
          <p:cNvPr id="694" name="—"/>
          <p:cNvSpPr txBox="1"/>
          <p:nvPr/>
        </p:nvSpPr>
        <p:spPr>
          <a:xfrm>
            <a:off x="8597900" y="83058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95" name="Custom React block"/>
          <p:cNvSpPr txBox="1"/>
          <p:nvPr/>
        </p:nvSpPr>
        <p:spPr>
          <a:xfrm>
            <a:off x="9182100" y="83058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Custom React block</a:t>
            </a:r>
          </a:p>
        </p:txBody>
      </p:sp>
      <p:sp>
        <p:nvSpPr>
          <p:cNvPr id="696" name="—"/>
          <p:cNvSpPr txBox="1"/>
          <p:nvPr/>
        </p:nvSpPr>
        <p:spPr>
          <a:xfrm>
            <a:off x="8597900" y="91567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97" name="Custom block with InnerBlocks"/>
          <p:cNvSpPr txBox="1"/>
          <p:nvPr/>
        </p:nvSpPr>
        <p:spPr>
          <a:xfrm>
            <a:off x="9182100" y="91567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Custom block with </a:t>
            </a:r>
            <a:r>
              <a:rPr sz="27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InnerBlocks</a:t>
            </a:r>
          </a:p>
        </p:txBody>
      </p:sp>
      <p:sp>
        <p:nvSpPr>
          <p:cNvPr id="698" name="—"/>
          <p:cNvSpPr txBox="1"/>
          <p:nvPr/>
        </p:nvSpPr>
        <p:spPr>
          <a:xfrm>
            <a:off x="16395700" y="49022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699" name="acf_register_block_type"/>
          <p:cNvSpPr txBox="1"/>
          <p:nvPr/>
        </p:nvSpPr>
        <p:spPr>
          <a:xfrm>
            <a:off x="16979900" y="4902199"/>
            <a:ext cx="64135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rPr sz="27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acf_register_block_type</a:t>
            </a:r>
          </a:p>
        </p:txBody>
      </p:sp>
      <p:sp>
        <p:nvSpPr>
          <p:cNvPr id="700" name="—"/>
          <p:cNvSpPr txBox="1"/>
          <p:nvPr/>
        </p:nvSpPr>
        <p:spPr>
          <a:xfrm>
            <a:off x="16395700" y="57531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701" name="ACF blocks via block.json"/>
          <p:cNvSpPr txBox="1"/>
          <p:nvPr/>
        </p:nvSpPr>
        <p:spPr>
          <a:xfrm>
            <a:off x="16979900" y="57531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ACF blocks via </a:t>
            </a:r>
            <a:r>
              <a:rPr sz="27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block.json</a:t>
            </a:r>
          </a:p>
        </p:txBody>
      </p:sp>
      <p:sp>
        <p:nvSpPr>
          <p:cNvPr id="702" name="—"/>
          <p:cNvSpPr txBox="1"/>
          <p:nvPr/>
        </p:nvSpPr>
        <p:spPr>
          <a:xfrm>
            <a:off x="16395700" y="66040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703" name="Hybrid ACF and native"/>
          <p:cNvSpPr txBox="1"/>
          <p:nvPr/>
        </p:nvSpPr>
        <p:spPr>
          <a:xfrm>
            <a:off x="16979900" y="66040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Hybrid ACF and native</a:t>
            </a:r>
          </a:p>
        </p:txBody>
      </p:sp>
      <p:sp>
        <p:nvSpPr>
          <p:cNvPr id="704" name="—"/>
          <p:cNvSpPr txBox="1"/>
          <p:nvPr/>
        </p:nvSpPr>
        <p:spPr>
          <a:xfrm>
            <a:off x="16395700" y="74549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705" name="Classic theme, core blocks"/>
          <p:cNvSpPr txBox="1"/>
          <p:nvPr/>
        </p:nvSpPr>
        <p:spPr>
          <a:xfrm>
            <a:off x="16979900" y="74549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Classic theme, core blocks</a:t>
            </a:r>
          </a:p>
        </p:txBody>
      </p:sp>
      <p:sp>
        <p:nvSpPr>
          <p:cNvPr id="706" name="—"/>
          <p:cNvSpPr txBox="1"/>
          <p:nvPr/>
        </p:nvSpPr>
        <p:spPr>
          <a:xfrm>
            <a:off x="16395700" y="83058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707" name="Block theme, full site editing"/>
          <p:cNvSpPr txBox="1"/>
          <p:nvPr/>
        </p:nvSpPr>
        <p:spPr>
          <a:xfrm>
            <a:off x="16979900" y="83058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Block theme, full site editing</a:t>
            </a:r>
          </a:p>
        </p:txBody>
      </p:sp>
      <p:sp>
        <p:nvSpPr>
          <p:cNvPr id="708" name="—"/>
          <p:cNvSpPr txBox="1"/>
          <p:nvPr/>
        </p:nvSpPr>
        <p:spPr>
          <a:xfrm>
            <a:off x="16395700" y="91567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709" name="Block Bindings"/>
          <p:cNvSpPr txBox="1"/>
          <p:nvPr/>
        </p:nvSpPr>
        <p:spPr>
          <a:xfrm>
            <a:off x="16979900" y="91567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Block Bindings</a:t>
            </a:r>
          </a:p>
        </p:txBody>
      </p:sp>
      <p:sp>
        <p:nvSpPr>
          <p:cNvPr id="710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711" name="—"/>
          <p:cNvSpPr txBox="1"/>
          <p:nvPr/>
        </p:nvSpPr>
        <p:spPr>
          <a:xfrm>
            <a:off x="1320800" y="100076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712" name="Synced patterns"/>
          <p:cNvSpPr txBox="1"/>
          <p:nvPr/>
        </p:nvSpPr>
        <p:spPr>
          <a:xfrm>
            <a:off x="1905000" y="100076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Synced patterns</a:t>
            </a:r>
          </a:p>
        </p:txBody>
      </p:sp>
      <p:sp>
        <p:nvSpPr>
          <p:cNvPr id="713" name="—"/>
          <p:cNvSpPr txBox="1"/>
          <p:nvPr/>
        </p:nvSpPr>
        <p:spPr>
          <a:xfrm>
            <a:off x="8597900" y="100076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714" name="Interactive block, Interactivity API"/>
          <p:cNvSpPr txBox="1"/>
          <p:nvPr/>
        </p:nvSpPr>
        <p:spPr>
          <a:xfrm>
            <a:off x="9182100" y="100076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Interactive block, Interactivity API</a:t>
            </a:r>
          </a:p>
        </p:txBody>
      </p:sp>
      <p:sp>
        <p:nvSpPr>
          <p:cNvPr id="715" name="—"/>
          <p:cNvSpPr txBox="1"/>
          <p:nvPr/>
        </p:nvSpPr>
        <p:spPr>
          <a:xfrm>
            <a:off x="16395700" y="10007600"/>
            <a:ext cx="8128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716" name="3rd party page builders"/>
          <p:cNvSpPr txBox="1"/>
          <p:nvPr/>
        </p:nvSpPr>
        <p:spPr>
          <a:xfrm>
            <a:off x="16979900" y="10007600"/>
            <a:ext cx="64135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3rd party page builders</a:t>
            </a:r>
          </a:p>
        </p:txBody>
      </p:sp>
      <p:pic>
        <p:nvPicPr>
          <p:cNvPr id="717" name="prog-30.png" descr="prog-30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722" name="From core to custom, prioritized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From core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to custom, prioritized</a:t>
            </a:r>
          </a:p>
        </p:txBody>
      </p:sp>
      <p:sp>
        <p:nvSpPr>
          <p:cNvPr id="723" name="1. Core blocks"/>
          <p:cNvSpPr txBox="1"/>
          <p:nvPr/>
        </p:nvSpPr>
        <p:spPr>
          <a:xfrm>
            <a:off x="1295400" y="4813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1. Core blocks</a:t>
            </a:r>
          </a:p>
        </p:txBody>
      </p:sp>
      <p:sp>
        <p:nvSpPr>
          <p:cNvPr id="724" name="WordPress 7.1 ships 115 of them, including accordion, tabs and details."/>
          <p:cNvSpPr txBox="1"/>
          <p:nvPr/>
        </p:nvSpPr>
        <p:spPr>
          <a:xfrm>
            <a:off x="1320800" y="5638799"/>
            <a:ext cx="10364867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WordPress 7.1 ships 115 of them, including accordion, tabs and details.</a:t>
            </a:r>
          </a:p>
        </p:txBody>
      </p:sp>
      <p:sp>
        <p:nvSpPr>
          <p:cNvPr id="725" name="2. Patterns"/>
          <p:cNvSpPr txBox="1"/>
          <p:nvPr/>
        </p:nvSpPr>
        <p:spPr>
          <a:xfrm>
            <a:off x="12801600" y="4813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2. Patterns</a:t>
            </a:r>
          </a:p>
        </p:txBody>
      </p:sp>
      <p:sp>
        <p:nvSpPr>
          <p:cNvPr id="726" name="Core blocks arranged into a layout that editors insert and edit freely."/>
          <p:cNvSpPr txBox="1"/>
          <p:nvPr/>
        </p:nvSpPr>
        <p:spPr>
          <a:xfrm>
            <a:off x="12827000" y="5638799"/>
            <a:ext cx="10101144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Core blocks arranged into a layout that editors insert and edit freely.</a:t>
            </a:r>
          </a:p>
        </p:txBody>
      </p:sp>
      <p:sp>
        <p:nvSpPr>
          <p:cNvPr id="727" name="3. Variations and styles"/>
          <p:cNvSpPr txBox="1"/>
          <p:nvPr/>
        </p:nvSpPr>
        <p:spPr>
          <a:xfrm>
            <a:off x="1295400" y="7734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3. Variations and styles</a:t>
            </a:r>
          </a:p>
        </p:txBody>
      </p:sp>
      <p:sp>
        <p:nvSpPr>
          <p:cNvPr id="728" name="A core block with your own defaults or look, in a few lines of code."/>
          <p:cNvSpPr txBox="1"/>
          <p:nvPr/>
        </p:nvSpPr>
        <p:spPr>
          <a:xfrm>
            <a:off x="1320800" y="8559799"/>
            <a:ext cx="10101144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 core block with your own defaults or look, in a few lines of code.</a:t>
            </a:r>
          </a:p>
        </p:txBody>
      </p:sp>
      <p:sp>
        <p:nvSpPr>
          <p:cNvPr id="729" name="4. Custom blocks"/>
          <p:cNvSpPr txBox="1"/>
          <p:nvPr/>
        </p:nvSpPr>
        <p:spPr>
          <a:xfrm>
            <a:off x="12801600" y="7734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4. Custom blocks</a:t>
            </a:r>
          </a:p>
        </p:txBody>
      </p:sp>
      <p:sp>
        <p:nvSpPr>
          <p:cNvPr id="730" name="block.json and render.php when nothing in core fits, with InnerBlocks inside."/>
          <p:cNvSpPr txBox="1"/>
          <p:nvPr/>
        </p:nvSpPr>
        <p:spPr>
          <a:xfrm>
            <a:off x="12827000" y="8559799"/>
            <a:ext cx="10744200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rPr sz="31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block.json</a:t>
            </a:r>
            <a:r>
              <a:t> and </a:t>
            </a:r>
            <a:r>
              <a:rPr sz="31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render.php</a:t>
            </a:r>
            <a:r>
              <a:t> when nothing in core fits, with </a:t>
            </a:r>
            <a:r>
              <a:rPr sz="31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InnerBlocks</a:t>
            </a:r>
            <a:r>
              <a:t> inside.</a:t>
            </a:r>
          </a:p>
        </p:txBody>
      </p:sp>
      <p:sp>
        <p:nvSpPr>
          <p:cNvPr id="731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732" name="prog-31.png" descr="prog-3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737" name="Block example: Media and text"/>
          <p:cNvSpPr txBox="1"/>
          <p:nvPr/>
        </p:nvSpPr>
        <p:spPr>
          <a:xfrm>
            <a:off x="1308100" y="2298700"/>
            <a:ext cx="22707600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Block example: Media and text</a:t>
            </a:r>
          </a:p>
        </p:txBody>
      </p:sp>
      <p:sp>
        <p:nvSpPr>
          <p:cNvPr id="738" name="With ACF"/>
          <p:cNvSpPr txBox="1"/>
          <p:nvPr/>
        </p:nvSpPr>
        <p:spPr>
          <a:xfrm>
            <a:off x="1308100" y="4330700"/>
            <a:ext cx="11023600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With ACF</a:t>
            </a:r>
          </a:p>
        </p:txBody>
      </p:sp>
      <p:sp>
        <p:nvSpPr>
          <p:cNvPr id="739" name="With the core Media &amp; Text block"/>
          <p:cNvSpPr txBox="1"/>
          <p:nvPr/>
        </p:nvSpPr>
        <p:spPr>
          <a:xfrm>
            <a:off x="12382500" y="4330700"/>
            <a:ext cx="11023600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With the core Media &amp; Text block</a:t>
            </a:r>
          </a:p>
        </p:txBody>
      </p:sp>
      <p:sp>
        <p:nvSpPr>
          <p:cNvPr id="740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741" name="panel-852x536.png" descr="panel-852x536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5245100"/>
            <a:ext cx="10820400" cy="6807200"/>
          </a:xfrm>
          <a:prstGeom prst="rect">
            <a:avLst/>
          </a:prstGeom>
          <a:ln w="12700">
            <a:miter lim="400000"/>
          </a:ln>
        </p:spPr>
      </p:pic>
      <p:sp>
        <p:nvSpPr>
          <p:cNvPr id="742" name="$title   = get_field( 'title' ); $content = get_field( 'content' ); $image   = get_field( 'image' ); $link    = get_field( 'link' ); ?&gt; &lt;section class=“block block-content-image&quot;&gt;   &lt;h2&gt;&lt;?php echo esc_html( $title ); ?&gt;&lt;/h2&gt;   &lt;?php echo wp_kses_post( $c"/>
          <p:cNvSpPr txBox="1"/>
          <p:nvPr/>
        </p:nvSpPr>
        <p:spPr>
          <a:xfrm>
            <a:off x="1612900" y="5640069"/>
            <a:ext cx="11023600" cy="636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pPr>
            <a:r>
              <a:t>$title   </a:t>
            </a:r>
            <a:r>
              <a:rPr>
                <a:solidFill>
                  <a:srgbClr val="C4B7E9"/>
                </a:solidFill>
              </a:rPr>
              <a:t>=</a:t>
            </a:r>
            <a:r>
              <a:t> </a:t>
            </a:r>
            <a:r>
              <a:rPr>
                <a:solidFill>
                  <a:srgbClr val="D2B0FF"/>
                </a:solidFill>
              </a:rPr>
              <a:t>get_field</a:t>
            </a:r>
            <a:r>
              <a:rPr>
                <a:solidFill>
                  <a:srgbClr val="C4B7E9"/>
                </a:solidFill>
              </a:rPr>
              <a:t>(</a:t>
            </a:r>
            <a:r>
              <a:t> </a:t>
            </a:r>
            <a:r>
              <a:rPr>
                <a:solidFill>
                  <a:srgbClr val="FFC3E7"/>
                </a:solidFill>
              </a:rPr>
              <a:t>'title'</a:t>
            </a:r>
            <a:r>
              <a:t> </a:t>
            </a:r>
            <a:r>
              <a:rPr>
                <a:solidFill>
                  <a:srgbClr val="C4B7E9"/>
                </a:solidFill>
              </a:rPr>
              <a:t>);</a:t>
            </a:r>
            <a:br/>
            <a:r>
              <a:t>$content </a:t>
            </a:r>
            <a:r>
              <a:rPr>
                <a:solidFill>
                  <a:srgbClr val="C4B7E9"/>
                </a:solidFill>
              </a:rPr>
              <a:t>=</a:t>
            </a:r>
            <a:r>
              <a:t> </a:t>
            </a:r>
            <a:r>
              <a:rPr>
                <a:solidFill>
                  <a:srgbClr val="D2B0FF"/>
                </a:solidFill>
              </a:rPr>
              <a:t>get_field</a:t>
            </a:r>
            <a:r>
              <a:rPr>
                <a:solidFill>
                  <a:srgbClr val="C4B7E9"/>
                </a:solidFill>
              </a:rPr>
              <a:t>(</a:t>
            </a:r>
            <a:r>
              <a:t> </a:t>
            </a:r>
            <a:r>
              <a:rPr>
                <a:solidFill>
                  <a:srgbClr val="FFC3E7"/>
                </a:solidFill>
              </a:rPr>
              <a:t>'content'</a:t>
            </a:r>
            <a:r>
              <a:t> </a:t>
            </a:r>
            <a:r>
              <a:rPr>
                <a:solidFill>
                  <a:srgbClr val="C4B7E9"/>
                </a:solidFill>
              </a:rPr>
              <a:t>);</a:t>
            </a:r>
            <a:br/>
            <a:r>
              <a:t>$image   </a:t>
            </a:r>
            <a:r>
              <a:rPr>
                <a:solidFill>
                  <a:srgbClr val="C4B7E9"/>
                </a:solidFill>
              </a:rPr>
              <a:t>=</a:t>
            </a:r>
            <a:r>
              <a:t> </a:t>
            </a:r>
            <a:r>
              <a:rPr>
                <a:solidFill>
                  <a:srgbClr val="D2B0FF"/>
                </a:solidFill>
              </a:rPr>
              <a:t>get_field</a:t>
            </a:r>
            <a:r>
              <a:rPr>
                <a:solidFill>
                  <a:srgbClr val="C4B7E9"/>
                </a:solidFill>
              </a:rPr>
              <a:t>(</a:t>
            </a:r>
            <a:r>
              <a:t> </a:t>
            </a:r>
            <a:r>
              <a:rPr>
                <a:solidFill>
                  <a:srgbClr val="FFC3E7"/>
                </a:solidFill>
              </a:rPr>
              <a:t>'image'</a:t>
            </a:r>
            <a:r>
              <a:t> </a:t>
            </a:r>
            <a:r>
              <a:rPr>
                <a:solidFill>
                  <a:srgbClr val="C4B7E9"/>
                </a:solidFill>
              </a:rPr>
              <a:t>);</a:t>
            </a:r>
            <a:br/>
            <a:r>
              <a:t>$link    </a:t>
            </a:r>
            <a:r>
              <a:rPr>
                <a:solidFill>
                  <a:srgbClr val="C4B7E9"/>
                </a:solidFill>
              </a:rPr>
              <a:t>=</a:t>
            </a:r>
            <a:r>
              <a:t> </a:t>
            </a:r>
            <a:r>
              <a:rPr>
                <a:solidFill>
                  <a:srgbClr val="D2B0FF"/>
                </a:solidFill>
              </a:rPr>
              <a:t>get_field</a:t>
            </a:r>
            <a:r>
              <a:rPr>
                <a:solidFill>
                  <a:srgbClr val="C4B7E9"/>
                </a:solidFill>
              </a:rPr>
              <a:t>(</a:t>
            </a:r>
            <a:r>
              <a:t> </a:t>
            </a:r>
            <a:r>
              <a:rPr>
                <a:solidFill>
                  <a:srgbClr val="FFC3E7"/>
                </a:solidFill>
              </a:rPr>
              <a:t>'link'</a:t>
            </a:r>
            <a:r>
              <a:t> </a:t>
            </a:r>
            <a:r>
              <a:rPr>
                <a:solidFill>
                  <a:srgbClr val="C4B7E9"/>
                </a:solidFill>
              </a:rPr>
              <a:t>);</a:t>
            </a:r>
            <a:br/>
            <a:r>
              <a:t>?</a:t>
            </a:r>
            <a:r>
              <a:rPr>
                <a:solidFill>
                  <a:srgbClr val="C4B7E9"/>
                </a:solidFill>
              </a:rPr>
              <a:t>&gt;</a:t>
            </a:r>
            <a:br/>
            <a:r>
              <a:rPr>
                <a:solidFill>
                  <a:srgbClr val="C4B7E9"/>
                </a:solidFill>
              </a:rPr>
              <a:t>&lt;</a:t>
            </a:r>
            <a:r>
              <a:t>section class</a:t>
            </a:r>
            <a:r>
              <a:rPr>
                <a:solidFill>
                  <a:srgbClr val="C4B7E9"/>
                </a:solidFill>
              </a:rPr>
              <a:t>=</a:t>
            </a:r>
            <a:r>
              <a:rPr>
                <a:solidFill>
                  <a:srgbClr val="FFC3E7"/>
                </a:solidFill>
              </a:rPr>
              <a:t>“block block-content-image"</a:t>
            </a:r>
            <a:r>
              <a:rPr>
                <a:solidFill>
                  <a:srgbClr val="C4B7E9"/>
                </a:solidFill>
              </a:rPr>
              <a:t>&gt;</a:t>
            </a:r>
            <a:br/>
            <a:r>
              <a:t>  </a:t>
            </a:r>
            <a:r>
              <a:rPr>
                <a:solidFill>
                  <a:srgbClr val="C4B7E9"/>
                </a:solidFill>
              </a:rPr>
              <a:t>&lt;</a:t>
            </a:r>
            <a:r>
              <a:t>h2</a:t>
            </a:r>
            <a:r>
              <a:rPr>
                <a:solidFill>
                  <a:srgbClr val="C4B7E9"/>
                </a:solidFill>
              </a:rPr>
              <a:t>&gt;&lt;</a:t>
            </a:r>
            <a:r>
              <a:t>?php </a:t>
            </a:r>
            <a:r>
              <a:rPr>
                <a:solidFill>
                  <a:srgbClr val="FF97E2"/>
                </a:solidFill>
              </a:rPr>
              <a:t>echo</a:t>
            </a:r>
            <a:r>
              <a:t> </a:t>
            </a:r>
            <a:r>
              <a:rPr>
                <a:solidFill>
                  <a:srgbClr val="FF97E2"/>
                </a:solidFill>
              </a:rPr>
              <a:t>esc_html</a:t>
            </a:r>
            <a:r>
              <a:rPr>
                <a:solidFill>
                  <a:srgbClr val="C4B7E9"/>
                </a:solidFill>
              </a:rPr>
              <a:t>(</a:t>
            </a:r>
            <a:r>
              <a:t> $title </a:t>
            </a:r>
            <a:r>
              <a:rPr>
                <a:solidFill>
                  <a:srgbClr val="C4B7E9"/>
                </a:solidFill>
              </a:rPr>
              <a:t>);</a:t>
            </a:r>
            <a:r>
              <a:t> ?</a:t>
            </a:r>
            <a:r>
              <a:rPr>
                <a:solidFill>
                  <a:srgbClr val="C4B7E9"/>
                </a:solidFill>
              </a:rPr>
              <a:t>&gt;&lt;</a:t>
            </a:r>
            <a:r>
              <a:t>/h2</a:t>
            </a:r>
            <a:r>
              <a:rPr>
                <a:solidFill>
                  <a:srgbClr val="C4B7E9"/>
                </a:solidFill>
              </a:rPr>
              <a:t>&gt;</a:t>
            </a:r>
            <a:br/>
            <a:r>
              <a:t>  </a:t>
            </a:r>
            <a:r>
              <a:rPr>
                <a:solidFill>
                  <a:srgbClr val="C4B7E9"/>
                </a:solidFill>
              </a:rPr>
              <a:t>&lt;</a:t>
            </a:r>
            <a:r>
              <a:t>?php </a:t>
            </a:r>
            <a:r>
              <a:rPr>
                <a:solidFill>
                  <a:srgbClr val="FF97E2"/>
                </a:solidFill>
              </a:rPr>
              <a:t>echo</a:t>
            </a:r>
            <a:r>
              <a:t> </a:t>
            </a:r>
            <a:r>
              <a:rPr>
                <a:solidFill>
                  <a:srgbClr val="D2B0FF"/>
                </a:solidFill>
              </a:rPr>
              <a:t>wp_kses_post</a:t>
            </a:r>
            <a:r>
              <a:rPr>
                <a:solidFill>
                  <a:srgbClr val="C4B7E9"/>
                </a:solidFill>
              </a:rPr>
              <a:t>(</a:t>
            </a:r>
            <a:r>
              <a:t> $content </a:t>
            </a:r>
            <a:r>
              <a:rPr>
                <a:solidFill>
                  <a:srgbClr val="C4B7E9"/>
                </a:solidFill>
              </a:rPr>
              <a:t>);</a:t>
            </a:r>
            <a:r>
              <a:t> ?</a:t>
            </a:r>
            <a:r>
              <a:rPr>
                <a:solidFill>
                  <a:srgbClr val="C4B7E9"/>
                </a:solidFill>
              </a:rPr>
              <a:t>&gt;</a:t>
            </a:r>
            <a:br/>
            <a:r>
              <a:t>  &lt;p&gt;</a:t>
            </a:r>
            <a:br/>
            <a:r>
              <a:t>    </a:t>
            </a:r>
            <a:r>
              <a:rPr>
                <a:solidFill>
                  <a:srgbClr val="C4B7E9"/>
                </a:solidFill>
              </a:rPr>
              <a:t>&lt;</a:t>
            </a:r>
            <a:r>
              <a:t>a href</a:t>
            </a:r>
            <a:r>
              <a:rPr>
                <a:solidFill>
                  <a:srgbClr val="C4B7E9"/>
                </a:solidFill>
              </a:rPr>
              <a:t>=</a:t>
            </a:r>
            <a:r>
              <a:rPr>
                <a:solidFill>
                  <a:srgbClr val="FFC3E7"/>
                </a:solidFill>
              </a:rPr>
              <a:t>"&lt;?php echo esc_url( $link['url'] ); ?&gt;”</a:t>
            </a:r>
            <a:r>
              <a:rPr>
                <a:solidFill>
                  <a:srgbClr val="C4B7E9"/>
                </a:solidFill>
              </a:rPr>
              <a:t>&gt;</a:t>
            </a:r>
            <a:br>
              <a:rPr>
                <a:solidFill>
                  <a:srgbClr val="C4B7E9"/>
                </a:solidFill>
              </a:rPr>
            </a:br>
            <a:r>
              <a:rPr>
                <a:solidFill>
                  <a:srgbClr val="C4B7E9"/>
                </a:solidFill>
              </a:rPr>
              <a:t>      &lt;</a:t>
            </a:r>
            <a:r>
              <a:t>?php </a:t>
            </a:r>
            <a:r>
              <a:rPr>
                <a:solidFill>
                  <a:srgbClr val="FF97E2"/>
                </a:solidFill>
              </a:rPr>
              <a:t>echo</a:t>
            </a:r>
            <a:r>
              <a:t> </a:t>
            </a:r>
            <a:r>
              <a:rPr>
                <a:solidFill>
                  <a:srgbClr val="FF97E2"/>
                </a:solidFill>
              </a:rPr>
              <a:t>esc_html</a:t>
            </a:r>
            <a:r>
              <a:rPr>
                <a:solidFill>
                  <a:srgbClr val="C4B7E9"/>
                </a:solidFill>
              </a:rPr>
              <a:t>(</a:t>
            </a:r>
            <a:r>
              <a:t> $link</a:t>
            </a:r>
            <a:r>
              <a:rPr>
                <a:solidFill>
                  <a:srgbClr val="C4B7E9"/>
                </a:solidFill>
              </a:rPr>
              <a:t>[</a:t>
            </a:r>
            <a:r>
              <a:rPr>
                <a:solidFill>
                  <a:srgbClr val="FFC3E7"/>
                </a:solidFill>
              </a:rPr>
              <a:t>'title'</a:t>
            </a:r>
            <a:r>
              <a:rPr>
                <a:solidFill>
                  <a:srgbClr val="C4B7E9"/>
                </a:solidFill>
              </a:rPr>
              <a:t>]</a:t>
            </a:r>
            <a:r>
              <a:t> </a:t>
            </a:r>
            <a:r>
              <a:rPr>
                <a:solidFill>
                  <a:srgbClr val="C4B7E9"/>
                </a:solidFill>
              </a:rPr>
              <a:t>);</a:t>
            </a:r>
            <a:r>
              <a:t> ?</a:t>
            </a:r>
            <a:r>
              <a:rPr>
                <a:solidFill>
                  <a:srgbClr val="C4B7E9"/>
                </a:solidFill>
              </a:rPr>
              <a:t>&gt;</a:t>
            </a:r>
            <a:br>
              <a:rPr>
                <a:solidFill>
                  <a:srgbClr val="C4B7E9"/>
                </a:solidFill>
              </a:rPr>
            </a:br>
            <a:r>
              <a:rPr>
                <a:solidFill>
                  <a:srgbClr val="C4B7E9"/>
                </a:solidFill>
              </a:rPr>
              <a:t>    &lt;</a:t>
            </a:r>
            <a:r>
              <a:t>/a</a:t>
            </a:r>
            <a:r>
              <a:rPr>
                <a:solidFill>
                  <a:srgbClr val="C4B7E9"/>
                </a:solidFill>
              </a:rPr>
              <a:t>&gt;</a:t>
            </a:r>
            <a:br>
              <a:rPr>
                <a:solidFill>
                  <a:srgbClr val="C4B7E9"/>
                </a:solidFill>
              </a:rPr>
            </a:br>
            <a:r>
              <a:rPr>
                <a:solidFill>
                  <a:srgbClr val="C4B7E9"/>
                </a:solidFill>
              </a:rPr>
              <a:t>  &lt;/p&gt;</a:t>
            </a:r>
            <a:br/>
            <a:r>
              <a:t>  </a:t>
            </a:r>
            <a:r>
              <a:rPr>
                <a:solidFill>
                  <a:srgbClr val="C4B7E9"/>
                </a:solidFill>
              </a:rPr>
              <a:t>&lt;</a:t>
            </a:r>
            <a:r>
              <a:t>?php </a:t>
            </a:r>
            <a:r>
              <a:rPr>
                <a:solidFill>
                  <a:srgbClr val="D2B0FF"/>
                </a:solidFill>
              </a:rPr>
              <a:t>native_lazyload_tag</a:t>
            </a:r>
            <a:r>
              <a:rPr>
                <a:solidFill>
                  <a:srgbClr val="C4B7E9"/>
                </a:solidFill>
              </a:rPr>
              <a:t>(</a:t>
            </a:r>
            <a:r>
              <a:t> $image </a:t>
            </a:r>
            <a:r>
              <a:rPr>
                <a:solidFill>
                  <a:srgbClr val="C4B7E9"/>
                </a:solidFill>
              </a:rPr>
              <a:t>);</a:t>
            </a:r>
            <a:r>
              <a:t> ?</a:t>
            </a:r>
            <a:r>
              <a:rPr>
                <a:solidFill>
                  <a:srgbClr val="C4B7E9"/>
                </a:solidFill>
              </a:rPr>
              <a:t>&gt;</a:t>
            </a:r>
            <a:br/>
            <a:r>
              <a:rPr>
                <a:solidFill>
                  <a:srgbClr val="C4B7E9"/>
                </a:solidFill>
              </a:rPr>
              <a:t>&lt;</a:t>
            </a:r>
            <a:r>
              <a:t>/section</a:t>
            </a:r>
            <a:r>
              <a:rPr>
                <a:solidFill>
                  <a:srgbClr val="C4B7E9"/>
                </a:solidFill>
              </a:rPr>
              <a:t>&gt;</a:t>
            </a:r>
            <a:br>
              <a:rPr>
                <a:solidFill>
                  <a:srgbClr val="C4B7E9"/>
                </a:solidFill>
              </a:rPr>
            </a:br>
          </a:p>
        </p:txBody>
      </p:sp>
      <p:pic>
        <p:nvPicPr>
          <p:cNvPr id="743" name="media-text-inserter.png" descr="media-text-inserter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395200" y="5245100"/>
            <a:ext cx="10620458" cy="680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44" name="prog-32.png" descr="prog-32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749" name="Most of the time"/>
          <p:cNvSpPr txBox="1"/>
          <p:nvPr/>
        </p:nvSpPr>
        <p:spPr>
          <a:xfrm>
            <a:off x="1308100" y="3378199"/>
            <a:ext cx="22707600" cy="156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92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Most of the time</a:t>
            </a:r>
          </a:p>
        </p:txBody>
      </p:sp>
      <p:sp>
        <p:nvSpPr>
          <p:cNvPr id="750" name="you don’t need to code a block"/>
          <p:cNvSpPr txBox="1"/>
          <p:nvPr/>
        </p:nvSpPr>
        <p:spPr>
          <a:xfrm>
            <a:off x="1308100" y="4584699"/>
            <a:ext cx="22707600" cy="205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11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you don’t need to code a block</a:t>
            </a:r>
          </a:p>
        </p:txBody>
      </p:sp>
      <p:sp>
        <p:nvSpPr>
          <p:cNvPr id="751" name="WordPress 7.1 ships 115 core blocks,"/>
          <p:cNvSpPr txBox="1"/>
          <p:nvPr/>
        </p:nvSpPr>
        <p:spPr>
          <a:xfrm>
            <a:off x="1320800" y="7091027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WordPress 7.1 ships 115 core blocks,</a:t>
            </a:r>
          </a:p>
        </p:txBody>
      </p:sp>
      <p:sp>
        <p:nvSpPr>
          <p:cNvPr id="752" name="and most layouts are a core block, a pattern or a block style,"/>
          <p:cNvSpPr txBox="1"/>
          <p:nvPr/>
        </p:nvSpPr>
        <p:spPr>
          <a:xfrm>
            <a:off x="1320800" y="7751427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and most layouts are a core block, a pattern or a block style,</a:t>
            </a:r>
          </a:p>
        </p:txBody>
      </p:sp>
      <p:sp>
        <p:nvSpPr>
          <p:cNvPr id="753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754" name="set up in the editor and in theme.json."/>
          <p:cNvSpPr txBox="1"/>
          <p:nvPr/>
        </p:nvSpPr>
        <p:spPr>
          <a:xfrm>
            <a:off x="1320800" y="8386427"/>
            <a:ext cx="190500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set up in the editor and in </a:t>
            </a:r>
            <a:r>
              <a:rPr sz="33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theme.json</a:t>
            </a:r>
            <a:r>
              <a:t>.</a:t>
            </a:r>
          </a:p>
        </p:txBody>
      </p:sp>
      <p:pic>
        <p:nvPicPr>
          <p:cNvPr id="755" name="prog-33.png" descr="prog-3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760" name="When you do code: the Dude House Way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When you do code: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Dude House Way</a:t>
            </a:r>
          </a:p>
        </p:txBody>
      </p:sp>
      <p:sp>
        <p:nvSpPr>
          <p:cNvPr id="761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762" name="1"/>
          <p:cNvSpPr txBox="1"/>
          <p:nvPr/>
        </p:nvSpPr>
        <p:spPr>
          <a:xfrm>
            <a:off x="1320800" y="5003800"/>
            <a:ext cx="372086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63" name="Lock theme.json first: palette, type scale, spacing…"/>
          <p:cNvSpPr txBox="1"/>
          <p:nvPr/>
        </p:nvSpPr>
        <p:spPr>
          <a:xfrm>
            <a:off x="2159000" y="5079999"/>
            <a:ext cx="1092200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Lock </a:t>
            </a:r>
            <a:r>
              <a:rPr sz="29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theme.json</a:t>
            </a:r>
            <a:r>
              <a:t> first: palette, type scale, spacing…</a:t>
            </a:r>
          </a:p>
        </p:txBody>
      </p:sp>
      <p:sp>
        <p:nvSpPr>
          <p:cNvPr id="764" name="2"/>
          <p:cNvSpPr txBox="1"/>
          <p:nvPr/>
        </p:nvSpPr>
        <p:spPr>
          <a:xfrm>
            <a:off x="1320800" y="6019800"/>
            <a:ext cx="532487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65" name="Core blocks, curated per post type."/>
          <p:cNvSpPr txBox="1"/>
          <p:nvPr/>
        </p:nvSpPr>
        <p:spPr>
          <a:xfrm>
            <a:off x="2159000" y="6095999"/>
            <a:ext cx="1092200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Core blocks, curated per post type.</a:t>
            </a:r>
          </a:p>
        </p:txBody>
      </p:sp>
      <p:sp>
        <p:nvSpPr>
          <p:cNvPr id="766" name="3"/>
          <p:cNvSpPr txBox="1"/>
          <p:nvPr/>
        </p:nvSpPr>
        <p:spPr>
          <a:xfrm>
            <a:off x="1320800" y="7035800"/>
            <a:ext cx="53599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67" name="Style core blocks and their variations in theme.json"/>
          <p:cNvSpPr txBox="1"/>
          <p:nvPr/>
        </p:nvSpPr>
        <p:spPr>
          <a:xfrm>
            <a:off x="2159000" y="7111999"/>
            <a:ext cx="1092200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Style core blocks and their variations in </a:t>
            </a:r>
            <a:r>
              <a:rPr sz="29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theme.json</a:t>
            </a:r>
          </a:p>
        </p:txBody>
      </p:sp>
      <p:sp>
        <p:nvSpPr>
          <p:cNvPr id="768" name="4"/>
          <p:cNvSpPr txBox="1"/>
          <p:nvPr/>
        </p:nvSpPr>
        <p:spPr>
          <a:xfrm>
            <a:off x="1320800" y="8051800"/>
            <a:ext cx="54417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69" name="Layouts as patterns, built from core blocks."/>
          <p:cNvSpPr txBox="1"/>
          <p:nvPr/>
        </p:nvSpPr>
        <p:spPr>
          <a:xfrm>
            <a:off x="2159000" y="8127999"/>
            <a:ext cx="1092200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Layouts as patterns, built from core blocks.</a:t>
            </a:r>
          </a:p>
        </p:txBody>
      </p:sp>
      <p:sp>
        <p:nvSpPr>
          <p:cNvPr id="770" name="5"/>
          <p:cNvSpPr txBox="1"/>
          <p:nvPr/>
        </p:nvSpPr>
        <p:spPr>
          <a:xfrm>
            <a:off x="1320800" y="9067800"/>
            <a:ext cx="520117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71" name="Public data from the WP REST API, rendered in the browser."/>
          <p:cNvSpPr txBox="1"/>
          <p:nvPr/>
        </p:nvSpPr>
        <p:spPr>
          <a:xfrm>
            <a:off x="2159000" y="9143999"/>
            <a:ext cx="1136779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Public data from the WP REST API, rendered in the browser.</a:t>
            </a:r>
          </a:p>
        </p:txBody>
      </p:sp>
      <p:sp>
        <p:nvSpPr>
          <p:cNvPr id="772" name="6"/>
          <p:cNvSpPr txBox="1"/>
          <p:nvPr/>
        </p:nvSpPr>
        <p:spPr>
          <a:xfrm>
            <a:off x="1320800" y="10083800"/>
            <a:ext cx="545517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73" name="Interactivity API for filters and paging."/>
          <p:cNvSpPr txBox="1"/>
          <p:nvPr/>
        </p:nvSpPr>
        <p:spPr>
          <a:xfrm>
            <a:off x="2159000" y="10159999"/>
            <a:ext cx="1237253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Interactivity API for filters and paging.</a:t>
            </a:r>
          </a:p>
        </p:txBody>
      </p:sp>
      <p:pic>
        <p:nvPicPr>
          <p:cNvPr id="774" name="panel-662x376.png" descr="panel-662x376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605000" y="5080000"/>
            <a:ext cx="8407400" cy="4775200"/>
          </a:xfrm>
          <a:prstGeom prst="rect">
            <a:avLst/>
          </a:prstGeom>
          <a:ln w="12700">
            <a:miter lim="400000"/>
          </a:ln>
        </p:spPr>
      </p:pic>
      <p:sp>
        <p:nvSpPr>
          <p:cNvPr id="775" name="blocks/events/ ├── block.json ├── build/ └── src/     ├── index.js     ├── edit.js     ├── view.js     └── style.scss"/>
          <p:cNvSpPr txBox="1"/>
          <p:nvPr/>
        </p:nvSpPr>
        <p:spPr>
          <a:xfrm>
            <a:off x="14909800" y="5334000"/>
            <a:ext cx="7899400" cy="4683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pPr>
            <a:r>
              <a:t>blocks/events/</a:t>
            </a:r>
            <a:br>
              <a:rPr sz="3400"/>
            </a:br>
            <a:r>
              <a:t>├── block</a:t>
            </a:r>
            <a:r>
              <a:rPr>
                <a:solidFill>
                  <a:srgbClr val="C4B7E9"/>
                </a:solidFill>
              </a:rPr>
              <a:t>.</a:t>
            </a:r>
            <a:r>
              <a:t>json</a:t>
            </a:r>
            <a:br>
              <a:rPr sz="3400"/>
            </a:br>
            <a:r>
              <a:t>├── build/</a:t>
            </a:r>
            <a:br>
              <a:rPr sz="3400"/>
            </a:br>
            <a:r>
              <a:t>└── src/</a:t>
            </a:r>
            <a:br>
              <a:rPr sz="3400"/>
            </a:br>
            <a:r>
              <a:t>    ├── index</a:t>
            </a:r>
            <a:r>
              <a:rPr>
                <a:solidFill>
                  <a:srgbClr val="C4B7E9"/>
                </a:solidFill>
              </a:rPr>
              <a:t>.</a:t>
            </a:r>
            <a:r>
              <a:t>js</a:t>
            </a:r>
            <a:br>
              <a:rPr sz="3400"/>
            </a:br>
            <a:r>
              <a:t>    ├── edit</a:t>
            </a:r>
            <a:r>
              <a:rPr>
                <a:solidFill>
                  <a:srgbClr val="C4B7E9"/>
                </a:solidFill>
              </a:rPr>
              <a:t>.</a:t>
            </a:r>
            <a:r>
              <a:t>js</a:t>
            </a:r>
            <a:br>
              <a:rPr sz="3400"/>
            </a:br>
            <a:r>
              <a:t>    ├── view</a:t>
            </a:r>
            <a:r>
              <a:rPr>
                <a:solidFill>
                  <a:srgbClr val="C4B7E9"/>
                </a:solidFill>
              </a:rPr>
              <a:t>.</a:t>
            </a:r>
            <a:r>
              <a:t>js</a:t>
            </a:r>
            <a:br>
              <a:rPr sz="3400"/>
            </a:br>
            <a:r>
              <a:t>    └── style</a:t>
            </a:r>
            <a:r>
              <a:rPr>
                <a:solidFill>
                  <a:srgbClr val="C4B7E9"/>
                </a:solidFill>
              </a:rPr>
              <a:t>.</a:t>
            </a:r>
            <a:r>
              <a:t>scss</a:t>
            </a:r>
            <a:br>
              <a:rPr sz="3400"/>
            </a:br>
          </a:p>
        </p:txBody>
      </p:sp>
      <p:sp>
        <p:nvSpPr>
          <p:cNvPr id="776" name="7"/>
          <p:cNvSpPr txBox="1"/>
          <p:nvPr/>
        </p:nvSpPr>
        <p:spPr>
          <a:xfrm>
            <a:off x="1320800" y="11099800"/>
            <a:ext cx="490450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77" name="Custom blocks only as the last resort."/>
          <p:cNvSpPr txBox="1"/>
          <p:nvPr/>
        </p:nvSpPr>
        <p:spPr>
          <a:xfrm>
            <a:off x="2159000" y="11175999"/>
            <a:ext cx="1092200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Custom blocks only as the last resort.</a:t>
            </a:r>
          </a:p>
        </p:txBody>
      </p:sp>
      <p:pic>
        <p:nvPicPr>
          <p:cNvPr id="778" name="prog-34.png" descr="prog-34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783" name="Site Editing/Block theme: our first build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Site Editing/Block theme: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our first build</a:t>
            </a:r>
          </a:p>
        </p:txBody>
      </p:sp>
      <p:sp>
        <p:nvSpPr>
          <p:cNvPr id="784" name="Templates and parts"/>
          <p:cNvSpPr txBox="1"/>
          <p:nvPr/>
        </p:nvSpPr>
        <p:spPr>
          <a:xfrm>
            <a:off x="1295400" y="4813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Templates and parts</a:t>
            </a:r>
          </a:p>
        </p:txBody>
      </p:sp>
      <p:sp>
        <p:nvSpPr>
          <p:cNvPr id="785" name="Page templates, header and footer as HTML files, declared in theme.json."/>
          <p:cNvSpPr txBox="1"/>
          <p:nvPr/>
        </p:nvSpPr>
        <p:spPr>
          <a:xfrm>
            <a:off x="1320800" y="5638799"/>
            <a:ext cx="10101144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Page templates, header and footer as HTML files, declared in </a:t>
            </a:r>
            <a:r>
              <a:rPr sz="31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theme.json</a:t>
            </a:r>
            <a:r>
              <a:t>.</a:t>
            </a:r>
          </a:p>
        </p:txBody>
      </p:sp>
      <p:sp>
        <p:nvSpPr>
          <p:cNvPr id="786" name="Patterns in files"/>
          <p:cNvSpPr txBox="1"/>
          <p:nvPr/>
        </p:nvSpPr>
        <p:spPr>
          <a:xfrm>
            <a:off x="12801600" y="4813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Patterns in files</a:t>
            </a:r>
          </a:p>
        </p:txBody>
      </p:sp>
      <p:sp>
        <p:nvSpPr>
          <p:cNvPr id="787" name="Reusable sections as pattern files, versioned in git with the theme."/>
          <p:cNvSpPr txBox="1"/>
          <p:nvPr/>
        </p:nvSpPr>
        <p:spPr>
          <a:xfrm>
            <a:off x="12827000" y="5638799"/>
            <a:ext cx="9105825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Reusable sections as pattern files, versioned in git with the theme.</a:t>
            </a:r>
          </a:p>
        </p:txBody>
      </p:sp>
      <p:sp>
        <p:nvSpPr>
          <p:cNvPr id="788" name="The catch"/>
          <p:cNvSpPr txBox="1"/>
          <p:nvPr/>
        </p:nvSpPr>
        <p:spPr>
          <a:xfrm>
            <a:off x="1295400" y="7734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The catch</a:t>
            </a:r>
          </a:p>
        </p:txBody>
      </p:sp>
      <p:sp>
        <p:nvSpPr>
          <p:cNvPr id="789" name="Site Editor changes are saved to the database and quietly override the files."/>
          <p:cNvSpPr txBox="1"/>
          <p:nvPr/>
        </p:nvSpPr>
        <p:spPr>
          <a:xfrm>
            <a:off x="1320800" y="8559799"/>
            <a:ext cx="10101144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Site Editor changes are saved to the database and quietly override the files.</a:t>
            </a:r>
          </a:p>
        </p:txBody>
      </p:sp>
      <p:sp>
        <p:nvSpPr>
          <p:cNvPr id="790" name="Where core ran out"/>
          <p:cNvSpPr txBox="1"/>
          <p:nvPr/>
        </p:nvSpPr>
        <p:spPr>
          <a:xfrm>
            <a:off x="12801600" y="7734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Where core ran out</a:t>
            </a:r>
          </a:p>
        </p:txBody>
      </p:sp>
      <p:sp>
        <p:nvSpPr>
          <p:cNvPr id="791" name="Core Navigation as a sidebar menu needed custom JavaScript."/>
          <p:cNvSpPr txBox="1"/>
          <p:nvPr/>
        </p:nvSpPr>
        <p:spPr>
          <a:xfrm>
            <a:off x="12827000" y="8559799"/>
            <a:ext cx="9387418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Core Navigation as a sidebar menu needed custom JavaScript.</a:t>
            </a:r>
          </a:p>
        </p:txBody>
      </p:sp>
      <p:sp>
        <p:nvSpPr>
          <p:cNvPr id="792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793" name="prog-35.png" descr="prog-3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798" name="Fields outside blocks, without ACF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Fields outside blocks,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without ACF</a:t>
            </a:r>
          </a:p>
        </p:txBody>
      </p:sp>
      <p:sp>
        <p:nvSpPr>
          <p:cNvPr id="799" name="Custom post type"/>
          <p:cNvSpPr txBox="1"/>
          <p:nvPr/>
        </p:nvSpPr>
        <p:spPr>
          <a:xfrm>
            <a:off x="1295400" y="4813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Custom post type</a:t>
            </a:r>
          </a:p>
        </p:txBody>
      </p:sp>
      <p:sp>
        <p:nvSpPr>
          <p:cNvPr id="800" name="register_post_type(), in the theme. CPTs never needed plugins or dependencies. As a dev, please do not use CPT UI or similar."/>
          <p:cNvSpPr txBox="1"/>
          <p:nvPr/>
        </p:nvSpPr>
        <p:spPr>
          <a:xfrm>
            <a:off x="1320800" y="5650229"/>
            <a:ext cx="10358498" cy="166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4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rPr sz="31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register_post_type()</a:t>
            </a:r>
            <a:r>
              <a:t>, in the theme. CPTs never needed plugins or dependencies. As a dev, please do not use CPT UI or similar.</a:t>
            </a:r>
          </a:p>
        </p:txBody>
      </p:sp>
      <p:sp>
        <p:nvSpPr>
          <p:cNvPr id="801" name="Fields"/>
          <p:cNvSpPr txBox="1"/>
          <p:nvPr/>
        </p:nvSpPr>
        <p:spPr>
          <a:xfrm>
            <a:off x="12801600" y="4813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Fields</a:t>
            </a:r>
          </a:p>
        </p:txBody>
      </p:sp>
      <p:sp>
        <p:nvSpPr>
          <p:cNvPr id="802" name="register_post_meta() with the Block Bindings API to connect a core block to a field."/>
          <p:cNvSpPr txBox="1"/>
          <p:nvPr/>
        </p:nvSpPr>
        <p:spPr>
          <a:xfrm>
            <a:off x="12827000" y="5650230"/>
            <a:ext cx="10101144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4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rPr sz="31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register_post_meta()</a:t>
            </a:r>
            <a:r>
              <a:t> with the Block Bindings API to connect a core block to a field.</a:t>
            </a:r>
          </a:p>
        </p:txBody>
      </p:sp>
      <p:sp>
        <p:nvSpPr>
          <p:cNvPr id="803" name="Custom plugin, API or MCP"/>
          <p:cNvSpPr txBox="1"/>
          <p:nvPr/>
        </p:nvSpPr>
        <p:spPr>
          <a:xfrm>
            <a:off x="1295400" y="7734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Custom plugin, API or MCP</a:t>
            </a:r>
          </a:p>
        </p:txBody>
      </p:sp>
      <p:sp>
        <p:nvSpPr>
          <p:cNvPr id="804" name="Replacing a dependency with a better one? It's often worth it."/>
          <p:cNvSpPr txBox="1"/>
          <p:nvPr/>
        </p:nvSpPr>
        <p:spPr>
          <a:xfrm>
            <a:off x="1320800" y="8559799"/>
            <a:ext cx="8919861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Replacing a dependency with a better one? It's often worth it.</a:t>
            </a:r>
          </a:p>
        </p:txBody>
      </p:sp>
      <p:sp>
        <p:nvSpPr>
          <p:cNvPr id="805" name="Full Site Editing / Block theme"/>
          <p:cNvSpPr txBox="1"/>
          <p:nvPr/>
        </p:nvSpPr>
        <p:spPr>
          <a:xfrm>
            <a:off x="12801600" y="7734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Full Site Editing / Block theme</a:t>
            </a:r>
          </a:p>
        </p:txBody>
      </p:sp>
      <p:sp>
        <p:nvSpPr>
          <p:cNvPr id="806" name="Works great, especially for static marketing sites."/>
          <p:cNvSpPr txBox="1"/>
          <p:nvPr/>
        </p:nvSpPr>
        <p:spPr>
          <a:xfrm>
            <a:off x="12827000" y="8559799"/>
            <a:ext cx="8226586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Works great, especially for static marketing sites.</a:t>
            </a:r>
          </a:p>
        </p:txBody>
      </p:sp>
      <p:sp>
        <p:nvSpPr>
          <p:cNvPr id="807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808" name="prog-36.png" descr="prog-36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813" name="This is a lot,"/>
          <p:cNvSpPr txBox="1"/>
          <p:nvPr/>
        </p:nvSpPr>
        <p:spPr>
          <a:xfrm>
            <a:off x="1271868" y="5245099"/>
            <a:ext cx="22707601" cy="156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92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This is a lot,</a:t>
            </a:r>
          </a:p>
        </p:txBody>
      </p:sp>
      <p:sp>
        <p:nvSpPr>
          <p:cNvPr id="814" name="where to start, going 100% ACF-free?"/>
          <p:cNvSpPr txBox="1"/>
          <p:nvPr/>
        </p:nvSpPr>
        <p:spPr>
          <a:xfrm>
            <a:off x="1271868" y="6413499"/>
            <a:ext cx="22707601" cy="205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11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where to start, going 100% ACF-free?</a:t>
            </a:r>
          </a:p>
        </p:txBody>
      </p:sp>
      <p:sp>
        <p:nvSpPr>
          <p:cNvPr id="815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816" name="prog-37.png" descr="prog-37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821" name="It has always been a pattern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It has always been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 pattern</a:t>
            </a:r>
          </a:p>
        </p:txBody>
      </p:sp>
      <p:sp>
        <p:nvSpPr>
          <p:cNvPr id="822" name="Most blocks could be patterns"/>
          <p:cNvSpPr txBox="1"/>
          <p:nvPr/>
        </p:nvSpPr>
        <p:spPr>
          <a:xfrm>
            <a:off x="1295400" y="4813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Most blocks could be patterns</a:t>
            </a:r>
          </a:p>
        </p:txBody>
      </p:sp>
      <p:sp>
        <p:nvSpPr>
          <p:cNvPr id="823" name="If an element only consists of static text, images and buttons, it can be a pattern."/>
          <p:cNvSpPr txBox="1"/>
          <p:nvPr/>
        </p:nvSpPr>
        <p:spPr>
          <a:xfrm>
            <a:off x="1320800" y="5638799"/>
            <a:ext cx="10364867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If an element only consists of static text, images and buttons, it can be a pattern.</a:t>
            </a:r>
          </a:p>
        </p:txBody>
      </p:sp>
      <p:sp>
        <p:nvSpPr>
          <p:cNvPr id="824" name="Nothing to build"/>
          <p:cNvSpPr txBox="1"/>
          <p:nvPr/>
        </p:nvSpPr>
        <p:spPr>
          <a:xfrm>
            <a:off x="12801600" y="4813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Nothing to build</a:t>
            </a:r>
          </a:p>
        </p:txBody>
      </p:sp>
      <p:sp>
        <p:nvSpPr>
          <p:cNvPr id="825" name="Arrange core blocks once, then save them as a pattern."/>
          <p:cNvSpPr txBox="1"/>
          <p:nvPr/>
        </p:nvSpPr>
        <p:spPr>
          <a:xfrm>
            <a:off x="12827000" y="5638799"/>
            <a:ext cx="8649041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Arrange core blocks once, then save them as a pattern.</a:t>
            </a:r>
          </a:p>
        </p:txBody>
      </p:sp>
      <p:sp>
        <p:nvSpPr>
          <p:cNvPr id="826" name="Change once, everywhere"/>
          <p:cNvSpPr txBox="1"/>
          <p:nvPr/>
        </p:nvSpPr>
        <p:spPr>
          <a:xfrm>
            <a:off x="1295400" y="7734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Change once, everywhere</a:t>
            </a:r>
          </a:p>
        </p:txBody>
      </p:sp>
      <p:sp>
        <p:nvSpPr>
          <p:cNvPr id="827" name="Edit a synced pattern and every page that uses it updates."/>
          <p:cNvSpPr txBox="1"/>
          <p:nvPr/>
        </p:nvSpPr>
        <p:spPr>
          <a:xfrm>
            <a:off x="1320800" y="8559799"/>
            <a:ext cx="7958798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Edit a synced pattern and every page that uses it updates.</a:t>
            </a:r>
          </a:p>
        </p:txBody>
      </p:sp>
      <p:sp>
        <p:nvSpPr>
          <p:cNvPr id="828" name="In core since 2020"/>
          <p:cNvSpPr txBox="1"/>
          <p:nvPr/>
        </p:nvSpPr>
        <p:spPr>
          <a:xfrm>
            <a:off x="12801600" y="7734299"/>
            <a:ext cx="107442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In core since 2020</a:t>
            </a:r>
          </a:p>
        </p:txBody>
      </p:sp>
      <p:sp>
        <p:nvSpPr>
          <p:cNvPr id="829" name="Patterns since WordPress 5.5, synced patterns since 6.3."/>
          <p:cNvSpPr txBox="1"/>
          <p:nvPr/>
        </p:nvSpPr>
        <p:spPr>
          <a:xfrm>
            <a:off x="12827000" y="8559799"/>
            <a:ext cx="7263118" cy="116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Patterns since WordPress 5.5, synced patterns since 6.3.</a:t>
            </a:r>
          </a:p>
        </p:txBody>
      </p:sp>
      <p:sp>
        <p:nvSpPr>
          <p:cNvPr id="830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831" name="prog-38.png" descr="prog-38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836" name="Start every page from a pattern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Start every page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from a pattern</a:t>
            </a:r>
          </a:p>
        </p:txBody>
      </p:sp>
      <p:sp>
        <p:nvSpPr>
          <p:cNvPr id="837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838" name="With patterns in theme files"/>
          <p:cNvSpPr txBox="1"/>
          <p:nvPr/>
        </p:nvSpPr>
        <p:spPr>
          <a:xfrm>
            <a:off x="1270000" y="4660900"/>
            <a:ext cx="10414000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With patterns in theme files</a:t>
            </a:r>
          </a:p>
        </p:txBody>
      </p:sp>
      <p:sp>
        <p:nvSpPr>
          <p:cNvPr id="839" name="With patterns saved in the editor"/>
          <p:cNvSpPr txBox="1"/>
          <p:nvPr/>
        </p:nvSpPr>
        <p:spPr>
          <a:xfrm>
            <a:off x="12547600" y="4660900"/>
            <a:ext cx="10414000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With patterns saved in the editor</a:t>
            </a:r>
          </a:p>
        </p:txBody>
      </p:sp>
      <p:pic>
        <p:nvPicPr>
          <p:cNvPr id="840" name="panel-852x256.png" descr="panel-852x256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5588000"/>
            <a:ext cx="10820400" cy="3251200"/>
          </a:xfrm>
          <a:prstGeom prst="rect">
            <a:avLst/>
          </a:prstGeom>
          <a:ln w="12700">
            <a:miter lim="400000"/>
          </a:ln>
        </p:spPr>
      </p:pic>
      <p:sp>
        <p:nvSpPr>
          <p:cNvPr id="841" name="register_block_pattern( ‘mytheme/landing', [   'title'      =&gt; 'Landing page',   'blockTypes' =&gt; [ 'core/post-content' ],   'content'    =&gt; $markup, ] );"/>
          <p:cNvSpPr txBox="1"/>
          <p:nvPr/>
        </p:nvSpPr>
        <p:spPr>
          <a:xfrm>
            <a:off x="1676400" y="5842000"/>
            <a:ext cx="10312400" cy="317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pPr>
            <a:r>
              <a:rPr>
                <a:solidFill>
                  <a:srgbClr val="D2B0FF"/>
                </a:solidFill>
              </a:rPr>
              <a:t>register_block_pattern</a:t>
            </a:r>
            <a:r>
              <a:rPr>
                <a:solidFill>
                  <a:srgbClr val="C4B7E9"/>
                </a:solidFill>
              </a:rPr>
              <a:t>(</a:t>
            </a:r>
            <a:r>
              <a:t> </a:t>
            </a:r>
            <a:r>
              <a:rPr>
                <a:solidFill>
                  <a:srgbClr val="FFC3E7"/>
                </a:solidFill>
              </a:rPr>
              <a:t>‘mytheme/landing'</a:t>
            </a:r>
            <a:r>
              <a:rPr>
                <a:solidFill>
                  <a:srgbClr val="C4B7E9"/>
                </a:solidFill>
              </a:rPr>
              <a:t>,</a:t>
            </a:r>
            <a:r>
              <a:t> </a:t>
            </a:r>
            <a:r>
              <a:rPr>
                <a:solidFill>
                  <a:srgbClr val="C4B7E9"/>
                </a:solidFill>
              </a:rPr>
              <a:t>[</a:t>
            </a:r>
            <a:br>
              <a:rPr sz="3400"/>
            </a:br>
            <a:r>
              <a:t>  </a:t>
            </a:r>
            <a:r>
              <a:rPr>
                <a:solidFill>
                  <a:srgbClr val="FFC3E7"/>
                </a:solidFill>
              </a:rPr>
              <a:t>'title'</a:t>
            </a:r>
            <a:r>
              <a:t>      </a:t>
            </a:r>
            <a:r>
              <a:rPr>
                <a:solidFill>
                  <a:srgbClr val="FF97E2"/>
                </a:solidFill>
              </a:rPr>
              <a:t>=&gt;</a:t>
            </a:r>
            <a:r>
              <a:t> </a:t>
            </a:r>
            <a:r>
              <a:rPr>
                <a:solidFill>
                  <a:srgbClr val="FFC3E7"/>
                </a:solidFill>
              </a:rPr>
              <a:t>'Landing page'</a:t>
            </a:r>
            <a:r>
              <a:rPr>
                <a:solidFill>
                  <a:srgbClr val="C4B7E9"/>
                </a:solidFill>
              </a:rPr>
              <a:t>,</a:t>
            </a:r>
            <a:br>
              <a:rPr sz="3400"/>
            </a:br>
            <a:r>
              <a:t>  </a:t>
            </a:r>
            <a:r>
              <a:rPr>
                <a:solidFill>
                  <a:srgbClr val="FFC3E7"/>
                </a:solidFill>
              </a:rPr>
              <a:t>'blockTypes'</a:t>
            </a:r>
            <a:r>
              <a:t> </a:t>
            </a:r>
            <a:r>
              <a:rPr>
                <a:solidFill>
                  <a:srgbClr val="FF97E2"/>
                </a:solidFill>
              </a:rPr>
              <a:t>=&gt;</a:t>
            </a:r>
            <a:r>
              <a:t> </a:t>
            </a:r>
            <a:r>
              <a:rPr>
                <a:solidFill>
                  <a:srgbClr val="C4B7E9"/>
                </a:solidFill>
              </a:rPr>
              <a:t>[</a:t>
            </a:r>
            <a:r>
              <a:t> </a:t>
            </a:r>
            <a:r>
              <a:rPr>
                <a:solidFill>
                  <a:srgbClr val="FFC3E7"/>
                </a:solidFill>
              </a:rPr>
              <a:t>'core/post-content'</a:t>
            </a:r>
            <a:r>
              <a:t> </a:t>
            </a:r>
            <a:r>
              <a:rPr>
                <a:solidFill>
                  <a:srgbClr val="C4B7E9"/>
                </a:solidFill>
              </a:rPr>
              <a:t>],</a:t>
            </a:r>
            <a:br>
              <a:rPr sz="3400"/>
            </a:br>
            <a:r>
              <a:t>  </a:t>
            </a:r>
            <a:r>
              <a:rPr>
                <a:solidFill>
                  <a:srgbClr val="FFC3E7"/>
                </a:solidFill>
              </a:rPr>
              <a:t>'content'</a:t>
            </a:r>
            <a:r>
              <a:t>    </a:t>
            </a:r>
            <a:r>
              <a:rPr>
                <a:solidFill>
                  <a:srgbClr val="FF97E2"/>
                </a:solidFill>
              </a:rPr>
              <a:t>=&gt;</a:t>
            </a:r>
            <a:r>
              <a:t> $markup</a:t>
            </a:r>
            <a:r>
              <a:rPr>
                <a:solidFill>
                  <a:srgbClr val="C4B7E9"/>
                </a:solidFill>
              </a:rPr>
              <a:t>,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]</a:t>
            </a:r>
            <a:r>
              <a:t> </a:t>
            </a:r>
            <a:r>
              <a:rPr>
                <a:solidFill>
                  <a:srgbClr val="C4B7E9"/>
                </a:solidFill>
              </a:rPr>
              <a:t>);</a:t>
            </a:r>
            <a:br>
              <a:rPr sz="3400"/>
            </a:br>
          </a:p>
        </p:txBody>
      </p:sp>
      <p:pic>
        <p:nvPicPr>
          <p:cNvPr id="842" name="panel-820x336.png" descr="panel-820x336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598400" y="5588000"/>
            <a:ext cx="10414000" cy="4267200"/>
          </a:xfrm>
          <a:prstGeom prst="rect">
            <a:avLst/>
          </a:prstGeom>
          <a:ln w="12700">
            <a:miter lim="400000"/>
          </a:ln>
        </p:spPr>
      </p:pic>
      <p:sp>
        <p:nvSpPr>
          <p:cNvPr id="843" name="dispatch( 'core/editor' ).setIsInserterOpened( {   tab: 'patterns',   category: {     name: 'allPatterns',     label: _x( 'All', 'patterns' ),   }, } );"/>
          <p:cNvSpPr txBox="1"/>
          <p:nvPr/>
        </p:nvSpPr>
        <p:spPr>
          <a:xfrm>
            <a:off x="12903200" y="5841999"/>
            <a:ext cx="9906000" cy="418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EEE6FF"/>
                </a:solidFill>
                <a:latin typeface="Geist Mono"/>
                <a:ea typeface="Geist Mono"/>
                <a:cs typeface="Geist Mono"/>
                <a:sym typeface="Geist Mono"/>
              </a:defRPr>
            </a:pPr>
            <a:r>
              <a:rPr>
                <a:solidFill>
                  <a:srgbClr val="D2B0FF"/>
                </a:solidFill>
              </a:rPr>
              <a:t>dispatch</a:t>
            </a:r>
            <a:r>
              <a:rPr>
                <a:solidFill>
                  <a:srgbClr val="C4B7E9"/>
                </a:solidFill>
              </a:rPr>
              <a:t>(</a:t>
            </a:r>
            <a:r>
              <a:t> </a:t>
            </a:r>
            <a:r>
              <a:rPr>
                <a:solidFill>
                  <a:srgbClr val="FFC3E7"/>
                </a:solidFill>
              </a:rPr>
              <a:t>'core/editor'</a:t>
            </a:r>
            <a:r>
              <a:t> </a:t>
            </a:r>
            <a:r>
              <a:rPr>
                <a:solidFill>
                  <a:srgbClr val="C4B7E9"/>
                </a:solidFill>
              </a:rPr>
              <a:t>).</a:t>
            </a:r>
            <a:r>
              <a:rPr>
                <a:solidFill>
                  <a:srgbClr val="D2B0FF"/>
                </a:solidFill>
              </a:rPr>
              <a:t>setIsInserterOpened</a:t>
            </a:r>
            <a:r>
              <a:rPr>
                <a:solidFill>
                  <a:srgbClr val="C4B7E9"/>
                </a:solidFill>
              </a:rPr>
              <a:t>(</a:t>
            </a:r>
            <a:r>
              <a:t> </a:t>
            </a:r>
            <a:r>
              <a:rPr>
                <a:solidFill>
                  <a:srgbClr val="C4B7E9"/>
                </a:solidFill>
              </a:rPr>
              <a:t>{</a:t>
            </a:r>
            <a:br>
              <a:rPr sz="3400"/>
            </a:br>
            <a:r>
              <a:t>  tab</a:t>
            </a:r>
            <a:r>
              <a:rPr>
                <a:solidFill>
                  <a:srgbClr val="C4B7E9"/>
                </a:solidFill>
              </a:rPr>
              <a:t>:</a:t>
            </a:r>
            <a:r>
              <a:t> </a:t>
            </a:r>
            <a:r>
              <a:rPr>
                <a:solidFill>
                  <a:srgbClr val="FFC3E7"/>
                </a:solidFill>
              </a:rPr>
              <a:t>'patterns'</a:t>
            </a:r>
            <a:r>
              <a:rPr>
                <a:solidFill>
                  <a:srgbClr val="C4B7E9"/>
                </a:solidFill>
              </a:rPr>
              <a:t>,</a:t>
            </a:r>
            <a:br>
              <a:rPr sz="3400"/>
            </a:br>
            <a:r>
              <a:t>  category</a:t>
            </a:r>
            <a:r>
              <a:rPr>
                <a:solidFill>
                  <a:srgbClr val="C4B7E9"/>
                </a:solidFill>
              </a:rPr>
              <a:t>:</a:t>
            </a:r>
            <a:r>
              <a:t> </a:t>
            </a:r>
            <a:r>
              <a:rPr>
                <a:solidFill>
                  <a:srgbClr val="C4B7E9"/>
                </a:solidFill>
              </a:rPr>
              <a:t>{</a:t>
            </a:r>
            <a:br>
              <a:rPr sz="3400"/>
            </a:br>
            <a:r>
              <a:t>    name</a:t>
            </a:r>
            <a:r>
              <a:rPr>
                <a:solidFill>
                  <a:srgbClr val="C4B7E9"/>
                </a:solidFill>
              </a:rPr>
              <a:t>:</a:t>
            </a:r>
            <a:r>
              <a:t> </a:t>
            </a:r>
            <a:r>
              <a:rPr>
                <a:solidFill>
                  <a:srgbClr val="FFC3E7"/>
                </a:solidFill>
              </a:rPr>
              <a:t>'allPatterns'</a:t>
            </a:r>
            <a:r>
              <a:rPr>
                <a:solidFill>
                  <a:srgbClr val="C4B7E9"/>
                </a:solidFill>
              </a:rPr>
              <a:t>,</a:t>
            </a:r>
            <a:br>
              <a:rPr sz="3400"/>
            </a:br>
            <a:r>
              <a:t>    label</a:t>
            </a:r>
            <a:r>
              <a:rPr>
                <a:solidFill>
                  <a:srgbClr val="C4B7E9"/>
                </a:solidFill>
              </a:rPr>
              <a:t>:</a:t>
            </a:r>
            <a:r>
              <a:t> </a:t>
            </a:r>
            <a:r>
              <a:rPr>
                <a:solidFill>
                  <a:srgbClr val="D2B0FF"/>
                </a:solidFill>
              </a:rPr>
              <a:t>_x</a:t>
            </a:r>
            <a:r>
              <a:rPr>
                <a:solidFill>
                  <a:srgbClr val="C4B7E9"/>
                </a:solidFill>
              </a:rPr>
              <a:t>(</a:t>
            </a:r>
            <a:r>
              <a:t> </a:t>
            </a:r>
            <a:r>
              <a:rPr>
                <a:solidFill>
                  <a:srgbClr val="FFC3E7"/>
                </a:solidFill>
              </a:rPr>
              <a:t>'All'</a:t>
            </a:r>
            <a:r>
              <a:rPr>
                <a:solidFill>
                  <a:srgbClr val="C4B7E9"/>
                </a:solidFill>
              </a:rPr>
              <a:t>,</a:t>
            </a:r>
            <a:r>
              <a:t> </a:t>
            </a:r>
            <a:r>
              <a:rPr>
                <a:solidFill>
                  <a:srgbClr val="FFC3E7"/>
                </a:solidFill>
              </a:rPr>
              <a:t>'patterns'</a:t>
            </a:r>
            <a:r>
              <a:t> </a:t>
            </a:r>
            <a:r>
              <a:rPr>
                <a:solidFill>
                  <a:srgbClr val="C4B7E9"/>
                </a:solidFill>
              </a:rPr>
              <a:t>),</a:t>
            </a:r>
            <a:br>
              <a:rPr sz="3400"/>
            </a:br>
            <a:r>
              <a:t>  </a:t>
            </a:r>
            <a:r>
              <a:rPr>
                <a:solidFill>
                  <a:srgbClr val="C4B7E9"/>
                </a:solidFill>
              </a:rPr>
              <a:t>},</a:t>
            </a:r>
            <a:br>
              <a:rPr sz="3400"/>
            </a:br>
            <a:r>
              <a:rPr>
                <a:solidFill>
                  <a:srgbClr val="C4B7E9"/>
                </a:solidFill>
              </a:rPr>
              <a:t>}</a:t>
            </a:r>
            <a:r>
              <a:t> </a:t>
            </a:r>
            <a:r>
              <a:rPr>
                <a:solidFill>
                  <a:srgbClr val="C4B7E9"/>
                </a:solidFill>
              </a:rPr>
              <a:t>);</a:t>
            </a:r>
            <a:br>
              <a:rPr sz="3400"/>
            </a:br>
          </a:p>
        </p:txBody>
      </p:sp>
      <p:sp>
        <p:nvSpPr>
          <p:cNvPr id="844" name="On a new empty page, the editor opens straight on the pattern library."/>
          <p:cNvSpPr txBox="1"/>
          <p:nvPr/>
        </p:nvSpPr>
        <p:spPr>
          <a:xfrm>
            <a:off x="1270000" y="10883899"/>
            <a:ext cx="2159000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On a new empty page, the editor opens straight on the pattern library.</a:t>
            </a:r>
          </a:p>
        </p:txBody>
      </p:sp>
      <p:pic>
        <p:nvPicPr>
          <p:cNvPr id="845" name="prog-39.png" descr="prog-39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850" name="What does it look like?"/>
          <p:cNvSpPr txBox="1"/>
          <p:nvPr/>
        </p:nvSpPr>
        <p:spPr>
          <a:xfrm>
            <a:off x="1257300" y="1524000"/>
            <a:ext cx="5969000" cy="388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What does it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look like?</a:t>
            </a:r>
          </a:p>
        </p:txBody>
      </p:sp>
      <p:sp>
        <p:nvSpPr>
          <p:cNvPr id="851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852" name="patterns-onboarding.png" descr="patterns-onboarding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467600" y="1397000"/>
            <a:ext cx="15600089" cy="1031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53" name="prog-40.png" descr="prog-40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858" name="Learning this with your AI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Learning this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with your AI</a:t>
            </a:r>
          </a:p>
        </p:txBody>
      </p:sp>
      <p:sp>
        <p:nvSpPr>
          <p:cNvPr id="859" name="—"/>
          <p:cNvSpPr txBox="1"/>
          <p:nvPr/>
        </p:nvSpPr>
        <p:spPr>
          <a:xfrm>
            <a:off x="1320800" y="5207000"/>
            <a:ext cx="9906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860" name="There are many ways to build a block and the docs are scattered, so AI gets it wrong too."/>
          <p:cNvSpPr txBox="1"/>
          <p:nvPr/>
        </p:nvSpPr>
        <p:spPr>
          <a:xfrm>
            <a:off x="2082800" y="5207000"/>
            <a:ext cx="210312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There are many ways to build a block and the docs are scattered, so AI gets it wrong too.</a:t>
            </a:r>
          </a:p>
        </p:txBody>
      </p:sp>
      <p:sp>
        <p:nvSpPr>
          <p:cNvPr id="861" name="—"/>
          <p:cNvSpPr txBox="1"/>
          <p:nvPr/>
        </p:nvSpPr>
        <p:spPr>
          <a:xfrm>
            <a:off x="1320800" y="6489700"/>
            <a:ext cx="9906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862" name="AI makes mistakes. It often writes a React.js block, because that is what the official Block Editor Handbook “Build your first block” tutorial with @wordpress/create-block teaches."/>
          <p:cNvSpPr txBox="1"/>
          <p:nvPr/>
        </p:nvSpPr>
        <p:spPr>
          <a:xfrm>
            <a:off x="2082800" y="6489699"/>
            <a:ext cx="21031200" cy="1283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8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AI makes mistakes. It often writes a React.js block, because that is what the official Block Editor Handbook “Build your first block” tutorial with </a:t>
            </a:r>
            <a:r>
              <a:rPr sz="34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rPr>
              <a:t>@wordpress/create-block</a:t>
            </a:r>
            <a:r>
              <a:t> teaches.</a:t>
            </a:r>
          </a:p>
        </p:txBody>
      </p:sp>
      <p:sp>
        <p:nvSpPr>
          <p:cNvPr id="863" name="—"/>
          <p:cNvSpPr txBox="1"/>
          <p:nvPr/>
        </p:nvSpPr>
        <p:spPr>
          <a:xfrm>
            <a:off x="1320800" y="8331200"/>
            <a:ext cx="9906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864" name="Tell it the order: core blocks, patterns, styles, and a custom block last."/>
          <p:cNvSpPr txBox="1"/>
          <p:nvPr/>
        </p:nvSpPr>
        <p:spPr>
          <a:xfrm>
            <a:off x="2082800" y="8331200"/>
            <a:ext cx="210312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Tell it the order: core blocks, patterns, styles, and a custom block last.</a:t>
            </a:r>
          </a:p>
        </p:txBody>
      </p:sp>
      <p:sp>
        <p:nvSpPr>
          <p:cNvPr id="865" name="—"/>
          <p:cNvSpPr txBox="1"/>
          <p:nvPr/>
        </p:nvSpPr>
        <p:spPr>
          <a:xfrm>
            <a:off x="1320800" y="9613900"/>
            <a:ext cx="9906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6033A6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866" name="Make it show the handbook page it used, learn, review, check the code before you ship it."/>
          <p:cNvSpPr txBox="1"/>
          <p:nvPr/>
        </p:nvSpPr>
        <p:spPr>
          <a:xfrm>
            <a:off x="2082800" y="9613900"/>
            <a:ext cx="210312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Make it show the handbook page it used, learn, review, check the code before you ship it.</a:t>
            </a:r>
          </a:p>
        </p:txBody>
      </p:sp>
      <p:sp>
        <p:nvSpPr>
          <p:cNvPr id="867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868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19080428">
            <a:off x="19871380" y="-1938493"/>
            <a:ext cx="5306588" cy="5306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869" name="prog-41.png" descr="prog-41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bg.png" descr="b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874" name="When ACF still makes sense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When ACF still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makes sense</a:t>
            </a:r>
          </a:p>
        </p:txBody>
      </p:sp>
      <p:sp>
        <p:nvSpPr>
          <p:cNvPr id="875" name="Settings pages"/>
          <p:cNvSpPr txBox="1"/>
          <p:nvPr/>
        </p:nvSpPr>
        <p:spPr>
          <a:xfrm>
            <a:off x="1295400" y="5079999"/>
            <a:ext cx="6731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Settings pages</a:t>
            </a:r>
          </a:p>
        </p:txBody>
      </p:sp>
      <p:sp>
        <p:nvSpPr>
          <p:cNvPr id="876" name="With ACF, a page for site-wide settings takes a few lines. Without it, you code the whole page."/>
          <p:cNvSpPr txBox="1"/>
          <p:nvPr/>
        </p:nvSpPr>
        <p:spPr>
          <a:xfrm>
            <a:off x="1295400" y="5943600"/>
            <a:ext cx="6731000" cy="2169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With ACF, a page for site-wide settings takes a few lines. Without it, you code the whole page.</a:t>
            </a:r>
          </a:p>
        </p:txBody>
      </p:sp>
      <p:sp>
        <p:nvSpPr>
          <p:cNvPr id="877" name="Relations"/>
          <p:cNvSpPr txBox="1"/>
          <p:nvPr/>
        </p:nvSpPr>
        <p:spPr>
          <a:xfrm>
            <a:off x="8610600" y="5079999"/>
            <a:ext cx="6731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Relations</a:t>
            </a:r>
          </a:p>
        </p:txBody>
      </p:sp>
      <p:sp>
        <p:nvSpPr>
          <p:cNvPr id="878" name="Linking posts together: ACF has a ready-made picker. With core it means coding it by hand."/>
          <p:cNvSpPr txBox="1"/>
          <p:nvPr/>
        </p:nvSpPr>
        <p:spPr>
          <a:xfrm>
            <a:off x="8610600" y="5943599"/>
            <a:ext cx="6731000" cy="166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Linking posts together: ACF has a ready-made picker. With core it means coding it by hand.</a:t>
            </a:r>
          </a:p>
        </p:txBody>
      </p:sp>
      <p:sp>
        <p:nvSpPr>
          <p:cNvPr id="879" name="Advanced fields"/>
          <p:cNvSpPr txBox="1"/>
          <p:nvPr/>
        </p:nvSpPr>
        <p:spPr>
          <a:xfrm>
            <a:off x="15925800" y="5079999"/>
            <a:ext cx="6731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6033A6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</a:lstStyle>
          <a:p>
            <a:pPr/>
            <a:r>
              <a:t>Advanced fields</a:t>
            </a:r>
          </a:p>
        </p:txBody>
      </p:sp>
      <p:sp>
        <p:nvSpPr>
          <p:cNvPr id="880" name="Literally what the plugin was made for. If you need a field fast, ACF provides that for you."/>
          <p:cNvSpPr txBox="1"/>
          <p:nvPr/>
        </p:nvSpPr>
        <p:spPr>
          <a:xfrm>
            <a:off x="15925800" y="5943599"/>
            <a:ext cx="6731000" cy="166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3D26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Literally what the plugin was made for. If you need a field fast, ACF provides that for you.</a:t>
            </a:r>
          </a:p>
        </p:txBody>
      </p:sp>
      <p:sp>
        <p:nvSpPr>
          <p:cNvPr id="881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pic>
        <p:nvPicPr>
          <p:cNvPr id="882" name="prog-42.png" descr="prog-42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bg.png" descr="b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887" name="Further reading"/>
          <p:cNvSpPr txBox="1"/>
          <p:nvPr/>
        </p:nvSpPr>
        <p:spPr>
          <a:xfrm>
            <a:off x="1308100" y="2692399"/>
            <a:ext cx="22707600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6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pPr>
            <a:r>
              <a:t>Further </a:t>
            </a:r>
            <a:r>
              <a:rPr i="1" sz="9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reading</a:t>
            </a:r>
          </a:p>
        </p:txBody>
      </p:sp>
      <p:sp>
        <p:nvSpPr>
          <p:cNvPr id="888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889" name="fullsiteediting.com"/>
          <p:cNvSpPr txBox="1"/>
          <p:nvPr/>
        </p:nvSpPr>
        <p:spPr>
          <a:xfrm>
            <a:off x="1270000" y="4508500"/>
            <a:ext cx="109220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fullsiteediting.com</a:t>
            </a:r>
          </a:p>
        </p:txBody>
      </p:sp>
      <p:sp>
        <p:nvSpPr>
          <p:cNvPr id="890" name="Carolina Nymark’s lessons on blocks and block themes."/>
          <p:cNvSpPr txBox="1"/>
          <p:nvPr/>
        </p:nvSpPr>
        <p:spPr>
          <a:xfrm>
            <a:off x="1270000" y="5206999"/>
            <a:ext cx="1092200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Carolina Nymark’s lessons on blocks and block themes.</a:t>
            </a:r>
          </a:p>
        </p:txBody>
      </p:sp>
      <p:sp>
        <p:nvSpPr>
          <p:cNvPr id="891" name="gutenberg.10up.com"/>
          <p:cNvSpPr txBox="1"/>
          <p:nvPr/>
        </p:nvSpPr>
        <p:spPr>
          <a:xfrm>
            <a:off x="12750800" y="4508500"/>
            <a:ext cx="109220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gutenberg.10up.com</a:t>
            </a:r>
          </a:p>
        </p:txBody>
      </p:sp>
      <p:sp>
        <p:nvSpPr>
          <p:cNvPr id="892" name="10up’s Block Editor Best Practices."/>
          <p:cNvSpPr txBox="1"/>
          <p:nvPr/>
        </p:nvSpPr>
        <p:spPr>
          <a:xfrm>
            <a:off x="12750800" y="5206999"/>
            <a:ext cx="1092200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10up’s Block Editor Best Practices.</a:t>
            </a:r>
          </a:p>
        </p:txBody>
      </p:sp>
      <p:sp>
        <p:nvSpPr>
          <p:cNvPr id="893" name="developer.wordpress.org/news"/>
          <p:cNvSpPr txBox="1"/>
          <p:nvPr/>
        </p:nvSpPr>
        <p:spPr>
          <a:xfrm>
            <a:off x="1270000" y="6731000"/>
            <a:ext cx="109220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developer.wordpress.org/news</a:t>
            </a:r>
          </a:p>
        </p:txBody>
      </p:sp>
      <p:sp>
        <p:nvSpPr>
          <p:cNvPr id="894" name="The WordPress Developer Blog."/>
          <p:cNvSpPr txBox="1"/>
          <p:nvPr/>
        </p:nvSpPr>
        <p:spPr>
          <a:xfrm>
            <a:off x="1270000" y="7429499"/>
            <a:ext cx="1092200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The WordPress Developer Blog.</a:t>
            </a:r>
          </a:p>
        </p:txBody>
      </p:sp>
      <p:sp>
        <p:nvSpPr>
          <p:cNvPr id="895" name="developer.wordpress.org/block-editor"/>
          <p:cNvSpPr txBox="1"/>
          <p:nvPr/>
        </p:nvSpPr>
        <p:spPr>
          <a:xfrm>
            <a:off x="12750800" y="6731000"/>
            <a:ext cx="109220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developer.wordpress.org/block-editor</a:t>
            </a:r>
          </a:p>
        </p:txBody>
      </p:sp>
      <p:sp>
        <p:nvSpPr>
          <p:cNvPr id="896" name="The Block Editor Handbook."/>
          <p:cNvSpPr txBox="1"/>
          <p:nvPr/>
        </p:nvSpPr>
        <p:spPr>
          <a:xfrm>
            <a:off x="12750800" y="7429499"/>
            <a:ext cx="1092200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The Block Editor Handbook.</a:t>
            </a:r>
          </a:p>
        </p:txBody>
      </p:sp>
      <p:sp>
        <p:nvSpPr>
          <p:cNvPr id="897" name="learn.wordpress.org"/>
          <p:cNvSpPr txBox="1"/>
          <p:nvPr/>
        </p:nvSpPr>
        <p:spPr>
          <a:xfrm>
            <a:off x="1270000" y="8953500"/>
            <a:ext cx="109220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learn.wordpress.org</a:t>
            </a:r>
          </a:p>
        </p:txBody>
      </p:sp>
      <p:sp>
        <p:nvSpPr>
          <p:cNvPr id="898" name="Free courses and lessons."/>
          <p:cNvSpPr txBox="1"/>
          <p:nvPr/>
        </p:nvSpPr>
        <p:spPr>
          <a:xfrm>
            <a:off x="1270000" y="9651999"/>
            <a:ext cx="1092200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Free courses and lessons.</a:t>
            </a:r>
          </a:p>
        </p:txBody>
      </p:sp>
      <p:sp>
        <p:nvSpPr>
          <p:cNvPr id="899" name="github.com/digitoimistodude/air-light"/>
          <p:cNvSpPr txBox="1"/>
          <p:nvPr/>
        </p:nvSpPr>
        <p:spPr>
          <a:xfrm>
            <a:off x="12750800" y="8953500"/>
            <a:ext cx="10922000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6033A6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</a:lstStyle>
          <a:p>
            <a:pPr/>
            <a:r>
              <a:t>github.com/digitoimistodude/air-light</a:t>
            </a:r>
          </a:p>
        </p:txBody>
      </p:sp>
      <p:sp>
        <p:nvSpPr>
          <p:cNvPr id="900" name="Our ACF-free WordPress starter theme for devs."/>
          <p:cNvSpPr txBox="1"/>
          <p:nvPr/>
        </p:nvSpPr>
        <p:spPr>
          <a:xfrm>
            <a:off x="12750800" y="9651999"/>
            <a:ext cx="1092200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220D44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Our ACF-free WordPress starter theme for devs.</a:t>
            </a:r>
          </a:p>
        </p:txBody>
      </p:sp>
      <p:pic>
        <p:nvPicPr>
          <p:cNvPr id="901" name="prog-43.png" descr="prog-4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3" name="bg.png" descr="b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904" name="Kiitos."/>
          <p:cNvSpPr txBox="1"/>
          <p:nvPr/>
        </p:nvSpPr>
        <p:spPr>
          <a:xfrm>
            <a:off x="1295400" y="4381499"/>
            <a:ext cx="22707600" cy="156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9200">
                <a:solidFill>
                  <a:srgbClr val="220D44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</a:lstStyle>
          <a:p>
            <a:pPr/>
            <a:r>
              <a:t>Kiitos.</a:t>
            </a:r>
          </a:p>
        </p:txBody>
      </p:sp>
      <p:sp>
        <p:nvSpPr>
          <p:cNvPr id="905" name="Questions?"/>
          <p:cNvSpPr txBox="1"/>
          <p:nvPr/>
        </p:nvSpPr>
        <p:spPr>
          <a:xfrm>
            <a:off x="1308100" y="5346699"/>
            <a:ext cx="22707600" cy="205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 sz="11800">
                <a:solidFill>
                  <a:srgbClr val="6033A6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906" name="Rolle Laukkarinen"/>
          <p:cNvSpPr txBox="1"/>
          <p:nvPr/>
        </p:nvSpPr>
        <p:spPr>
          <a:xfrm>
            <a:off x="1320800" y="7505699"/>
            <a:ext cx="227076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Rolle Laukkarinen</a:t>
            </a:r>
          </a:p>
        </p:txBody>
      </p:sp>
      <p:sp>
        <p:nvSpPr>
          <p:cNvPr id="907" name="rolle.social · dude.fi · github.com/rollecode"/>
          <p:cNvSpPr txBox="1"/>
          <p:nvPr/>
        </p:nvSpPr>
        <p:spPr>
          <a:xfrm>
            <a:off x="1320800" y="8127999"/>
            <a:ext cx="2270760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rolle.social · dude.fi · github.com/rollecode</a:t>
            </a:r>
          </a:p>
        </p:txBody>
      </p:sp>
      <p:sp>
        <p:nvSpPr>
          <p:cNvPr id="908" name="Going ACF-free"/>
          <p:cNvSpPr txBox="1"/>
          <p:nvPr/>
        </p:nvSpPr>
        <p:spPr>
          <a:xfrm>
            <a:off x="1320800" y="12344400"/>
            <a:ext cx="24511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5D4E61"/>
                </a:solidFill>
                <a:latin typeface="Geist"/>
                <a:ea typeface="Geist"/>
                <a:cs typeface="Geist"/>
                <a:sym typeface="Geist"/>
              </a:defRPr>
            </a:lvl1pPr>
          </a:lstStyle>
          <a:p>
            <a:pPr/>
            <a:r>
              <a:t>Going ACF-free</a:t>
            </a:r>
          </a:p>
        </p:txBody>
      </p:sp>
      <p:sp>
        <p:nvSpPr>
          <p:cNvPr id="909" name="Slides: github.com/rollecode/wpsuomi2026-talk-slides"/>
          <p:cNvSpPr txBox="1"/>
          <p:nvPr/>
        </p:nvSpPr>
        <p:spPr>
          <a:xfrm>
            <a:off x="1320799" y="8750299"/>
            <a:ext cx="11692891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>
                <a:solidFill>
                  <a:srgbClr val="4B3051"/>
                </a:solidFill>
                <a:latin typeface="Geist"/>
                <a:ea typeface="Geist"/>
                <a:cs typeface="Geist"/>
                <a:sym typeface="Geist"/>
              </a:defRPr>
            </a:pPr>
            <a:r>
              <a:t>Slides: </a:t>
            </a:r>
            <a:r>
              <a:rPr u="sng">
                <a:hlinkClick r:id="rId3" invalidUrl="" action="" tgtFrame="" tooltip="" history="1" highlightClick="0" endSnd="0"/>
              </a:rPr>
              <a:t>github.com/rollecode/wpsuomi2026-talk-slides</a:t>
            </a:r>
          </a:p>
        </p:txBody>
      </p:sp>
      <p:pic>
        <p:nvPicPr>
          <p:cNvPr id="910" name="prog-44.png" descr="prog-4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170400" y="12395200"/>
            <a:ext cx="5842000" cy="40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