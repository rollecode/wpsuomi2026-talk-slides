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g"/>
  <Default Extension="png" ContentType="image/png"/>
  <Default Extension="bmp" ContentType="image/bmp"/>
  <Default Extension="gif" ContentType="image/gif"/>
  <Default Extension="tif" ContentType="image/tif"/>
  <Default Extension="pdf" ContentType="application/pdf"/>
  <Default Extension="mov" ContentType="application/movie"/>
  <Default Extension="vml" ContentType="application/vnd.openxmlformats-officedocument.vmlDrawing"/>
  <Default Extension="xlsx" ContentType="application/vnd.openxmlformats-officedocument.spreadsheetml.sheet"/>
  <Override PartName="/docProps/core.xml" ContentType="application/vnd.openxmlformats-package.core-propertie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commentAuthors.xml" ContentType="application/vnd.openxmlformats-officedocument.presentationml.commentAuthors+xml"/>
  <Override PartName="/ppt/tableStyles.xml" ContentType="application/vnd.openxmlformats-officedocument.presentationml.tableStyles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notesMasters/notesMaster1.xml" ContentType="application/vnd.openxmlformats-officedocument.presentationml.notes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media/image1.jpeg" ContentType="image/jpeg"/>
  <Override PartName="/ppt/notesSlides/notesSlide2.xml" ContentType="application/vnd.openxmlformats-officedocument.presentationml.notesSlide+xml"/>
  <Override PartName="/ppt/media/image2.jpeg" ContentType="image/jpeg"/>
  <Override PartName="/ppt/media/image3.jpeg" ContentType="image/jpeg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</Types>
</file>

<file path=_rels/.rels><?xml version="1.0" encoding="UTF-8"?>
<Relationships xmlns="http://schemas.openxmlformats.org/package/2006/relationships"><Relationship Id="rId1" Type="http://schemas.openxmlformats.org/package/2006/relationships/metadata/core-properties" Target="docProps/core.xml"/><Relationship Id="rId2" Type="http://schemas.openxmlformats.org/officeDocument/2006/relationships/extended-properties" Target="docProps/app.xml"/><Relationship Id="rId3" Type="http://schemas.openxmlformats.org/officeDocument/2006/relationships/officeDocument" Target="ppt/presentation.xml"/>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>
  <p:sldMasterIdLst>
    <p:sldMasterId id="2147483648" r:id="rId5"/>
  </p:sldMasterIdLst>
  <p:notesMasterIdLst>
    <p:notesMasterId r:id="rId7"/>
  </p:notesMasterIdLst>
  <p:sldIdLst>
    <p:sldId id="256" r:id="rId8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  <p:sldId id="274" r:id="rId26"/>
    <p:sldId id="275" r:id="rId27"/>
    <p:sldId id="276" r:id="rId28"/>
    <p:sldId id="277" r:id="rId29"/>
    <p:sldId id="278" r:id="rId30"/>
    <p:sldId id="279" r:id="rId31"/>
    <p:sldId id="280" r:id="rId32"/>
    <p:sldId id="281" r:id="rId33"/>
    <p:sldId id="282" r:id="rId34"/>
    <p:sldId id="283" r:id="rId35"/>
    <p:sldId id="284" r:id="rId36"/>
    <p:sldId id="285" r:id="rId37"/>
    <p:sldId id="286" r:id="rId38"/>
    <p:sldId id="287" r:id="rId39"/>
    <p:sldId id="288" r:id="rId40"/>
    <p:sldId id="289" r:id="rId41"/>
    <p:sldId id="290" r:id="rId42"/>
    <p:sldId id="291" r:id="rId43"/>
    <p:sldId id="292" r:id="rId44"/>
    <p:sldId id="293" r:id="rId45"/>
    <p:sldId id="294" r:id="rId46"/>
    <p:sldId id="295" r:id="rId47"/>
    <p:sldId id="296" r:id="rId48"/>
    <p:sldId id="297" r:id="rId49"/>
    <p:sldId id="298" r:id="rId50"/>
    <p:sldId id="299" r:id="rId51"/>
  </p:sldIdLst>
  <p:sldSz cx="24384000" cy="13716000"/>
  <p:notesSz cx="6858000" cy="9144000"/>
  <p:defaultTextStyle>
    <a:defPPr marL="0" marR="0" indent="0" algn="l" defTabSz="914400" rtl="0" fontAlgn="auto" latinLnBrk="1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tabLst/>
      <a:defRPr b="0" baseline="0" cap="none" i="0" spc="0" strike="noStrike" sz="1800" u="none" kumimoji="0" normalizeH="0">
        <a:ln>
          <a:noFill/>
        </a:ln>
        <a:solidFill>
          <a:srgbClr val="000000"/>
        </a:solidFill>
        <a:effectLst/>
        <a:uFillTx/>
      </a:defRPr>
    </a:defPPr>
    <a:lvl1pPr marL="0" marR="0" indent="0" algn="l" defTabSz="2438338" rtl="0" fontAlgn="auto" latinLnBrk="0" hangingPunct="0">
      <a:lnSpc>
        <a:spcPct val="90000"/>
      </a:lnSpc>
      <a:spcBef>
        <a:spcPts val="4500"/>
      </a:spcBef>
      <a:spcAft>
        <a:spcPts val="0"/>
      </a:spcAft>
      <a:buClrTx/>
      <a:buSzTx/>
      <a:buFontTx/>
      <a:buNone/>
      <a:tabLst/>
      <a:defRPr b="0" baseline="0" cap="none" i="0" spc="0" strike="noStrike" sz="4800" u="none" kumimoji="0" normalizeH="0">
        <a:ln>
          <a:noFill/>
        </a:ln>
        <a:solidFill>
          <a:srgbClr val="000000"/>
        </a:solidFill>
        <a:effectLst/>
        <a:uFillTx/>
        <a:latin typeface="+mn-lt"/>
        <a:ea typeface="+mn-ea"/>
        <a:cs typeface="+mn-cs"/>
        <a:sym typeface="Helvetica Neue"/>
      </a:defRPr>
    </a:lvl1pPr>
    <a:lvl2pPr marL="0" marR="0" indent="457200" algn="l" defTabSz="2438338" rtl="0" fontAlgn="auto" latinLnBrk="0" hangingPunct="0">
      <a:lnSpc>
        <a:spcPct val="90000"/>
      </a:lnSpc>
      <a:spcBef>
        <a:spcPts val="4500"/>
      </a:spcBef>
      <a:spcAft>
        <a:spcPts val="0"/>
      </a:spcAft>
      <a:buClrTx/>
      <a:buSzTx/>
      <a:buFontTx/>
      <a:buNone/>
      <a:tabLst/>
      <a:defRPr b="0" baseline="0" cap="none" i="0" spc="0" strike="noStrike" sz="4800" u="none" kumimoji="0" normalizeH="0">
        <a:ln>
          <a:noFill/>
        </a:ln>
        <a:solidFill>
          <a:srgbClr val="000000"/>
        </a:solidFill>
        <a:effectLst/>
        <a:uFillTx/>
        <a:latin typeface="+mn-lt"/>
        <a:ea typeface="+mn-ea"/>
        <a:cs typeface="+mn-cs"/>
        <a:sym typeface="Helvetica Neue"/>
      </a:defRPr>
    </a:lvl2pPr>
    <a:lvl3pPr marL="0" marR="0" indent="914400" algn="l" defTabSz="2438338" rtl="0" fontAlgn="auto" latinLnBrk="0" hangingPunct="0">
      <a:lnSpc>
        <a:spcPct val="90000"/>
      </a:lnSpc>
      <a:spcBef>
        <a:spcPts val="4500"/>
      </a:spcBef>
      <a:spcAft>
        <a:spcPts val="0"/>
      </a:spcAft>
      <a:buClrTx/>
      <a:buSzTx/>
      <a:buFontTx/>
      <a:buNone/>
      <a:tabLst/>
      <a:defRPr b="0" baseline="0" cap="none" i="0" spc="0" strike="noStrike" sz="4800" u="none" kumimoji="0" normalizeH="0">
        <a:ln>
          <a:noFill/>
        </a:ln>
        <a:solidFill>
          <a:srgbClr val="000000"/>
        </a:solidFill>
        <a:effectLst/>
        <a:uFillTx/>
        <a:latin typeface="+mn-lt"/>
        <a:ea typeface="+mn-ea"/>
        <a:cs typeface="+mn-cs"/>
        <a:sym typeface="Helvetica Neue"/>
      </a:defRPr>
    </a:lvl3pPr>
    <a:lvl4pPr marL="0" marR="0" indent="1371600" algn="l" defTabSz="2438338" rtl="0" fontAlgn="auto" latinLnBrk="0" hangingPunct="0">
      <a:lnSpc>
        <a:spcPct val="90000"/>
      </a:lnSpc>
      <a:spcBef>
        <a:spcPts val="4500"/>
      </a:spcBef>
      <a:spcAft>
        <a:spcPts val="0"/>
      </a:spcAft>
      <a:buClrTx/>
      <a:buSzTx/>
      <a:buFontTx/>
      <a:buNone/>
      <a:tabLst/>
      <a:defRPr b="0" baseline="0" cap="none" i="0" spc="0" strike="noStrike" sz="4800" u="none" kumimoji="0" normalizeH="0">
        <a:ln>
          <a:noFill/>
        </a:ln>
        <a:solidFill>
          <a:srgbClr val="000000"/>
        </a:solidFill>
        <a:effectLst/>
        <a:uFillTx/>
        <a:latin typeface="+mn-lt"/>
        <a:ea typeface="+mn-ea"/>
        <a:cs typeface="+mn-cs"/>
        <a:sym typeface="Helvetica Neue"/>
      </a:defRPr>
    </a:lvl4pPr>
    <a:lvl5pPr marL="0" marR="0" indent="1828800" algn="l" defTabSz="2438338" rtl="0" fontAlgn="auto" latinLnBrk="0" hangingPunct="0">
      <a:lnSpc>
        <a:spcPct val="90000"/>
      </a:lnSpc>
      <a:spcBef>
        <a:spcPts val="4500"/>
      </a:spcBef>
      <a:spcAft>
        <a:spcPts val="0"/>
      </a:spcAft>
      <a:buClrTx/>
      <a:buSzTx/>
      <a:buFontTx/>
      <a:buNone/>
      <a:tabLst/>
      <a:defRPr b="0" baseline="0" cap="none" i="0" spc="0" strike="noStrike" sz="4800" u="none" kumimoji="0" normalizeH="0">
        <a:ln>
          <a:noFill/>
        </a:ln>
        <a:solidFill>
          <a:srgbClr val="000000"/>
        </a:solidFill>
        <a:effectLst/>
        <a:uFillTx/>
        <a:latin typeface="+mn-lt"/>
        <a:ea typeface="+mn-ea"/>
        <a:cs typeface="+mn-cs"/>
        <a:sym typeface="Helvetica Neue"/>
      </a:defRPr>
    </a:lvl5pPr>
    <a:lvl6pPr marL="0" marR="0" indent="2286000" algn="l" defTabSz="2438338" rtl="0" fontAlgn="auto" latinLnBrk="0" hangingPunct="0">
      <a:lnSpc>
        <a:spcPct val="90000"/>
      </a:lnSpc>
      <a:spcBef>
        <a:spcPts val="4500"/>
      </a:spcBef>
      <a:spcAft>
        <a:spcPts val="0"/>
      </a:spcAft>
      <a:buClrTx/>
      <a:buSzTx/>
      <a:buFontTx/>
      <a:buNone/>
      <a:tabLst/>
      <a:defRPr b="0" baseline="0" cap="none" i="0" spc="0" strike="noStrike" sz="4800" u="none" kumimoji="0" normalizeH="0">
        <a:ln>
          <a:noFill/>
        </a:ln>
        <a:solidFill>
          <a:srgbClr val="000000"/>
        </a:solidFill>
        <a:effectLst/>
        <a:uFillTx/>
        <a:latin typeface="+mn-lt"/>
        <a:ea typeface="+mn-ea"/>
        <a:cs typeface="+mn-cs"/>
        <a:sym typeface="Helvetica Neue"/>
      </a:defRPr>
    </a:lvl6pPr>
    <a:lvl7pPr marL="0" marR="0" indent="2743200" algn="l" defTabSz="2438338" rtl="0" fontAlgn="auto" latinLnBrk="0" hangingPunct="0">
      <a:lnSpc>
        <a:spcPct val="90000"/>
      </a:lnSpc>
      <a:spcBef>
        <a:spcPts val="4500"/>
      </a:spcBef>
      <a:spcAft>
        <a:spcPts val="0"/>
      </a:spcAft>
      <a:buClrTx/>
      <a:buSzTx/>
      <a:buFontTx/>
      <a:buNone/>
      <a:tabLst/>
      <a:defRPr b="0" baseline="0" cap="none" i="0" spc="0" strike="noStrike" sz="4800" u="none" kumimoji="0" normalizeH="0">
        <a:ln>
          <a:noFill/>
        </a:ln>
        <a:solidFill>
          <a:srgbClr val="000000"/>
        </a:solidFill>
        <a:effectLst/>
        <a:uFillTx/>
        <a:latin typeface="+mn-lt"/>
        <a:ea typeface="+mn-ea"/>
        <a:cs typeface="+mn-cs"/>
        <a:sym typeface="Helvetica Neue"/>
      </a:defRPr>
    </a:lvl7pPr>
    <a:lvl8pPr marL="0" marR="0" indent="3200400" algn="l" defTabSz="2438338" rtl="0" fontAlgn="auto" latinLnBrk="0" hangingPunct="0">
      <a:lnSpc>
        <a:spcPct val="90000"/>
      </a:lnSpc>
      <a:spcBef>
        <a:spcPts val="4500"/>
      </a:spcBef>
      <a:spcAft>
        <a:spcPts val="0"/>
      </a:spcAft>
      <a:buClrTx/>
      <a:buSzTx/>
      <a:buFontTx/>
      <a:buNone/>
      <a:tabLst/>
      <a:defRPr b="0" baseline="0" cap="none" i="0" spc="0" strike="noStrike" sz="4800" u="none" kumimoji="0" normalizeH="0">
        <a:ln>
          <a:noFill/>
        </a:ln>
        <a:solidFill>
          <a:srgbClr val="000000"/>
        </a:solidFill>
        <a:effectLst/>
        <a:uFillTx/>
        <a:latin typeface="+mn-lt"/>
        <a:ea typeface="+mn-ea"/>
        <a:cs typeface="+mn-cs"/>
        <a:sym typeface="Helvetica Neue"/>
      </a:defRPr>
    </a:lvl8pPr>
    <a:lvl9pPr marL="0" marR="0" indent="3657600" algn="l" defTabSz="2438338" rtl="0" fontAlgn="auto" latinLnBrk="0" hangingPunct="0">
      <a:lnSpc>
        <a:spcPct val="90000"/>
      </a:lnSpc>
      <a:spcBef>
        <a:spcPts val="4500"/>
      </a:spcBef>
      <a:spcAft>
        <a:spcPts val="0"/>
      </a:spcAft>
      <a:buClrTx/>
      <a:buSzTx/>
      <a:buFontTx/>
      <a:buNone/>
      <a:tabLst/>
      <a:defRPr b="0" baseline="0" cap="none" i="0" spc="0" strike="noStrike" sz="4800" u="none" kumimoji="0" normalizeH="0">
        <a:ln>
          <a:noFill/>
        </a:ln>
        <a:solidFill>
          <a:srgbClr val="000000"/>
        </a:solidFill>
        <a:effectLst/>
        <a:uFillTx/>
        <a:latin typeface="+mn-lt"/>
        <a:ea typeface="+mn-ea"/>
        <a:cs typeface="+mn-cs"/>
        <a:sym typeface="Helvetica Neue"/>
      </a:defRPr>
    </a:lvl9pPr>
  </p:defaultTextStyle>
</p:presentation>
</file>

<file path=ppt/commentAuthors.xml><?xml version="1.0" encoding="utf-8"?>
<p:cmAuthorLs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/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>
  <p:showPr loop="0"/>
</p:presentationPr>
</file>

<file path=ppt/tableStyles.xml><?xml version="1.0" encoding="utf-8"?>
<a:tblStyleLst xmlns:a="http://schemas.openxmlformats.org/drawingml/2006/main" xmlns:r="http://schemas.openxmlformats.org/officeDocument/2006/relationships" def="{5940675A-B579-460E-94D1-54222C63F5DA}">
  <a:tblStyle styleId="{4C3C2611-4C71-4FC5-86AE-919BDF0F9419}" styleName="">
    <a:tblBg/>
    <a:wholeTbl>
      <a:tcTxStyle b="off" i="off">
        <a:fontRef idx="minor">
          <a:srgbClr val="000000"/>
        </a:fontRef>
        <a:srgbClr val="000000"/>
      </a:tcTxStyle>
      <a:tcStyle>
        <a:tcBdr>
          <a:left>
            <a:ln w="12700" cap="flat">
              <a:solidFill>
                <a:srgbClr val="000000"/>
              </a:solidFill>
              <a:prstDash val="solid"/>
              <a:miter lim="400000"/>
            </a:ln>
          </a:left>
          <a:right>
            <a:ln w="12700" cap="flat">
              <a:solidFill>
                <a:srgbClr val="000000"/>
              </a:solidFill>
              <a:prstDash val="solid"/>
              <a:miter lim="400000"/>
            </a:ln>
          </a:right>
          <a:top>
            <a:ln w="12700" cap="flat">
              <a:solidFill>
                <a:srgbClr val="000000"/>
              </a:solidFill>
              <a:prstDash val="solid"/>
              <a:miter lim="400000"/>
            </a:ln>
          </a:top>
          <a:bottom>
            <a:ln w="12700" cap="flat">
              <a:solidFill>
                <a:srgbClr val="000000"/>
              </a:solidFill>
              <a:prstDash val="solid"/>
              <a:miter lim="400000"/>
            </a:ln>
          </a:bottom>
          <a:insideH>
            <a:ln w="12700" cap="flat">
              <a:solidFill>
                <a:srgbClr val="000000"/>
              </a:solidFill>
              <a:prstDash val="solid"/>
              <a:miter lim="400000"/>
            </a:ln>
          </a:insideH>
          <a:insideV>
            <a:ln w="12700" cap="flat">
              <a:solidFill>
                <a:srgbClr val="000000"/>
              </a:solidFill>
              <a:prstDash val="solid"/>
              <a:miter lim="400000"/>
            </a:ln>
          </a:insideV>
        </a:tcBdr>
        <a:fill>
          <a:noFill/>
        </a:fill>
      </a:tcStyle>
    </a:wholeTbl>
    <a:band2H>
      <a:tcTxStyle b="def" i="def"/>
      <a:tcStyle>
        <a:tcBdr/>
        <a:fill>
          <a:solidFill>
            <a:srgbClr val="E3E5E8"/>
          </a:solidFill>
        </a:fill>
      </a:tcStyle>
    </a:band2H>
    <a:firstCol>
      <a:tcTxStyle b="on" i="off">
        <a:fontRef idx="minor">
          <a:srgbClr val="000000"/>
        </a:fontRef>
        <a:srgbClr val="000000"/>
      </a:tcTxStyle>
      <a:tcStyle>
        <a:tcBdr>
          <a:left>
            <a:ln w="12700" cap="flat">
              <a:solidFill>
                <a:srgbClr val="000000"/>
              </a:solidFill>
              <a:prstDash val="solid"/>
              <a:miter lim="400000"/>
            </a:ln>
          </a:left>
          <a:right>
            <a:ln w="38100" cap="flat">
              <a:solidFill>
                <a:srgbClr val="000000"/>
              </a:solidFill>
              <a:prstDash val="solid"/>
              <a:miter lim="400000"/>
            </a:ln>
          </a:right>
          <a:top>
            <a:ln w="12700" cap="flat">
              <a:solidFill>
                <a:srgbClr val="000000"/>
              </a:solidFill>
              <a:prstDash val="solid"/>
              <a:miter lim="400000"/>
            </a:ln>
          </a:top>
          <a:bottom>
            <a:ln w="12700" cap="flat">
              <a:solidFill>
                <a:srgbClr val="000000"/>
              </a:solidFill>
              <a:prstDash val="solid"/>
              <a:miter lim="400000"/>
            </a:ln>
          </a:bottom>
          <a:insideH>
            <a:ln w="12700" cap="flat">
              <a:solidFill>
                <a:srgbClr val="000000"/>
              </a:solidFill>
              <a:prstDash val="solid"/>
              <a:miter lim="400000"/>
            </a:ln>
          </a:insideH>
          <a:insideV>
            <a:ln w="12700" cap="flat">
              <a:solidFill>
                <a:srgbClr val="000000"/>
              </a:solidFill>
              <a:prstDash val="solid"/>
              <a:miter lim="400000"/>
            </a:ln>
          </a:insideV>
        </a:tcBdr>
        <a:fill>
          <a:noFill/>
        </a:fill>
      </a:tcStyle>
    </a:firstCol>
    <a:lastRow>
      <a:tcTxStyle b="on" i="off">
        <a:fontRef idx="minor">
          <a:srgbClr val="000000"/>
        </a:fontRef>
        <a:srgbClr val="000000"/>
      </a:tcTxStyle>
      <a:tcStyle>
        <a:tcBdr>
          <a:left>
            <a:ln w="12700" cap="flat">
              <a:solidFill>
                <a:srgbClr val="000000"/>
              </a:solidFill>
              <a:prstDash val="solid"/>
              <a:miter lim="400000"/>
            </a:ln>
          </a:left>
          <a:right>
            <a:ln w="12700" cap="flat">
              <a:solidFill>
                <a:srgbClr val="000000"/>
              </a:solidFill>
              <a:prstDash val="solid"/>
              <a:miter lim="400000"/>
            </a:ln>
          </a:right>
          <a:top>
            <a:ln w="38100" cap="flat">
              <a:solidFill>
                <a:srgbClr val="000000"/>
              </a:solidFill>
              <a:prstDash val="solid"/>
              <a:miter lim="400000"/>
            </a:ln>
          </a:top>
          <a:bottom>
            <a:ln w="12700" cap="flat">
              <a:solidFill>
                <a:srgbClr val="000000"/>
              </a:solidFill>
              <a:prstDash val="solid"/>
              <a:miter lim="400000"/>
            </a:ln>
          </a:bottom>
          <a:insideH>
            <a:ln w="12700" cap="flat">
              <a:solidFill>
                <a:srgbClr val="000000"/>
              </a:solidFill>
              <a:prstDash val="solid"/>
              <a:miter lim="400000"/>
            </a:ln>
          </a:insideH>
          <a:insideV>
            <a:ln w="12700" cap="flat">
              <a:solidFill>
                <a:srgbClr val="000000"/>
              </a:solidFill>
              <a:prstDash val="solid"/>
              <a:miter lim="400000"/>
            </a:ln>
          </a:insideV>
        </a:tcBdr>
        <a:fill>
          <a:noFill/>
        </a:fill>
      </a:tcStyle>
    </a:lastRow>
    <a:firstRow>
      <a:tcTxStyle b="on" i="off">
        <a:fontRef idx="minor">
          <a:srgbClr val="000000"/>
        </a:fontRef>
        <a:srgbClr val="000000"/>
      </a:tcTxStyle>
      <a:tcStyle>
        <a:tcBdr>
          <a:left>
            <a:ln w="12700" cap="flat">
              <a:solidFill>
                <a:srgbClr val="000000"/>
              </a:solidFill>
              <a:prstDash val="solid"/>
              <a:miter lim="400000"/>
            </a:ln>
          </a:left>
          <a:right>
            <a:ln w="12700" cap="flat">
              <a:solidFill>
                <a:srgbClr val="000000"/>
              </a:solidFill>
              <a:prstDash val="solid"/>
              <a:miter lim="400000"/>
            </a:ln>
          </a:right>
          <a:top>
            <a:ln w="12700" cap="flat">
              <a:solidFill>
                <a:srgbClr val="000000"/>
              </a:solidFill>
              <a:prstDash val="solid"/>
              <a:miter lim="400000"/>
            </a:ln>
          </a:top>
          <a:bottom>
            <a:ln w="38100" cap="flat">
              <a:solidFill>
                <a:srgbClr val="000000"/>
              </a:solidFill>
              <a:prstDash val="solid"/>
              <a:miter lim="400000"/>
            </a:ln>
          </a:bottom>
          <a:insideH>
            <a:ln w="12700" cap="flat">
              <a:solidFill>
                <a:srgbClr val="000000"/>
              </a:solidFill>
              <a:prstDash val="solid"/>
              <a:miter lim="400000"/>
            </a:ln>
          </a:insideH>
          <a:insideV>
            <a:ln w="12700" cap="flat">
              <a:solidFill>
                <a:srgbClr val="000000"/>
              </a:solidFill>
              <a:prstDash val="solid"/>
              <a:miter lim="400000"/>
            </a:ln>
          </a:insideV>
        </a:tcBdr>
        <a:fill>
          <a:noFill/>
        </a:fill>
      </a:tcStyle>
    </a:firstRow>
  </a:tblStyle>
  <a:tblStyle styleId="{C7B018BB-80A7-4F77-B60F-C8B233D01FF8}" styleName="">
    <a:tblBg/>
    <a:wholeTbl>
      <a:tcTxStyle b="off" i="off">
        <a:fontRef idx="minor">
          <a:srgbClr val="000000"/>
        </a:fontRef>
        <a:srgbClr val="000000"/>
      </a:tcTxStyle>
      <a:tcStyle>
        <a:tcBdr>
          <a:left>
            <a:ln w="12700" cap="flat">
              <a:solidFill>
                <a:srgbClr val="536773"/>
              </a:solidFill>
              <a:prstDash val="solid"/>
              <a:miter lim="400000"/>
            </a:ln>
          </a:left>
          <a:right>
            <a:ln w="12700" cap="flat">
              <a:solidFill>
                <a:srgbClr val="536773"/>
              </a:solidFill>
              <a:prstDash val="solid"/>
              <a:miter lim="400000"/>
            </a:ln>
          </a:right>
          <a:top>
            <a:ln w="12700" cap="flat">
              <a:solidFill>
                <a:srgbClr val="536773"/>
              </a:solidFill>
              <a:prstDash val="solid"/>
              <a:miter lim="400000"/>
            </a:ln>
          </a:top>
          <a:bottom>
            <a:ln w="12700" cap="flat">
              <a:solidFill>
                <a:srgbClr val="536773"/>
              </a:solidFill>
              <a:prstDash val="solid"/>
              <a:miter lim="400000"/>
            </a:ln>
          </a:bottom>
          <a:insideH>
            <a:ln w="12700" cap="flat">
              <a:solidFill>
                <a:srgbClr val="536773"/>
              </a:solidFill>
              <a:prstDash val="solid"/>
              <a:miter lim="400000"/>
            </a:ln>
          </a:insideH>
          <a:insideV>
            <a:ln w="12700" cap="flat">
              <a:solidFill>
                <a:srgbClr val="536773"/>
              </a:solidFill>
              <a:prstDash val="solid"/>
              <a:miter lim="400000"/>
            </a:ln>
          </a:insideV>
        </a:tcBdr>
        <a:fill>
          <a:noFill/>
        </a:fill>
      </a:tcStyle>
    </a:wholeTbl>
    <a:band2H>
      <a:tcTxStyle b="def" i="def"/>
      <a:tcStyle>
        <a:tcBdr/>
        <a:fill>
          <a:solidFill>
            <a:srgbClr val="E3E5E8"/>
          </a:solidFill>
        </a:fill>
      </a:tcStyle>
    </a:band2H>
    <a:firstCol>
      <a:tcTxStyle b="on" i="off">
        <a:fontRef idx="minor">
          <a:srgbClr val="000000"/>
        </a:fontRef>
        <a:srgbClr val="000000"/>
      </a:tcTxStyle>
      <a:tcStyle>
        <a:tcBdr>
          <a:left>
            <a:ln w="12700" cap="flat">
              <a:solidFill>
                <a:srgbClr val="000000"/>
              </a:solidFill>
              <a:prstDash val="solid"/>
              <a:miter lim="400000"/>
            </a:ln>
          </a:left>
          <a:right>
            <a:ln w="25400" cap="flat">
              <a:solidFill>
                <a:srgbClr val="000000"/>
              </a:solidFill>
              <a:prstDash val="solid"/>
              <a:miter lim="400000"/>
            </a:ln>
          </a:right>
          <a:top>
            <a:ln w="12700" cap="flat">
              <a:solidFill>
                <a:srgbClr val="536773"/>
              </a:solidFill>
              <a:prstDash val="solid"/>
              <a:miter lim="400000"/>
            </a:ln>
          </a:top>
          <a:bottom>
            <a:ln w="12700" cap="flat">
              <a:solidFill>
                <a:srgbClr val="536773"/>
              </a:solidFill>
              <a:prstDash val="solid"/>
              <a:miter lim="400000"/>
            </a:ln>
          </a:bottom>
          <a:insideH>
            <a:ln w="12700" cap="flat">
              <a:solidFill>
                <a:srgbClr val="536773"/>
              </a:solidFill>
              <a:prstDash val="solid"/>
              <a:miter lim="400000"/>
            </a:ln>
          </a:insideH>
          <a:insideV>
            <a:ln w="12700" cap="flat">
              <a:solidFill>
                <a:srgbClr val="536773"/>
              </a:solidFill>
              <a:prstDash val="solid"/>
              <a:miter lim="400000"/>
            </a:ln>
          </a:insideV>
        </a:tcBdr>
        <a:fill>
          <a:noFill/>
        </a:fill>
      </a:tcStyle>
    </a:firstCol>
    <a:lastRow>
      <a:tcTxStyle b="off" i="off">
        <a:fontRef idx="minor">
          <a:srgbClr val="000000"/>
        </a:fontRef>
        <a:srgbClr val="000000"/>
      </a:tcTxStyle>
      <a:tcStyle>
        <a:tcBdr>
          <a:left>
            <a:ln w="12700" cap="flat">
              <a:solidFill>
                <a:srgbClr val="536773"/>
              </a:solidFill>
              <a:prstDash val="solid"/>
              <a:miter lim="400000"/>
            </a:ln>
          </a:left>
          <a:right>
            <a:ln w="12700" cap="flat">
              <a:solidFill>
                <a:srgbClr val="536773"/>
              </a:solidFill>
              <a:prstDash val="solid"/>
              <a:miter lim="400000"/>
            </a:ln>
          </a:right>
          <a:top>
            <a:ln w="38100" cap="flat">
              <a:solidFill>
                <a:srgbClr val="000000"/>
              </a:solidFill>
              <a:prstDash val="solid"/>
              <a:miter lim="400000"/>
            </a:ln>
          </a:top>
          <a:bottom>
            <a:ln w="12700" cap="flat">
              <a:solidFill>
                <a:srgbClr val="000000"/>
              </a:solidFill>
              <a:prstDash val="solid"/>
              <a:miter lim="400000"/>
            </a:ln>
          </a:bottom>
          <a:insideH>
            <a:ln w="12700" cap="flat">
              <a:solidFill>
                <a:srgbClr val="536773"/>
              </a:solidFill>
              <a:prstDash val="solid"/>
              <a:miter lim="400000"/>
            </a:ln>
          </a:insideH>
          <a:insideV>
            <a:ln w="12700" cap="flat">
              <a:solidFill>
                <a:srgbClr val="536773"/>
              </a:solidFill>
              <a:prstDash val="solid"/>
              <a:miter lim="400000"/>
            </a:ln>
          </a:insideV>
        </a:tcBdr>
        <a:fill>
          <a:noFill/>
        </a:fill>
      </a:tcStyle>
    </a:lastRow>
    <a:firstRow>
      <a:tcTxStyle b="on" i="off">
        <a:fontRef idx="minor">
          <a:srgbClr val="000000"/>
        </a:fontRef>
        <a:srgbClr val="000000"/>
      </a:tcTxStyle>
      <a:tcStyle>
        <a:tcBdr>
          <a:left>
            <a:ln w="12700" cap="flat">
              <a:solidFill>
                <a:srgbClr val="536773"/>
              </a:solidFill>
              <a:prstDash val="solid"/>
              <a:miter lim="400000"/>
            </a:ln>
          </a:left>
          <a:right>
            <a:ln w="12700" cap="flat">
              <a:solidFill>
                <a:srgbClr val="536773"/>
              </a:solidFill>
              <a:prstDash val="solid"/>
              <a:miter lim="400000"/>
            </a:ln>
          </a:right>
          <a:top>
            <a:ln w="12700" cap="flat">
              <a:solidFill>
                <a:srgbClr val="000000"/>
              </a:solidFill>
              <a:prstDash val="solid"/>
              <a:miter lim="400000"/>
            </a:ln>
          </a:top>
          <a:bottom>
            <a:ln w="12700" cap="flat">
              <a:solidFill>
                <a:srgbClr val="000000"/>
              </a:solidFill>
              <a:prstDash val="solid"/>
              <a:miter lim="400000"/>
            </a:ln>
          </a:bottom>
          <a:insideH>
            <a:ln w="12700" cap="flat">
              <a:solidFill>
                <a:srgbClr val="536773"/>
              </a:solidFill>
              <a:prstDash val="solid"/>
              <a:miter lim="400000"/>
            </a:ln>
          </a:insideH>
          <a:insideV>
            <a:ln w="12700" cap="flat">
              <a:solidFill>
                <a:srgbClr val="536773"/>
              </a:solidFill>
              <a:prstDash val="solid"/>
              <a:miter lim="400000"/>
            </a:ln>
          </a:insideV>
        </a:tcBdr>
        <a:fill>
          <a:solidFill>
            <a:schemeClr val="accent1">
              <a:lumOff val="16847"/>
            </a:schemeClr>
          </a:solidFill>
        </a:fill>
      </a:tcStyle>
    </a:firstRow>
  </a:tblStyle>
  <a:tblStyle styleId="{EEE7283C-3CF3-47DC-8721-378D4A62B228}" styleName="">
    <a:tblBg/>
    <a:wholeTbl>
      <a:tcTxStyle b="off" i="off">
        <a:fontRef idx="minor">
          <a:srgbClr val="000000"/>
        </a:fontRef>
        <a:srgbClr val="000000"/>
      </a:tcTxStyle>
      <a:tcStyle>
        <a:tcBdr>
          <a:left>
            <a:ln w="12700" cap="flat">
              <a:solidFill>
                <a:srgbClr val="838383"/>
              </a:solidFill>
              <a:prstDash val="solid"/>
              <a:miter lim="400000"/>
            </a:ln>
          </a:left>
          <a:right>
            <a:ln w="12700" cap="flat">
              <a:solidFill>
                <a:srgbClr val="838383"/>
              </a:solidFill>
              <a:prstDash val="solid"/>
              <a:miter lim="400000"/>
            </a:ln>
          </a:right>
          <a:top>
            <a:ln w="12700" cap="flat">
              <a:solidFill>
                <a:srgbClr val="838383"/>
              </a:solidFill>
              <a:prstDash val="solid"/>
              <a:miter lim="400000"/>
            </a:ln>
          </a:top>
          <a:bottom>
            <a:ln w="12700" cap="flat">
              <a:solidFill>
                <a:srgbClr val="838383"/>
              </a:solidFill>
              <a:prstDash val="solid"/>
              <a:miter lim="400000"/>
            </a:ln>
          </a:bottom>
          <a:insideH>
            <a:ln w="12700" cap="flat">
              <a:solidFill>
                <a:srgbClr val="838383"/>
              </a:solidFill>
              <a:prstDash val="solid"/>
              <a:miter lim="400000"/>
            </a:ln>
          </a:insideH>
          <a:insideV>
            <a:ln w="12700" cap="flat">
              <a:solidFill>
                <a:srgbClr val="838383"/>
              </a:solidFill>
              <a:prstDash val="solid"/>
              <a:miter lim="400000"/>
            </a:ln>
          </a:insideV>
        </a:tcBdr>
        <a:fill>
          <a:noFill/>
        </a:fill>
      </a:tcStyle>
    </a:wholeTbl>
    <a:band2H>
      <a:tcTxStyle b="def" i="def"/>
      <a:tcStyle>
        <a:tcBdr/>
        <a:fill>
          <a:solidFill>
            <a:srgbClr val="EDEEEE"/>
          </a:solidFill>
        </a:fill>
      </a:tcStyle>
    </a:band2H>
    <a:firstCol>
      <a:tcTxStyle b="off" i="off">
        <a:font>
          <a:latin typeface="Helvetica Neue Medium"/>
          <a:ea typeface="Helvetica Neue Medium"/>
          <a:cs typeface="Helvetica Neue Medium"/>
        </a:font>
        <a:srgbClr val="000000"/>
      </a:tcTxStyle>
      <a:tcStyle>
        <a:tcBdr>
          <a:left>
            <a:ln w="12700" cap="flat">
              <a:solidFill>
                <a:srgbClr val="4D4D4D"/>
              </a:solidFill>
              <a:prstDash val="solid"/>
              <a:miter lim="400000"/>
            </a:ln>
          </a:left>
          <a:right>
            <a:ln w="12700" cap="flat">
              <a:solidFill>
                <a:srgbClr val="808080"/>
              </a:solidFill>
              <a:prstDash val="solid"/>
              <a:miter lim="400000"/>
            </a:ln>
          </a:right>
          <a:top>
            <a:ln w="12700" cap="flat">
              <a:solidFill>
                <a:srgbClr val="808080"/>
              </a:solidFill>
              <a:prstDash val="solid"/>
              <a:miter lim="400000"/>
            </a:ln>
          </a:top>
          <a:bottom>
            <a:ln w="12700" cap="flat">
              <a:solidFill>
                <a:srgbClr val="808080"/>
              </a:solidFill>
              <a:prstDash val="solid"/>
              <a:miter lim="400000"/>
            </a:ln>
          </a:bottom>
          <a:insideH>
            <a:ln w="12700" cap="flat">
              <a:solidFill>
                <a:srgbClr val="808080"/>
              </a:solidFill>
              <a:prstDash val="solid"/>
              <a:miter lim="400000"/>
            </a:ln>
          </a:insideH>
          <a:insideV>
            <a:ln w="12700" cap="flat">
              <a:solidFill>
                <a:srgbClr val="808080"/>
              </a:solidFill>
              <a:prstDash val="solid"/>
              <a:miter lim="400000"/>
            </a:ln>
          </a:insideV>
        </a:tcBdr>
        <a:fill>
          <a:solidFill>
            <a:srgbClr val="88FA4F"/>
          </a:solidFill>
        </a:fill>
      </a:tcStyle>
    </a:firstCol>
    <a:lastRow>
      <a:tcTxStyle b="off" i="off">
        <a:fontRef idx="minor">
          <a:srgbClr val="000000"/>
        </a:fontRef>
        <a:srgbClr val="000000"/>
      </a:tcTxStyle>
      <a:tcStyle>
        <a:tcBdr>
          <a:left>
            <a:ln w="12700" cap="flat">
              <a:solidFill>
                <a:srgbClr val="000000"/>
              </a:solidFill>
              <a:prstDash val="solid"/>
              <a:miter lim="400000"/>
            </a:ln>
          </a:left>
          <a:right>
            <a:ln w="12700" cap="flat">
              <a:solidFill>
                <a:srgbClr val="000000"/>
              </a:solidFill>
              <a:prstDash val="solid"/>
              <a:miter lim="400000"/>
            </a:ln>
          </a:right>
          <a:top>
            <a:ln w="38100" cap="flat">
              <a:solidFill>
                <a:schemeClr val="accent3"/>
              </a:solidFill>
              <a:prstDash val="solid"/>
              <a:miter lim="400000"/>
            </a:ln>
          </a:top>
          <a:bottom>
            <a:ln w="12700" cap="flat">
              <a:solidFill>
                <a:srgbClr val="4D4D4D"/>
              </a:solidFill>
              <a:prstDash val="solid"/>
              <a:miter lim="400000"/>
            </a:ln>
          </a:bottom>
          <a:insideH>
            <a:ln w="12700" cap="flat">
              <a:solidFill>
                <a:srgbClr val="000000"/>
              </a:solidFill>
              <a:prstDash val="solid"/>
              <a:miter lim="400000"/>
            </a:ln>
          </a:insideH>
          <a:insideV>
            <a:ln w="12700" cap="flat">
              <a:solidFill>
                <a:srgbClr val="000000"/>
              </a:solidFill>
              <a:prstDash val="solid"/>
              <a:miter lim="400000"/>
            </a:ln>
          </a:insideV>
        </a:tcBdr>
        <a:fill>
          <a:noFill/>
        </a:fill>
      </a:tcStyle>
    </a:lastRow>
    <a:firstRow>
      <a:tcTxStyle b="off" i="off">
        <a:font>
          <a:latin typeface="Helvetica Neue Medium"/>
          <a:ea typeface="Helvetica Neue Medium"/>
          <a:cs typeface="Helvetica Neue Medium"/>
        </a:font>
        <a:srgbClr val="000000"/>
      </a:tcTxStyle>
      <a:tcStyle>
        <a:tcBdr>
          <a:left>
            <a:ln w="12700" cap="flat">
              <a:solidFill>
                <a:srgbClr val="4D4D4D"/>
              </a:solidFill>
              <a:prstDash val="solid"/>
              <a:miter lim="400000"/>
            </a:ln>
          </a:left>
          <a:right>
            <a:ln w="12700" cap="flat">
              <a:solidFill>
                <a:srgbClr val="4D4D4D"/>
              </a:solidFill>
              <a:prstDash val="solid"/>
              <a:miter lim="400000"/>
            </a:ln>
          </a:right>
          <a:top>
            <a:ln w="12700" cap="flat">
              <a:solidFill>
                <a:srgbClr val="4D4D4D"/>
              </a:solidFill>
              <a:prstDash val="solid"/>
              <a:miter lim="400000"/>
            </a:ln>
          </a:top>
          <a:bottom>
            <a:ln w="12700" cap="flat">
              <a:solidFill>
                <a:srgbClr val="4D4D4D"/>
              </a:solidFill>
              <a:prstDash val="solid"/>
              <a:miter lim="400000"/>
            </a:ln>
          </a:bottom>
          <a:insideH>
            <a:ln w="12700" cap="flat">
              <a:solidFill>
                <a:srgbClr val="4D4D4D"/>
              </a:solidFill>
              <a:prstDash val="solid"/>
              <a:miter lim="400000"/>
            </a:ln>
          </a:insideH>
          <a:insideV>
            <a:ln w="12700" cap="flat">
              <a:solidFill>
                <a:srgbClr val="4D4D4D"/>
              </a:solidFill>
              <a:prstDash val="solid"/>
              <a:miter lim="400000"/>
            </a:ln>
          </a:insideV>
        </a:tcBdr>
        <a:fill>
          <a:solidFill>
            <a:srgbClr val="60D937"/>
          </a:solidFill>
        </a:fill>
      </a:tcStyle>
    </a:firstRow>
  </a:tblStyle>
  <a:tblStyle styleId="{CF821DB8-F4EB-4A41-A1BA-3FCAFE7338EE}" styleName="">
    <a:tblBg/>
    <a:wholeTbl>
      <a:tcTxStyle b="off" i="off">
        <a:fontRef idx="minor">
          <a:srgbClr val="000000"/>
        </a:fontRef>
        <a:srgbClr val="000000"/>
      </a:tcTxStyle>
      <a:tcStyle>
        <a:tcBdr>
          <a:left>
            <a:ln w="12700" cap="flat">
              <a:solidFill>
                <a:srgbClr val="5B5A5A"/>
              </a:solidFill>
              <a:prstDash val="solid"/>
              <a:miter lim="400000"/>
            </a:ln>
          </a:left>
          <a:right>
            <a:ln w="12700" cap="flat">
              <a:solidFill>
                <a:srgbClr val="5B5A5A"/>
              </a:solidFill>
              <a:prstDash val="solid"/>
              <a:miter lim="400000"/>
            </a:ln>
          </a:right>
          <a:top>
            <a:ln w="12700" cap="flat">
              <a:solidFill>
                <a:srgbClr val="5B5A5A"/>
              </a:solidFill>
              <a:prstDash val="solid"/>
              <a:miter lim="400000"/>
            </a:ln>
          </a:top>
          <a:bottom>
            <a:ln w="12700" cap="flat">
              <a:solidFill>
                <a:srgbClr val="5B5A5A"/>
              </a:solidFill>
              <a:prstDash val="solid"/>
              <a:miter lim="400000"/>
            </a:ln>
          </a:bottom>
          <a:insideH>
            <a:ln w="12700" cap="flat">
              <a:solidFill>
                <a:srgbClr val="5B5A5A"/>
              </a:solidFill>
              <a:prstDash val="solid"/>
              <a:miter lim="400000"/>
            </a:ln>
          </a:insideH>
          <a:insideV>
            <a:ln w="12700" cap="flat">
              <a:solidFill>
                <a:srgbClr val="5B5A5A"/>
              </a:solidFill>
              <a:prstDash val="solid"/>
              <a:miter lim="400000"/>
            </a:ln>
          </a:insideV>
        </a:tcBdr>
        <a:fill>
          <a:solidFill>
            <a:srgbClr val="FAF7E9"/>
          </a:solidFill>
        </a:fill>
      </a:tcStyle>
    </a:wholeTbl>
    <a:band2H>
      <a:tcTxStyle b="def" i="def"/>
      <a:tcStyle>
        <a:tcBdr/>
        <a:fill>
          <a:solidFill>
            <a:schemeClr val="accent4">
              <a:hueOff val="348544"/>
              <a:lumOff val="7139"/>
            </a:schemeClr>
          </a:solidFill>
        </a:fill>
      </a:tcStyle>
    </a:band2H>
    <a:firstCol>
      <a:tcTxStyle b="off" i="off">
        <a:font>
          <a:latin typeface="Helvetica Neue Medium"/>
          <a:ea typeface="Helvetica Neue Medium"/>
          <a:cs typeface="Helvetica Neue Medium"/>
        </a:font>
        <a:srgbClr val="000000"/>
      </a:tcTxStyle>
      <a:tcStyle>
        <a:tcBdr>
          <a:left>
            <a:ln w="12700" cap="flat">
              <a:solidFill>
                <a:srgbClr val="5B5A5A"/>
              </a:solidFill>
              <a:prstDash val="solid"/>
              <a:miter lim="400000"/>
            </a:ln>
          </a:left>
          <a:right>
            <a:ln w="12700" cap="flat">
              <a:solidFill>
                <a:srgbClr val="5B5A5A"/>
              </a:solidFill>
              <a:prstDash val="solid"/>
              <a:miter lim="400000"/>
            </a:ln>
          </a:right>
          <a:top>
            <a:ln w="12700" cap="flat">
              <a:solidFill>
                <a:srgbClr val="5B5A5A"/>
              </a:solidFill>
              <a:prstDash val="solid"/>
              <a:miter lim="400000"/>
            </a:ln>
          </a:top>
          <a:bottom>
            <a:ln w="12700" cap="flat">
              <a:solidFill>
                <a:srgbClr val="5B5A5A"/>
              </a:solidFill>
              <a:prstDash val="solid"/>
              <a:miter lim="400000"/>
            </a:ln>
          </a:bottom>
          <a:insideH>
            <a:ln w="12700" cap="flat">
              <a:solidFill>
                <a:srgbClr val="5B5A5A"/>
              </a:solidFill>
              <a:prstDash val="solid"/>
              <a:miter lim="400000"/>
            </a:ln>
          </a:insideH>
          <a:insideV>
            <a:ln w="12700" cap="flat">
              <a:solidFill>
                <a:srgbClr val="5B5A5A"/>
              </a:solidFill>
              <a:prstDash val="solid"/>
              <a:miter lim="400000"/>
            </a:ln>
          </a:insideV>
        </a:tcBdr>
        <a:fill>
          <a:solidFill>
            <a:srgbClr val="F8BB00"/>
          </a:solidFill>
        </a:fill>
      </a:tcStyle>
    </a:firstCol>
    <a:lastRow>
      <a:tcTxStyle b="off" i="off">
        <a:font>
          <a:latin typeface="Helvetica Neue Medium"/>
          <a:ea typeface="Helvetica Neue Medium"/>
          <a:cs typeface="Helvetica Neue Medium"/>
        </a:font>
        <a:srgbClr val="000000"/>
      </a:tcTxStyle>
      <a:tcStyle>
        <a:tcBdr>
          <a:left>
            <a:ln w="12700" cap="flat">
              <a:solidFill>
                <a:srgbClr val="5B5A5A"/>
              </a:solidFill>
              <a:prstDash val="solid"/>
              <a:miter lim="400000"/>
            </a:ln>
          </a:left>
          <a:right>
            <a:ln w="12700" cap="flat">
              <a:solidFill>
                <a:srgbClr val="5B5A5A"/>
              </a:solidFill>
              <a:prstDash val="solid"/>
              <a:miter lim="400000"/>
            </a:ln>
          </a:right>
          <a:top>
            <a:ln w="38100" cap="flat">
              <a:solidFill>
                <a:srgbClr val="F8BA00"/>
              </a:solidFill>
              <a:prstDash val="solid"/>
              <a:miter lim="400000"/>
            </a:ln>
          </a:top>
          <a:bottom>
            <a:ln w="12700" cap="flat">
              <a:solidFill>
                <a:srgbClr val="5B5A5A"/>
              </a:solidFill>
              <a:prstDash val="solid"/>
              <a:miter lim="400000"/>
            </a:ln>
          </a:bottom>
          <a:insideH>
            <a:ln w="12700" cap="flat">
              <a:solidFill>
                <a:srgbClr val="5B5A5A"/>
              </a:solidFill>
              <a:prstDash val="solid"/>
              <a:miter lim="400000"/>
            </a:ln>
          </a:insideH>
          <a:insideV>
            <a:ln w="12700" cap="flat">
              <a:solidFill>
                <a:srgbClr val="5B5A5A"/>
              </a:solidFill>
              <a:prstDash val="solid"/>
              <a:miter lim="400000"/>
            </a:ln>
          </a:insideV>
        </a:tcBdr>
        <a:fill>
          <a:solidFill>
            <a:srgbClr val="FAF7E9"/>
          </a:solidFill>
        </a:fill>
      </a:tcStyle>
    </a:lastRow>
    <a:firstRow>
      <a:tcTxStyle b="off" i="off">
        <a:font>
          <a:latin typeface="Helvetica Neue Medium"/>
          <a:ea typeface="Helvetica Neue Medium"/>
          <a:cs typeface="Helvetica Neue Medium"/>
        </a:font>
        <a:srgbClr val="000000"/>
      </a:tcTxStyle>
      <a:tcStyle>
        <a:tcBdr>
          <a:left>
            <a:ln w="12700" cap="flat">
              <a:solidFill>
                <a:srgbClr val="5B5A5A"/>
              </a:solidFill>
              <a:prstDash val="solid"/>
              <a:miter lim="400000"/>
            </a:ln>
          </a:left>
          <a:right>
            <a:ln w="12700" cap="flat">
              <a:solidFill>
                <a:srgbClr val="5B5A5A"/>
              </a:solidFill>
              <a:prstDash val="solid"/>
              <a:miter lim="400000"/>
            </a:ln>
          </a:right>
          <a:top>
            <a:ln w="12700" cap="flat">
              <a:solidFill>
                <a:srgbClr val="5B5A5A"/>
              </a:solidFill>
              <a:prstDash val="solid"/>
              <a:miter lim="400000"/>
            </a:ln>
          </a:top>
          <a:bottom>
            <a:ln w="12700" cap="flat">
              <a:solidFill>
                <a:srgbClr val="5B5A5A"/>
              </a:solidFill>
              <a:prstDash val="solid"/>
              <a:miter lim="400000"/>
            </a:ln>
          </a:bottom>
          <a:insideH>
            <a:ln w="12700" cap="flat">
              <a:solidFill>
                <a:srgbClr val="5B5A5A"/>
              </a:solidFill>
              <a:prstDash val="solid"/>
              <a:miter lim="400000"/>
            </a:ln>
          </a:insideH>
          <a:insideV>
            <a:ln w="12700" cap="flat">
              <a:solidFill>
                <a:srgbClr val="5B5A5A"/>
              </a:solidFill>
              <a:prstDash val="solid"/>
              <a:miter lim="400000"/>
            </a:ln>
          </a:insideV>
        </a:tcBdr>
        <a:fill>
          <a:solidFill>
            <a:srgbClr val="FF9400"/>
          </a:solidFill>
        </a:fill>
      </a:tcStyle>
    </a:firstRow>
  </a:tblStyle>
  <a:tblStyle styleId="{33BA23B1-9221-436E-865A-0063620EA4FD}" styleName="">
    <a:tblBg/>
    <a:wholeTbl>
      <a:tcTxStyle b="off" i="off">
        <a:fontRef idx="minor">
          <a:srgbClr val="000000"/>
        </a:fontRef>
        <a:srgbClr val="000000"/>
      </a:tcTxStyle>
      <a:tcStyle>
        <a:tcBdr>
          <a:left>
            <a:ln w="12700" cap="flat">
              <a:solidFill>
                <a:srgbClr val="464646"/>
              </a:solidFill>
              <a:prstDash val="solid"/>
              <a:miter lim="400000"/>
            </a:ln>
          </a:left>
          <a:right>
            <a:ln w="12700" cap="flat">
              <a:solidFill>
                <a:srgbClr val="464646"/>
              </a:solidFill>
              <a:prstDash val="solid"/>
              <a:miter lim="400000"/>
            </a:ln>
          </a:right>
          <a:top>
            <a:ln w="12700" cap="flat">
              <a:solidFill>
                <a:srgbClr val="464646"/>
              </a:solidFill>
              <a:prstDash val="solid"/>
              <a:miter lim="400000"/>
            </a:ln>
          </a:top>
          <a:bottom>
            <a:ln w="12700" cap="flat">
              <a:solidFill>
                <a:srgbClr val="464646"/>
              </a:solidFill>
              <a:prstDash val="solid"/>
              <a:miter lim="400000"/>
            </a:ln>
          </a:bottom>
          <a:insideH>
            <a:ln w="12700" cap="flat">
              <a:solidFill>
                <a:srgbClr val="464646"/>
              </a:solidFill>
              <a:prstDash val="solid"/>
              <a:miter lim="400000"/>
            </a:ln>
          </a:insideH>
          <a:insideV>
            <a:ln w="12700" cap="flat">
              <a:solidFill>
                <a:srgbClr val="464646"/>
              </a:solidFill>
              <a:prstDash val="solid"/>
              <a:miter lim="400000"/>
            </a:ln>
          </a:insideV>
        </a:tcBdr>
        <a:fill>
          <a:noFill/>
        </a:fill>
      </a:tcStyle>
    </a:wholeTbl>
    <a:band2H>
      <a:tcTxStyle b="def" i="def"/>
      <a:tcStyle>
        <a:tcBdr/>
        <a:fill>
          <a:solidFill>
            <a:srgbClr val="D4D5D5"/>
          </a:solidFill>
        </a:fill>
      </a:tcStyle>
    </a:band2H>
    <a:firstCol>
      <a:tcTxStyle b="on" i="off">
        <a:fontRef idx="minor">
          <a:srgbClr val="FFFFFF"/>
        </a:fontRef>
        <a:srgbClr val="FFFFFF"/>
      </a:tcTxStyle>
      <a:tcStyle>
        <a:tcBdr>
          <a:left>
            <a:ln w="12700" cap="flat">
              <a:solidFill>
                <a:srgbClr val="5E5E5E"/>
              </a:solidFill>
              <a:prstDash val="solid"/>
              <a:miter lim="400000"/>
            </a:ln>
          </a:left>
          <a:right>
            <a:ln w="12700" cap="flat">
              <a:solidFill>
                <a:srgbClr val="A6AAA9"/>
              </a:solidFill>
              <a:prstDash val="solid"/>
              <a:miter lim="400000"/>
            </a:ln>
          </a:right>
          <a:top>
            <a:ln w="12700" cap="flat">
              <a:solidFill>
                <a:srgbClr val="C3C3C3"/>
              </a:solidFill>
              <a:prstDash val="solid"/>
              <a:miter lim="400000"/>
            </a:ln>
          </a:top>
          <a:bottom>
            <a:ln w="12700" cap="flat">
              <a:solidFill>
                <a:srgbClr val="C3C3C3"/>
              </a:solidFill>
              <a:prstDash val="solid"/>
              <a:miter lim="400000"/>
            </a:ln>
          </a:bottom>
          <a:insideH>
            <a:ln w="12700" cap="flat">
              <a:solidFill>
                <a:srgbClr val="C3C3C3"/>
              </a:solidFill>
              <a:prstDash val="solid"/>
              <a:miter lim="400000"/>
            </a:ln>
          </a:insideH>
          <a:insideV>
            <a:ln w="12700" cap="flat">
              <a:solidFill>
                <a:srgbClr val="C3C3C3"/>
              </a:solidFill>
              <a:prstDash val="solid"/>
              <a:miter lim="400000"/>
            </a:ln>
          </a:insideV>
        </a:tcBdr>
        <a:fill>
          <a:solidFill>
            <a:srgbClr val="CB2A7B"/>
          </a:solidFill>
        </a:fill>
      </a:tcStyle>
    </a:firstCol>
    <a:lastRow>
      <a:tcTxStyle b="on" i="off">
        <a:fontRef idx="minor">
          <a:srgbClr val="000000"/>
        </a:fontRef>
        <a:srgbClr val="000000"/>
      </a:tcTxStyle>
      <a:tcStyle>
        <a:tcBdr>
          <a:left>
            <a:ln w="12700" cap="flat">
              <a:solidFill>
                <a:srgbClr val="5E5E5E"/>
              </a:solidFill>
              <a:prstDash val="solid"/>
              <a:miter lim="400000"/>
            </a:ln>
          </a:left>
          <a:right>
            <a:ln w="12700" cap="flat">
              <a:solidFill>
                <a:srgbClr val="5E5E5E"/>
              </a:solidFill>
              <a:prstDash val="solid"/>
              <a:miter lim="400000"/>
            </a:ln>
          </a:right>
          <a:top>
            <a:ln w="38100" cap="flat">
              <a:solidFill>
                <a:srgbClr val="CB297B"/>
              </a:solidFill>
              <a:prstDash val="solid"/>
              <a:miter lim="400000"/>
            </a:ln>
          </a:top>
          <a:bottom>
            <a:ln w="12700" cap="flat">
              <a:solidFill>
                <a:srgbClr val="5E5E5E"/>
              </a:solidFill>
              <a:prstDash val="solid"/>
              <a:miter lim="400000"/>
            </a:ln>
          </a:bottom>
          <a:insideH>
            <a:ln w="12700" cap="flat">
              <a:solidFill>
                <a:srgbClr val="5E5E5E"/>
              </a:solidFill>
              <a:prstDash val="solid"/>
              <a:miter lim="400000"/>
            </a:ln>
          </a:insideH>
          <a:insideV>
            <a:ln w="12700" cap="flat">
              <a:solidFill>
                <a:srgbClr val="5E5E5E"/>
              </a:solidFill>
              <a:prstDash val="solid"/>
              <a:miter lim="400000"/>
            </a:ln>
          </a:insideV>
        </a:tcBdr>
        <a:fill>
          <a:solidFill>
            <a:srgbClr val="FFFFFF"/>
          </a:solidFill>
        </a:fill>
      </a:tcStyle>
    </a:lastRow>
    <a:firstRow>
      <a:tcTxStyle b="on" i="off">
        <a:fontRef idx="minor">
          <a:srgbClr val="FFFFFF"/>
        </a:fontRef>
        <a:srgbClr val="FFFFFF"/>
      </a:tcTxStyle>
      <a:tcStyle>
        <a:tcBdr>
          <a:left>
            <a:ln w="12700" cap="flat">
              <a:solidFill>
                <a:srgbClr val="A6AAA9"/>
              </a:solidFill>
              <a:prstDash val="solid"/>
              <a:miter lim="400000"/>
            </a:ln>
          </a:left>
          <a:right>
            <a:ln w="12700" cap="flat">
              <a:solidFill>
                <a:srgbClr val="A6AAA9"/>
              </a:solidFill>
              <a:prstDash val="solid"/>
              <a:miter lim="400000"/>
            </a:ln>
          </a:right>
          <a:top>
            <a:ln w="12700" cap="flat">
              <a:solidFill>
                <a:srgbClr val="5E5E5E"/>
              </a:solidFill>
              <a:prstDash val="solid"/>
              <a:miter lim="400000"/>
            </a:ln>
          </a:top>
          <a:bottom>
            <a:ln w="12700" cap="flat">
              <a:solidFill>
                <a:srgbClr val="A6AAA9"/>
              </a:solidFill>
              <a:prstDash val="solid"/>
              <a:miter lim="400000"/>
            </a:ln>
          </a:bottom>
          <a:insideH>
            <a:ln w="12700" cap="flat">
              <a:solidFill>
                <a:srgbClr val="A6AAA9"/>
              </a:solidFill>
              <a:prstDash val="solid"/>
              <a:miter lim="400000"/>
            </a:ln>
          </a:insideH>
          <a:insideV>
            <a:ln w="12700" cap="flat">
              <a:solidFill>
                <a:srgbClr val="A6AAA9"/>
              </a:solidFill>
              <a:prstDash val="solid"/>
              <a:miter lim="400000"/>
            </a:ln>
          </a:insideV>
        </a:tcBdr>
        <a:fill>
          <a:solidFill>
            <a:srgbClr val="991A5F"/>
          </a:solidFill>
        </a:fill>
      </a:tcStyle>
    </a:firstRow>
  </a:tblStyle>
  <a:tblStyle styleId="{2708684C-4D16-4618-839F-0558EEFCDFE6}" styleName="">
    <a:tblBg/>
    <a:wholeTbl>
      <a:tcTxStyle b="off" i="off">
        <a:fontRef idx="minor">
          <a:srgbClr val="000000"/>
        </a:fontRef>
        <a:srgbClr val="000000"/>
      </a:tcTxStyle>
      <a:tcStyle>
        <a:tcBdr>
          <a:left>
            <a:ln w="12700" cap="flat">
              <a:solidFill>
                <a:srgbClr val="000000"/>
              </a:solidFill>
              <a:prstDash val="solid"/>
              <a:miter lim="400000"/>
            </a:ln>
          </a:left>
          <a:right>
            <a:ln w="12700" cap="flat">
              <a:solidFill>
                <a:srgbClr val="000000"/>
              </a:solidFill>
              <a:prstDash val="solid"/>
              <a:miter lim="400000"/>
            </a:ln>
          </a:right>
          <a:top>
            <a:ln w="12700" cap="flat">
              <a:solidFill>
                <a:srgbClr val="000000"/>
              </a:solidFill>
              <a:custDash>
                <a:ds d="200000" sp="200000"/>
              </a:custDash>
              <a:miter lim="400000"/>
            </a:ln>
          </a:top>
          <a:bottom>
            <a:ln w="12700" cap="flat">
              <a:solidFill>
                <a:srgbClr val="000000"/>
              </a:solidFill>
              <a:custDash>
                <a:ds d="200000" sp="200000"/>
              </a:custDash>
              <a:miter lim="400000"/>
            </a:ln>
          </a:bottom>
          <a:insideH>
            <a:ln w="12700" cap="flat">
              <a:solidFill>
                <a:srgbClr val="000000"/>
              </a:solidFill>
              <a:custDash>
                <a:ds d="200000" sp="200000"/>
              </a:custDash>
              <a:miter lim="400000"/>
            </a:ln>
          </a:insideH>
          <a:insideV>
            <a:ln w="12700" cap="flat">
              <a:solidFill>
                <a:srgbClr val="000000"/>
              </a:solidFill>
              <a:prstDash val="solid"/>
              <a:miter lim="400000"/>
            </a:ln>
          </a:insideV>
        </a:tcBdr>
        <a:fill>
          <a:noFill/>
        </a:fill>
      </a:tcStyle>
    </a:wholeTbl>
    <a:band2H>
      <a:tcTxStyle b="def" i="def"/>
      <a:tcStyle>
        <a:tcBdr/>
        <a:fill>
          <a:solidFill>
            <a:srgbClr val="EDEEEE"/>
          </a:solidFill>
        </a:fill>
      </a:tcStyle>
    </a:band2H>
    <a:firstCol>
      <a:tcTxStyle b="on" i="off">
        <a:fontRef idx="minor">
          <a:srgbClr val="000000"/>
        </a:fontRef>
        <a:srgbClr val="000000"/>
      </a:tcTxStyle>
      <a:tcStyle>
        <a:tcBdr>
          <a:left>
            <a:ln w="12700" cap="flat">
              <a:solidFill>
                <a:srgbClr val="6C6C6C"/>
              </a:solidFill>
              <a:prstDash val="solid"/>
              <a:miter lim="400000"/>
            </a:ln>
          </a:left>
          <a:right>
            <a:ln w="25400" cap="flat">
              <a:solidFill>
                <a:srgbClr val="000000"/>
              </a:solidFill>
              <a:prstDash val="solid"/>
              <a:miter lim="400000"/>
            </a:ln>
          </a:right>
          <a:top>
            <a:ln w="12700" cap="flat">
              <a:solidFill>
                <a:srgbClr val="000000"/>
              </a:solidFill>
              <a:custDash>
                <a:ds d="200000" sp="200000"/>
              </a:custDash>
              <a:miter lim="400000"/>
            </a:ln>
          </a:top>
          <a:bottom>
            <a:ln w="12700" cap="flat">
              <a:solidFill>
                <a:srgbClr val="000000"/>
              </a:solidFill>
              <a:custDash>
                <a:ds d="200000" sp="200000"/>
              </a:custDash>
              <a:miter lim="400000"/>
            </a:ln>
          </a:bottom>
          <a:insideH>
            <a:ln w="12700" cap="flat">
              <a:solidFill>
                <a:srgbClr val="000000"/>
              </a:solidFill>
              <a:custDash>
                <a:ds d="200000" sp="200000"/>
              </a:custDash>
              <a:miter lim="400000"/>
            </a:ln>
          </a:insideH>
          <a:insideV>
            <a:ln w="12700" cap="flat">
              <a:solidFill>
                <a:srgbClr val="000000"/>
              </a:solidFill>
              <a:prstDash val="solid"/>
              <a:miter lim="400000"/>
            </a:ln>
          </a:insideV>
        </a:tcBdr>
        <a:fill>
          <a:noFill/>
        </a:fill>
      </a:tcStyle>
    </a:firstCol>
    <a:lastRow>
      <a:tcTxStyle b="on" i="off">
        <a:fontRef idx="minor">
          <a:srgbClr val="000000"/>
        </a:fontRef>
        <a:srgbClr val="000000"/>
      </a:tcTxStyle>
      <a:tcStyle>
        <a:tcBdr>
          <a:left>
            <a:ln w="12700" cap="flat">
              <a:solidFill>
                <a:srgbClr val="000000"/>
              </a:solidFill>
              <a:prstDash val="solid"/>
              <a:miter lim="400000"/>
            </a:ln>
          </a:left>
          <a:right>
            <a:ln w="12700" cap="flat">
              <a:solidFill>
                <a:srgbClr val="000000"/>
              </a:solidFill>
              <a:prstDash val="solid"/>
              <a:miter lim="400000"/>
            </a:ln>
          </a:right>
          <a:top>
            <a:ln w="25400" cap="flat">
              <a:solidFill>
                <a:srgbClr val="000000"/>
              </a:solidFill>
              <a:prstDash val="solid"/>
              <a:miter lim="400000"/>
            </a:ln>
          </a:top>
          <a:bottom>
            <a:ln w="12700" cap="flat">
              <a:solidFill>
                <a:srgbClr val="6C6C6C"/>
              </a:solidFill>
              <a:prstDash val="solid"/>
              <a:miter lim="400000"/>
            </a:ln>
          </a:bottom>
          <a:insideH>
            <a:ln w="12700" cap="flat">
              <a:solidFill>
                <a:srgbClr val="000000"/>
              </a:solidFill>
              <a:custDash>
                <a:ds d="200000" sp="200000"/>
              </a:custDash>
              <a:miter lim="400000"/>
            </a:ln>
          </a:insideH>
          <a:insideV>
            <a:ln w="12700" cap="flat">
              <a:solidFill>
                <a:srgbClr val="000000"/>
              </a:solidFill>
              <a:prstDash val="solid"/>
              <a:miter lim="400000"/>
            </a:ln>
          </a:insideV>
        </a:tcBdr>
        <a:fill>
          <a:noFill/>
        </a:fill>
      </a:tcStyle>
    </a:lastRow>
    <a:firstRow>
      <a:tcTxStyle b="on" i="off">
        <a:fontRef idx="minor">
          <a:srgbClr val="000000"/>
        </a:fontRef>
        <a:srgbClr val="000000"/>
      </a:tcTxStyle>
      <a:tcStyle>
        <a:tcBdr>
          <a:left>
            <a:ln w="12700" cap="flat">
              <a:solidFill>
                <a:srgbClr val="000000"/>
              </a:solidFill>
              <a:prstDash val="solid"/>
              <a:miter lim="400000"/>
            </a:ln>
          </a:left>
          <a:right>
            <a:ln w="12700" cap="flat">
              <a:solidFill>
                <a:srgbClr val="000000"/>
              </a:solidFill>
              <a:prstDash val="solid"/>
              <a:miter lim="400000"/>
            </a:ln>
          </a:right>
          <a:top>
            <a:ln w="12700" cap="flat">
              <a:solidFill>
                <a:srgbClr val="6C6C6C"/>
              </a:solidFill>
              <a:prstDash val="solid"/>
              <a:miter lim="400000"/>
            </a:ln>
          </a:top>
          <a:bottom>
            <a:ln w="12700" cap="flat">
              <a:solidFill>
                <a:srgbClr val="000000"/>
              </a:solidFill>
              <a:prstDash val="solid"/>
              <a:miter lim="400000"/>
            </a:ln>
          </a:bottom>
          <a:insideH>
            <a:ln w="12700" cap="flat">
              <a:solidFill>
                <a:srgbClr val="000000"/>
              </a:solidFill>
              <a:prstDash val="solid"/>
              <a:miter lim="400000"/>
            </a:ln>
          </a:insideH>
          <a:insideV>
            <a:ln w="12700" cap="flat">
              <a:solidFill>
                <a:srgbClr val="000000"/>
              </a:solidFill>
              <a:prstDash val="solid"/>
              <a:miter lim="400000"/>
            </a:ln>
          </a:insideV>
        </a:tcBdr>
        <a:fill>
          <a:solidFill>
            <a:srgbClr val="D6DCE0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Comments="1"/>
</file>

<file path=ppt/_rels/presentation.xml.rels><?xml version="1.0" encoding="UTF-8"?>
<Relationships xmlns="http://schemas.openxmlformats.org/package/2006/relationships"><Relationship Id="rId1" Type="http://schemas.openxmlformats.org/officeDocument/2006/relationships/presProps" Target="presProps.xml"/><Relationship Id="rId2" Type="http://schemas.openxmlformats.org/officeDocument/2006/relationships/viewProps" Target="viewProps.xml"/><Relationship Id="rId3" Type="http://schemas.openxmlformats.org/officeDocument/2006/relationships/commentAuthors" Target="commentAuthors.xml"/><Relationship Id="rId4" Type="http://schemas.openxmlformats.org/officeDocument/2006/relationships/tableStyles" Target="tableStyles.xml"/><Relationship Id="rId5" Type="http://schemas.openxmlformats.org/officeDocument/2006/relationships/slideMaster" Target="slideMasters/slideMaster1.xml"/><Relationship Id="rId6" Type="http://schemas.openxmlformats.org/officeDocument/2006/relationships/theme" Target="theme/theme1.xml"/><Relationship Id="rId7" Type="http://schemas.openxmlformats.org/officeDocument/2006/relationships/notesMaster" Target="notesMasters/notesMaster1.xml"/><Relationship Id="rId8" Type="http://schemas.openxmlformats.org/officeDocument/2006/relationships/slide" Target="slides/slide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Relationship Id="rId25" Type="http://schemas.openxmlformats.org/officeDocument/2006/relationships/slide" Target="slides/slide18.xml"/><Relationship Id="rId26" Type="http://schemas.openxmlformats.org/officeDocument/2006/relationships/slide" Target="slides/slide19.xml"/><Relationship Id="rId27" Type="http://schemas.openxmlformats.org/officeDocument/2006/relationships/slide" Target="slides/slide20.xml"/><Relationship Id="rId28" Type="http://schemas.openxmlformats.org/officeDocument/2006/relationships/slide" Target="slides/slide21.xml"/><Relationship Id="rId29" Type="http://schemas.openxmlformats.org/officeDocument/2006/relationships/slide" Target="slides/slide22.xml"/><Relationship Id="rId30" Type="http://schemas.openxmlformats.org/officeDocument/2006/relationships/slide" Target="slides/slide23.xml"/><Relationship Id="rId31" Type="http://schemas.openxmlformats.org/officeDocument/2006/relationships/slide" Target="slides/slide24.xml"/><Relationship Id="rId32" Type="http://schemas.openxmlformats.org/officeDocument/2006/relationships/slide" Target="slides/slide25.xml"/><Relationship Id="rId33" Type="http://schemas.openxmlformats.org/officeDocument/2006/relationships/slide" Target="slides/slide26.xml"/><Relationship Id="rId34" Type="http://schemas.openxmlformats.org/officeDocument/2006/relationships/slide" Target="slides/slide27.xml"/><Relationship Id="rId35" Type="http://schemas.openxmlformats.org/officeDocument/2006/relationships/slide" Target="slides/slide28.xml"/><Relationship Id="rId36" Type="http://schemas.openxmlformats.org/officeDocument/2006/relationships/slide" Target="slides/slide29.xml"/><Relationship Id="rId37" Type="http://schemas.openxmlformats.org/officeDocument/2006/relationships/slide" Target="slides/slide30.xml"/><Relationship Id="rId38" Type="http://schemas.openxmlformats.org/officeDocument/2006/relationships/slide" Target="slides/slide31.xml"/><Relationship Id="rId39" Type="http://schemas.openxmlformats.org/officeDocument/2006/relationships/slide" Target="slides/slide32.xml"/><Relationship Id="rId40" Type="http://schemas.openxmlformats.org/officeDocument/2006/relationships/slide" Target="slides/slide33.xml"/><Relationship Id="rId41" Type="http://schemas.openxmlformats.org/officeDocument/2006/relationships/slide" Target="slides/slide34.xml"/><Relationship Id="rId42" Type="http://schemas.openxmlformats.org/officeDocument/2006/relationships/slide" Target="slides/slide35.xml"/><Relationship Id="rId43" Type="http://schemas.openxmlformats.org/officeDocument/2006/relationships/slide" Target="slides/slide36.xml"/><Relationship Id="rId44" Type="http://schemas.openxmlformats.org/officeDocument/2006/relationships/slide" Target="slides/slide37.xml"/><Relationship Id="rId45" Type="http://schemas.openxmlformats.org/officeDocument/2006/relationships/slide" Target="slides/slide38.xml"/><Relationship Id="rId46" Type="http://schemas.openxmlformats.org/officeDocument/2006/relationships/slide" Target="slides/slide39.xml"/><Relationship Id="rId47" Type="http://schemas.openxmlformats.org/officeDocument/2006/relationships/slide" Target="slides/slide40.xml"/><Relationship Id="rId48" Type="http://schemas.openxmlformats.org/officeDocument/2006/relationships/slide" Target="slides/slide41.xml"/><Relationship Id="rId49" Type="http://schemas.openxmlformats.org/officeDocument/2006/relationships/slide" Target="slides/slide42.xml"/><Relationship Id="rId50" Type="http://schemas.openxmlformats.org/officeDocument/2006/relationships/slide" Target="slides/slide43.xml"/><Relationship Id="rId51" Type="http://schemas.openxmlformats.org/officeDocument/2006/relationships/slide" Target="slides/slide44.xml"/></Relationships>

</file>

<file path=ppt/notesMasters/_rels/notesMaster1.xml.rels><?xml version="1.0" encoding="UTF-8"?>
<Relationships xmlns="http://schemas.openxmlformats.org/package/2006/relationships"><Relationship Id="rId1" Type="http://schemas.openxmlformats.org/officeDocument/2006/relationships/theme" Target="../theme/theme2.xml"/></Relationships>
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Shape 168"/>
          <p:cNvSpPr/>
          <p:nvPr>
            <p:ph type="sldImg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</p:spPr>
        <p:txBody>
          <a:bodyPr/>
          <a:lstStyle/>
          <a:p>
            <a:pPr/>
          </a:p>
        </p:txBody>
      </p:sp>
      <p:sp>
        <p:nvSpPr>
          <p:cNvPr id="169" name="Shape 169"/>
          <p:cNvSpPr/>
          <p:nvPr>
            <p:ph type="body" sz="quarter" idx="1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</p:spPr>
        <p:txBody>
          <a:bodyPr/>
          <a:lstStyle/>
          <a:p>
            <a:pPr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defTabSz="457200" latinLnBrk="0">
      <a:lnSpc>
        <a:spcPct val="117999"/>
      </a:lnSpc>
      <a:defRPr sz="2200">
        <a:latin typeface="+mn-lt"/>
        <a:ea typeface="+mn-ea"/>
        <a:cs typeface="+mn-cs"/>
        <a:sym typeface="Helvetica Neue"/>
      </a:defRPr>
    </a:lvl1pPr>
    <a:lvl2pPr indent="228600" defTabSz="457200" latinLnBrk="0">
      <a:lnSpc>
        <a:spcPct val="117999"/>
      </a:lnSpc>
      <a:defRPr sz="2200">
        <a:latin typeface="+mn-lt"/>
        <a:ea typeface="+mn-ea"/>
        <a:cs typeface="+mn-cs"/>
        <a:sym typeface="Helvetica Neue"/>
      </a:defRPr>
    </a:lvl2pPr>
    <a:lvl3pPr indent="457200" defTabSz="457200" latinLnBrk="0">
      <a:lnSpc>
        <a:spcPct val="117999"/>
      </a:lnSpc>
      <a:defRPr sz="2200">
        <a:latin typeface="+mn-lt"/>
        <a:ea typeface="+mn-ea"/>
        <a:cs typeface="+mn-cs"/>
        <a:sym typeface="Helvetica Neue"/>
      </a:defRPr>
    </a:lvl3pPr>
    <a:lvl4pPr indent="685800" defTabSz="457200" latinLnBrk="0">
      <a:lnSpc>
        <a:spcPct val="117999"/>
      </a:lnSpc>
      <a:defRPr sz="2200">
        <a:latin typeface="+mn-lt"/>
        <a:ea typeface="+mn-ea"/>
        <a:cs typeface="+mn-cs"/>
        <a:sym typeface="Helvetica Neue"/>
      </a:defRPr>
    </a:lvl4pPr>
    <a:lvl5pPr indent="914400" defTabSz="457200" latinLnBrk="0">
      <a:lnSpc>
        <a:spcPct val="117999"/>
      </a:lnSpc>
      <a:defRPr sz="2200">
        <a:latin typeface="+mn-lt"/>
        <a:ea typeface="+mn-ea"/>
        <a:cs typeface="+mn-cs"/>
        <a:sym typeface="Helvetica Neue"/>
      </a:defRPr>
    </a:lvl5pPr>
    <a:lvl6pPr indent="1143000" defTabSz="457200" latinLnBrk="0">
      <a:lnSpc>
        <a:spcPct val="117999"/>
      </a:lnSpc>
      <a:defRPr sz="2200">
        <a:latin typeface="+mn-lt"/>
        <a:ea typeface="+mn-ea"/>
        <a:cs typeface="+mn-cs"/>
        <a:sym typeface="Helvetica Neue"/>
      </a:defRPr>
    </a:lvl6pPr>
    <a:lvl7pPr indent="1371600" defTabSz="457200" latinLnBrk="0">
      <a:lnSpc>
        <a:spcPct val="117999"/>
      </a:lnSpc>
      <a:defRPr sz="2200">
        <a:latin typeface="+mn-lt"/>
        <a:ea typeface="+mn-ea"/>
        <a:cs typeface="+mn-cs"/>
        <a:sym typeface="Helvetica Neue"/>
      </a:defRPr>
    </a:lvl7pPr>
    <a:lvl8pPr indent="1600200" defTabSz="457200" latinLnBrk="0">
      <a:lnSpc>
        <a:spcPct val="117999"/>
      </a:lnSpc>
      <a:defRPr sz="2200">
        <a:latin typeface="+mn-lt"/>
        <a:ea typeface="+mn-ea"/>
        <a:cs typeface="+mn-cs"/>
        <a:sym typeface="Helvetica Neue"/>
      </a:defRPr>
    </a:lvl8pPr>
    <a:lvl9pPr indent="1828800" defTabSz="457200" latinLnBrk="0">
      <a:lnSpc>
        <a:spcPct val="117999"/>
      </a:lnSpc>
      <a:defRPr sz="2200">
        <a:latin typeface="+mn-lt"/>
        <a:ea typeface="+mn-ea"/>
        <a:cs typeface="+mn-cs"/>
        <a:sym typeface="Helvetica Neue"/>
      </a:defRPr>
    </a:lvl9pPr>
  </p:notesStyle>
</p:notesMaster>
</file>

<file path=ppt/notesSlides/_rels/notesSlide1.xml.rels><?xml version="1.0" encoding="UTF-8"?>
<Relationships xmlns="http://schemas.openxmlformats.org/package/2006/relationships"><Relationship Id="rId1" Type="http://schemas.openxmlformats.org/officeDocument/2006/relationships/slide" Target="../slides/slide1.xml"/><Relationship Id="rId2" Type="http://schemas.openxmlformats.org/officeDocument/2006/relationships/notesMaster" Target="../notesMasters/notesMaster1.xml"/></Relationships>

</file>

<file path=ppt/notesSlides/_rels/notesSlide2.xml.rels><?xml version="1.0" encoding="UTF-8"?>
<Relationships xmlns="http://schemas.openxmlformats.org/package/2006/relationships"><Relationship Id="rId1" Type="http://schemas.openxmlformats.org/officeDocument/2006/relationships/slide" Target="../slides/slide2.xml"/><Relationship Id="rId2" Type="http://schemas.openxmlformats.org/officeDocument/2006/relationships/notesMaster" Target="../notesMasters/notesMaster1.xml"/></Relationships>

</file>

<file path=ppt/notesSlides/_rels/notesSlide3.xml.rels><?xml version="1.0" encoding="UTF-8"?>
<Relationships xmlns="http://schemas.openxmlformats.org/package/2006/relationships"><Relationship Id="rId1" Type="http://schemas.openxmlformats.org/officeDocument/2006/relationships/slide" Target="../slides/slide3.xml"/><Relationship Id="rId2" Type="http://schemas.openxmlformats.org/officeDocument/2006/relationships/notesMaster" Target="../notesMasters/notesMaster1.xml"/></Relationships>

</file>

<file path=ppt/notesSlides/_rels/notesSlide4.xml.rels><?xml version="1.0" encoding="UTF-8"?>
<Relationships xmlns="http://schemas.openxmlformats.org/package/2006/relationships"><Relationship Id="rId1" Type="http://schemas.openxmlformats.org/officeDocument/2006/relationships/slide" Target="../slides/slide4.xml"/><Relationship Id="rId2" Type="http://schemas.openxmlformats.org/officeDocument/2006/relationships/notesMaster" Target="../notesMasters/notesMaster1.xml"/></Relationships>

</file>

<file path=ppt/notesSlides/_rels/notesSlide5.xml.rels><?xml version="1.0" encoding="UTF-8"?>
<Relationships xmlns="http://schemas.openxmlformats.org/package/2006/relationships"><Relationship Id="rId1" Type="http://schemas.openxmlformats.org/officeDocument/2006/relationships/slide" Target="../slides/slide5.xml"/><Relationship Id="rId2" Type="http://schemas.openxmlformats.org/officeDocument/2006/relationships/notesMaster" Target="../notesMasters/notesMaster1.xml"/></Relationships>

</file>

<file path=ppt/notesSlides/_rels/notesSlide6.xml.rels><?xml version="1.0" encoding="UTF-8"?>
<Relationships xmlns="http://schemas.openxmlformats.org/package/2006/relationships"><Relationship Id="rId1" Type="http://schemas.openxmlformats.org/officeDocument/2006/relationships/slide" Target="../slides/slide6.xml"/><Relationship Id="rId2" Type="http://schemas.openxmlformats.org/officeDocument/2006/relationships/notesMaster" Target="../notesMasters/notesMaster1.xml"/></Relationships>

</file>

<file path=ppt/notesSlides/_rels/notesSlide7.xml.rels><?xml version="1.0" encoding="UTF-8"?>
<Relationships xmlns="http://schemas.openxmlformats.org/package/2006/relationships"><Relationship Id="rId1" Type="http://schemas.openxmlformats.org/officeDocument/2006/relationships/slide" Target="../slides/slide7.xml"/><Relationship Id="rId2" Type="http://schemas.openxmlformats.org/officeDocument/2006/relationships/notesMaster" Target="../notesMasters/notesMaster1.xml"/></Relationships>

</file>

<file path=ppt/notesSlides/_rels/notesSlide8.xml.rels><?xml version="1.0" encoding="UTF-8"?>
<Relationships xmlns="http://schemas.openxmlformats.org/package/2006/relationships"><Relationship Id="rId1" Type="http://schemas.openxmlformats.org/officeDocument/2006/relationships/slide" Target="../slides/slide8.xml"/><Relationship Id="rId2" Type="http://schemas.openxmlformats.org/officeDocument/2006/relationships/notesMaster" Target="../notesMasters/notesMaster1.xml"/></Relationships>

</file>

<file path=ppt/notesSlides/_rels/notesSlide9.xml.rels><?xml version="1.0" encoding="UTF-8"?>
<Relationships xmlns="http://schemas.openxmlformats.org/package/2006/relationships"><Relationship Id="rId1" Type="http://schemas.openxmlformats.org/officeDocument/2006/relationships/slide" Target="../slides/slide9.xml"/><Relationship Id="rId2" Type="http://schemas.openxmlformats.org/officeDocument/2006/relationships/notesMaster" Target="../notesMasters/notesMaster1.xml"/></Relationships>

</file>

<file path=ppt/notesSlides/_rels/notesSlide10.xml.rels><?xml version="1.0" encoding="UTF-8"?>
<Relationships xmlns="http://schemas.openxmlformats.org/package/2006/relationships"><Relationship Id="rId1" Type="http://schemas.openxmlformats.org/officeDocument/2006/relationships/slide" Target="../slides/slide10.xml"/><Relationship Id="rId2" Type="http://schemas.openxmlformats.org/officeDocument/2006/relationships/notesMaster" Target="../notesMasters/notesMaster1.xml"/></Relationships>

</file>

<file path=ppt/notesSlides/_rels/notesSlide11.xml.rels><?xml version="1.0" encoding="UTF-8"?>
<Relationships xmlns="http://schemas.openxmlformats.org/package/2006/relationships"><Relationship Id="rId1" Type="http://schemas.openxmlformats.org/officeDocument/2006/relationships/slide" Target="../slides/slide11.xml"/><Relationship Id="rId2" Type="http://schemas.openxmlformats.org/officeDocument/2006/relationships/notesMaster" Target="../notesMasters/notesMaster1.xml"/></Relationships>

</file>

<file path=ppt/notesSlides/_rels/notesSlide12.xml.rels><?xml version="1.0" encoding="UTF-8"?>
<Relationships xmlns="http://schemas.openxmlformats.org/package/2006/relationships"><Relationship Id="rId1" Type="http://schemas.openxmlformats.org/officeDocument/2006/relationships/slide" Target="../slides/slide12.xml"/><Relationship Id="rId2" Type="http://schemas.openxmlformats.org/officeDocument/2006/relationships/notesMaster" Target="../notesMasters/notesMaster1.xml"/></Relationships>

</file>

<file path=ppt/notesSlides/_rels/notesSlide13.xml.rels><?xml version="1.0" encoding="UTF-8"?>
<Relationships xmlns="http://schemas.openxmlformats.org/package/2006/relationships"><Relationship Id="rId1" Type="http://schemas.openxmlformats.org/officeDocument/2006/relationships/slide" Target="../slides/slide13.xml"/><Relationship Id="rId2" Type="http://schemas.openxmlformats.org/officeDocument/2006/relationships/notesMaster" Target="../notesMasters/notesMaster1.xml"/></Relationships>

</file>

<file path=ppt/notesSlides/_rels/notesSlide14.xml.rels><?xml version="1.0" encoding="UTF-8"?>
<Relationships xmlns="http://schemas.openxmlformats.org/package/2006/relationships"><Relationship Id="rId1" Type="http://schemas.openxmlformats.org/officeDocument/2006/relationships/slide" Target="../slides/slide14.xml"/><Relationship Id="rId2" Type="http://schemas.openxmlformats.org/officeDocument/2006/relationships/notesMaster" Target="../notesMasters/notesMaster1.xml"/></Relationships>

</file>

<file path=ppt/notesSlides/_rels/notesSlide15.xml.rels><?xml version="1.0" encoding="UTF-8"?>
<Relationships xmlns="http://schemas.openxmlformats.org/package/2006/relationships"><Relationship Id="rId1" Type="http://schemas.openxmlformats.org/officeDocument/2006/relationships/slide" Target="../slides/slide15.xml"/><Relationship Id="rId2" Type="http://schemas.openxmlformats.org/officeDocument/2006/relationships/notesMaster" Target="../notesMasters/notesMaster1.xml"/></Relationships>

</file>

<file path=ppt/notesSlides/_rels/notesSlide16.xml.rels><?xml version="1.0" encoding="UTF-8"?>
<Relationships xmlns="http://schemas.openxmlformats.org/package/2006/relationships"><Relationship Id="rId1" Type="http://schemas.openxmlformats.org/officeDocument/2006/relationships/slide" Target="../slides/slide16.xml"/><Relationship Id="rId2" Type="http://schemas.openxmlformats.org/officeDocument/2006/relationships/notesMaster" Target="../notesMasters/notesMaster1.xml"/></Relationships>

</file>

<file path=ppt/notesSlides/_rels/notesSlide17.xml.rels><?xml version="1.0" encoding="UTF-8"?>
<Relationships xmlns="http://schemas.openxmlformats.org/package/2006/relationships"><Relationship Id="rId1" Type="http://schemas.openxmlformats.org/officeDocument/2006/relationships/slide" Target="../slides/slide17.xml"/><Relationship Id="rId2" Type="http://schemas.openxmlformats.org/officeDocument/2006/relationships/notesMaster" Target="../notesMasters/notesMaster1.xml"/></Relationships>

</file>

<file path=ppt/notesSlides/_rels/notesSlide18.xml.rels><?xml version="1.0" encoding="UTF-8"?>
<Relationships xmlns="http://schemas.openxmlformats.org/package/2006/relationships"><Relationship Id="rId1" Type="http://schemas.openxmlformats.org/officeDocument/2006/relationships/slide" Target="../slides/slide18.xml"/><Relationship Id="rId2" Type="http://schemas.openxmlformats.org/officeDocument/2006/relationships/notesMaster" Target="../notesMasters/notesMaster1.xml"/></Relationships>

</file>

<file path=ppt/notesSlides/_rels/notesSlide19.xml.rels><?xml version="1.0" encoding="UTF-8"?>
<Relationships xmlns="http://schemas.openxmlformats.org/package/2006/relationships"><Relationship Id="rId1" Type="http://schemas.openxmlformats.org/officeDocument/2006/relationships/slide" Target="../slides/slide19.xml"/><Relationship Id="rId2" Type="http://schemas.openxmlformats.org/officeDocument/2006/relationships/notesMaster" Target="../notesMasters/notesMaster1.xml"/></Relationships>

</file>

<file path=ppt/notesSlides/_rels/notesSlide20.xml.rels><?xml version="1.0" encoding="UTF-8"?>
<Relationships xmlns="http://schemas.openxmlformats.org/package/2006/relationships"><Relationship Id="rId1" Type="http://schemas.openxmlformats.org/officeDocument/2006/relationships/slide" Target="../slides/slide20.xml"/><Relationship Id="rId2" Type="http://schemas.openxmlformats.org/officeDocument/2006/relationships/notesMaster" Target="../notesMasters/notesMaster1.xml"/></Relationships>

</file>

<file path=ppt/notesSlides/_rels/notesSlide21.xml.rels><?xml version="1.0" encoding="UTF-8"?>
<Relationships xmlns="http://schemas.openxmlformats.org/package/2006/relationships"><Relationship Id="rId1" Type="http://schemas.openxmlformats.org/officeDocument/2006/relationships/slide" Target="../slides/slide21.xml"/><Relationship Id="rId2" Type="http://schemas.openxmlformats.org/officeDocument/2006/relationships/notesMaster" Target="../notesMasters/notesMaster1.xml"/></Relationships>

</file>

<file path=ppt/notesSlides/_rels/notesSlide22.xml.rels><?xml version="1.0" encoding="UTF-8"?>
<Relationships xmlns="http://schemas.openxmlformats.org/package/2006/relationships"><Relationship Id="rId1" Type="http://schemas.openxmlformats.org/officeDocument/2006/relationships/slide" Target="../slides/slide22.xml"/><Relationship Id="rId2" Type="http://schemas.openxmlformats.org/officeDocument/2006/relationships/notesMaster" Target="../notesMasters/notesMaster1.xml"/></Relationships>

</file>

<file path=ppt/notesSlides/_rels/notesSlide23.xml.rels><?xml version="1.0" encoding="UTF-8"?>
<Relationships xmlns="http://schemas.openxmlformats.org/package/2006/relationships"><Relationship Id="rId1" Type="http://schemas.openxmlformats.org/officeDocument/2006/relationships/slide" Target="../slides/slide23.xml"/><Relationship Id="rId2" Type="http://schemas.openxmlformats.org/officeDocument/2006/relationships/notesMaster" Target="../notesMasters/notesMaster1.xml"/></Relationships>

</file>

<file path=ppt/notesSlides/_rels/notesSlide24.xml.rels><?xml version="1.0" encoding="UTF-8"?>
<Relationships xmlns="http://schemas.openxmlformats.org/package/2006/relationships"><Relationship Id="rId1" Type="http://schemas.openxmlformats.org/officeDocument/2006/relationships/slide" Target="../slides/slide24.xml"/><Relationship Id="rId2" Type="http://schemas.openxmlformats.org/officeDocument/2006/relationships/notesMaster" Target="../notesMasters/notesMaster1.xml"/></Relationships>

</file>

<file path=ppt/notesSlides/_rels/notesSlide25.xml.rels><?xml version="1.0" encoding="UTF-8"?>
<Relationships xmlns="http://schemas.openxmlformats.org/package/2006/relationships"><Relationship Id="rId1" Type="http://schemas.openxmlformats.org/officeDocument/2006/relationships/slide" Target="../slides/slide25.xml"/><Relationship Id="rId2" Type="http://schemas.openxmlformats.org/officeDocument/2006/relationships/notesMaster" Target="../notesMasters/notesMaster1.xml"/></Relationships>

</file>

<file path=ppt/notesSlides/_rels/notesSlide26.xml.rels><?xml version="1.0" encoding="UTF-8"?>
<Relationships xmlns="http://schemas.openxmlformats.org/package/2006/relationships"><Relationship Id="rId1" Type="http://schemas.openxmlformats.org/officeDocument/2006/relationships/slide" Target="../slides/slide26.xml"/><Relationship Id="rId2" Type="http://schemas.openxmlformats.org/officeDocument/2006/relationships/notesMaster" Target="../notesMasters/notesMaster1.xml"/></Relationships>

</file>

<file path=ppt/notesSlides/_rels/notesSlide27.xml.rels><?xml version="1.0" encoding="UTF-8"?>
<Relationships xmlns="http://schemas.openxmlformats.org/package/2006/relationships"><Relationship Id="rId1" Type="http://schemas.openxmlformats.org/officeDocument/2006/relationships/slide" Target="../slides/slide27.xml"/><Relationship Id="rId2" Type="http://schemas.openxmlformats.org/officeDocument/2006/relationships/notesMaster" Target="../notesMasters/notesMaster1.xml"/></Relationships>

</file>

<file path=ppt/notesSlides/_rels/notesSlide28.xml.rels><?xml version="1.0" encoding="UTF-8"?>
<Relationships xmlns="http://schemas.openxmlformats.org/package/2006/relationships"><Relationship Id="rId1" Type="http://schemas.openxmlformats.org/officeDocument/2006/relationships/slide" Target="../slides/slide28.xml"/><Relationship Id="rId2" Type="http://schemas.openxmlformats.org/officeDocument/2006/relationships/notesMaster" Target="../notesMasters/notesMaster1.xml"/></Relationships>

</file>

<file path=ppt/notesSlides/_rels/notesSlide29.xml.rels><?xml version="1.0" encoding="UTF-8"?>
<Relationships xmlns="http://schemas.openxmlformats.org/package/2006/relationships"><Relationship Id="rId1" Type="http://schemas.openxmlformats.org/officeDocument/2006/relationships/slide" Target="../slides/slide30.xml"/><Relationship Id="rId2" Type="http://schemas.openxmlformats.org/officeDocument/2006/relationships/notesMaster" Target="../notesMasters/notesMaster1.xml"/></Relationships>

</file>

<file path=ppt/notesSlides/_rels/notesSlide30.xml.rels><?xml version="1.0" encoding="UTF-8"?>
<Relationships xmlns="http://schemas.openxmlformats.org/package/2006/relationships"><Relationship Id="rId1" Type="http://schemas.openxmlformats.org/officeDocument/2006/relationships/slide" Target="../slides/slide31.xml"/><Relationship Id="rId2" Type="http://schemas.openxmlformats.org/officeDocument/2006/relationships/notesMaster" Target="../notesMasters/notesMaster1.xml"/></Relationships>

</file>

<file path=ppt/notesSlides/_rels/notesSlide31.xml.rels><?xml version="1.0" encoding="UTF-8"?>
<Relationships xmlns="http://schemas.openxmlformats.org/package/2006/relationships"><Relationship Id="rId1" Type="http://schemas.openxmlformats.org/officeDocument/2006/relationships/slide" Target="../slides/slide32.xml"/><Relationship Id="rId2" Type="http://schemas.openxmlformats.org/officeDocument/2006/relationships/notesMaster" Target="../notesMasters/notesMaster1.xml"/></Relationships>

</file>

<file path=ppt/notesSlides/_rels/notesSlide32.xml.rels><?xml version="1.0" encoding="UTF-8"?>
<Relationships xmlns="http://schemas.openxmlformats.org/package/2006/relationships"><Relationship Id="rId1" Type="http://schemas.openxmlformats.org/officeDocument/2006/relationships/slide" Target="../slides/slide33.xml"/><Relationship Id="rId2" Type="http://schemas.openxmlformats.org/officeDocument/2006/relationships/notesMaster" Target="../notesMasters/notesMaster1.xml"/></Relationships>

</file>

<file path=ppt/notesSlides/_rels/notesSlide33.xml.rels><?xml version="1.0" encoding="UTF-8"?>
<Relationships xmlns="http://schemas.openxmlformats.org/package/2006/relationships"><Relationship Id="rId1" Type="http://schemas.openxmlformats.org/officeDocument/2006/relationships/slide" Target="../slides/slide34.xml"/><Relationship Id="rId2" Type="http://schemas.openxmlformats.org/officeDocument/2006/relationships/notesMaster" Target="../notesMasters/notesMaster1.xml"/></Relationships>

</file>

<file path=ppt/notesSlides/_rels/notesSlide34.xml.rels><?xml version="1.0" encoding="UTF-8"?>
<Relationships xmlns="http://schemas.openxmlformats.org/package/2006/relationships"><Relationship Id="rId1" Type="http://schemas.openxmlformats.org/officeDocument/2006/relationships/slide" Target="../slides/slide35.xml"/><Relationship Id="rId2" Type="http://schemas.openxmlformats.org/officeDocument/2006/relationships/notesMaster" Target="../notesMasters/notesMaster1.xml"/></Relationships>

</file>

<file path=ppt/notesSlides/_rels/notesSlide35.xml.rels><?xml version="1.0" encoding="UTF-8"?>
<Relationships xmlns="http://schemas.openxmlformats.org/package/2006/relationships"><Relationship Id="rId1" Type="http://schemas.openxmlformats.org/officeDocument/2006/relationships/slide" Target="../slides/slide36.xml"/><Relationship Id="rId2" Type="http://schemas.openxmlformats.org/officeDocument/2006/relationships/notesMaster" Target="../notesMasters/notesMaster1.xml"/></Relationships>

</file>

<file path=ppt/notesSlides/_rels/notesSlide36.xml.rels><?xml version="1.0" encoding="UTF-8"?>
<Relationships xmlns="http://schemas.openxmlformats.org/package/2006/relationships"><Relationship Id="rId1" Type="http://schemas.openxmlformats.org/officeDocument/2006/relationships/slide" Target="../slides/slide37.xml"/><Relationship Id="rId2" Type="http://schemas.openxmlformats.org/officeDocument/2006/relationships/notesMaster" Target="../notesMasters/notesMaster1.xml"/></Relationships>

</file>

<file path=ppt/notesSlides/_rels/notesSlide37.xml.rels><?xml version="1.0" encoding="UTF-8"?>
<Relationships xmlns="http://schemas.openxmlformats.org/package/2006/relationships"><Relationship Id="rId1" Type="http://schemas.openxmlformats.org/officeDocument/2006/relationships/slide" Target="../slides/slide38.xml"/><Relationship Id="rId2" Type="http://schemas.openxmlformats.org/officeDocument/2006/relationships/notesMaster" Target="../notesMasters/notesMaster1.xml"/></Relationships>

</file>

<file path=ppt/notesSlides/_rels/notesSlide38.xml.rels><?xml version="1.0" encoding="UTF-8"?>
<Relationships xmlns="http://schemas.openxmlformats.org/package/2006/relationships"><Relationship Id="rId1" Type="http://schemas.openxmlformats.org/officeDocument/2006/relationships/slide" Target="../slides/slide39.xml"/><Relationship Id="rId2" Type="http://schemas.openxmlformats.org/officeDocument/2006/relationships/notesMaster" Target="../notesMasters/notesMaster1.xml"/></Relationships>

</file>

<file path=ppt/notesSlides/_rels/notesSlide39.xml.rels><?xml version="1.0" encoding="UTF-8"?>
<Relationships xmlns="http://schemas.openxmlformats.org/package/2006/relationships"><Relationship Id="rId1" Type="http://schemas.openxmlformats.org/officeDocument/2006/relationships/slide" Target="../slides/slide40.xml"/><Relationship Id="rId2" Type="http://schemas.openxmlformats.org/officeDocument/2006/relationships/notesMaster" Target="../notesMasters/notesMaster1.xml"/></Relationships>

</file>

<file path=ppt/notesSlides/_rels/notesSlide40.xml.rels><?xml version="1.0" encoding="UTF-8"?>
<Relationships xmlns="http://schemas.openxmlformats.org/package/2006/relationships"><Relationship Id="rId1" Type="http://schemas.openxmlformats.org/officeDocument/2006/relationships/slide" Target="../slides/slide41.xml"/><Relationship Id="rId2" Type="http://schemas.openxmlformats.org/officeDocument/2006/relationships/notesMaster" Target="../notesMasters/notesMaster1.xml"/></Relationships>

</file>

<file path=ppt/notesSlides/_rels/notesSlide41.xml.rels><?xml version="1.0" encoding="UTF-8"?>
<Relationships xmlns="http://schemas.openxmlformats.org/package/2006/relationships"><Relationship Id="rId1" Type="http://schemas.openxmlformats.org/officeDocument/2006/relationships/slide" Target="../slides/slide42.xml"/><Relationship Id="rId2" Type="http://schemas.openxmlformats.org/officeDocument/2006/relationships/notesMaster" Target="../notesMasters/notesMaster1.xml"/></Relationships>
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3" name="Shape 183"/>
          <p:cNvSpPr/>
          <p:nvPr>
            <p:ph type="sldImg"/>
          </p:nvPr>
        </p:nvSpPr>
        <p:spPr>
          <a:prstGeom prst="rect">
            <a:avLst/>
          </a:prstGeom>
        </p:spPr>
        <p:txBody>
          <a:bodyPr/>
          <a:lstStyle/>
          <a:p>
            <a:pPr/>
          </a:p>
        </p:txBody>
      </p:sp>
      <p:sp>
        <p:nvSpPr>
          <p:cNvPr id="184" name="Shape 184"/>
          <p:cNvSpPr/>
          <p:nvPr>
            <p:ph type="body" sz="quarter" idx="1"/>
          </p:nvPr>
        </p:nvSpPr>
        <p:spPr>
          <a:prstGeom prst="rect">
            <a:avLst/>
          </a:prstGeom>
        </p:spPr>
        <p:txBody>
          <a:bodyPr/>
          <a:lstStyle/>
          <a:p>
            <a:pPr/>
            <a:r>
              <a:t>Hello everyone, I am Rolle from Dude.</a:t>
            </a:r>
          </a:p>
          <a:p>
            <a:pPr/>
            <a:r>
              <a:t>This talk is about replacing ACF with core WordPress.</a:t>
            </a:r>
          </a:p>
          <a:p>
            <a:pPr/>
            <a:r>
              <a:t>We used ACF for ten years, and only recently moved on to core blocks.</a:t>
            </a:r>
          </a:p>
          <a:p>
            <a:pPr/>
            <a:r>
              <a:t>I will share what we learned on the way.</a:t>
            </a:r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Shape 195"/>
          <p:cNvSpPr/>
          <p:nvPr>
            <p:ph type="sldImg"/>
          </p:nvPr>
        </p:nvSpPr>
        <p:spPr>
          <a:prstGeom prst="rect">
            <a:avLst/>
          </a:prstGeom>
        </p:spPr>
        <p:txBody>
          <a:bodyPr/>
          <a:lstStyle/>
          <a:p>
            <a:pPr/>
          </a:p>
        </p:txBody>
      </p:sp>
      <p:sp>
        <p:nvSpPr>
          <p:cNvPr id="196" name="Shape 196"/>
          <p:cNvSpPr/>
          <p:nvPr>
            <p:ph type="body" sz="quarter" idx="1"/>
          </p:nvPr>
        </p:nvSpPr>
        <p:spPr>
          <a:prstGeom prst="rect">
            <a:avLst/>
          </a:prstGeom>
        </p:spPr>
        <p:txBody>
          <a:bodyPr/>
          <a:lstStyle/>
          <a:p>
            <a:pPr/>
            <a:r>
              <a:t>Most of you already know me, so I keep this short.</a:t>
            </a:r>
          </a:p>
          <a:p>
            <a:pPr/>
            <a:r>
              <a:t>I am the founder and CTO of Dude, and I have built WordPress sites since 2005.</a:t>
            </a:r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Shape 205"/>
          <p:cNvSpPr/>
          <p:nvPr>
            <p:ph type="sldImg"/>
          </p:nvPr>
        </p:nvSpPr>
        <p:spPr>
          <a:prstGeom prst="rect">
            <a:avLst/>
          </a:prstGeom>
        </p:spPr>
        <p:txBody>
          <a:bodyPr/>
          <a:lstStyle/>
          <a:p>
            <a:pPr/>
          </a:p>
        </p:txBody>
      </p:sp>
      <p:sp>
        <p:nvSpPr>
          <p:cNvPr id="206" name="Shape 206"/>
          <p:cNvSpPr/>
          <p:nvPr>
            <p:ph type="body" sz="quarter" idx="1"/>
          </p:nvPr>
        </p:nvSpPr>
        <p:spPr>
          <a:prstGeom prst="rect">
            <a:avLst/>
          </a:prstGeom>
        </p:spPr>
        <p:txBody>
          <a:bodyPr/>
          <a:lstStyle/>
          <a:p>
            <a:pPr/>
            <a:r>
              <a:t>Nobody gets shamed today for using ACF or plugins.</a:t>
            </a:r>
          </a:p>
          <a:p>
            <a:pPr/>
            <a:r>
              <a:t>We used ACF for more than ten years, and it built a lot of good sites.</a:t>
            </a:r>
          </a:p>
          <a:p>
            <a:pPr/>
            <a:r>
              <a:t>ACF solved a real problem back when core could not.</a:t>
            </a:r>
          </a:p>
          <a:p>
            <a:pPr/>
            <a:r>
              <a:t>Core can do much more today, and this talk is about that.</a:t>
            </a:r>
          </a:p>
          <a:p>
            <a:pPr/>
            <a:r>
              <a:t>Nobody here is going to ask who the hell still uses ACF. Not today.</a:t>
            </a:r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3" name="Shape 213"/>
          <p:cNvSpPr/>
          <p:nvPr>
            <p:ph type="sldImg"/>
          </p:nvPr>
        </p:nvSpPr>
        <p:spPr>
          <a:prstGeom prst="rect">
            <a:avLst/>
          </a:prstGeom>
        </p:spPr>
        <p:txBody>
          <a:bodyPr/>
          <a:lstStyle/>
          <a:p>
            <a:pPr/>
          </a:p>
        </p:txBody>
      </p:sp>
      <p:sp>
        <p:nvSpPr>
          <p:cNvPr id="214" name="Shape 214"/>
          <p:cNvSpPr/>
          <p:nvPr>
            <p:ph type="body" sz="quarter" idx="1"/>
          </p:nvPr>
        </p:nvSpPr>
        <p:spPr>
          <a:prstGeom prst="rect">
            <a:avLst/>
          </a:prstGeom>
        </p:spPr>
        <p:txBody>
          <a:bodyPr/>
          <a:lstStyle/>
          <a:p>
            <a:pPr/>
            <a:r>
              <a:t>Ask for hands up on each option.</a:t>
            </a:r>
          </a:p>
          <a:p>
            <a:pPr/>
            <a:r>
              <a:t>Get the room to answer before I say anything about going ACF-free.</a:t>
            </a:r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3" name="Shape 223"/>
          <p:cNvSpPr/>
          <p:nvPr>
            <p:ph type="sldImg"/>
          </p:nvPr>
        </p:nvSpPr>
        <p:spPr>
          <a:prstGeom prst="rect">
            <a:avLst/>
          </a:prstGeom>
        </p:spPr>
        <p:txBody>
          <a:bodyPr/>
          <a:lstStyle/>
          <a:p>
            <a:pPr/>
          </a:p>
        </p:txBody>
      </p:sp>
      <p:sp>
        <p:nvSpPr>
          <p:cNvPr id="224" name="Shape 224"/>
          <p:cNvSpPr/>
          <p:nvPr>
            <p:ph type="body" sz="quarter" idx="1"/>
          </p:nvPr>
        </p:nvSpPr>
        <p:spPr>
          <a:prstGeom prst="rect">
            <a:avLst/>
          </a:prstGeom>
        </p:spPr>
        <p:txBody>
          <a:bodyPr/>
          <a:lstStyle/>
          <a:p>
            <a:pPr/>
            <a:r>
              <a:t>Hands up for option 1: ACF on every site, for everything.</a:t>
            </a:r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5" name="Shape 235"/>
          <p:cNvSpPr/>
          <p:nvPr>
            <p:ph type="sldImg"/>
          </p:nvPr>
        </p:nvSpPr>
        <p:spPr>
          <a:prstGeom prst="rect">
            <a:avLst/>
          </a:prstGeom>
        </p:spPr>
        <p:txBody>
          <a:bodyPr/>
          <a:lstStyle/>
          <a:p>
            <a:pPr/>
          </a:p>
        </p:txBody>
      </p:sp>
      <p:sp>
        <p:nvSpPr>
          <p:cNvPr id="236" name="Shape 236"/>
          <p:cNvSpPr/>
          <p:nvPr>
            <p:ph type="body" sz="quarter" idx="1"/>
          </p:nvPr>
        </p:nvSpPr>
        <p:spPr>
          <a:prstGeom prst="rect">
            <a:avLst/>
          </a:prstGeom>
        </p:spPr>
        <p:txBody>
          <a:bodyPr/>
          <a:lstStyle/>
          <a:p>
            <a:pPr/>
            <a:r>
              <a:t>Hands up for option 2: ACF for some things, core blocks for the rest.</a:t>
            </a:r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9" name="Shape 249"/>
          <p:cNvSpPr/>
          <p:nvPr>
            <p:ph type="sldImg"/>
          </p:nvPr>
        </p:nvSpPr>
        <p:spPr>
          <a:prstGeom prst="rect">
            <a:avLst/>
          </a:prstGeom>
        </p:spPr>
        <p:txBody>
          <a:bodyPr/>
          <a:lstStyle/>
          <a:p>
            <a:pPr/>
          </a:p>
        </p:txBody>
      </p:sp>
      <p:sp>
        <p:nvSpPr>
          <p:cNvPr id="250" name="Shape 250"/>
          <p:cNvSpPr/>
          <p:nvPr>
            <p:ph type="body" sz="quarter" idx="1"/>
          </p:nvPr>
        </p:nvSpPr>
        <p:spPr>
          <a:prstGeom prst="rect">
            <a:avLst/>
          </a:prstGeom>
        </p:spPr>
        <p:txBody>
          <a:bodyPr/>
          <a:lstStyle/>
          <a:p>
            <a:pPr/>
            <a:r>
              <a:t>Hands up for option 3: ACF is legacy, and you have moved on to native or core blocks.</a:t>
            </a:r>
          </a:p>
          <a:p>
            <a:pPr/>
            <a:r>
              <a:t>Say the split out loud. It shows how much of this talk is new to the room.</a:t>
            </a: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8" name="Shape 258"/>
          <p:cNvSpPr/>
          <p:nvPr>
            <p:ph type="sldImg"/>
          </p:nvPr>
        </p:nvSpPr>
        <p:spPr>
          <a:prstGeom prst="rect">
            <a:avLst/>
          </a:prstGeom>
        </p:spPr>
        <p:txBody>
          <a:bodyPr/>
          <a:lstStyle/>
          <a:p>
            <a:pPr/>
          </a:p>
        </p:txBody>
      </p:sp>
      <p:sp>
        <p:nvSpPr>
          <p:cNvPr id="259" name="Shape 259"/>
          <p:cNvSpPr/>
          <p:nvPr>
            <p:ph type="body" sz="quarter" idx="1"/>
          </p:nvPr>
        </p:nvSpPr>
        <p:spPr>
          <a:prstGeom prst="rect">
            <a:avLst/>
          </a:prstGeom>
        </p:spPr>
        <p:txBody>
          <a:bodyPr/>
          <a:lstStyle/>
          <a:p>
            <a:pPr/>
            <a:r>
              <a:t>I could talk for hours about dependencies, so we start with a definition.</a:t>
            </a:r>
          </a:p>
          <a:p>
            <a:pPr/>
            <a:r>
              <a:t>WordPress itself is a dependency too.</a:t>
            </a:r>
          </a:p>
          <a:p>
            <a:pPr/>
            <a:r>
              <a:t>A site depends on the host, Linux, the web server, PHP, the database, WordPress, the theme, the plugins and outside services like DNS and email.</a:t>
            </a:r>
          </a:p>
          <a:p>
            <a:pPr/>
            <a:r>
              <a:t>A site always has dependencies, so the goal is to choose them on purpose.</a:t>
            </a:r>
          </a:p>
          <a:p>
            <a:pPr/>
            <a:r>
              <a:t>A good dependency has an open licence, can be replaced, keeps your data in a standard format and outlives the site.</a:t>
            </a:r>
          </a:p>
          <a:p>
            <a:pPr/>
            <a:r>
              <a:t>WordPress core passes all four: GPL, over 20 years old, thousands of contributors and plain database tables.</a:t>
            </a:r>
          </a:p>
          <a:p>
            <a:pPr/>
            <a:r>
              <a:t>A plugin owning your content format does worse on every check. ACF is that kind of plugin.</a:t>
            </a:r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6" name="Shape 266"/>
          <p:cNvSpPr/>
          <p:nvPr>
            <p:ph type="sldImg"/>
          </p:nvPr>
        </p:nvSpPr>
        <p:spPr>
          <a:prstGeom prst="rect">
            <a:avLst/>
          </a:prstGeom>
        </p:spPr>
        <p:txBody>
          <a:bodyPr/>
          <a:lstStyle/>
          <a:p>
            <a:pPr/>
          </a:p>
        </p:txBody>
      </p:sp>
      <p:sp>
        <p:nvSpPr>
          <p:cNvPr id="267" name="Shape 267"/>
          <p:cNvSpPr/>
          <p:nvPr>
            <p:ph type="body" sz="quarter" idx="1"/>
          </p:nvPr>
        </p:nvSpPr>
        <p:spPr>
          <a:prstGeom prst="rect">
            <a:avLst/>
          </a:prstGeom>
        </p:spPr>
        <p:txBody>
          <a:bodyPr/>
          <a:lstStyle/>
          <a:p>
            <a:pPr/>
            <a:r>
              <a:t>First a short look back.</a:t>
            </a:r>
          </a:p>
          <a:p>
            <a:pPr/>
            <a:r>
              <a:t>Fields come first, then dependencies, then Gutenberg.</a:t>
            </a:r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" name="Shape 307"/>
          <p:cNvSpPr/>
          <p:nvPr>
            <p:ph type="sldImg"/>
          </p:nvPr>
        </p:nvSpPr>
        <p:spPr>
          <a:prstGeom prst="rect">
            <a:avLst/>
          </a:prstGeom>
        </p:spPr>
        <p:txBody>
          <a:bodyPr/>
          <a:lstStyle/>
          <a:p>
            <a:pPr/>
          </a:p>
        </p:txBody>
      </p:sp>
      <p:sp>
        <p:nvSpPr>
          <p:cNvPr id="308" name="Shape 308"/>
          <p:cNvSpPr/>
          <p:nvPr>
            <p:ph type="body" sz="quarter" idx="1"/>
          </p:nvPr>
        </p:nvSpPr>
        <p:spPr>
          <a:prstGeom prst="rect">
            <a:avLst/>
          </a:prstGeom>
        </p:spPr>
        <p:txBody>
          <a:bodyPr/>
          <a:lstStyle/>
          <a:p>
            <a:pPr/>
            <a:r>
              <a:t>Custom fields have been in core since WordPress 1.2 in 2004. I started with WordPress in 2005.</a:t>
            </a:r>
          </a:p>
          <a:p>
            <a:pPr/>
            <a:r>
              <a:t>2010: WordPress 3.0 brings custom post types.</a:t>
            </a:r>
          </a:p>
          <a:p>
            <a:pPr/>
            <a:r>
              <a:t>2011: ACF gets its first commit.</a:t>
            </a:r>
          </a:p>
          <a:p>
            <a:pPr/>
            <a:r>
              <a:t>2014: our starter stack dudestack required ACF from its first commit.</a:t>
            </a:r>
          </a:p>
          <a:p>
            <a:pPr/>
            <a:r>
              <a:t>2018: WordPress 5.0 ships Gutenberg, built on React.</a:t>
            </a:r>
          </a:p>
          <a:p>
            <a:pPr/>
            <a:r>
              <a:t>2019: ACF Blocks put fields inside blocks.</a:t>
            </a:r>
          </a:p>
          <a:p>
            <a:pPr/>
            <a:r>
              <a:t>2021: WordPress 5.8 brings theme.json and block.json.</a:t>
            </a:r>
          </a:p>
          <a:p>
            <a:pPr/>
            <a:r>
              <a:t>2022: WP Engine buys ACF.</a:t>
            </a:r>
          </a:p>
          <a:p>
            <a:pPr/>
            <a:r>
              <a:t>2024: Block Bindings arrive in 6.5, and ACF is forked as Secure Custom Fields.</a:t>
            </a:r>
          </a:p>
          <a:p>
            <a:pPr/>
            <a:r>
              <a:t>2025: WordPress 6.9 gives bindings a real UI, and we build our first native blocks at Dude.</a:t>
            </a:r>
          </a:p>
          <a:p>
            <a:pPr/>
            <a:r>
              <a:t>2026: WordPress 7.</a:t>
            </a:r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9" name="Shape 319"/>
          <p:cNvSpPr/>
          <p:nvPr>
            <p:ph type="sldImg"/>
          </p:nvPr>
        </p:nvSpPr>
        <p:spPr>
          <a:prstGeom prst="rect">
            <a:avLst/>
          </a:prstGeom>
        </p:spPr>
        <p:txBody>
          <a:bodyPr/>
          <a:lstStyle/>
          <a:p>
            <a:pPr/>
          </a:p>
        </p:txBody>
      </p:sp>
      <p:sp>
        <p:nvSpPr>
          <p:cNvPr id="320" name="Shape 320"/>
          <p:cNvSpPr/>
          <p:nvPr>
            <p:ph type="body" sz="quarter" idx="1"/>
          </p:nvPr>
        </p:nvSpPr>
        <p:spPr>
          <a:prstGeom prst="rect">
            <a:avLst/>
          </a:prstGeom>
        </p:spPr>
        <p:txBody>
          <a:bodyPr/>
          <a:lstStyle/>
          <a:p>
            <a:pPr/>
            <a:r>
              <a:t>ACF means Advanced Custom Fields. Drop the word Advanced and you get plain custom fields.</a:t>
            </a:r>
          </a:p>
          <a:p>
            <a:pPr/>
            <a:r>
              <a:t>Core has had custom fields since 2004.</a:t>
            </a:r>
          </a:p>
          <a:p>
            <a:pPr/>
            <a:r>
              <a:t>A field is a named value on a post: a key and a value in wp_postmeta.</a:t>
            </a:r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9" name="Shape 339"/>
          <p:cNvSpPr/>
          <p:nvPr>
            <p:ph type="sldImg"/>
          </p:nvPr>
        </p:nvSpPr>
        <p:spPr>
          <a:prstGeom prst="rect">
            <a:avLst/>
          </a:prstGeom>
        </p:spPr>
        <p:txBody>
          <a:bodyPr/>
          <a:lstStyle/>
          <a:p>
            <a:pPr/>
          </a:p>
        </p:txBody>
      </p:sp>
      <p:sp>
        <p:nvSpPr>
          <p:cNvPr id="340" name="Shape 340"/>
          <p:cNvSpPr/>
          <p:nvPr>
            <p:ph type="body" sz="quarter" idx="1"/>
          </p:nvPr>
        </p:nvSpPr>
        <p:spPr>
          <a:prstGeom prst="rect">
            <a:avLst/>
          </a:prstGeom>
        </p:spPr>
        <p:txBody>
          <a:bodyPr/>
          <a:lstStyle/>
          <a:p>
            <a:pPr/>
            <a:r>
              <a:t>This is a bit of a joke, but it is real history.</a:t>
            </a:r>
          </a:p>
          <a:p>
            <a:pPr/>
            <a:r>
              <a:t>We used to build sites with meta fields only, back when WordPress was a blogging tool.</a:t>
            </a:r>
          </a:p>
          <a:p>
            <a:pPr/>
            <a:r>
              <a:t>Meta fields work fine for a developer. It feels like knifing the database.</a:t>
            </a:r>
          </a:p>
          <a:p>
            <a:pPr/>
            <a:r>
              <a:t>A client needs a real system to update content easily.</a:t>
            </a:r>
          </a:p>
          <a:p>
            <a:pPr/>
            <a:r>
              <a:t>If asked: the box only ever did text. wp_postmeta stores every value as a string, with no type column.</a:t>
            </a:r>
          </a:p>
          <a:p>
            <a:pPr/>
            <a:r>
              <a:t>If asked: featured images arrived in WordPress 2.9 in 2009 and took over the main job of the box. That explains the best before 2009 stamp.</a:t>
            </a:r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4" name="Shape 354"/>
          <p:cNvSpPr/>
          <p:nvPr>
            <p:ph type="sldImg"/>
          </p:nvPr>
        </p:nvSpPr>
        <p:spPr>
          <a:prstGeom prst="rect">
            <a:avLst/>
          </a:prstGeom>
        </p:spPr>
        <p:txBody>
          <a:bodyPr/>
          <a:lstStyle/>
          <a:p>
            <a:pPr/>
          </a:p>
        </p:txBody>
      </p:sp>
      <p:sp>
        <p:nvSpPr>
          <p:cNvPr id="355" name="Shape 355"/>
          <p:cNvSpPr/>
          <p:nvPr>
            <p:ph type="body" sz="quarter" idx="1"/>
          </p:nvPr>
        </p:nvSpPr>
        <p:spPr>
          <a:prstGeom prst="rect">
            <a:avLst/>
          </a:prstGeom>
        </p:spPr>
        <p:txBody>
          <a:bodyPr/>
          <a:lstStyle/>
          <a:p>
            <a:pPr/>
            <a:r>
              <a:t>A fun aside. I do not recommend this box for client sites.</a:t>
            </a:r>
          </a:p>
          <a:p>
            <a:pPr/>
            <a:r>
              <a:t>To turn it on: Options, Preferences, General, Advanced, Custom fields. The editor reloads.</a:t>
            </a:r>
          </a:p>
          <a:p>
            <a:pPr/>
            <a:r>
              <a:t>ACF hides the box by default. The ACF filter on the slide brings it back.</a:t>
            </a:r>
          </a:p>
          <a:p>
            <a:pPr/>
            <a:r>
              <a:t>ACF hides it because the box runs a slow query over the whole wp_postmeta table.</a:t>
            </a:r>
          </a:p>
          <a:p>
            <a:pPr/>
            <a:r>
              <a:t>The box only does text. Keys are typed by hand, so Photo credit and photo_credit become two different fields.</a:t>
            </a:r>
          </a:p>
          <a:p>
            <a:pPr/>
            <a:r>
              <a:t>Today register_post_meta() and Block Bindings do the job properly.</a:t>
            </a:r>
          </a:p>
          <a:p>
            <a:pPr/>
            <a:r>
              <a:t>The 100% dependency-free stamp is true. No plugin is involved.</a:t>
            </a:r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5" name="Shape 365"/>
          <p:cNvSpPr/>
          <p:nvPr>
            <p:ph type="sldImg"/>
          </p:nvPr>
        </p:nvSpPr>
        <p:spPr>
          <a:prstGeom prst="rect">
            <a:avLst/>
          </a:prstGeom>
        </p:spPr>
        <p:txBody>
          <a:bodyPr/>
          <a:lstStyle/>
          <a:p>
            <a:pPr/>
          </a:p>
        </p:txBody>
      </p:sp>
      <p:sp>
        <p:nvSpPr>
          <p:cNvPr id="366" name="Shape 366"/>
          <p:cNvSpPr/>
          <p:nvPr>
            <p:ph type="body" sz="quarter" idx="1"/>
          </p:nvPr>
        </p:nvSpPr>
        <p:spPr>
          <a:prstGeom prst="rect">
            <a:avLst/>
          </a:prstGeom>
        </p:spPr>
        <p:txBody>
          <a:bodyPr/>
          <a:lstStyle/>
          <a:p>
            <a:pPr/>
            <a:r>
              <a:t>ACF got its first commit on 28.3.2011.</a:t>
            </a:r>
          </a:p>
          <a:p>
            <a:pPr/>
            <a:r>
              <a:t>ACF made custom fields usable with field types, a real UI and repeaters.</a:t>
            </a:r>
          </a:p>
          <a:p>
            <a:pPr/>
            <a:r>
              <a:t>Everything ACF adds is still a field in wp_postmeta, printed by a template.</a:t>
            </a:r>
          </a:p>
          <a:p>
            <a:pPr/>
            <a:r>
              <a:t>Blocks changed the unit of content from a field to a block. This talk is about that change.</a:t>
            </a:r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0" name="Shape 380"/>
          <p:cNvSpPr/>
          <p:nvPr>
            <p:ph type="sldImg"/>
          </p:nvPr>
        </p:nvSpPr>
        <p:spPr>
          <a:prstGeom prst="rect">
            <a:avLst/>
          </a:prstGeom>
        </p:spPr>
        <p:txBody>
          <a:bodyPr/>
          <a:lstStyle/>
          <a:p>
            <a:pPr/>
          </a:p>
        </p:txBody>
      </p:sp>
      <p:sp>
        <p:nvSpPr>
          <p:cNvPr id="381" name="Shape 381"/>
          <p:cNvSpPr/>
          <p:nvPr>
            <p:ph type="body" sz="quarter" idx="1"/>
          </p:nvPr>
        </p:nvSpPr>
        <p:spPr>
          <a:prstGeom prst="rect">
            <a:avLst/>
          </a:prstGeom>
        </p:spPr>
        <p:txBody>
          <a:bodyPr/>
          <a:lstStyle/>
          <a:p>
            <a:pPr/>
            <a:r>
              <a:t>I have always liked the core way of WordPress. air-light started from Automattic's Underscores in 2016.</a:t>
            </a:r>
          </a:p>
          <a:p>
            <a:pPr/>
            <a:r>
              <a:t>We felt we did things the core way, but we still used ACF. With ACF it is not the core way.</a:t>
            </a:r>
          </a:p>
          <a:p>
            <a:pPr/>
            <a:r>
              <a:t>You do not want to be a purist. You want something fast to build that works for years.</a:t>
            </a:r>
          </a:p>
          <a:p>
            <a:pPr/>
            <a:r>
              <a:t>ACF was that, until it wasn't.</a:t>
            </a:r>
          </a:p>
          <a:p>
            <a:pPr/>
            <a:r>
              <a:t>air-light still ships no blocks, on purpose. For a long time I saw blocks as a dependency too.</a:t>
            </a:r>
          </a:p>
          <a:p>
            <a:pPr/>
            <a:r>
              <a:t>If asked: our first native block code in air-light is from 28.2.2025.</a:t>
            </a:r>
          </a:p>
        </p:txBody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1" name="Shape 391"/>
          <p:cNvSpPr/>
          <p:nvPr>
            <p:ph type="sldImg"/>
          </p:nvPr>
        </p:nvSpPr>
        <p:spPr>
          <a:prstGeom prst="rect">
            <a:avLst/>
          </a:prstGeom>
        </p:spPr>
        <p:txBody>
          <a:bodyPr/>
          <a:lstStyle/>
          <a:p>
            <a:pPr/>
          </a:p>
        </p:txBody>
      </p:sp>
      <p:sp>
        <p:nvSpPr>
          <p:cNvPr id="392" name="Shape 392"/>
          <p:cNvSpPr/>
          <p:nvPr>
            <p:ph type="body" sz="quarter" idx="1"/>
          </p:nvPr>
        </p:nvSpPr>
        <p:spPr>
          <a:prstGeom prst="rect">
            <a:avLst/>
          </a:prstGeom>
        </p:spPr>
        <p:txBody>
          <a:bodyPr/>
          <a:lstStyle/>
          <a:p>
            <a:pPr/>
            <a:r>
              <a:t>For years our answer was Gutenberg for articles and ACF for everything else.</a:t>
            </a:r>
          </a:p>
          <a:p>
            <a:pPr/>
            <a:r>
              <a:t>In 2018 I did not even have time to test Gutenberg properly.</a:t>
            </a:r>
          </a:p>
          <a:p>
            <a:pPr/>
            <a:r>
              <a:t>When we went native in 2025, we thought blocks meant React. So we coded every block ourselves, with every option in React.</a:t>
            </a:r>
          </a:p>
          <a:p>
            <a:pPr/>
            <a:r>
              <a:t>The GIF is Deep Thought from The Hitchhiker's Guide to the Galaxy. The answer was 42, and just as useful.</a:t>
            </a:r>
          </a:p>
        </p:txBody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7" name="Shape 407"/>
          <p:cNvSpPr/>
          <p:nvPr>
            <p:ph type="sldImg"/>
          </p:nvPr>
        </p:nvSpPr>
        <p:spPr>
          <a:prstGeom prst="rect">
            <a:avLst/>
          </a:prstGeom>
        </p:spPr>
        <p:txBody>
          <a:bodyPr/>
          <a:lstStyle/>
          <a:p>
            <a:pPr/>
          </a:p>
        </p:txBody>
      </p:sp>
      <p:sp>
        <p:nvSpPr>
          <p:cNvPr id="408" name="Shape 408"/>
          <p:cNvSpPr/>
          <p:nvPr>
            <p:ph type="body" sz="quarter" idx="1"/>
          </p:nvPr>
        </p:nvSpPr>
        <p:spPr>
          <a:prstGeom prst="rect">
            <a:avLst/>
          </a:prstGeom>
        </p:spPr>
        <p:txBody>
          <a:bodyPr/>
          <a:lstStyle/>
          <a:p>
            <a:pPr/>
            <a:r>
              <a:t>2017: we added the Classic Editor to our stack to prepare for Gutenberg.</a:t>
            </a:r>
          </a:p>
          <a:p>
            <a:pPr/>
            <a:r>
              <a:t>2018 to 2020: Gutenberg for articles only. Pages stayed on ACF.</a:t>
            </a:r>
          </a:p>
          <a:p>
            <a:pPr/>
            <a:r>
              <a:t>2021: ACF blocks became our standard.</a:t>
            </a:r>
          </a:p>
          <a:p>
            <a:pPr/>
            <a:r>
              <a:t>In 2018 a custom block needed JavaScript and a build step. PHP developers did not want to write React, so ACF Blocks, Block Lab and Lazy Blocks appeared.</a:t>
            </a:r>
          </a:p>
          <a:p>
            <a:pPr/>
            <a:r>
              <a:t>2025: our first native blocks, with every option written in React.</a:t>
            </a:r>
          </a:p>
          <a:p>
            <a:pPr/>
            <a:r>
              <a:t>The peak was one client site in 2026: 23 custom blocks and about 4,130 lines of JavaScript.</a:t>
            </a:r>
          </a:p>
          <a:p>
            <a:pPr/>
            <a:r>
              <a:t>Markup coded into the blocks hurt the most. A pattern could not drop the buttons, because the buttons were in the code.</a:t>
            </a:r>
          </a:p>
          <a:p>
            <a:pPr/>
            <a:r>
              <a:t>From 5.2026 that site moved to core Group blocks and patterns.</a:t>
            </a:r>
          </a:p>
        </p:txBody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6" name="Shape 426"/>
          <p:cNvSpPr/>
          <p:nvPr>
            <p:ph type="sldImg"/>
          </p:nvPr>
        </p:nvSpPr>
        <p:spPr>
          <a:prstGeom prst="rect">
            <a:avLst/>
          </a:prstGeom>
        </p:spPr>
        <p:txBody>
          <a:bodyPr/>
          <a:lstStyle/>
          <a:p>
            <a:pPr/>
          </a:p>
        </p:txBody>
      </p:sp>
      <p:sp>
        <p:nvSpPr>
          <p:cNvPr id="427" name="Shape 427"/>
          <p:cNvSpPr/>
          <p:nvPr>
            <p:ph type="body" sz="quarter" idx="1"/>
          </p:nvPr>
        </p:nvSpPr>
        <p:spPr>
          <a:prstGeom prst="rect">
            <a:avLst/>
          </a:prstGeom>
        </p:spPr>
        <p:txBody>
          <a:bodyPr/>
          <a:lstStyle/>
          <a:p>
            <a:pPr/>
            <a:r>
              <a:t>I am a traditional WordPress developer. I come from Underscores, with PHP, HTML and CSS.</a:t>
            </a:r>
          </a:p>
          <a:p>
            <a:pPr/>
            <a:r>
              <a:t>I never got into Sage, Twig, Blade or other templating languages.</a:t>
            </a:r>
          </a:p>
          <a:p>
            <a:pPr/>
            <a:r>
              <a:t>Then WordPress took a huge leap and moved to React.</a:t>
            </a:r>
          </a:p>
          <a:p>
            <a:pPr/>
            <a:r>
              <a:t>Learning React still paid off. It taught us how the block editor works, and now we can tell when a custom block is really needed.</a:t>
            </a:r>
          </a:p>
        </p:txBody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9" name="Shape 439"/>
          <p:cNvSpPr/>
          <p:nvPr>
            <p:ph type="sldImg"/>
          </p:nvPr>
        </p:nvSpPr>
        <p:spPr>
          <a:prstGeom prst="rect">
            <a:avLst/>
          </a:prstGeom>
        </p:spPr>
        <p:txBody>
          <a:bodyPr/>
          <a:lstStyle/>
          <a:p>
            <a:pPr/>
          </a:p>
        </p:txBody>
      </p:sp>
      <p:sp>
        <p:nvSpPr>
          <p:cNvPr id="440" name="Shape 440"/>
          <p:cNvSpPr/>
          <p:nvPr>
            <p:ph type="body" sz="quarter" idx="1"/>
          </p:nvPr>
        </p:nvSpPr>
        <p:spPr>
          <a:prstGeom prst="rect">
            <a:avLst/>
          </a:prstGeom>
        </p:spPr>
        <p:txBody>
          <a:bodyPr/>
          <a:lstStyle/>
          <a:p>
            <a:pPr/>
            <a:r>
              <a:t>This is the media and text block coded by hand, the way we built blocks in 2025 and 2026.</a:t>
            </a:r>
          </a:p>
          <a:p>
            <a:pPr/>
            <a:r>
              <a:t>Nine files. Every option needs an attribute in block.json and a control in edit.js.</a:t>
            </a:r>
          </a:p>
          <a:p>
            <a:pPr/>
            <a:r>
              <a:t>save.js must print the same HTML as the database, or the editor marks the block invalid.</a:t>
            </a:r>
          </a:p>
          <a:p>
            <a:pPr/>
            <a:r>
              <a:t>The core Media &amp; Text block already has all these controls. It has been in core since WordPress 5.0 in 2018.</a:t>
            </a:r>
          </a:p>
          <a:p>
            <a:pPr/>
            <a:r>
              <a:t>Our sidebar text fields lost bold text, links and lists.</a:t>
            </a:r>
          </a:p>
          <a:p>
            <a:pPr/>
            <a:r>
              <a:t>We maintained all this code ourselves, while core maintains the same block for free.</a:t>
            </a:r>
          </a:p>
          <a:p>
            <a:pPr/>
            <a:r>
              <a:t>Since 2021, theme.json can style the core Media &amp; Text block fully, with no code.</a:t>
            </a:r>
          </a:p>
        </p:txBody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0" name="Shape 450"/>
          <p:cNvSpPr/>
          <p:nvPr>
            <p:ph type="sldImg"/>
          </p:nvPr>
        </p:nvSpPr>
        <p:spPr>
          <a:prstGeom prst="rect">
            <a:avLst/>
          </a:prstGeom>
        </p:spPr>
        <p:txBody>
          <a:bodyPr/>
          <a:lstStyle/>
          <a:p>
            <a:pPr/>
          </a:p>
        </p:txBody>
      </p:sp>
      <p:sp>
        <p:nvSpPr>
          <p:cNvPr id="451" name="Shape 451"/>
          <p:cNvSpPr/>
          <p:nvPr>
            <p:ph type="body" sz="quarter" idx="1"/>
          </p:nvPr>
        </p:nvSpPr>
        <p:spPr>
          <a:prstGeom prst="rect">
            <a:avLst/>
          </a:prstGeom>
        </p:spPr>
        <p:txBody>
          <a:bodyPr/>
          <a:lstStyle/>
          <a:p>
            <a:pPr/>
            <a:r>
              <a:t>The block editor is built with React. React is for the people building WordPress core.</a:t>
            </a:r>
          </a:p>
          <a:p>
            <a:pPr/>
            <a:r>
              <a:t>Themes, patterns, block styles and theme.json need no React. They are HTML and JSON.</a:t>
            </a:r>
          </a:p>
          <a:p>
            <a:pPr/>
            <a:r>
              <a:t>You can build custom blocks without JSX or a build step.</a:t>
            </a:r>
          </a:p>
          <a:p>
            <a:pPr/>
            <a:r>
              <a:t>On the front end, the Interactivity API works without React.</a:t>
            </a:r>
          </a:p>
        </p:txBody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1" name="Shape 461"/>
          <p:cNvSpPr/>
          <p:nvPr>
            <p:ph type="sldImg"/>
          </p:nvPr>
        </p:nvSpPr>
        <p:spPr>
          <a:prstGeom prst="rect">
            <a:avLst/>
          </a:prstGeom>
        </p:spPr>
        <p:txBody>
          <a:bodyPr/>
          <a:lstStyle/>
          <a:p>
            <a:pPr/>
          </a:p>
        </p:txBody>
      </p:sp>
      <p:sp>
        <p:nvSpPr>
          <p:cNvPr id="462" name="Shape 462"/>
          <p:cNvSpPr/>
          <p:nvPr>
            <p:ph type="body" sz="quarter" idx="1"/>
          </p:nvPr>
        </p:nvSpPr>
        <p:spPr>
          <a:prstGeom prst="rect">
            <a:avLst/>
          </a:prstGeom>
        </p:spPr>
        <p:txBody>
          <a:bodyPr/>
          <a:lstStyle/>
          <a:p>
            <a:pPr/>
            <a:r>
              <a:t>Jokes aside, dependency-free here means no plugin owns the content.</a:t>
            </a:r>
          </a:p>
          <a:p>
            <a:pPr/>
            <a:r>
              <a:t>WordPress itself is the one dependency we choose on purpose.</a:t>
            </a:r>
          </a:p>
          <a:p>
            <a:pPr/>
            <a:r>
              <a:t>The rest of the talk shows our route away from ten years of ACF.</a:t>
            </a:r>
          </a:p>
        </p:txBody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83" name="Shape 483"/>
          <p:cNvSpPr/>
          <p:nvPr>
            <p:ph type="sldImg"/>
          </p:nvPr>
        </p:nvSpPr>
        <p:spPr>
          <a:prstGeom prst="rect">
            <a:avLst/>
          </a:prstGeom>
        </p:spPr>
        <p:txBody>
          <a:bodyPr/>
          <a:lstStyle/>
          <a:p>
            <a:pPr/>
          </a:p>
        </p:txBody>
      </p:sp>
      <p:sp>
        <p:nvSpPr>
          <p:cNvPr id="484" name="Shape 484"/>
          <p:cNvSpPr/>
          <p:nvPr>
            <p:ph type="body" sz="quarter" idx="1"/>
          </p:nvPr>
        </p:nvSpPr>
        <p:spPr>
          <a:prstGeom prst="rect">
            <a:avLst/>
          </a:prstGeom>
        </p:spPr>
        <p:txBody>
          <a:bodyPr/>
          <a:lstStyle/>
          <a:p>
            <a:pPr/>
            <a:r>
              <a:t>I stuck to PHP, HTML and CSS and the core way. The core way avoids vendor lock-in, and it feels good to build things the way core intended.</a:t>
            </a:r>
          </a:p>
          <a:p>
            <a:pPr/>
            <a:r>
              <a:t>Traditional: Underscores from Automattic, launched in 2012. PHP templates and the template hierarchy.</a:t>
            </a:r>
          </a:p>
          <a:p>
            <a:pPr/>
            <a:r>
              <a:t>Innovative: Sage by Roots, started in 2011. Blade views, Composer and Vite.</a:t>
            </a:r>
          </a:p>
          <a:p>
            <a:pPr/>
            <a:r>
              <a:t>Modern: block themes since WordPress 5.9 in 2022. HTML templates and theme.json, edited in the Site Editor.</a:t>
            </a:r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21" name="Shape 521"/>
          <p:cNvSpPr/>
          <p:nvPr>
            <p:ph type="sldImg"/>
          </p:nvPr>
        </p:nvSpPr>
        <p:spPr>
          <a:prstGeom prst="rect">
            <a:avLst/>
          </a:prstGeom>
        </p:spPr>
        <p:txBody>
          <a:bodyPr/>
          <a:lstStyle/>
          <a:p>
            <a:pPr/>
          </a:p>
        </p:txBody>
      </p:sp>
      <p:sp>
        <p:nvSpPr>
          <p:cNvPr id="522" name="Shape 522"/>
          <p:cNvSpPr/>
          <p:nvPr>
            <p:ph type="body" sz="quarter" idx="1"/>
          </p:nvPr>
        </p:nvSpPr>
        <p:spPr>
          <a:prstGeom prst="rect">
            <a:avLst/>
          </a:prstGeom>
        </p:spPr>
        <p:txBody>
          <a:bodyPr/>
          <a:lstStyle/>
          <a:p>
            <a:pPr/>
            <a:r>
              <a:t>You do not have to jump in one go. Every step works inside a classic theme, and that makes a hybrid theme.</a:t>
            </a:r>
          </a:p>
          <a:p>
            <a:pPr/>
            <a:r>
              <a:t>Step 1: replace ACF blocks with core blocks, patterns and your own blocks.</a:t>
            </a:r>
          </a:p>
          <a:p>
            <a:pPr/>
            <a:r>
              <a:t>Step 2: replace ACF fields with register_post_meta() and Block Bindings.</a:t>
            </a:r>
          </a:p>
          <a:p>
            <a:pPr/>
            <a:r>
              <a:t>Step 3: add theme.json to the classic theme.</a:t>
            </a:r>
          </a:p>
          <a:p>
            <a:pPr/>
            <a:r>
              <a:t>Step 4: add block template parts for the header and footer.</a:t>
            </a:r>
          </a:p>
          <a:p>
            <a:pPr/>
            <a:r>
              <a:t>The last step is a full block theme with HTML templates.</a:t>
            </a:r>
          </a:p>
          <a:p>
            <a:pPr/>
            <a:r>
              <a:t>A hybrid theme is a fine place to stop.</a:t>
            </a:r>
          </a:p>
          <a:p>
            <a:pPr/>
            <a:r>
              <a:t>If asked about full site editing: block themes had 8.3% of non-default theme installs in June 2026. Classic themes still win about 11 to 1.</a:t>
            </a:r>
          </a:p>
          <a:p>
            <a:pPr/>
            <a:r>
              <a:t>If asked: templates edited in the Site Editor are saved to the database and drift from git.</a:t>
            </a:r>
          </a:p>
        </p:txBody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0" name="Shape 540"/>
          <p:cNvSpPr/>
          <p:nvPr>
            <p:ph type="sldImg"/>
          </p:nvPr>
        </p:nvSpPr>
        <p:spPr>
          <a:prstGeom prst="rect">
            <a:avLst/>
          </a:prstGeom>
        </p:spPr>
        <p:txBody>
          <a:bodyPr/>
          <a:lstStyle/>
          <a:p>
            <a:pPr/>
          </a:p>
        </p:txBody>
      </p:sp>
      <p:sp>
        <p:nvSpPr>
          <p:cNvPr id="541" name="Shape 541"/>
          <p:cNvSpPr/>
          <p:nvPr>
            <p:ph type="body" sz="quarter" idx="1"/>
          </p:nvPr>
        </p:nvSpPr>
        <p:spPr>
          <a:prstGeom prst="rect">
            <a:avLst/>
          </a:prstGeom>
        </p:spPr>
        <p:txBody>
          <a:bodyPr/>
          <a:lstStyle/>
          <a:p>
            <a:pPr/>
            <a:r>
              <a:t>Performance: work moves from the server to the browser. The next slide shows the difference.</a:t>
            </a:r>
          </a:p>
          <a:p>
            <a:pPr/>
            <a:r>
              <a:t>The basics are built in: heading levels, colours and spacing. With ACF, even changing an h1 to an h2 was a job for a developer.</a:t>
            </a:r>
          </a:p>
          <a:p>
            <a:pPr/>
            <a:r>
              <a:t>Our editors could not add bold text or a link in the middle of a sentence in the ACF WYSIWYG field.</a:t>
            </a:r>
          </a:p>
          <a:p>
            <a:pPr/>
            <a:r>
              <a:t>The client edits in the preview. Our big ACF blocks flickered every time you touched them.</a:t>
            </a:r>
          </a:p>
          <a:p>
            <a:pPr/>
            <a:r>
              <a:t>Lego and Duplo at once: big and small pieces, mixed freely.</a:t>
            </a:r>
          </a:p>
          <a:p>
            <a:pPr/>
            <a:r>
              <a:t>A client once called an old site "the WordPress straitjacket Dude knitted". He was half joking.</a:t>
            </a:r>
          </a:p>
        </p:txBody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86" name="Shape 586"/>
          <p:cNvSpPr/>
          <p:nvPr>
            <p:ph type="sldImg"/>
          </p:nvPr>
        </p:nvSpPr>
        <p:spPr>
          <a:prstGeom prst="rect">
            <a:avLst/>
          </a:prstGeom>
        </p:spPr>
        <p:txBody>
          <a:bodyPr/>
          <a:lstStyle/>
          <a:p>
            <a:pPr/>
          </a:p>
        </p:txBody>
      </p:sp>
      <p:sp>
        <p:nvSpPr>
          <p:cNvPr id="587" name="Shape 587"/>
          <p:cNvSpPr/>
          <p:nvPr>
            <p:ph type="body" sz="quarter" idx="1"/>
          </p:nvPr>
        </p:nvSpPr>
        <p:spPr>
          <a:prstGeom prst="rect">
            <a:avLst/>
          </a:prstGeom>
        </p:spPr>
        <p:txBody>
          <a:bodyPr/>
          <a:lstStyle/>
          <a:p>
            <a:pPr/>
            <a:r>
              <a:t>With ACF, things live in four places: field groups in the database, the ACF plugin, PHP templates and wp_postmeta.</a:t>
            </a:r>
          </a:p>
          <a:p>
            <a:pPr/>
            <a:r>
              <a:t>Lose the database and you lose the field groups. ACF added Local JSON in 2014 to copy them into the theme for git.</a:t>
            </a:r>
          </a:p>
          <a:p>
            <a:pPr/>
            <a:r>
              <a:t>Many of us built field groups in code instead, with acf_add_local_field_group() or ACF Codifier. That adds one more dependency on top of ACF.</a:t>
            </a:r>
          </a:p>
          <a:p>
            <a:pPr/>
            <a:r>
              <a:t>With core blocks there are three places and no plugin: the block in core, the styles in theme.json and the content in post_content.</a:t>
            </a:r>
          </a:p>
          <a:p>
            <a:pPr/>
            <a:r>
              <a:t>There are no field groups to set up. The block is the field.</a:t>
            </a:r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3" name="Shape 633"/>
          <p:cNvSpPr/>
          <p:nvPr>
            <p:ph type="sldImg"/>
          </p:nvPr>
        </p:nvSpPr>
        <p:spPr>
          <a:prstGeom prst="rect">
            <a:avLst/>
          </a:prstGeom>
        </p:spPr>
        <p:txBody>
          <a:bodyPr/>
          <a:lstStyle/>
          <a:p>
            <a:pPr/>
          </a:p>
        </p:txBody>
      </p:sp>
      <p:sp>
        <p:nvSpPr>
          <p:cNvPr id="634" name="Shape 634"/>
          <p:cNvSpPr/>
          <p:nvPr>
            <p:ph type="body" sz="quarter" idx="1"/>
          </p:nvPr>
        </p:nvSpPr>
        <p:spPr>
          <a:prstGeom prst="rect">
            <a:avLst/>
          </a:prstGeom>
        </p:spPr>
        <p:txBody>
          <a:bodyPr/>
          <a:lstStyle/>
          <a:p>
            <a:pPr/>
            <a:r>
              <a:t>With ACF, PHP renders every block on every cache miss and reads the fields one at a time from the database.</a:t>
            </a:r>
          </a:p>
          <a:p>
            <a:pPr/>
            <a:r>
              <a:t>With core blocks, the block markup is already saved in the page, so there is nothing to build.</a:t>
            </a:r>
          </a:p>
          <a:p>
            <a:pPr/>
            <a:r>
              <a:t>Only the live parts, like a job listing, fetch data from the REST API in the browser.</a:t>
            </a:r>
          </a:p>
          <a:p>
            <a:pPr/>
            <a:r>
              <a:t>A cache hit ends the request in both cases.</a:t>
            </a:r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50" name="Shape 650"/>
          <p:cNvSpPr/>
          <p:nvPr>
            <p:ph type="sldImg"/>
          </p:nvPr>
        </p:nvSpPr>
        <p:spPr>
          <a:prstGeom prst="rect">
            <a:avLst/>
          </a:prstGeom>
        </p:spPr>
        <p:txBody>
          <a:bodyPr/>
          <a:lstStyle/>
          <a:p>
            <a:pPr/>
          </a:p>
        </p:txBody>
      </p:sp>
      <p:sp>
        <p:nvSpPr>
          <p:cNvPr id="651" name="Shape 651"/>
          <p:cNvSpPr/>
          <p:nvPr>
            <p:ph type="body" sz="quarter" idx="1"/>
          </p:nvPr>
        </p:nvSpPr>
        <p:spPr>
          <a:prstGeom prst="rect">
            <a:avLst/>
          </a:prstGeom>
        </p:spPr>
        <p:txBody>
          <a:bodyPr/>
          <a:lstStyle/>
          <a:p>
            <a:pPr/>
            <a:r>
              <a:t>The cons: a steep learning curve for the whole team.</a:t>
            </a:r>
          </a:p>
          <a:p>
            <a:pPr/>
            <a:r>
              <a:t>Less PHP and more JSON, in theme.json and block.json.</a:t>
            </a:r>
          </a:p>
          <a:p>
            <a:pPr/>
            <a:r>
              <a:t>Old habits to unlearn: we used to build every block from scratch.</a:t>
            </a:r>
          </a:p>
          <a:p>
            <a:pPr/>
            <a:r>
              <a:t>Heavy build tooling for custom blocks: React, npm and a build step.</a:t>
            </a:r>
          </a:p>
          <a:p>
            <a:pPr/>
            <a:r>
              <a:t>Core moves fast, and the docs are scattered.</a:t>
            </a:r>
          </a:p>
          <a:p>
            <a:pPr/>
            <a:r>
              <a:t>I said this would take our team a year or more to absorb. It is wonderful and horrible at the same time.</a:t>
            </a:r>
          </a:p>
        </p:txBody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1" name="Shape 661"/>
          <p:cNvSpPr/>
          <p:nvPr>
            <p:ph type="sldImg"/>
          </p:nvPr>
        </p:nvSpPr>
        <p:spPr>
          <a:prstGeom prst="rect">
            <a:avLst/>
          </a:prstGeom>
        </p:spPr>
        <p:txBody>
          <a:bodyPr/>
          <a:lstStyle/>
          <a:p>
            <a:pPr/>
          </a:p>
        </p:txBody>
      </p:sp>
      <p:sp>
        <p:nvSpPr>
          <p:cNvPr id="662" name="Shape 662"/>
          <p:cNvSpPr/>
          <p:nvPr>
            <p:ph type="body" sz="quarter" idx="1"/>
          </p:nvPr>
        </p:nvSpPr>
        <p:spPr>
          <a:prstGeom prst="rect">
            <a:avLst/>
          </a:prstGeom>
        </p:spPr>
        <p:txBody>
          <a:bodyPr/>
          <a:lstStyle/>
          <a:p>
            <a:pPr/>
            <a:r>
              <a:t>Designers used to limit the client. Now the client gets full freedom.</a:t>
            </a:r>
          </a:p>
          <a:p>
            <a:pPr/>
            <a:r>
              <a:t>Every block has to look like the client's brand in any combination.</a:t>
            </a:r>
          </a:p>
          <a:p>
            <a:pPr/>
            <a:r>
              <a:t>With great power comes great responsibility.</a:t>
            </a:r>
          </a:p>
          <a:p>
            <a:pPr/>
            <a:r>
              <a:t>The design system lives in theme.json, block styles and patterns. We lock the parts that must not change.</a:t>
            </a:r>
          </a:p>
          <a:p>
            <a:pPr/>
            <a:r>
              <a:t>We give as many choices as we can and make them all look good.</a:t>
            </a:r>
          </a:p>
        </p:txBody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8" name="Shape 718"/>
          <p:cNvSpPr/>
          <p:nvPr>
            <p:ph type="sldImg"/>
          </p:nvPr>
        </p:nvSpPr>
        <p:spPr>
          <a:prstGeom prst="rect">
            <a:avLst/>
          </a:prstGeom>
        </p:spPr>
        <p:txBody>
          <a:bodyPr/>
          <a:lstStyle/>
          <a:p>
            <a:pPr/>
          </a:p>
        </p:txBody>
      </p:sp>
      <p:sp>
        <p:nvSpPr>
          <p:cNvPr id="719" name="Shape 719"/>
          <p:cNvSpPr/>
          <p:nvPr>
            <p:ph type="body" sz="quarter" idx="1"/>
          </p:nvPr>
        </p:nvSpPr>
        <p:spPr>
          <a:prstGeom prst="rect">
            <a:avLst/>
          </a:prstGeom>
        </p:spPr>
        <p:txBody>
          <a:bodyPr/>
          <a:lstStyle/>
          <a:p>
            <a:pPr/>
            <a:r>
              <a:t>There are 21 ways to build a block. No wonder moving off ACF feels confusing.</a:t>
            </a:r>
          </a:p>
          <a:p>
            <a:pPr/>
            <a:r>
              <a:t>You do not need all of them.</a:t>
            </a:r>
          </a:p>
          <a:p>
            <a:pPr/>
            <a:r>
              <a:t>Column 1 needs no custom code: core blocks, variations, patterns, styles and synced patterns.</a:t>
            </a:r>
          </a:p>
          <a:p>
            <a:pPr/>
            <a:r>
              <a:t>Column 2 is your own code: block.json, render.php, React, InnerBlocks and the Interactivity API.</a:t>
            </a:r>
          </a:p>
          <a:p>
            <a:pPr/>
            <a:r>
              <a:t>Column 3 has the in-betweens and third parties: ACF blocks, Block Bindings and page builders.</a:t>
            </a:r>
          </a:p>
          <a:p>
            <a:pPr/>
            <a:r>
              <a:t>Elementor stores layouts as JSON in post meta, so the content needs the plugin. Same problem as ACF, only bigger.</a:t>
            </a:r>
          </a:p>
        </p:txBody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33" name="Shape 733"/>
          <p:cNvSpPr/>
          <p:nvPr>
            <p:ph type="sldImg"/>
          </p:nvPr>
        </p:nvSpPr>
        <p:spPr>
          <a:prstGeom prst="rect">
            <a:avLst/>
          </a:prstGeom>
        </p:spPr>
        <p:txBody>
          <a:bodyPr/>
          <a:lstStyle/>
          <a:p>
            <a:pPr/>
          </a:p>
        </p:txBody>
      </p:sp>
      <p:sp>
        <p:nvSpPr>
          <p:cNvPr id="734" name="Shape 734"/>
          <p:cNvSpPr/>
          <p:nvPr>
            <p:ph type="body" sz="quarter" idx="1"/>
          </p:nvPr>
        </p:nvSpPr>
        <p:spPr>
          <a:prstGeom prst="rect">
            <a:avLst/>
          </a:prstGeom>
        </p:spPr>
        <p:txBody>
          <a:bodyPr/>
          <a:lstStyle/>
          <a:p>
            <a:pPr/>
            <a:r>
              <a:t>Go in this order: core blocks, then patterns, then variations and styles.</a:t>
            </a:r>
          </a:p>
          <a:p>
            <a:pPr/>
            <a:r>
              <a:t>Write a custom block only when nothing above fits.</a:t>
            </a:r>
          </a:p>
          <a:p>
            <a:pPr/>
            <a:r>
              <a:t>If asked: 115 is the core block count in WordPress 7.1.</a:t>
            </a:r>
          </a:p>
        </p:txBody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45" name="Shape 745"/>
          <p:cNvSpPr/>
          <p:nvPr>
            <p:ph type="sldImg"/>
          </p:nvPr>
        </p:nvSpPr>
        <p:spPr>
          <a:prstGeom prst="rect">
            <a:avLst/>
          </a:prstGeom>
        </p:spPr>
        <p:txBody>
          <a:bodyPr/>
          <a:lstStyle/>
          <a:p>
            <a:pPr/>
          </a:p>
        </p:txBody>
      </p:sp>
      <p:sp>
        <p:nvSpPr>
          <p:cNvPr id="746" name="Shape 746"/>
          <p:cNvSpPr/>
          <p:nvPr>
            <p:ph type="body" sz="quarter" idx="1"/>
          </p:nvPr>
        </p:nvSpPr>
        <p:spPr>
          <a:prstGeom prst="rect">
            <a:avLst/>
          </a:prstGeom>
        </p:spPr>
        <p:txBody>
          <a:bodyPr/>
          <a:lstStyle/>
          <a:p>
            <a:pPr/>
            <a:r>
              <a:t>The same block, built two ways.</a:t>
            </a:r>
          </a:p>
          <a:p>
            <a:pPr/>
            <a:r>
              <a:t>Left: our most recent ACF site, launched in 5.2026. The editor fills a fixed form with a title, a text box, a link and an image.</a:t>
            </a:r>
          </a:p>
          <a:p>
            <a:pPr/>
            <a:r>
              <a:t>Every new variation needs a developer to add a field.</a:t>
            </a:r>
          </a:p>
          <a:p>
            <a:pPr/>
            <a:r>
              <a:t>Right: the core Media &amp; Text block, in core since WordPress 5.0. There is nothing to build.</a:t>
            </a:r>
          </a:p>
          <a:p>
            <a:pPr/>
            <a:r>
              <a:t>The client can put any blocks inside it, like headings, lists and buttons.</a:t>
            </a:r>
          </a:p>
          <a:p>
            <a:pPr/>
            <a:r>
              <a:t>theme.json and block styles handle the look. A pattern file gives editors a ready starting point.</a:t>
            </a:r>
          </a:p>
        </p:txBody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6" name="Shape 756"/>
          <p:cNvSpPr/>
          <p:nvPr>
            <p:ph type="sldImg"/>
          </p:nvPr>
        </p:nvSpPr>
        <p:spPr>
          <a:prstGeom prst="rect">
            <a:avLst/>
          </a:prstGeom>
        </p:spPr>
        <p:txBody>
          <a:bodyPr/>
          <a:lstStyle/>
          <a:p>
            <a:pPr/>
          </a:p>
        </p:txBody>
      </p:sp>
      <p:sp>
        <p:nvSpPr>
          <p:cNvPr id="757" name="Shape 757"/>
          <p:cNvSpPr/>
          <p:nvPr>
            <p:ph type="body" sz="quarter" idx="1"/>
          </p:nvPr>
        </p:nvSpPr>
        <p:spPr>
          <a:prstGeom prst="rect">
            <a:avLst/>
          </a:prstGeom>
        </p:spPr>
        <p:txBody>
          <a:bodyPr/>
          <a:lstStyle/>
          <a:p>
            <a:pPr/>
            <a:r>
              <a:t>Search the inserter first. The core block often already exists.</a:t>
            </a:r>
          </a:p>
          <a:p>
            <a:pPr/>
            <a:r>
              <a:t>One of our 2026 sites has zero custom blocks: core blocks, three block styles, theme.json and patterns.</a:t>
            </a:r>
          </a:p>
        </p:txBody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79" name="Shape 779"/>
          <p:cNvSpPr/>
          <p:nvPr>
            <p:ph type="sldImg"/>
          </p:nvPr>
        </p:nvSpPr>
        <p:spPr>
          <a:prstGeom prst="rect">
            <a:avLst/>
          </a:prstGeom>
        </p:spPr>
        <p:txBody>
          <a:bodyPr/>
          <a:lstStyle/>
          <a:p>
            <a:pPr/>
          </a:p>
        </p:txBody>
      </p:sp>
      <p:sp>
        <p:nvSpPr>
          <p:cNvPr id="780" name="Shape 780"/>
          <p:cNvSpPr/>
          <p:nvPr>
            <p:ph type="body" sz="quarter" idx="1"/>
          </p:nvPr>
        </p:nvSpPr>
        <p:spPr>
          <a:prstGeom prst="rect">
            <a:avLst/>
          </a:prstGeom>
        </p:spPr>
        <p:txBody>
          <a:bodyPr/>
          <a:lstStyle/>
          <a:p>
            <a:pPr/>
            <a:r>
              <a:t>When we do write code, we follow this order at Dude.</a:t>
            </a:r>
          </a:p>
          <a:p>
            <a:pPr/>
            <a:r>
              <a:t>1. Lock theme.json first: palette, type scale and spacing. The client picks from our scale.</a:t>
            </a:r>
          </a:p>
          <a:p>
            <a:pPr/>
            <a:r>
              <a:t>2. Core blocks by default, curated per post type.</a:t>
            </a:r>
          </a:p>
          <a:p>
            <a:pPr/>
            <a:r>
              <a:t>3. Style core blocks in theme.json. SCSS only for the rest.</a:t>
            </a:r>
          </a:p>
          <a:p>
            <a:pPr/>
            <a:r>
              <a:t>4. Layouts are patterns. We deleted custom blocks that were only layout.</a:t>
            </a:r>
          </a:p>
          <a:p>
            <a:pPr/>
            <a:r>
              <a:t>5. Public data comes from the REST API and renders in the browser. We avoid render.php.</a:t>
            </a:r>
          </a:p>
          <a:p>
            <a:pPr/>
            <a:r>
              <a:t>6. Interactive parts use the Interactivity API. No React on the front end.</a:t>
            </a:r>
          </a:p>
          <a:p>
            <a:pPr/>
            <a:r>
              <a:t>7. A custom block is the last resort.</a:t>
            </a:r>
          </a:p>
          <a:p>
            <a:pPr/>
            <a:r>
              <a:t>ACF is still installed on these sites, but it builds no blocks. It handles data forms like settings screens.</a:t>
            </a:r>
          </a:p>
          <a:p>
            <a:pPr/>
            <a:r>
              <a:t>If asked: some of our current blocks still use render.php, and we are moving away from it.</a:t>
            </a:r>
          </a:p>
        </p:txBody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4" name="Shape 794"/>
          <p:cNvSpPr/>
          <p:nvPr>
            <p:ph type="sldImg"/>
          </p:nvPr>
        </p:nvSpPr>
        <p:spPr>
          <a:prstGeom prst="rect">
            <a:avLst/>
          </a:prstGeom>
        </p:spPr>
        <p:txBody>
          <a:bodyPr/>
          <a:lstStyle/>
          <a:p>
            <a:pPr/>
          </a:p>
        </p:txBody>
      </p:sp>
      <p:sp>
        <p:nvSpPr>
          <p:cNvPr id="795" name="Shape 795"/>
          <p:cNvSpPr/>
          <p:nvPr>
            <p:ph type="body" sz="quarter" idx="1"/>
          </p:nvPr>
        </p:nvSpPr>
        <p:spPr>
          <a:prstGeom prst="rect">
            <a:avLst/>
          </a:prstGeom>
        </p:spPr>
        <p:txBody>
          <a:bodyPr/>
          <a:lstStyle/>
          <a:p>
            <a:pPr/>
            <a:r>
              <a:t>Our first full site editing build was a small route guide site, from 5.2026 to 6.2026.</a:t>
            </a:r>
          </a:p>
          <a:p>
            <a:pPr/>
            <a:r>
              <a:t>Templates and parts are HTML files. theme.json turns off custom colours and sizes.</a:t>
            </a:r>
          </a:p>
          <a:p>
            <a:pPr/>
            <a:r>
              <a:t>No custom blocks and no ACF. Editors change the header, footer and menus in the Site Editor.</a:t>
            </a:r>
          </a:p>
          <a:p>
            <a:pPr/>
            <a:r>
              <a:t>Lesson 1: git and the database drift apart. A Site Editor change on production stays in the database. Decide up front if files or the database own the templates.</a:t>
            </a:r>
          </a:p>
          <a:p>
            <a:pPr/>
            <a:r>
              <a:t>Lesson 2: core Navigation does not suit a sidebar menu. We solved it with our own JS and SCSS.</a:t>
            </a:r>
          </a:p>
          <a:p>
            <a:pPr/>
            <a:r>
              <a:t>Lesson 3: multilingual was hard with Polylang.</a:t>
            </a:r>
          </a:p>
        </p:txBody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09" name="Shape 809"/>
          <p:cNvSpPr/>
          <p:nvPr>
            <p:ph type="sldImg"/>
          </p:nvPr>
        </p:nvSpPr>
        <p:spPr>
          <a:prstGeom prst="rect">
            <a:avLst/>
          </a:prstGeom>
        </p:spPr>
        <p:txBody>
          <a:bodyPr/>
          <a:lstStyle/>
          <a:p>
            <a:pPr/>
          </a:p>
        </p:txBody>
      </p:sp>
      <p:sp>
        <p:nvSpPr>
          <p:cNvPr id="810" name="Shape 810"/>
          <p:cNvSpPr/>
          <p:nvPr>
            <p:ph type="body" sz="quarter" idx="1"/>
          </p:nvPr>
        </p:nvSpPr>
        <p:spPr>
          <a:prstGeom prst="rect">
            <a:avLst/>
          </a:prstGeom>
        </p:spPr>
        <p:txBody>
          <a:bodyPr/>
          <a:lstStyle/>
          <a:p>
            <a:pPr/>
            <a:r>
              <a:t>So far it was all page content. Custom post types and their fields work without ACF too.</a:t>
            </a:r>
          </a:p>
          <a:p>
            <a:pPr/>
            <a:r>
              <a:t>register_post_type() goes in the theme. It has been in core since 2010.</a:t>
            </a:r>
          </a:p>
          <a:p>
            <a:pPr/>
            <a:r>
              <a:t>register_post_meta() adds the fields, and Block Bindings show them. The editor edits them in place.</a:t>
            </a:r>
          </a:p>
          <a:p>
            <a:pPr/>
            <a:r>
              <a:t>Templates and the Query Loop block handle single and archive pages.</a:t>
            </a:r>
          </a:p>
          <a:p>
            <a:pPr/>
            <a:r>
              <a:t>ACF still makes sense for repeaters, relationships and options pages. Core has no editing UI for those.</a:t>
            </a:r>
          </a:p>
        </p:txBody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7" name="Shape 817"/>
          <p:cNvSpPr/>
          <p:nvPr>
            <p:ph type="sldImg"/>
          </p:nvPr>
        </p:nvSpPr>
        <p:spPr>
          <a:prstGeom prst="rect">
            <a:avLst/>
          </a:prstGeom>
        </p:spPr>
        <p:txBody>
          <a:bodyPr/>
          <a:lstStyle/>
          <a:p>
            <a:pPr/>
          </a:p>
        </p:txBody>
      </p:sp>
      <p:sp>
        <p:nvSpPr>
          <p:cNvPr id="818" name="Shape 818"/>
          <p:cNvSpPr/>
          <p:nvPr>
            <p:ph type="body" sz="quarter" idx="1"/>
          </p:nvPr>
        </p:nvSpPr>
        <p:spPr>
          <a:prstGeom prst="rect">
            <a:avLst/>
          </a:prstGeom>
        </p:spPr>
        <p:txBody>
          <a:bodyPr/>
          <a:lstStyle/>
          <a:p>
            <a:pPr/>
            <a:r>
              <a:t>If you take one thing home, take patterns.</a:t>
            </a:r>
          </a:p>
          <a:p>
            <a:pPr/>
            <a:r>
              <a:t>Patterns need no code and work in every theme, classic or block.</a:t>
            </a:r>
          </a:p>
          <a:p>
            <a:pPr/>
            <a:r>
              <a:t>They are the fastest way away from ACF blocks.</a:t>
            </a:r>
          </a:p>
        </p:txBody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32" name="Shape 832"/>
          <p:cNvSpPr/>
          <p:nvPr>
            <p:ph type="sldImg"/>
          </p:nvPr>
        </p:nvSpPr>
        <p:spPr>
          <a:prstGeom prst="rect">
            <a:avLst/>
          </a:prstGeom>
        </p:spPr>
        <p:txBody>
          <a:bodyPr/>
          <a:lstStyle/>
          <a:p>
            <a:pPr/>
          </a:p>
        </p:txBody>
      </p:sp>
      <p:sp>
        <p:nvSpPr>
          <p:cNvPr id="833" name="Shape 833"/>
          <p:cNvSpPr/>
          <p:nvPr>
            <p:ph type="body" sz="quarter" idx="1"/>
          </p:nvPr>
        </p:nvSpPr>
        <p:spPr>
          <a:prstGeom prst="rect">
            <a:avLst/>
          </a:prstGeom>
        </p:spPr>
        <p:txBody>
          <a:bodyPr/>
          <a:lstStyle/>
          <a:p>
            <a:pPr/>
            <a:r>
              <a:t>We went through the 49 ACF blocks of one client site. 32 of them only printed layout and text.</a:t>
            </a:r>
          </a:p>
          <a:p>
            <a:pPr/>
            <a:r>
              <a:t>Every one of them could have been a pattern.</a:t>
            </a:r>
          </a:p>
          <a:p>
            <a:pPr/>
            <a:r>
              <a:t>A pattern is core blocks arranged once and saved. The client can change anything in it.</a:t>
            </a:r>
          </a:p>
          <a:p>
            <a:pPr/>
            <a:r>
              <a:t>Patterns have been in core since WordPress 5.5 in 2020.</a:t>
            </a:r>
          </a:p>
        </p:txBody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6" name="Shape 846"/>
          <p:cNvSpPr/>
          <p:nvPr>
            <p:ph type="sldImg"/>
          </p:nvPr>
        </p:nvSpPr>
        <p:spPr>
          <a:prstGeom prst="rect">
            <a:avLst/>
          </a:prstGeom>
        </p:spPr>
        <p:txBody>
          <a:bodyPr/>
          <a:lstStyle/>
          <a:p>
            <a:pPr/>
          </a:p>
        </p:txBody>
      </p:sp>
      <p:sp>
        <p:nvSpPr>
          <p:cNvPr id="847" name="Shape 847"/>
          <p:cNvSpPr/>
          <p:nvPr>
            <p:ph type="body" sz="quarter" idx="1"/>
          </p:nvPr>
        </p:nvSpPr>
        <p:spPr>
          <a:prstGeom prst="rect">
            <a:avLst/>
          </a:prstGeom>
        </p:spPr>
        <p:txBody>
          <a:bodyPr/>
          <a:lstStyle/>
          <a:p>
            <a:pPr/>
            <a:r>
              <a:t>New from the last weeks.</a:t>
            </a:r>
          </a:p>
          <a:p>
            <a:pPr/>
            <a:r>
              <a:t>A new empty page opens on a blank canvas, and clients do not find the finished sections.</a:t>
            </a:r>
          </a:p>
          <a:p>
            <a:pPr/>
            <a:r>
              <a:t>The core pattern window only shows patterns registered for post content. Patterns saved in the editor never show there.</a:t>
            </a:r>
          </a:p>
          <a:p>
            <a:pPr/>
            <a:r>
              <a:t>Left: the core way, for patterns in theme files.</a:t>
            </a:r>
          </a:p>
          <a:p>
            <a:pPr/>
            <a:r>
              <a:t>Right: our fix for editor-saved patterns. A new empty page opens the inserter on the Patterns tab.</a:t>
            </a:r>
          </a:p>
          <a:p>
            <a:pPr/>
            <a:r>
              <a:t>This is coming to air-helper, on by default, with a filter to turn it off.</a:t>
            </a:r>
          </a:p>
          <a:p>
            <a:pPr/>
            <a:r>
              <a:t>If asked: it uses __experimental props, so we recheck it on every major release.</a:t>
            </a:r>
          </a:p>
        </p:txBody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4" name="Shape 854"/>
          <p:cNvSpPr/>
          <p:nvPr>
            <p:ph type="sldImg"/>
          </p:nvPr>
        </p:nvSpPr>
        <p:spPr>
          <a:prstGeom prst="rect">
            <a:avLst/>
          </a:prstGeom>
        </p:spPr>
        <p:txBody>
          <a:bodyPr/>
          <a:lstStyle/>
          <a:p>
            <a:pPr/>
          </a:p>
        </p:txBody>
      </p:sp>
      <p:sp>
        <p:nvSpPr>
          <p:cNvPr id="855" name="Shape 855"/>
          <p:cNvSpPr/>
          <p:nvPr>
            <p:ph type="body" sz="quarter" idx="1"/>
          </p:nvPr>
        </p:nvSpPr>
        <p:spPr>
          <a:prstGeom prst="rect">
            <a:avLst/>
          </a:prstGeom>
        </p:spPr>
        <p:txBody>
          <a:bodyPr/>
          <a:lstStyle/>
          <a:p>
            <a:pPr/>
            <a:r>
              <a:t>The client opens a new page, and the Patterns tab is already open.</a:t>
            </a:r>
          </a:p>
          <a:p>
            <a:pPr/>
            <a:r>
              <a:t>The finished sections are right there. Drag one in and edit it.</a:t>
            </a:r>
          </a:p>
        </p:txBody>
      </p:sp>
    </p:spTree>
  </p:cSld>
  <p:clrMapOvr>
    <a:masterClrMapping/>
  </p:clrMapOvr>
</p:notes>
</file>

<file path=ppt/notesSlides/notesSlide40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70" name="Shape 870"/>
          <p:cNvSpPr/>
          <p:nvPr>
            <p:ph type="sldImg"/>
          </p:nvPr>
        </p:nvSpPr>
        <p:spPr>
          <a:prstGeom prst="rect">
            <a:avLst/>
          </a:prstGeom>
        </p:spPr>
        <p:txBody>
          <a:bodyPr/>
          <a:lstStyle/>
          <a:p>
            <a:pPr/>
          </a:p>
        </p:txBody>
      </p:sp>
      <p:sp>
        <p:nvSpPr>
          <p:cNvPr id="871" name="Shape 871"/>
          <p:cNvSpPr/>
          <p:nvPr>
            <p:ph type="body" sz="quarter" idx="1"/>
          </p:nvPr>
        </p:nvSpPr>
        <p:spPr>
          <a:prstGeom prst="rect">
            <a:avLst/>
          </a:prstGeom>
        </p:spPr>
        <p:txBody>
          <a:bodyPr/>
          <a:lstStyle/>
          <a:p>
            <a:pPr/>
            <a:r>
              <a:t>AI is great for learning this, with one caution.</a:t>
            </a:r>
          </a:p>
          <a:p>
            <a:pPr/>
            <a:r>
              <a:t>AI makes the same mistakes we did. Ask for a block and it often writes a full React block.</a:t>
            </a:r>
          </a:p>
          <a:p>
            <a:pPr/>
            <a:r>
              <a:t>Give it the priority order first: core blocks, patterns, block styles, and a custom block last.</a:t>
            </a:r>
          </a:p>
          <a:p>
            <a:pPr/>
            <a:r>
              <a:t>Ask it to show the handbook page behind the answer. Review the code like a colleague's code.</a:t>
            </a:r>
          </a:p>
        </p:txBody>
      </p:sp>
    </p:spTree>
  </p:cSld>
  <p:clrMapOvr>
    <a:masterClrMapping/>
  </p:clrMapOvr>
</p:notes>
</file>

<file path=ppt/notesSlides/notesSlide41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3" name="Shape 883"/>
          <p:cNvSpPr/>
          <p:nvPr>
            <p:ph type="sldImg"/>
          </p:nvPr>
        </p:nvSpPr>
        <p:spPr>
          <a:prstGeom prst="rect">
            <a:avLst/>
          </a:prstGeom>
        </p:spPr>
        <p:txBody>
          <a:bodyPr/>
          <a:lstStyle/>
          <a:p>
            <a:pPr/>
          </a:p>
        </p:txBody>
      </p:sp>
      <p:sp>
        <p:nvSpPr>
          <p:cNvPr id="884" name="Shape 884"/>
          <p:cNvSpPr/>
          <p:nvPr>
            <p:ph type="body" sz="quarter" idx="1"/>
          </p:nvPr>
        </p:nvSpPr>
        <p:spPr>
          <a:prstGeom prst="rect">
            <a:avLst/>
          </a:prstGeom>
        </p:spPr>
        <p:txBody>
          <a:bodyPr/>
          <a:lstStyle/>
          <a:p>
            <a:pPr/>
            <a:r>
              <a:t>ACF is still the better choice in a few places.</a:t>
            </a:r>
          </a:p>
          <a:p>
            <a:pPr/>
            <a:r>
              <a:t>Integrations: Polylang, FacetWP, Relevanssi and SEO plugins read ACF fields directly.</a:t>
            </a:r>
          </a:p>
          <a:p>
            <a:pPr/>
            <a:r>
              <a:t>Settings pages: an ACF options page takes a few lines.</a:t>
            </a:r>
          </a:p>
          <a:p>
            <a:pPr/>
            <a:r>
              <a:t>Relationships: ACF has a ready picker. Core stores the link but has no UI for it.</a:t>
            </a:r>
          </a:p>
          <a:p>
            <a:pPr/>
            <a:r>
              <a:t>Structured data like product specs, opening hours and event dates needs a form.</a:t>
            </a:r>
          </a:p>
          <a:p>
            <a:pPr/>
            <a:r>
              <a:t>The rule: pages and layouts with core blocks and patterns, structured data with the easiest form. Often that is still ACF.</a:t>
            </a:r>
          </a:p>
        </p:txBody>
      </p:sp>
    </p:spTree>
  </p:cSld>
  <p:clrMapOvr>
    <a:masterClrMapping/>
  </p:clrMapOvr>
</p:notes>
</file>

<file path=ppt/slideLayouts/_rels/slideLayout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</Relationships>

</file>

<file path=ppt/slideLayouts/_rels/slideLayout2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</Relationships>

</file>

<file path=ppt/slideLayouts/_rels/slideLayout3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</Relationships>

</file>

<file path=ppt/slideLayouts/_rels/slideLayout4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</Relationships>

</file>

<file path=ppt/slideLayouts/_rels/slideLayout5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</Relationships>

</file>

<file path=ppt/slideLayouts/_rels/slideLayout6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</Relationships>

</file>

<file path=ppt/slideLayouts/_rels/slideLayout7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</Relationships>

</file>

<file path=ppt/slideLayouts/_rels/slideLayout8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</Relationships>

</file>

<file path=ppt/slideLayouts/_rels/slideLayout9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</Relationships>

</file>

<file path=ppt/slideLayouts/_rels/slideLayout10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</Relationships>

</file>

<file path=ppt/slideLayouts/_rels/slideLayout1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</Relationships>

</file>

<file path=ppt/slideLayouts/_rels/slideLayout12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</Relationships>

</file>

<file path=ppt/slideLayouts/_rels/slideLayout13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</Relationships>

</file>

<file path=ppt/slideLayouts/_rels/slideLayout14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</Relationships>

</file>

<file path=ppt/slideLayouts/_rels/slideLayout15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</Relationships>

</file>

<file path=ppt/slideLayouts/_rels/slideLayout16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</Relationships>

</file>

<file path=ppt/slideLayouts/_rels/slideLayout17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</Relationships>
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type="title" showMasterSp="1" showMasterPhAnim="1">
  <p:cSld name="Titl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Author and Date"/>
          <p:cNvSpPr txBox="1"/>
          <p:nvPr>
            <p:ph type="body" sz="quarter" idx="21" hasCustomPrompt="1"/>
          </p:nvPr>
        </p:nvSpPr>
        <p:spPr>
          <a:xfrm>
            <a:off x="1201340" y="11859862"/>
            <a:ext cx="21971003" cy="636979"/>
          </a:xfrm>
          <a:prstGeom prst="rect">
            <a:avLst/>
          </a:prstGeom>
        </p:spPr>
        <p:txBody>
          <a:bodyPr lIns="45719" tIns="45719" rIns="45719" bIns="45719"/>
          <a:lstStyle>
            <a:lvl1pPr marL="0" indent="0" defTabSz="825500">
              <a:lnSpc>
                <a:spcPct val="100000"/>
              </a:lnSpc>
              <a:spcBef>
                <a:spcPts val="0"/>
              </a:spcBef>
              <a:buSzTx/>
              <a:buNone/>
              <a:defRPr b="1" sz="3600"/>
            </a:lvl1pPr>
          </a:lstStyle>
          <a:p>
            <a:pPr/>
            <a:r>
              <a:t>Author and Date</a:t>
            </a:r>
          </a:p>
        </p:txBody>
      </p:sp>
      <p:sp>
        <p:nvSpPr>
          <p:cNvPr id="12" name="Presentation Title"/>
          <p:cNvSpPr txBox="1"/>
          <p:nvPr>
            <p:ph type="title" hasCustomPrompt="1"/>
          </p:nvPr>
        </p:nvSpPr>
        <p:spPr>
          <a:xfrm>
            <a:off x="1206496" y="2574991"/>
            <a:ext cx="21971004" cy="4648201"/>
          </a:xfrm>
          <a:prstGeom prst="rect">
            <a:avLst/>
          </a:prstGeom>
        </p:spPr>
        <p:txBody>
          <a:bodyPr anchor="b"/>
          <a:lstStyle>
            <a:lvl1pPr>
              <a:defRPr spc="-232" sz="11600"/>
            </a:lvl1pPr>
          </a:lstStyle>
          <a:p>
            <a:pPr/>
            <a:r>
              <a:t>Presentation Title</a:t>
            </a:r>
          </a:p>
        </p:txBody>
      </p:sp>
      <p:sp>
        <p:nvSpPr>
          <p:cNvPr id="13" name="Body Level One…"/>
          <p:cNvSpPr txBox="1"/>
          <p:nvPr>
            <p:ph type="body" sz="quarter" idx="1" hasCustomPrompt="1"/>
          </p:nvPr>
        </p:nvSpPr>
        <p:spPr>
          <a:xfrm>
            <a:off x="1201342" y="7223190"/>
            <a:ext cx="21971001" cy="1905001"/>
          </a:xfrm>
          <a:prstGeom prst="rect">
            <a:avLst/>
          </a:prstGeom>
        </p:spPr>
        <p:txBody>
          <a:bodyPr/>
          <a:lstStyle>
            <a:lvl1pPr marL="0" indent="0" defTabSz="825500">
              <a:lnSpc>
                <a:spcPct val="100000"/>
              </a:lnSpc>
              <a:spcBef>
                <a:spcPts val="0"/>
              </a:spcBef>
              <a:buSzTx/>
              <a:buNone/>
              <a:defRPr b="1" sz="5500"/>
            </a:lvl1pPr>
            <a:lvl2pPr marL="0" indent="457200" defTabSz="825500">
              <a:lnSpc>
                <a:spcPct val="100000"/>
              </a:lnSpc>
              <a:spcBef>
                <a:spcPts val="0"/>
              </a:spcBef>
              <a:buSzTx/>
              <a:buNone/>
              <a:defRPr b="1" sz="5500"/>
            </a:lvl2pPr>
            <a:lvl3pPr marL="0" indent="914400" defTabSz="825500">
              <a:lnSpc>
                <a:spcPct val="100000"/>
              </a:lnSpc>
              <a:spcBef>
                <a:spcPts val="0"/>
              </a:spcBef>
              <a:buSzTx/>
              <a:buNone/>
              <a:defRPr b="1" sz="5500"/>
            </a:lvl3pPr>
            <a:lvl4pPr marL="0" indent="1371600" defTabSz="825500">
              <a:lnSpc>
                <a:spcPct val="100000"/>
              </a:lnSpc>
              <a:spcBef>
                <a:spcPts val="0"/>
              </a:spcBef>
              <a:buSzTx/>
              <a:buNone/>
              <a:defRPr b="1" sz="5500"/>
            </a:lvl4pPr>
            <a:lvl5pPr marL="0" indent="1828800" defTabSz="825500">
              <a:lnSpc>
                <a:spcPct val="100000"/>
              </a:lnSpc>
              <a:spcBef>
                <a:spcPts val="0"/>
              </a:spcBef>
              <a:buSzTx/>
              <a:buNone/>
              <a:defRPr b="1" sz="5500"/>
            </a:lvl5pPr>
          </a:lstStyle>
          <a:p>
            <a:pPr/>
            <a:r>
              <a:t>Presentation Subtitle</a:t>
            </a:r>
          </a:p>
          <a:p>
            <a:pPr lvl="1"/>
            <a:r>
              <a:t/>
            </a:r>
          </a:p>
          <a:p>
            <a:pPr lvl="2"/>
            <a:r>
              <a:t/>
            </a:r>
          </a:p>
          <a:p>
            <a:pPr lvl="3"/>
            <a:r>
              <a:t/>
            </a:r>
          </a:p>
          <a:p>
            <a:pPr lvl="4"/>
            <a:r>
              <a:t/>
            </a:r>
          </a:p>
        </p:txBody>
      </p:sp>
      <p:sp>
        <p:nvSpPr>
          <p:cNvPr id="14" name="Slide Number"/>
          <p:cNvSpPr txBox="1"/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/>
          <a:p>
            <a:pPr/>
            <a:fld id="{86CB4B4D-7CA3-9044-876B-883B54F8677D}" type="slidenum"/>
          </a:p>
        </p:txBody>
      </p:sp>
    </p:spTree>
  </p:cSld>
  <p:clrMapOvr>
    <a:masterClrMapping/>
  </p:clrMapOvr>
  <p:transition xmlns:p14="http://schemas.microsoft.com/office/powerpoint/2010/main" spd="med" advClick="1"/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type="tx" showMasterSp="1" showMasterPhAnim="1">
  <p:cSld name="Title &amp; Phot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Avocados and limes"/>
          <p:cNvSpPr/>
          <p:nvPr>
            <p:ph type="pic" idx="21"/>
          </p:nvPr>
        </p:nvSpPr>
        <p:spPr>
          <a:xfrm>
            <a:off x="-1155700" y="-1295400"/>
            <a:ext cx="26746200" cy="16018933"/>
          </a:xfrm>
          <a:prstGeom prst="rect">
            <a:avLst/>
          </a:prstGeom>
        </p:spPr>
        <p:txBody>
          <a:bodyPr lIns="91439" tIns="45719" rIns="91439" bIns="45719">
            <a:noAutofit/>
          </a:bodyPr>
          <a:lstStyle/>
          <a:p>
            <a:pPr/>
          </a:p>
        </p:txBody>
      </p:sp>
      <p:sp>
        <p:nvSpPr>
          <p:cNvPr id="22" name="Presentation Title"/>
          <p:cNvSpPr txBox="1"/>
          <p:nvPr>
            <p:ph type="title" hasCustomPrompt="1"/>
          </p:nvPr>
        </p:nvSpPr>
        <p:spPr>
          <a:xfrm>
            <a:off x="1206500" y="7124700"/>
            <a:ext cx="21971000" cy="4648200"/>
          </a:xfrm>
          <a:prstGeom prst="rect">
            <a:avLst/>
          </a:prstGeom>
        </p:spPr>
        <p:txBody>
          <a:bodyPr anchor="b"/>
          <a:lstStyle>
            <a:lvl1pPr>
              <a:defRPr spc="-232" sz="11600"/>
            </a:lvl1pPr>
          </a:lstStyle>
          <a:p>
            <a:pPr/>
            <a:r>
              <a:t>Presentation Title</a:t>
            </a:r>
          </a:p>
        </p:txBody>
      </p:sp>
      <p:sp>
        <p:nvSpPr>
          <p:cNvPr id="23" name="Author and Date"/>
          <p:cNvSpPr txBox="1"/>
          <p:nvPr>
            <p:ph type="body" sz="quarter" idx="22" hasCustomPrompt="1"/>
          </p:nvPr>
        </p:nvSpPr>
        <p:spPr>
          <a:xfrm>
            <a:off x="1207690" y="1106137"/>
            <a:ext cx="21968621" cy="636979"/>
          </a:xfrm>
          <a:prstGeom prst="rect">
            <a:avLst/>
          </a:prstGeom>
        </p:spPr>
        <p:txBody>
          <a:bodyPr lIns="45719" tIns="45719" rIns="45719" bIns="45719"/>
          <a:lstStyle>
            <a:lvl1pPr marL="0" indent="0" defTabSz="825500">
              <a:lnSpc>
                <a:spcPct val="100000"/>
              </a:lnSpc>
              <a:spcBef>
                <a:spcPts val="0"/>
              </a:spcBef>
              <a:buSzTx/>
              <a:buNone/>
              <a:defRPr b="1" sz="3600"/>
            </a:lvl1pPr>
          </a:lstStyle>
          <a:p>
            <a:pPr/>
            <a:r>
              <a:t>Author and Date</a:t>
            </a:r>
          </a:p>
        </p:txBody>
      </p:sp>
      <p:sp>
        <p:nvSpPr>
          <p:cNvPr id="24" name="Body Level One…"/>
          <p:cNvSpPr txBox="1"/>
          <p:nvPr>
            <p:ph type="body" sz="quarter" idx="1" hasCustomPrompt="1"/>
          </p:nvPr>
        </p:nvSpPr>
        <p:spPr>
          <a:xfrm>
            <a:off x="1206500" y="11609910"/>
            <a:ext cx="21971000" cy="1116952"/>
          </a:xfrm>
          <a:prstGeom prst="rect">
            <a:avLst/>
          </a:prstGeom>
        </p:spPr>
        <p:txBody>
          <a:bodyPr/>
          <a:lstStyle>
            <a:lvl1pPr marL="0" indent="0" defTabSz="825500">
              <a:lnSpc>
                <a:spcPct val="100000"/>
              </a:lnSpc>
              <a:spcBef>
                <a:spcPts val="0"/>
              </a:spcBef>
              <a:buSzTx/>
              <a:buNone/>
              <a:defRPr b="1" sz="5500"/>
            </a:lvl1pPr>
            <a:lvl2pPr marL="0" indent="457200" defTabSz="825500">
              <a:lnSpc>
                <a:spcPct val="100000"/>
              </a:lnSpc>
              <a:spcBef>
                <a:spcPts val="0"/>
              </a:spcBef>
              <a:buSzTx/>
              <a:buNone/>
              <a:defRPr b="1" sz="5500"/>
            </a:lvl2pPr>
            <a:lvl3pPr marL="0" indent="914400" defTabSz="825500">
              <a:lnSpc>
                <a:spcPct val="100000"/>
              </a:lnSpc>
              <a:spcBef>
                <a:spcPts val="0"/>
              </a:spcBef>
              <a:buSzTx/>
              <a:buNone/>
              <a:defRPr b="1" sz="5500"/>
            </a:lvl3pPr>
            <a:lvl4pPr marL="0" indent="1371600" defTabSz="825500">
              <a:lnSpc>
                <a:spcPct val="100000"/>
              </a:lnSpc>
              <a:spcBef>
                <a:spcPts val="0"/>
              </a:spcBef>
              <a:buSzTx/>
              <a:buNone/>
              <a:defRPr b="1" sz="5500"/>
            </a:lvl4pPr>
            <a:lvl5pPr marL="0" indent="1828800" defTabSz="825500">
              <a:lnSpc>
                <a:spcPct val="100000"/>
              </a:lnSpc>
              <a:spcBef>
                <a:spcPts val="0"/>
              </a:spcBef>
              <a:buSzTx/>
              <a:buNone/>
              <a:defRPr b="1" sz="5500"/>
            </a:lvl5pPr>
          </a:lstStyle>
          <a:p>
            <a:pPr/>
            <a:r>
              <a:t>Presentation Subtitle</a:t>
            </a:r>
          </a:p>
          <a:p>
            <a:pPr lvl="1"/>
            <a:r>
              <a:t/>
            </a:r>
          </a:p>
          <a:p>
            <a:pPr lvl="2"/>
            <a:r>
              <a:t/>
            </a:r>
          </a:p>
          <a:p>
            <a:pPr lvl="3"/>
            <a:r>
              <a:t/>
            </a:r>
          </a:p>
          <a:p>
            <a:pPr lvl="4"/>
            <a:r>
              <a:t/>
            </a:r>
          </a:p>
        </p:txBody>
      </p:sp>
      <p:sp>
        <p:nvSpPr>
          <p:cNvPr id="25" name="Slide Number"/>
          <p:cNvSpPr txBox="1"/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/>
          <a:p>
            <a:pPr/>
            <a:fld id="{86CB4B4D-7CA3-9044-876B-883B54F8677D}" type="slidenum"/>
          </a:p>
        </p:txBody>
      </p:sp>
    </p:spTree>
  </p:cSld>
  <p:clrMapOvr>
    <a:masterClrMapping/>
  </p:clrMapOvr>
  <p:transition xmlns:p14="http://schemas.microsoft.com/office/powerpoint/2010/main" spd="med" advClick="1"/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type="tx" showMasterSp="1" showMasterPhAnim="1">
  <p:cSld name="Title &amp; Photo Al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" name="Bowl with salmon cakes, salad, and hummus"/>
          <p:cNvSpPr/>
          <p:nvPr>
            <p:ph type="pic" idx="21"/>
          </p:nvPr>
        </p:nvSpPr>
        <p:spPr>
          <a:xfrm>
            <a:off x="10972800" y="-203200"/>
            <a:ext cx="12144837" cy="14135100"/>
          </a:xfrm>
          <a:prstGeom prst="rect">
            <a:avLst/>
          </a:prstGeom>
        </p:spPr>
        <p:txBody>
          <a:bodyPr lIns="91439" tIns="45719" rIns="91439" bIns="45719">
            <a:noAutofit/>
          </a:bodyPr>
          <a:lstStyle/>
          <a:p>
            <a:pPr/>
          </a:p>
        </p:txBody>
      </p:sp>
      <p:sp>
        <p:nvSpPr>
          <p:cNvPr id="33" name="Slide Title"/>
          <p:cNvSpPr txBox="1"/>
          <p:nvPr>
            <p:ph type="title" hasCustomPrompt="1"/>
          </p:nvPr>
        </p:nvSpPr>
        <p:spPr>
          <a:xfrm>
            <a:off x="1206500" y="1270000"/>
            <a:ext cx="9779000" cy="5882273"/>
          </a:xfrm>
          <a:prstGeom prst="rect">
            <a:avLst/>
          </a:prstGeom>
        </p:spPr>
        <p:txBody>
          <a:bodyPr anchor="b"/>
          <a:lstStyle/>
          <a:p>
            <a:pPr/>
            <a:r>
              <a:t>Slide Title</a:t>
            </a:r>
          </a:p>
        </p:txBody>
      </p:sp>
      <p:sp>
        <p:nvSpPr>
          <p:cNvPr id="34" name="Body Level One…"/>
          <p:cNvSpPr txBox="1"/>
          <p:nvPr>
            <p:ph type="body" sz="quarter" idx="1" hasCustomPrompt="1"/>
          </p:nvPr>
        </p:nvSpPr>
        <p:spPr>
          <a:xfrm>
            <a:off x="1206500" y="7060576"/>
            <a:ext cx="9779000" cy="5385424"/>
          </a:xfrm>
          <a:prstGeom prst="rect">
            <a:avLst/>
          </a:prstGeom>
        </p:spPr>
        <p:txBody>
          <a:bodyPr/>
          <a:lstStyle>
            <a:lvl1pPr marL="0" indent="0" defTabSz="825500">
              <a:lnSpc>
                <a:spcPct val="100000"/>
              </a:lnSpc>
              <a:spcBef>
                <a:spcPts val="0"/>
              </a:spcBef>
              <a:buSzTx/>
              <a:buNone/>
              <a:defRPr b="1" sz="5500"/>
            </a:lvl1pPr>
            <a:lvl2pPr marL="0" indent="457200" defTabSz="825500">
              <a:lnSpc>
                <a:spcPct val="100000"/>
              </a:lnSpc>
              <a:spcBef>
                <a:spcPts val="0"/>
              </a:spcBef>
              <a:buSzTx/>
              <a:buNone/>
              <a:defRPr b="1" sz="5500"/>
            </a:lvl2pPr>
            <a:lvl3pPr marL="0" indent="914400" defTabSz="825500">
              <a:lnSpc>
                <a:spcPct val="100000"/>
              </a:lnSpc>
              <a:spcBef>
                <a:spcPts val="0"/>
              </a:spcBef>
              <a:buSzTx/>
              <a:buNone/>
              <a:defRPr b="1" sz="5500"/>
            </a:lvl3pPr>
            <a:lvl4pPr marL="0" indent="1371600" defTabSz="825500">
              <a:lnSpc>
                <a:spcPct val="100000"/>
              </a:lnSpc>
              <a:spcBef>
                <a:spcPts val="0"/>
              </a:spcBef>
              <a:buSzTx/>
              <a:buNone/>
              <a:defRPr b="1" sz="5500"/>
            </a:lvl4pPr>
            <a:lvl5pPr marL="0" indent="1828800" defTabSz="825500">
              <a:lnSpc>
                <a:spcPct val="100000"/>
              </a:lnSpc>
              <a:spcBef>
                <a:spcPts val="0"/>
              </a:spcBef>
              <a:buSzTx/>
              <a:buNone/>
              <a:defRPr b="1" sz="5500"/>
            </a:lvl5pPr>
          </a:lstStyle>
          <a:p>
            <a:pPr/>
            <a:r>
              <a:t>Slide Subtitle</a:t>
            </a:r>
          </a:p>
          <a:p>
            <a:pPr lvl="1"/>
            <a:r>
              <a:t/>
            </a:r>
          </a:p>
          <a:p>
            <a:pPr lvl="2"/>
            <a:r>
              <a:t/>
            </a:r>
          </a:p>
          <a:p>
            <a:pPr lvl="3"/>
            <a:r>
              <a:t/>
            </a:r>
          </a:p>
          <a:p>
            <a:pPr lvl="4"/>
            <a:r>
              <a:t/>
            </a:r>
          </a:p>
        </p:txBody>
      </p:sp>
      <p:sp>
        <p:nvSpPr>
          <p:cNvPr id="35" name="Slide Number"/>
          <p:cNvSpPr txBox="1"/>
          <p:nvPr>
            <p:ph type="sldNum" sz="quarter" idx="2"/>
          </p:nvPr>
        </p:nvSpPr>
        <p:spPr>
          <a:xfrm>
            <a:off x="12001499" y="13085233"/>
            <a:ext cx="368505" cy="374600"/>
          </a:xfrm>
          <a:prstGeom prst="rect">
            <a:avLst/>
          </a:prstGeom>
        </p:spPr>
        <p:txBody>
          <a:bodyPr/>
          <a:lstStyle/>
          <a:p>
            <a:pPr/>
            <a:fld id="{86CB4B4D-7CA3-9044-876B-883B54F8677D}" type="slidenum"/>
          </a:p>
        </p:txBody>
      </p:sp>
    </p:spTree>
  </p:cSld>
  <p:clrMapOvr>
    <a:masterClrMapping/>
  </p:clrMapOvr>
  <p:transition xmlns:p14="http://schemas.microsoft.com/office/powerpoint/2010/main" spd="med" advClick="1"/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type="tx" showMasterSp="1" showMasterPhAnim="1">
  <p:cSld name="Title &amp; Bullet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Slide Title"/>
          <p:cNvSpPr txBox="1"/>
          <p:nvPr>
            <p:ph type="title" hasCustomPrompt="1"/>
          </p:nvPr>
        </p:nvSpPr>
        <p:spPr>
          <a:prstGeom prst="rect">
            <a:avLst/>
          </a:prstGeom>
        </p:spPr>
        <p:txBody>
          <a:bodyPr/>
          <a:lstStyle/>
          <a:p>
            <a:pPr/>
            <a:r>
              <a:t>Slide Title</a:t>
            </a:r>
          </a:p>
        </p:txBody>
      </p:sp>
      <p:sp>
        <p:nvSpPr>
          <p:cNvPr id="43" name="Slide Subtitle"/>
          <p:cNvSpPr txBox="1"/>
          <p:nvPr>
            <p:ph type="body" sz="quarter" idx="21" hasCustomPrompt="1"/>
          </p:nvPr>
        </p:nvSpPr>
        <p:spPr>
          <a:xfrm>
            <a:off x="1206500" y="2372962"/>
            <a:ext cx="21971000" cy="934780"/>
          </a:xfrm>
          <a:prstGeom prst="rect">
            <a:avLst/>
          </a:prstGeom>
        </p:spPr>
        <p:txBody>
          <a:bodyPr lIns="45719" tIns="45719" rIns="45719" bIns="45719"/>
          <a:lstStyle>
            <a:lvl1pPr marL="0" indent="0" defTabSz="825500">
              <a:lnSpc>
                <a:spcPct val="100000"/>
              </a:lnSpc>
              <a:spcBef>
                <a:spcPts val="0"/>
              </a:spcBef>
              <a:buSzTx/>
              <a:buNone/>
              <a:defRPr b="1" sz="5500"/>
            </a:lvl1pPr>
          </a:lstStyle>
          <a:p>
            <a:pPr/>
            <a:r>
              <a:t>Slide Subtitle</a:t>
            </a:r>
          </a:p>
        </p:txBody>
      </p:sp>
      <p:sp>
        <p:nvSpPr>
          <p:cNvPr id="44" name="Body Level One…"/>
          <p:cNvSpPr txBox="1"/>
          <p:nvPr>
            <p:ph type="body" idx="1" hasCustomPrompt="1"/>
          </p:nvPr>
        </p:nvSpPr>
        <p:spPr>
          <a:prstGeom prst="rect">
            <a:avLst/>
          </a:prstGeom>
        </p:spPr>
        <p:txBody>
          <a:bodyPr/>
          <a:lstStyle/>
          <a:p>
            <a:pPr/>
            <a:r>
              <a:t>Slide bullet text</a:t>
            </a:r>
          </a:p>
          <a:p>
            <a:pPr lvl="1"/>
            <a:r>
              <a:t/>
            </a:r>
          </a:p>
          <a:p>
            <a:pPr lvl="2"/>
            <a:r>
              <a:t/>
            </a:r>
          </a:p>
          <a:p>
            <a:pPr lvl="3"/>
            <a:r>
              <a:t/>
            </a:r>
          </a:p>
          <a:p>
            <a:pPr lvl="4"/>
            <a:r>
              <a:t/>
            </a:r>
          </a:p>
        </p:txBody>
      </p:sp>
      <p:sp>
        <p:nvSpPr>
          <p:cNvPr id="45" name="Slide Number"/>
          <p:cNvSpPr txBox="1"/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/>
          <a:p>
            <a:pPr/>
            <a:fld id="{86CB4B4D-7CA3-9044-876B-883B54F8677D}" type="slidenum"/>
          </a:p>
        </p:txBody>
      </p:sp>
    </p:spTree>
  </p:cSld>
  <p:clrMapOvr>
    <a:masterClrMapping/>
  </p:clrMapOvr>
  <p:transition xmlns:p14="http://schemas.microsoft.com/office/powerpoint/2010/main" spd="med" advClick="1"/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type="tx" showMasterSp="1" showMasterPhAnim="1">
  <p:cSld name="Bullet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2" name="Body Level One…"/>
          <p:cNvSpPr txBox="1"/>
          <p:nvPr>
            <p:ph type="body" idx="1" hasCustomPrompt="1"/>
          </p:nvPr>
        </p:nvSpPr>
        <p:spPr>
          <a:prstGeom prst="rect">
            <a:avLst/>
          </a:prstGeom>
        </p:spPr>
        <p:txBody>
          <a:bodyPr numCol="2" spcCol="1098550"/>
          <a:lstStyle/>
          <a:p>
            <a:pPr/>
            <a:r>
              <a:t>Slide bullet text</a:t>
            </a:r>
          </a:p>
          <a:p>
            <a:pPr lvl="1"/>
            <a:r>
              <a:t/>
            </a:r>
          </a:p>
          <a:p>
            <a:pPr lvl="2"/>
            <a:r>
              <a:t/>
            </a:r>
          </a:p>
          <a:p>
            <a:pPr lvl="3"/>
            <a:r>
              <a:t/>
            </a:r>
          </a:p>
          <a:p>
            <a:pPr lvl="4"/>
            <a:r>
              <a:t/>
            </a:r>
          </a:p>
        </p:txBody>
      </p:sp>
      <p:sp>
        <p:nvSpPr>
          <p:cNvPr id="53" name="Slide Number"/>
          <p:cNvSpPr txBox="1"/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/>
          <a:p>
            <a:pPr/>
            <a:fld id="{86CB4B4D-7CA3-9044-876B-883B54F8677D}" type="slidenum"/>
          </a:p>
        </p:txBody>
      </p:sp>
    </p:spTree>
  </p:cSld>
  <p:clrMapOvr>
    <a:masterClrMapping/>
  </p:clrMapOvr>
  <p:transition xmlns:p14="http://schemas.microsoft.com/office/powerpoint/2010/main" spd="med" advClick="1"/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type="tx" showMasterSp="1" showMasterPhAnim="1">
  <p:cSld name="Title, Bullets &amp; Phot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Slide Subtitle"/>
          <p:cNvSpPr txBox="1"/>
          <p:nvPr>
            <p:ph type="body" sz="quarter" idx="21" hasCustomPrompt="1"/>
          </p:nvPr>
        </p:nvSpPr>
        <p:spPr>
          <a:xfrm>
            <a:off x="1206500" y="2372962"/>
            <a:ext cx="9779000" cy="934780"/>
          </a:xfrm>
          <a:prstGeom prst="rect">
            <a:avLst/>
          </a:prstGeom>
        </p:spPr>
        <p:txBody>
          <a:bodyPr lIns="45719" tIns="45719" rIns="45719" bIns="45719"/>
          <a:lstStyle>
            <a:lvl1pPr marL="0" indent="0" defTabSz="825500">
              <a:lnSpc>
                <a:spcPct val="100000"/>
              </a:lnSpc>
              <a:spcBef>
                <a:spcPts val="0"/>
              </a:spcBef>
              <a:buSzTx/>
              <a:buNone/>
              <a:defRPr b="1" sz="5500"/>
            </a:lvl1pPr>
          </a:lstStyle>
          <a:p>
            <a:pPr/>
            <a:r>
              <a:t>Slide Subtitle</a:t>
            </a:r>
          </a:p>
        </p:txBody>
      </p:sp>
      <p:sp>
        <p:nvSpPr>
          <p:cNvPr id="61" name="Body Level One…"/>
          <p:cNvSpPr txBox="1"/>
          <p:nvPr>
            <p:ph type="body" sz="half" idx="1" hasCustomPrompt="1"/>
          </p:nvPr>
        </p:nvSpPr>
        <p:spPr>
          <a:xfrm>
            <a:off x="1206500" y="4248504"/>
            <a:ext cx="9779000" cy="8256630"/>
          </a:xfrm>
          <a:prstGeom prst="rect">
            <a:avLst/>
          </a:prstGeom>
        </p:spPr>
        <p:txBody>
          <a:bodyPr/>
          <a:lstStyle/>
          <a:p>
            <a:pPr/>
            <a:r>
              <a:t>Slide bullet text</a:t>
            </a:r>
          </a:p>
          <a:p>
            <a:pPr lvl="1"/>
            <a:r>
              <a:t/>
            </a:r>
          </a:p>
          <a:p>
            <a:pPr lvl="2"/>
            <a:r>
              <a:t/>
            </a:r>
          </a:p>
          <a:p>
            <a:pPr lvl="3"/>
            <a:r>
              <a:t/>
            </a:r>
          </a:p>
          <a:p>
            <a:pPr lvl="4"/>
            <a:r>
              <a:t/>
            </a:r>
          </a:p>
        </p:txBody>
      </p:sp>
      <p:sp>
        <p:nvSpPr>
          <p:cNvPr id="62" name="Bowl of pappardelle pasta with parsley butter, roasted hazelnuts, and shaved parmesan cheese"/>
          <p:cNvSpPr/>
          <p:nvPr>
            <p:ph type="pic" idx="22"/>
          </p:nvPr>
        </p:nvSpPr>
        <p:spPr>
          <a:xfrm>
            <a:off x="12192000" y="-407266"/>
            <a:ext cx="10916874" cy="14555832"/>
          </a:xfrm>
          <a:prstGeom prst="rect">
            <a:avLst/>
          </a:prstGeom>
        </p:spPr>
        <p:txBody>
          <a:bodyPr lIns="91439" tIns="45719" rIns="91439" bIns="45719">
            <a:noAutofit/>
          </a:bodyPr>
          <a:lstStyle/>
          <a:p>
            <a:pPr/>
          </a:p>
        </p:txBody>
      </p:sp>
      <p:sp>
        <p:nvSpPr>
          <p:cNvPr id="63" name="Slide Title"/>
          <p:cNvSpPr txBox="1"/>
          <p:nvPr>
            <p:ph type="title" hasCustomPrompt="1"/>
          </p:nvPr>
        </p:nvSpPr>
        <p:spPr>
          <a:xfrm>
            <a:off x="1206500" y="1079500"/>
            <a:ext cx="9779000" cy="1435100"/>
          </a:xfrm>
          <a:prstGeom prst="rect">
            <a:avLst/>
          </a:prstGeom>
        </p:spPr>
        <p:txBody>
          <a:bodyPr/>
          <a:lstStyle/>
          <a:p>
            <a:pPr/>
            <a:r>
              <a:t>Slide Title</a:t>
            </a:r>
          </a:p>
        </p:txBody>
      </p:sp>
      <p:sp>
        <p:nvSpPr>
          <p:cNvPr id="64" name="Slide Number"/>
          <p:cNvSpPr txBox="1"/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/>
          <a:p>
            <a:pPr/>
            <a:fld id="{86CB4B4D-7CA3-9044-876B-883B54F8677D}" type="slidenum"/>
          </a:p>
        </p:txBody>
      </p:sp>
    </p:spTree>
  </p:cSld>
  <p:clrMapOvr>
    <a:masterClrMapping/>
  </p:clrMapOvr>
  <p:transition xmlns:p14="http://schemas.microsoft.com/office/powerpoint/2010/main" spd="med" advClick="1"/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type="tx" showMasterSp="1" showMasterPhAnim="1">
  <p:cSld name="Title, Bullets &amp; Live Video Smal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Slide Subtitle"/>
          <p:cNvSpPr txBox="1"/>
          <p:nvPr>
            <p:ph type="body" sz="quarter" idx="21" hasCustomPrompt="1"/>
          </p:nvPr>
        </p:nvSpPr>
        <p:spPr>
          <a:xfrm>
            <a:off x="1206500" y="2372962"/>
            <a:ext cx="9779000" cy="934780"/>
          </a:xfrm>
          <a:prstGeom prst="rect">
            <a:avLst/>
          </a:prstGeom>
        </p:spPr>
        <p:txBody>
          <a:bodyPr lIns="45719" tIns="45719" rIns="45719" bIns="45719"/>
          <a:lstStyle>
            <a:lvl1pPr marL="0" indent="0" defTabSz="825500">
              <a:lnSpc>
                <a:spcPct val="100000"/>
              </a:lnSpc>
              <a:spcBef>
                <a:spcPts val="0"/>
              </a:spcBef>
              <a:buSzTx/>
              <a:buNone/>
              <a:defRPr b="1" sz="5500"/>
            </a:lvl1pPr>
          </a:lstStyle>
          <a:p>
            <a:pPr/>
            <a:r>
              <a:t>Slide Subtitle</a:t>
            </a:r>
          </a:p>
        </p:txBody>
      </p:sp>
      <p:sp>
        <p:nvSpPr>
          <p:cNvPr id="72" name="Body Level One…"/>
          <p:cNvSpPr txBox="1"/>
          <p:nvPr>
            <p:ph type="body" sz="half" idx="1" hasCustomPrompt="1"/>
          </p:nvPr>
        </p:nvSpPr>
        <p:spPr>
          <a:xfrm>
            <a:off x="1206500" y="4248504"/>
            <a:ext cx="9779000" cy="8256630"/>
          </a:xfrm>
          <a:prstGeom prst="rect">
            <a:avLst/>
          </a:prstGeom>
        </p:spPr>
        <p:txBody>
          <a:bodyPr/>
          <a:lstStyle/>
          <a:p>
            <a:pPr/>
            <a:r>
              <a:t>Slide bullet text</a:t>
            </a:r>
          </a:p>
          <a:p>
            <a:pPr lvl="1"/>
            <a:r>
              <a:t/>
            </a:r>
          </a:p>
          <a:p>
            <a:pPr lvl="2"/>
            <a:r>
              <a:t/>
            </a:r>
          </a:p>
          <a:p>
            <a:pPr lvl="3"/>
            <a:r>
              <a:t/>
            </a:r>
          </a:p>
          <a:p>
            <a:pPr lvl="4"/>
            <a:r>
              <a:t/>
            </a:r>
          </a:p>
        </p:txBody>
      </p:sp>
      <p:sp>
        <p:nvSpPr>
          <p:cNvPr id="73" name="Slide Title"/>
          <p:cNvSpPr txBox="1"/>
          <p:nvPr>
            <p:ph type="title" hasCustomPrompt="1"/>
          </p:nvPr>
        </p:nvSpPr>
        <p:spPr>
          <a:xfrm>
            <a:off x="1206500" y="1079500"/>
            <a:ext cx="9779000" cy="1435100"/>
          </a:xfrm>
          <a:prstGeom prst="rect">
            <a:avLst/>
          </a:prstGeom>
        </p:spPr>
        <p:txBody>
          <a:bodyPr/>
          <a:lstStyle/>
          <a:p>
            <a:pPr/>
            <a:r>
              <a:t>Slide Title</a:t>
            </a:r>
          </a:p>
        </p:txBody>
      </p:sp>
      <p:sp>
        <p:nvSpPr>
          <p:cNvPr id="74" name="Slide Number"/>
          <p:cNvSpPr txBox="1"/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/>
          <a:p>
            <a:pPr/>
            <a:fld id="{86CB4B4D-7CA3-9044-876B-883B54F8677D}" type="slidenum"/>
          </a:p>
        </p:txBody>
      </p:sp>
    </p:spTree>
  </p:cSld>
  <p:clrMapOvr>
    <a:masterClrMapping/>
  </p:clrMapOvr>
  <p:transition xmlns:p14="http://schemas.microsoft.com/office/powerpoint/2010/main" spd="med" advClick="1"/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type="tx" showMasterSp="1" showMasterPhAnim="1">
  <p:cSld name="Title, Bullets &amp; Live Video Larg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Slide Subtitle"/>
          <p:cNvSpPr txBox="1"/>
          <p:nvPr>
            <p:ph type="body" sz="quarter" idx="21" hasCustomPrompt="1"/>
          </p:nvPr>
        </p:nvSpPr>
        <p:spPr>
          <a:xfrm>
            <a:off x="1206500" y="2372962"/>
            <a:ext cx="9779000" cy="934780"/>
          </a:xfrm>
          <a:prstGeom prst="rect">
            <a:avLst/>
          </a:prstGeom>
        </p:spPr>
        <p:txBody>
          <a:bodyPr lIns="45719" tIns="45719" rIns="45719" bIns="45719"/>
          <a:lstStyle>
            <a:lvl1pPr marL="0" indent="0" defTabSz="825500">
              <a:lnSpc>
                <a:spcPct val="100000"/>
              </a:lnSpc>
              <a:spcBef>
                <a:spcPts val="0"/>
              </a:spcBef>
              <a:buSzTx/>
              <a:buNone/>
              <a:defRPr b="1" sz="5500"/>
            </a:lvl1pPr>
          </a:lstStyle>
          <a:p>
            <a:pPr/>
            <a:r>
              <a:t>Slide Subtitle</a:t>
            </a:r>
          </a:p>
        </p:txBody>
      </p:sp>
      <p:sp>
        <p:nvSpPr>
          <p:cNvPr id="82" name="Body Level One…"/>
          <p:cNvSpPr txBox="1"/>
          <p:nvPr>
            <p:ph type="body" sz="half" idx="1" hasCustomPrompt="1"/>
          </p:nvPr>
        </p:nvSpPr>
        <p:spPr>
          <a:xfrm>
            <a:off x="1206500" y="4248504"/>
            <a:ext cx="9779000" cy="8256630"/>
          </a:xfrm>
          <a:prstGeom prst="rect">
            <a:avLst/>
          </a:prstGeom>
        </p:spPr>
        <p:txBody>
          <a:bodyPr/>
          <a:lstStyle/>
          <a:p>
            <a:pPr/>
            <a:r>
              <a:t>Slide bullet text</a:t>
            </a:r>
          </a:p>
          <a:p>
            <a:pPr lvl="1"/>
            <a:r>
              <a:t/>
            </a:r>
          </a:p>
          <a:p>
            <a:pPr lvl="2"/>
            <a:r>
              <a:t/>
            </a:r>
          </a:p>
          <a:p>
            <a:pPr lvl="3"/>
            <a:r>
              <a:t/>
            </a:r>
          </a:p>
          <a:p>
            <a:pPr lvl="4"/>
            <a:r>
              <a:t/>
            </a:r>
          </a:p>
        </p:txBody>
      </p:sp>
      <p:sp>
        <p:nvSpPr>
          <p:cNvPr id="83" name="Slide Title"/>
          <p:cNvSpPr txBox="1"/>
          <p:nvPr>
            <p:ph type="title" hasCustomPrompt="1"/>
          </p:nvPr>
        </p:nvSpPr>
        <p:spPr>
          <a:xfrm>
            <a:off x="1206500" y="1079500"/>
            <a:ext cx="9779000" cy="1435100"/>
          </a:xfrm>
          <a:prstGeom prst="rect">
            <a:avLst/>
          </a:prstGeom>
        </p:spPr>
        <p:txBody>
          <a:bodyPr/>
          <a:lstStyle/>
          <a:p>
            <a:pPr/>
            <a:r>
              <a:t>Slide Title</a:t>
            </a:r>
          </a:p>
        </p:txBody>
      </p:sp>
      <p:sp>
        <p:nvSpPr>
          <p:cNvPr id="84" name="Slide Number"/>
          <p:cNvSpPr txBox="1"/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/>
          <a:p>
            <a:pPr/>
            <a:fld id="{86CB4B4D-7CA3-9044-876B-883B54F8677D}" type="slidenum"/>
          </a:p>
        </p:txBody>
      </p:sp>
    </p:spTree>
  </p:cSld>
  <p:clrMapOvr>
    <a:masterClrMapping/>
  </p:clrMapOvr>
  <p:transition xmlns:p14="http://schemas.microsoft.com/office/powerpoint/2010/main" spd="med" advClick="1"/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type="tx" showMasterSp="1" showMasterPhAnim="1">
  <p:cSld name="Sec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1" name="Section Title"/>
          <p:cNvSpPr txBox="1"/>
          <p:nvPr>
            <p:ph type="title" hasCustomPrompt="1"/>
          </p:nvPr>
        </p:nvSpPr>
        <p:spPr>
          <a:xfrm>
            <a:off x="1206496" y="4533900"/>
            <a:ext cx="21971004" cy="4648200"/>
          </a:xfrm>
          <a:prstGeom prst="rect">
            <a:avLst/>
          </a:prstGeom>
        </p:spPr>
        <p:txBody>
          <a:bodyPr anchor="ctr"/>
          <a:lstStyle>
            <a:lvl1pPr>
              <a:defRPr b="0" spc="-232" sz="11600">
                <a:latin typeface="Helvetica Neue Medium"/>
                <a:ea typeface="Helvetica Neue Medium"/>
                <a:cs typeface="Helvetica Neue Medium"/>
                <a:sym typeface="Helvetica Neue Medium"/>
              </a:defRPr>
            </a:lvl1pPr>
          </a:lstStyle>
          <a:p>
            <a:pPr/>
            <a:r>
              <a:t>Section Title</a:t>
            </a:r>
          </a:p>
        </p:txBody>
      </p:sp>
      <p:sp>
        <p:nvSpPr>
          <p:cNvPr id="92" name="Slide Number"/>
          <p:cNvSpPr txBox="1"/>
          <p:nvPr>
            <p:ph type="sldNum" sz="quarter" idx="2"/>
          </p:nvPr>
        </p:nvSpPr>
        <p:spPr>
          <a:xfrm>
            <a:off x="12001499" y="13085233"/>
            <a:ext cx="368505" cy="374600"/>
          </a:xfrm>
          <a:prstGeom prst="rect">
            <a:avLst/>
          </a:prstGeom>
        </p:spPr>
        <p:txBody>
          <a:bodyPr/>
          <a:lstStyle/>
          <a:p>
            <a:pPr/>
            <a:fld id="{86CB4B4D-7CA3-9044-876B-883B54F8677D}" type="slidenum"/>
          </a:p>
        </p:txBody>
      </p:sp>
    </p:spTree>
  </p:cSld>
  <p:clrMapOvr>
    <a:masterClrMapping/>
  </p:clrMapOvr>
  <p:transition xmlns:p14="http://schemas.microsoft.com/office/powerpoint/2010/main" spd="med" advClick="1"/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type="tx" showMasterSp="1" showMasterPhAnim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" name="Slide Title"/>
          <p:cNvSpPr txBox="1"/>
          <p:nvPr>
            <p:ph type="title" hasCustomPrompt="1"/>
          </p:nvPr>
        </p:nvSpPr>
        <p:spPr>
          <a:xfrm>
            <a:off x="1206500" y="1079500"/>
            <a:ext cx="21971000" cy="1434949"/>
          </a:xfrm>
          <a:prstGeom prst="rect">
            <a:avLst/>
          </a:prstGeom>
        </p:spPr>
        <p:txBody>
          <a:bodyPr/>
          <a:lstStyle/>
          <a:p>
            <a:pPr/>
            <a:r>
              <a:t>Slide Title</a:t>
            </a:r>
          </a:p>
        </p:txBody>
      </p:sp>
      <p:sp>
        <p:nvSpPr>
          <p:cNvPr id="100" name="Slide Subtitle"/>
          <p:cNvSpPr txBox="1"/>
          <p:nvPr>
            <p:ph type="body" sz="quarter" idx="21" hasCustomPrompt="1"/>
          </p:nvPr>
        </p:nvSpPr>
        <p:spPr>
          <a:xfrm>
            <a:off x="1206500" y="2372962"/>
            <a:ext cx="21971000" cy="934780"/>
          </a:xfrm>
          <a:prstGeom prst="rect">
            <a:avLst/>
          </a:prstGeom>
        </p:spPr>
        <p:txBody>
          <a:bodyPr lIns="45719" tIns="45719" rIns="45719" bIns="45719"/>
          <a:lstStyle>
            <a:lvl1pPr marL="0" indent="0" defTabSz="825500">
              <a:lnSpc>
                <a:spcPct val="100000"/>
              </a:lnSpc>
              <a:spcBef>
                <a:spcPts val="0"/>
              </a:spcBef>
              <a:buSzTx/>
              <a:buNone/>
              <a:defRPr b="1" sz="5500"/>
            </a:lvl1pPr>
          </a:lstStyle>
          <a:p>
            <a:pPr/>
            <a:r>
              <a:t>Slide Subtitle</a:t>
            </a:r>
          </a:p>
        </p:txBody>
      </p:sp>
      <p:sp>
        <p:nvSpPr>
          <p:cNvPr id="101" name="Slide Number"/>
          <p:cNvSpPr txBox="1"/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/>
          <a:p>
            <a:pPr/>
            <a:fld id="{86CB4B4D-7CA3-9044-876B-883B54F8677D}" type="slidenum"/>
          </a:p>
        </p:txBody>
      </p:sp>
    </p:spTree>
  </p:cSld>
  <p:clrMapOvr>
    <a:masterClrMapping/>
  </p:clrMapOvr>
  <p:transition xmlns:p14="http://schemas.microsoft.com/office/powerpoint/2010/main" spd="med" advClick="1"/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type="tx" showMasterSp="1" showMasterPhAnim="1">
  <p:cSld name="Agend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" name="Agenda Title"/>
          <p:cNvSpPr txBox="1"/>
          <p:nvPr>
            <p:ph type="title" hasCustomPrompt="1"/>
          </p:nvPr>
        </p:nvSpPr>
        <p:spPr>
          <a:xfrm>
            <a:off x="1206500" y="1079500"/>
            <a:ext cx="21971000" cy="1435100"/>
          </a:xfrm>
          <a:prstGeom prst="rect">
            <a:avLst/>
          </a:prstGeom>
        </p:spPr>
        <p:txBody>
          <a:bodyPr/>
          <a:lstStyle/>
          <a:p>
            <a:pPr/>
            <a:r>
              <a:t>Agenda Title</a:t>
            </a:r>
          </a:p>
        </p:txBody>
      </p:sp>
      <p:sp>
        <p:nvSpPr>
          <p:cNvPr id="109" name="Agenda Subtitle"/>
          <p:cNvSpPr txBox="1"/>
          <p:nvPr>
            <p:ph type="body" sz="quarter" idx="21" hasCustomPrompt="1"/>
          </p:nvPr>
        </p:nvSpPr>
        <p:spPr>
          <a:xfrm>
            <a:off x="1206500" y="2372962"/>
            <a:ext cx="21971000" cy="934780"/>
          </a:xfrm>
          <a:prstGeom prst="rect">
            <a:avLst/>
          </a:prstGeom>
        </p:spPr>
        <p:txBody>
          <a:bodyPr lIns="45719" tIns="45719" rIns="45719" bIns="45719"/>
          <a:lstStyle>
            <a:lvl1pPr marL="0" indent="0" defTabSz="825500">
              <a:lnSpc>
                <a:spcPct val="100000"/>
              </a:lnSpc>
              <a:spcBef>
                <a:spcPts val="0"/>
              </a:spcBef>
              <a:buSzTx/>
              <a:buNone/>
              <a:defRPr b="1" sz="5500"/>
            </a:lvl1pPr>
          </a:lstStyle>
          <a:p>
            <a:pPr/>
            <a:r>
              <a:t>Agenda Subtitle</a:t>
            </a:r>
          </a:p>
        </p:txBody>
      </p:sp>
      <p:sp>
        <p:nvSpPr>
          <p:cNvPr id="110" name="Body Level One…"/>
          <p:cNvSpPr txBox="1"/>
          <p:nvPr>
            <p:ph type="body" idx="1" hasCustomPrompt="1"/>
          </p:nvPr>
        </p:nvSpPr>
        <p:spPr>
          <a:prstGeom prst="rect">
            <a:avLst/>
          </a:prstGeom>
        </p:spPr>
        <p:txBody>
          <a:bodyPr/>
          <a:lstStyle>
            <a:lvl1pPr marL="0" indent="0" defTabSz="825500">
              <a:lnSpc>
                <a:spcPct val="100000"/>
              </a:lnSpc>
              <a:spcBef>
                <a:spcPts val="1800"/>
              </a:spcBef>
              <a:buSzTx/>
              <a:buNone/>
              <a:defRPr spc="-55" sz="5500"/>
            </a:lvl1pPr>
            <a:lvl2pPr marL="0" indent="457200" defTabSz="825500">
              <a:lnSpc>
                <a:spcPct val="100000"/>
              </a:lnSpc>
              <a:spcBef>
                <a:spcPts val="1800"/>
              </a:spcBef>
              <a:buSzTx/>
              <a:buNone/>
              <a:defRPr spc="-55" sz="5500"/>
            </a:lvl2pPr>
            <a:lvl3pPr marL="0" indent="914400" defTabSz="825500">
              <a:lnSpc>
                <a:spcPct val="100000"/>
              </a:lnSpc>
              <a:spcBef>
                <a:spcPts val="1800"/>
              </a:spcBef>
              <a:buSzTx/>
              <a:buNone/>
              <a:defRPr spc="-55" sz="5500"/>
            </a:lvl3pPr>
            <a:lvl4pPr marL="0" indent="1371600" defTabSz="825500">
              <a:lnSpc>
                <a:spcPct val="100000"/>
              </a:lnSpc>
              <a:spcBef>
                <a:spcPts val="1800"/>
              </a:spcBef>
              <a:buSzTx/>
              <a:buNone/>
              <a:defRPr spc="-55" sz="5500"/>
            </a:lvl4pPr>
            <a:lvl5pPr marL="0" indent="1828800" defTabSz="825500">
              <a:lnSpc>
                <a:spcPct val="100000"/>
              </a:lnSpc>
              <a:spcBef>
                <a:spcPts val="1800"/>
              </a:spcBef>
              <a:buSzTx/>
              <a:buNone/>
              <a:defRPr spc="-55" sz="5500"/>
            </a:lvl5pPr>
          </a:lstStyle>
          <a:p>
            <a:pPr/>
            <a:r>
              <a:t>Agenda Topics</a:t>
            </a:r>
          </a:p>
          <a:p>
            <a:pPr lvl="1"/>
            <a:r>
              <a:t/>
            </a:r>
          </a:p>
          <a:p>
            <a:pPr lvl="2"/>
            <a:r>
              <a:t/>
            </a:r>
          </a:p>
          <a:p>
            <a:pPr lvl="3"/>
            <a:r>
              <a:t/>
            </a:r>
          </a:p>
          <a:p>
            <a:pPr lvl="4"/>
            <a:r>
              <a:t/>
            </a:r>
          </a:p>
        </p:txBody>
      </p:sp>
      <p:sp>
        <p:nvSpPr>
          <p:cNvPr id="111" name="Slide Number"/>
          <p:cNvSpPr txBox="1"/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/>
          <a:p>
            <a:pPr/>
            <a:fld id="{86CB4B4D-7CA3-9044-876B-883B54F8677D}" type="slidenum"/>
          </a:p>
        </p:txBody>
      </p:sp>
    </p:spTree>
  </p:cSld>
  <p:clrMapOvr>
    <a:masterClrMapping/>
  </p:clrMapOvr>
  <p:transition xmlns:p14="http://schemas.microsoft.com/office/powerpoint/2010/main" spd="med" advClick="1"/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type="tx" showMasterSp="1" showMasterPhAnim="1">
  <p:cSld name="Statem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Body Level One…"/>
          <p:cNvSpPr txBox="1"/>
          <p:nvPr>
            <p:ph type="body" sz="half" idx="1" hasCustomPrompt="1"/>
          </p:nvPr>
        </p:nvSpPr>
        <p:spPr>
          <a:xfrm>
            <a:off x="1206500" y="4920843"/>
            <a:ext cx="21971000" cy="3874314"/>
          </a:xfrm>
          <a:prstGeom prst="rect">
            <a:avLst/>
          </a:prstGeom>
        </p:spPr>
        <p:txBody>
          <a:bodyPr anchor="ctr"/>
          <a:lstStyle>
            <a:lvl1pPr marL="0" indent="0" algn="ctr">
              <a:lnSpc>
                <a:spcPct val="80000"/>
              </a:lnSpc>
              <a:spcBef>
                <a:spcPts val="0"/>
              </a:spcBef>
              <a:buSzTx/>
              <a:buNone/>
              <a:defRPr spc="-232" sz="11600">
                <a:latin typeface="Helvetica Neue Medium"/>
                <a:ea typeface="Helvetica Neue Medium"/>
                <a:cs typeface="Helvetica Neue Medium"/>
                <a:sym typeface="Helvetica Neue Medium"/>
              </a:defRPr>
            </a:lvl1pPr>
            <a:lvl2pPr marL="0" indent="457200" algn="ctr">
              <a:lnSpc>
                <a:spcPct val="80000"/>
              </a:lnSpc>
              <a:spcBef>
                <a:spcPts val="0"/>
              </a:spcBef>
              <a:buSzTx/>
              <a:buNone/>
              <a:defRPr spc="-232" sz="11600">
                <a:latin typeface="Helvetica Neue Medium"/>
                <a:ea typeface="Helvetica Neue Medium"/>
                <a:cs typeface="Helvetica Neue Medium"/>
                <a:sym typeface="Helvetica Neue Medium"/>
              </a:defRPr>
            </a:lvl2pPr>
            <a:lvl3pPr marL="0" indent="914400" algn="ctr">
              <a:lnSpc>
                <a:spcPct val="80000"/>
              </a:lnSpc>
              <a:spcBef>
                <a:spcPts val="0"/>
              </a:spcBef>
              <a:buSzTx/>
              <a:buNone/>
              <a:defRPr spc="-232" sz="11600">
                <a:latin typeface="Helvetica Neue Medium"/>
                <a:ea typeface="Helvetica Neue Medium"/>
                <a:cs typeface="Helvetica Neue Medium"/>
                <a:sym typeface="Helvetica Neue Medium"/>
              </a:defRPr>
            </a:lvl3pPr>
            <a:lvl4pPr marL="0" indent="1371600" algn="ctr">
              <a:lnSpc>
                <a:spcPct val="80000"/>
              </a:lnSpc>
              <a:spcBef>
                <a:spcPts val="0"/>
              </a:spcBef>
              <a:buSzTx/>
              <a:buNone/>
              <a:defRPr spc="-232" sz="11600">
                <a:latin typeface="Helvetica Neue Medium"/>
                <a:ea typeface="Helvetica Neue Medium"/>
                <a:cs typeface="Helvetica Neue Medium"/>
                <a:sym typeface="Helvetica Neue Medium"/>
              </a:defRPr>
            </a:lvl4pPr>
            <a:lvl5pPr marL="0" indent="1828800" algn="ctr">
              <a:lnSpc>
                <a:spcPct val="80000"/>
              </a:lnSpc>
              <a:spcBef>
                <a:spcPts val="0"/>
              </a:spcBef>
              <a:buSzTx/>
              <a:buNone/>
              <a:defRPr spc="-232" sz="11600">
                <a:latin typeface="Helvetica Neue Medium"/>
                <a:ea typeface="Helvetica Neue Medium"/>
                <a:cs typeface="Helvetica Neue Medium"/>
                <a:sym typeface="Helvetica Neue Medium"/>
              </a:defRPr>
            </a:lvl5pPr>
          </a:lstStyle>
          <a:p>
            <a:pPr/>
            <a:r>
              <a:t>Statement</a:t>
            </a:r>
          </a:p>
          <a:p>
            <a:pPr lvl="1"/>
            <a:r>
              <a:t/>
            </a:r>
          </a:p>
          <a:p>
            <a:pPr lvl="2"/>
            <a:r>
              <a:t/>
            </a:r>
          </a:p>
          <a:p>
            <a:pPr lvl="3"/>
            <a:r>
              <a:t/>
            </a:r>
          </a:p>
          <a:p>
            <a:pPr lvl="4"/>
            <a:r>
              <a:t/>
            </a:r>
          </a:p>
        </p:txBody>
      </p:sp>
      <p:sp>
        <p:nvSpPr>
          <p:cNvPr id="119" name="Slide Number"/>
          <p:cNvSpPr txBox="1"/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/>
          <a:p>
            <a:pPr/>
            <a:fld id="{86CB4B4D-7CA3-9044-876B-883B54F8677D}" type="slidenum"/>
          </a:p>
        </p:txBody>
      </p:sp>
    </p:spTree>
  </p:cSld>
  <p:clrMapOvr>
    <a:masterClrMapping/>
  </p:clrMapOvr>
  <p:transition xmlns:p14="http://schemas.microsoft.com/office/powerpoint/2010/main" spd="med" advClick="1"/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type="tx" showMasterSp="1" showMasterPhAnim="1">
  <p:cSld name="Big Fac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Body Level One…"/>
          <p:cNvSpPr txBox="1"/>
          <p:nvPr>
            <p:ph type="body" idx="1" hasCustomPrompt="1"/>
          </p:nvPr>
        </p:nvSpPr>
        <p:spPr>
          <a:xfrm>
            <a:off x="1206500" y="1075927"/>
            <a:ext cx="21971000" cy="7241584"/>
          </a:xfrm>
          <a:prstGeom prst="rect">
            <a:avLst/>
          </a:prstGeom>
        </p:spPr>
        <p:txBody>
          <a:bodyPr anchor="b"/>
          <a:lstStyle>
            <a:lvl1pPr marL="0" indent="0" algn="ctr">
              <a:lnSpc>
                <a:spcPct val="80000"/>
              </a:lnSpc>
              <a:spcBef>
                <a:spcPts val="0"/>
              </a:spcBef>
              <a:buSzTx/>
              <a:buNone/>
              <a:defRPr b="1" spc="-250" sz="25000"/>
            </a:lvl1pPr>
            <a:lvl2pPr marL="0" indent="457200" algn="ctr">
              <a:lnSpc>
                <a:spcPct val="80000"/>
              </a:lnSpc>
              <a:spcBef>
                <a:spcPts val="0"/>
              </a:spcBef>
              <a:buSzTx/>
              <a:buNone/>
              <a:defRPr b="1" spc="-250" sz="25000"/>
            </a:lvl2pPr>
            <a:lvl3pPr marL="0" indent="914400" algn="ctr">
              <a:lnSpc>
                <a:spcPct val="80000"/>
              </a:lnSpc>
              <a:spcBef>
                <a:spcPts val="0"/>
              </a:spcBef>
              <a:buSzTx/>
              <a:buNone/>
              <a:defRPr b="1" spc="-250" sz="25000"/>
            </a:lvl3pPr>
            <a:lvl4pPr marL="0" indent="1371600" algn="ctr">
              <a:lnSpc>
                <a:spcPct val="80000"/>
              </a:lnSpc>
              <a:spcBef>
                <a:spcPts val="0"/>
              </a:spcBef>
              <a:buSzTx/>
              <a:buNone/>
              <a:defRPr b="1" spc="-250" sz="25000"/>
            </a:lvl4pPr>
            <a:lvl5pPr marL="0" indent="1828800" algn="ctr">
              <a:lnSpc>
                <a:spcPct val="80000"/>
              </a:lnSpc>
              <a:spcBef>
                <a:spcPts val="0"/>
              </a:spcBef>
              <a:buSzTx/>
              <a:buNone/>
              <a:defRPr b="1" spc="-250" sz="25000"/>
            </a:lvl5pPr>
          </a:lstStyle>
          <a:p>
            <a:pPr/>
            <a:r>
              <a:t>100%</a:t>
            </a:r>
          </a:p>
          <a:p>
            <a:pPr lvl="1"/>
            <a:r>
              <a:t/>
            </a:r>
          </a:p>
          <a:p>
            <a:pPr lvl="2"/>
            <a:r>
              <a:t/>
            </a:r>
          </a:p>
          <a:p>
            <a:pPr lvl="3"/>
            <a:r>
              <a:t/>
            </a:r>
          </a:p>
          <a:p>
            <a:pPr lvl="4"/>
            <a:r>
              <a:t/>
            </a:r>
          </a:p>
        </p:txBody>
      </p:sp>
      <p:sp>
        <p:nvSpPr>
          <p:cNvPr id="127" name="Fact information"/>
          <p:cNvSpPr txBox="1"/>
          <p:nvPr>
            <p:ph type="body" sz="quarter" idx="21" hasCustomPrompt="1"/>
          </p:nvPr>
        </p:nvSpPr>
        <p:spPr>
          <a:xfrm>
            <a:off x="1206500" y="8262180"/>
            <a:ext cx="21971000" cy="934780"/>
          </a:xfrm>
          <a:prstGeom prst="rect">
            <a:avLst/>
          </a:prstGeom>
        </p:spPr>
        <p:txBody>
          <a:bodyPr lIns="45719" tIns="45719" rIns="45719" bIns="45719"/>
          <a:lstStyle>
            <a:lvl1pPr marL="0" indent="0" algn="ctr" defTabSz="825500">
              <a:lnSpc>
                <a:spcPct val="100000"/>
              </a:lnSpc>
              <a:spcBef>
                <a:spcPts val="0"/>
              </a:spcBef>
              <a:buSzTx/>
              <a:buNone/>
              <a:defRPr b="1" sz="5500"/>
            </a:lvl1pPr>
          </a:lstStyle>
          <a:p>
            <a:pPr/>
            <a:r>
              <a:t>Fact information</a:t>
            </a:r>
          </a:p>
        </p:txBody>
      </p:sp>
      <p:sp>
        <p:nvSpPr>
          <p:cNvPr id="128" name="Slide Number"/>
          <p:cNvSpPr txBox="1"/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/>
          <a:p>
            <a:pPr/>
            <a:fld id="{86CB4B4D-7CA3-9044-876B-883B54F8677D}" type="slidenum"/>
          </a:p>
        </p:txBody>
      </p:sp>
    </p:spTree>
  </p:cSld>
  <p:clrMapOvr>
    <a:masterClrMapping/>
  </p:clrMapOvr>
  <p:transition xmlns:p14="http://schemas.microsoft.com/office/powerpoint/2010/main" spd="med" advClick="1"/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type="tx" showMasterSp="1" showMasterPhAnim="1">
  <p:cSld name="Quot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5" name="Attribution"/>
          <p:cNvSpPr txBox="1"/>
          <p:nvPr>
            <p:ph type="body" sz="quarter" idx="21" hasCustomPrompt="1"/>
          </p:nvPr>
        </p:nvSpPr>
        <p:spPr>
          <a:xfrm>
            <a:off x="2430025" y="10675453"/>
            <a:ext cx="20200052" cy="636979"/>
          </a:xfrm>
          <a:prstGeom prst="rect">
            <a:avLst/>
          </a:prstGeom>
        </p:spPr>
        <p:txBody>
          <a:bodyPr lIns="45719" tIns="45719" rIns="45719" bIns="45719"/>
          <a:lstStyle>
            <a:lvl1pPr marL="0" indent="0" defTabSz="825500">
              <a:lnSpc>
                <a:spcPct val="100000"/>
              </a:lnSpc>
              <a:spcBef>
                <a:spcPts val="0"/>
              </a:spcBef>
              <a:buSzTx/>
              <a:buNone/>
              <a:defRPr b="1" sz="3600"/>
            </a:lvl1pPr>
          </a:lstStyle>
          <a:p>
            <a:pPr/>
            <a:r>
              <a:t>Attribution</a:t>
            </a:r>
          </a:p>
        </p:txBody>
      </p:sp>
      <p:sp>
        <p:nvSpPr>
          <p:cNvPr id="136" name="Body Level One…"/>
          <p:cNvSpPr txBox="1"/>
          <p:nvPr>
            <p:ph type="body" sz="half" idx="1" hasCustomPrompt="1"/>
          </p:nvPr>
        </p:nvSpPr>
        <p:spPr>
          <a:xfrm>
            <a:off x="1753923" y="4939860"/>
            <a:ext cx="20876154" cy="3836280"/>
          </a:xfrm>
          <a:prstGeom prst="rect">
            <a:avLst/>
          </a:prstGeom>
        </p:spPr>
        <p:txBody>
          <a:bodyPr/>
          <a:lstStyle>
            <a:lvl1pPr marL="638923" indent="-469900">
              <a:spcBef>
                <a:spcPts val="0"/>
              </a:spcBef>
              <a:buSzTx/>
              <a:buNone/>
              <a:defRPr spc="-170" sz="8500">
                <a:latin typeface="Helvetica Neue Medium"/>
                <a:ea typeface="Helvetica Neue Medium"/>
                <a:cs typeface="Helvetica Neue Medium"/>
                <a:sym typeface="Helvetica Neue Medium"/>
              </a:defRPr>
            </a:lvl1pPr>
            <a:lvl2pPr marL="638923" indent="-12700">
              <a:spcBef>
                <a:spcPts val="0"/>
              </a:spcBef>
              <a:buSzTx/>
              <a:buNone/>
              <a:defRPr spc="-170" sz="8500">
                <a:latin typeface="Helvetica Neue Medium"/>
                <a:ea typeface="Helvetica Neue Medium"/>
                <a:cs typeface="Helvetica Neue Medium"/>
                <a:sym typeface="Helvetica Neue Medium"/>
              </a:defRPr>
            </a:lvl2pPr>
            <a:lvl3pPr marL="638923" indent="444500">
              <a:spcBef>
                <a:spcPts val="0"/>
              </a:spcBef>
              <a:buSzTx/>
              <a:buNone/>
              <a:defRPr spc="-170" sz="8500">
                <a:latin typeface="Helvetica Neue Medium"/>
                <a:ea typeface="Helvetica Neue Medium"/>
                <a:cs typeface="Helvetica Neue Medium"/>
                <a:sym typeface="Helvetica Neue Medium"/>
              </a:defRPr>
            </a:lvl3pPr>
            <a:lvl4pPr marL="638923" indent="901700">
              <a:spcBef>
                <a:spcPts val="0"/>
              </a:spcBef>
              <a:buSzTx/>
              <a:buNone/>
              <a:defRPr spc="-170" sz="8500">
                <a:latin typeface="Helvetica Neue Medium"/>
                <a:ea typeface="Helvetica Neue Medium"/>
                <a:cs typeface="Helvetica Neue Medium"/>
                <a:sym typeface="Helvetica Neue Medium"/>
              </a:defRPr>
            </a:lvl4pPr>
            <a:lvl5pPr marL="638923" indent="1358900">
              <a:spcBef>
                <a:spcPts val="0"/>
              </a:spcBef>
              <a:buSzTx/>
              <a:buNone/>
              <a:defRPr spc="-170" sz="8500">
                <a:latin typeface="Helvetica Neue Medium"/>
                <a:ea typeface="Helvetica Neue Medium"/>
                <a:cs typeface="Helvetica Neue Medium"/>
                <a:sym typeface="Helvetica Neue Medium"/>
              </a:defRPr>
            </a:lvl5pPr>
          </a:lstStyle>
          <a:p>
            <a:pPr/>
            <a:r>
              <a:t>“Notable Quote”</a:t>
            </a:r>
          </a:p>
          <a:p>
            <a:pPr lvl="1"/>
            <a:r>
              <a:t/>
            </a:r>
          </a:p>
          <a:p>
            <a:pPr lvl="2"/>
            <a:r>
              <a:t/>
            </a:r>
          </a:p>
          <a:p>
            <a:pPr lvl="3"/>
            <a:r>
              <a:t/>
            </a:r>
          </a:p>
          <a:p>
            <a:pPr lvl="4"/>
            <a:r>
              <a:t/>
            </a:r>
          </a:p>
        </p:txBody>
      </p:sp>
      <p:sp>
        <p:nvSpPr>
          <p:cNvPr id="137" name="Slide Number"/>
          <p:cNvSpPr txBox="1"/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/>
          <a:p>
            <a:pPr/>
            <a:fld id="{86CB4B4D-7CA3-9044-876B-883B54F8677D}" type="slidenum"/>
          </a:p>
        </p:txBody>
      </p:sp>
    </p:spTree>
  </p:cSld>
  <p:clrMapOvr>
    <a:masterClrMapping/>
  </p:clrMapOvr>
  <p:transition xmlns:p14="http://schemas.microsoft.com/office/powerpoint/2010/main" spd="med" advClick="1"/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type="tx" showMasterSp="1" showMasterPhAnim="1">
  <p:cSld name="Photo - 3 Up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4" name="Bowl of salad with fried rice, boiled eggs, and chopsticks"/>
          <p:cNvSpPr/>
          <p:nvPr>
            <p:ph type="pic" sz="quarter" idx="21"/>
          </p:nvPr>
        </p:nvSpPr>
        <p:spPr>
          <a:xfrm>
            <a:off x="15760700" y="1016000"/>
            <a:ext cx="7439099" cy="5949678"/>
          </a:xfrm>
          <a:prstGeom prst="rect">
            <a:avLst/>
          </a:prstGeom>
        </p:spPr>
        <p:txBody>
          <a:bodyPr lIns="91439" tIns="45719" rIns="91439" bIns="45719">
            <a:noAutofit/>
          </a:bodyPr>
          <a:lstStyle/>
          <a:p>
            <a:pPr/>
          </a:p>
        </p:txBody>
      </p:sp>
      <p:sp>
        <p:nvSpPr>
          <p:cNvPr id="145" name="Bowl with salmon cakes, salad, and hummus "/>
          <p:cNvSpPr/>
          <p:nvPr>
            <p:ph type="pic" sz="half" idx="22"/>
          </p:nvPr>
        </p:nvSpPr>
        <p:spPr>
          <a:xfrm>
            <a:off x="13500100" y="3978275"/>
            <a:ext cx="10439400" cy="12150181"/>
          </a:xfrm>
          <a:prstGeom prst="rect">
            <a:avLst/>
          </a:prstGeom>
        </p:spPr>
        <p:txBody>
          <a:bodyPr lIns="91439" tIns="45719" rIns="91439" bIns="45719">
            <a:noAutofit/>
          </a:bodyPr>
          <a:lstStyle/>
          <a:p>
            <a:pPr/>
          </a:p>
        </p:txBody>
      </p:sp>
      <p:sp>
        <p:nvSpPr>
          <p:cNvPr id="146" name="Bowl of pappardelle pasta with parsley butter, roasted hazelnuts, and shaved parmesan cheese"/>
          <p:cNvSpPr/>
          <p:nvPr>
            <p:ph type="pic" idx="23"/>
          </p:nvPr>
        </p:nvSpPr>
        <p:spPr>
          <a:xfrm>
            <a:off x="-139700" y="495300"/>
            <a:ext cx="16611600" cy="12458700"/>
          </a:xfrm>
          <a:prstGeom prst="rect">
            <a:avLst/>
          </a:prstGeom>
        </p:spPr>
        <p:txBody>
          <a:bodyPr lIns="91439" tIns="45719" rIns="91439" bIns="45719">
            <a:noAutofit/>
          </a:bodyPr>
          <a:lstStyle/>
          <a:p>
            <a:pPr/>
          </a:p>
        </p:txBody>
      </p:sp>
      <p:sp>
        <p:nvSpPr>
          <p:cNvPr id="147" name="Slide Number"/>
          <p:cNvSpPr txBox="1"/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/>
          <a:p>
            <a:pPr/>
            <a:fld id="{86CB4B4D-7CA3-9044-876B-883B54F8677D}" type="slidenum"/>
          </a:p>
        </p:txBody>
      </p:sp>
    </p:spTree>
  </p:cSld>
  <p:clrMapOvr>
    <a:masterClrMapping/>
  </p:clrMapOvr>
  <p:transition xmlns:p14="http://schemas.microsoft.com/office/powerpoint/2010/main" spd="med" advClick="1"/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type="tx" showMasterSp="1" showMasterPhAnim="1">
  <p:cSld name="Phot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bowl of salad with fried rice, boiled eggs, and chopsticks"/>
          <p:cNvSpPr/>
          <p:nvPr>
            <p:ph type="pic" idx="21"/>
          </p:nvPr>
        </p:nvSpPr>
        <p:spPr>
          <a:xfrm>
            <a:off x="-1333500" y="-5524500"/>
            <a:ext cx="27051000" cy="21640800"/>
          </a:xfrm>
          <a:prstGeom prst="rect">
            <a:avLst/>
          </a:prstGeom>
        </p:spPr>
        <p:txBody>
          <a:bodyPr lIns="91439" tIns="45719" rIns="91439" bIns="45719">
            <a:noAutofit/>
          </a:bodyPr>
          <a:lstStyle/>
          <a:p>
            <a:pPr/>
          </a:p>
        </p:txBody>
      </p:sp>
      <p:sp>
        <p:nvSpPr>
          <p:cNvPr id="155" name="Slide Number"/>
          <p:cNvSpPr txBox="1"/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>
            <a:lvl1pPr>
              <a:defRPr>
                <a:solidFill>
                  <a:srgbClr val="FFFFFF"/>
                </a:solidFill>
              </a:defRPr>
            </a:lvl1pPr>
          </a:lstStyle>
          <a:p>
            <a:pPr/>
            <a:fld id="{86CB4B4D-7CA3-9044-876B-883B54F8677D}" type="slidenum"/>
          </a:p>
        </p:txBody>
      </p:sp>
    </p:spTree>
  </p:cSld>
  <p:clrMapOvr>
    <a:masterClrMapping/>
  </p:clrMapOvr>
  <p:transition xmlns:p14="http://schemas.microsoft.com/office/powerpoint/2010/main" spd="med" advClick="1"/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type="tx" showMasterSp="1" showMasterPhAnim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2" name="Slide Number"/>
          <p:cNvSpPr txBox="1"/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/>
          <a:p>
            <a:pPr/>
            <a:fld id="{86CB4B4D-7CA3-9044-876B-883B54F8677D}" type="slidenum"/>
          </a:p>
        </p:txBody>
      </p:sp>
    </p:spTree>
  </p:cSld>
  <p:clrMapOvr>
    <a:masterClrMapping/>
  </p:clrMapOvr>
  <p:transition xmlns:p14="http://schemas.microsoft.com/office/powerpoint/2010/main" spd="med" advClick="1"/>
</p:sldLayout>
</file>

<file path=ppt/slideMasters/_rels/slideMaster1.xml.rels><?xml version="1.0" encoding="UTF-8"?>
<Relationships xmlns="http://schemas.openxmlformats.org/package/2006/relationships"><Relationship Id="rId1" Type="http://schemas.openxmlformats.org/officeDocument/2006/relationships/theme" Target="../theme/theme1.xml"/><Relationship Id="rId2" Type="http://schemas.openxmlformats.org/officeDocument/2006/relationships/slideLayout" Target="../slideLayouts/slideLayout1.xml"/><Relationship Id="rId3" Type="http://schemas.openxmlformats.org/officeDocument/2006/relationships/slideLayout" Target="../slideLayouts/slideLayout2.xml"/><Relationship Id="rId4" Type="http://schemas.openxmlformats.org/officeDocument/2006/relationships/slideLayout" Target="../slideLayouts/slideLayout3.xml"/><Relationship Id="rId5" Type="http://schemas.openxmlformats.org/officeDocument/2006/relationships/slideLayout" Target="../slideLayouts/slideLayout4.xml"/><Relationship Id="rId6" Type="http://schemas.openxmlformats.org/officeDocument/2006/relationships/slideLayout" Target="../slideLayouts/slideLayout5.xml"/><Relationship Id="rId7" Type="http://schemas.openxmlformats.org/officeDocument/2006/relationships/slideLayout" Target="../slideLayouts/slideLayout6.xml"/><Relationship Id="rId8" Type="http://schemas.openxmlformats.org/officeDocument/2006/relationships/slideLayout" Target="../slideLayouts/slideLayout7.xml"/><Relationship Id="rId9" Type="http://schemas.openxmlformats.org/officeDocument/2006/relationships/slideLayout" Target="../slideLayouts/slideLayout8.xml"/><Relationship Id="rId10" Type="http://schemas.openxmlformats.org/officeDocument/2006/relationships/slideLayout" Target="../slideLayouts/slideLayout9.xml"/><Relationship Id="rId11" Type="http://schemas.openxmlformats.org/officeDocument/2006/relationships/slideLayout" Target="../slideLayouts/slideLayout10.xml"/><Relationship Id="rId12" Type="http://schemas.openxmlformats.org/officeDocument/2006/relationships/slideLayout" Target="../slideLayouts/slideLayout11.xml"/><Relationship Id="rId13" Type="http://schemas.openxmlformats.org/officeDocument/2006/relationships/slideLayout" Target="../slideLayouts/slideLayout12.xml"/><Relationship Id="rId14" Type="http://schemas.openxmlformats.org/officeDocument/2006/relationships/slideLayout" Target="../slideLayouts/slideLayout13.xml"/><Relationship Id="rId15" Type="http://schemas.openxmlformats.org/officeDocument/2006/relationships/slideLayout" Target="../slideLayouts/slideLayout14.xml"/><Relationship Id="rId16" Type="http://schemas.openxmlformats.org/officeDocument/2006/relationships/slideLayout" Target="../slideLayouts/slideLayout15.xml"/><Relationship Id="rId17" Type="http://schemas.openxmlformats.org/officeDocument/2006/relationships/slideLayout" Target="../slideLayouts/slideLayout16.xml"/><Relationship Id="rId18" Type="http://schemas.openxmlformats.org/officeDocument/2006/relationships/slideLayout" Target="../slideLayouts/slideLayout17.xml"/></Relationships>
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Title"/>
          <p:cNvSpPr txBox="1"/>
          <p:nvPr>
            <p:ph type="title" hasCustomPrompt="1"/>
          </p:nvPr>
        </p:nvSpPr>
        <p:spPr>
          <a:xfrm>
            <a:off x="1206500" y="1079500"/>
            <a:ext cx="21971000" cy="1433163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50800" tIns="50800" rIns="50800" bIns="50800">
            <a:normAutofit fontScale="100000" lnSpcReduction="0"/>
          </a:bodyPr>
          <a:lstStyle/>
          <a:p>
            <a:pPr/>
            <a:r>
              <a:t>Slide Title</a:t>
            </a:r>
          </a:p>
        </p:txBody>
      </p:sp>
      <p:sp>
        <p:nvSpPr>
          <p:cNvPr id="3" name="Body Level One…"/>
          <p:cNvSpPr txBox="1"/>
          <p:nvPr>
            <p:ph type="body" idx="1" hasCustomPrompt="1"/>
          </p:nvPr>
        </p:nvSpPr>
        <p:spPr>
          <a:xfrm>
            <a:off x="1206500" y="4248504"/>
            <a:ext cx="21971000" cy="8256012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50800" tIns="50800" rIns="50800" bIns="50800">
            <a:normAutofit fontScale="100000" lnSpcReduction="0"/>
          </a:bodyPr>
          <a:lstStyle/>
          <a:p>
            <a:pPr/>
            <a:r>
              <a:t>Slide bullet text</a:t>
            </a:r>
          </a:p>
          <a:p>
            <a:pPr lvl="1"/>
            <a:r>
              <a:t/>
            </a:r>
          </a:p>
          <a:p>
            <a:pPr lvl="2"/>
            <a:r>
              <a:t/>
            </a:r>
          </a:p>
          <a:p>
            <a:pPr lvl="3"/>
            <a:r>
              <a:t/>
            </a:r>
          </a:p>
          <a:p>
            <a:pPr lvl="4"/>
            <a:r>
              <a:t/>
            </a:r>
          </a:p>
        </p:txBody>
      </p:sp>
      <p:sp>
        <p:nvSpPr>
          <p:cNvPr id="4" name="Slide Number"/>
          <p:cNvSpPr txBox="1"/>
          <p:nvPr>
            <p:ph type="sldNum" sz="quarter" idx="2"/>
          </p:nvPr>
        </p:nvSpPr>
        <p:spPr>
          <a:xfrm>
            <a:off x="12001499" y="13080999"/>
            <a:ext cx="368505" cy="374600"/>
          </a:xfrm>
          <a:prstGeom prst="rect">
            <a:avLst/>
          </a:prstGeom>
          <a:ln w="12700">
            <a:miter lim="400000"/>
          </a:ln>
        </p:spPr>
        <p:txBody>
          <a:bodyPr wrap="none" lIns="50800" tIns="50800" rIns="50800" bIns="50800" anchor="b">
            <a:spAutoFit/>
          </a:bodyPr>
          <a:lstStyle>
            <a:lvl1pPr algn="ctr" defTabSz="584200">
              <a:lnSpc>
                <a:spcPct val="100000"/>
              </a:lnSpc>
              <a:spcBef>
                <a:spcPts val="0"/>
              </a:spcBef>
              <a:defRPr sz="1800"/>
            </a:lvl1pPr>
          </a:lstStyle>
          <a:p>
            <a:pPr/>
            <a:fld id="{86CB4B4D-7CA3-9044-876B-883B54F8677D}" type="slidenum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  <p:sldLayoutId id="2147483660" r:id="rId13"/>
    <p:sldLayoutId id="2147483661" r:id="rId14"/>
    <p:sldLayoutId id="2147483662" r:id="rId15"/>
    <p:sldLayoutId id="2147483663" r:id="rId16"/>
    <p:sldLayoutId id="2147483664" r:id="rId17"/>
    <p:sldLayoutId id="2147483665" r:id="rId18"/>
  </p:sldLayoutIdLst>
  <p:transition xmlns:p14="http://schemas.microsoft.com/office/powerpoint/2010/main" spd="med" advClick="1"/>
  <p:txStyles>
    <p:titleStyle>
      <a:lvl1pPr marL="0" marR="0" indent="0" algn="l" defTabSz="2438338" rtl="0" latinLnBrk="0">
        <a:lnSpc>
          <a:spcPct val="8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1" baseline="0" cap="none" i="0" spc="-170" strike="noStrike" sz="8500" u="none">
          <a:solidFill>
            <a:srgbClr val="000000"/>
          </a:solidFill>
          <a:uFillTx/>
          <a:latin typeface="+mn-lt"/>
          <a:ea typeface="+mn-ea"/>
          <a:cs typeface="+mn-cs"/>
          <a:sym typeface="Helvetica Neue"/>
        </a:defRPr>
      </a:lvl1pPr>
      <a:lvl2pPr marL="0" marR="0" indent="457200" algn="l" defTabSz="2438338" rtl="0" latinLnBrk="0">
        <a:lnSpc>
          <a:spcPct val="8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1" baseline="0" cap="none" i="0" spc="-170" strike="noStrike" sz="8500" u="none">
          <a:solidFill>
            <a:srgbClr val="000000"/>
          </a:solidFill>
          <a:uFillTx/>
          <a:latin typeface="+mn-lt"/>
          <a:ea typeface="+mn-ea"/>
          <a:cs typeface="+mn-cs"/>
          <a:sym typeface="Helvetica Neue"/>
        </a:defRPr>
      </a:lvl2pPr>
      <a:lvl3pPr marL="0" marR="0" indent="914400" algn="l" defTabSz="2438338" rtl="0" latinLnBrk="0">
        <a:lnSpc>
          <a:spcPct val="8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1" baseline="0" cap="none" i="0" spc="-170" strike="noStrike" sz="8500" u="none">
          <a:solidFill>
            <a:srgbClr val="000000"/>
          </a:solidFill>
          <a:uFillTx/>
          <a:latin typeface="+mn-lt"/>
          <a:ea typeface="+mn-ea"/>
          <a:cs typeface="+mn-cs"/>
          <a:sym typeface="Helvetica Neue"/>
        </a:defRPr>
      </a:lvl3pPr>
      <a:lvl4pPr marL="0" marR="0" indent="1371600" algn="l" defTabSz="2438338" rtl="0" latinLnBrk="0">
        <a:lnSpc>
          <a:spcPct val="8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1" baseline="0" cap="none" i="0" spc="-170" strike="noStrike" sz="8500" u="none">
          <a:solidFill>
            <a:srgbClr val="000000"/>
          </a:solidFill>
          <a:uFillTx/>
          <a:latin typeface="+mn-lt"/>
          <a:ea typeface="+mn-ea"/>
          <a:cs typeface="+mn-cs"/>
          <a:sym typeface="Helvetica Neue"/>
        </a:defRPr>
      </a:lvl4pPr>
      <a:lvl5pPr marL="0" marR="0" indent="1828800" algn="l" defTabSz="2438338" rtl="0" latinLnBrk="0">
        <a:lnSpc>
          <a:spcPct val="8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1" baseline="0" cap="none" i="0" spc="-170" strike="noStrike" sz="8500" u="none">
          <a:solidFill>
            <a:srgbClr val="000000"/>
          </a:solidFill>
          <a:uFillTx/>
          <a:latin typeface="+mn-lt"/>
          <a:ea typeface="+mn-ea"/>
          <a:cs typeface="+mn-cs"/>
          <a:sym typeface="Helvetica Neue"/>
        </a:defRPr>
      </a:lvl5pPr>
      <a:lvl6pPr marL="0" marR="0" indent="2286000" algn="l" defTabSz="2438338" rtl="0" latinLnBrk="0">
        <a:lnSpc>
          <a:spcPct val="8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1" baseline="0" cap="none" i="0" spc="-170" strike="noStrike" sz="8500" u="none">
          <a:solidFill>
            <a:srgbClr val="000000"/>
          </a:solidFill>
          <a:uFillTx/>
          <a:latin typeface="+mn-lt"/>
          <a:ea typeface="+mn-ea"/>
          <a:cs typeface="+mn-cs"/>
          <a:sym typeface="Helvetica Neue"/>
        </a:defRPr>
      </a:lvl6pPr>
      <a:lvl7pPr marL="0" marR="0" indent="2743200" algn="l" defTabSz="2438338" rtl="0" latinLnBrk="0">
        <a:lnSpc>
          <a:spcPct val="8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1" baseline="0" cap="none" i="0" spc="-170" strike="noStrike" sz="8500" u="none">
          <a:solidFill>
            <a:srgbClr val="000000"/>
          </a:solidFill>
          <a:uFillTx/>
          <a:latin typeface="+mn-lt"/>
          <a:ea typeface="+mn-ea"/>
          <a:cs typeface="+mn-cs"/>
          <a:sym typeface="Helvetica Neue"/>
        </a:defRPr>
      </a:lvl7pPr>
      <a:lvl8pPr marL="0" marR="0" indent="3200400" algn="l" defTabSz="2438338" rtl="0" latinLnBrk="0">
        <a:lnSpc>
          <a:spcPct val="8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1" baseline="0" cap="none" i="0" spc="-170" strike="noStrike" sz="8500" u="none">
          <a:solidFill>
            <a:srgbClr val="000000"/>
          </a:solidFill>
          <a:uFillTx/>
          <a:latin typeface="+mn-lt"/>
          <a:ea typeface="+mn-ea"/>
          <a:cs typeface="+mn-cs"/>
          <a:sym typeface="Helvetica Neue"/>
        </a:defRPr>
      </a:lvl8pPr>
      <a:lvl9pPr marL="0" marR="0" indent="3657600" algn="l" defTabSz="2438338" rtl="0" latinLnBrk="0">
        <a:lnSpc>
          <a:spcPct val="8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1" baseline="0" cap="none" i="0" spc="-170" strike="noStrike" sz="8500" u="none">
          <a:solidFill>
            <a:srgbClr val="000000"/>
          </a:solidFill>
          <a:uFillTx/>
          <a:latin typeface="+mn-lt"/>
          <a:ea typeface="+mn-ea"/>
          <a:cs typeface="+mn-cs"/>
          <a:sym typeface="Helvetica Neue"/>
        </a:defRPr>
      </a:lvl9pPr>
    </p:titleStyle>
    <p:bodyStyle>
      <a:lvl1pPr marL="609600" marR="0" indent="-609600" algn="l" defTabSz="2438338" rtl="0" latinLnBrk="0">
        <a:lnSpc>
          <a:spcPct val="90000"/>
        </a:lnSpc>
        <a:spcBef>
          <a:spcPts val="4500"/>
        </a:spcBef>
        <a:spcAft>
          <a:spcPts val="0"/>
        </a:spcAft>
        <a:buClrTx/>
        <a:buSzPct val="123000"/>
        <a:buFontTx/>
        <a:buChar char="•"/>
        <a:tabLst/>
        <a:defRPr b="0" baseline="0" cap="none" i="0" spc="0" strike="noStrike" sz="4800" u="none">
          <a:solidFill>
            <a:srgbClr val="000000"/>
          </a:solidFill>
          <a:uFillTx/>
          <a:latin typeface="+mn-lt"/>
          <a:ea typeface="+mn-ea"/>
          <a:cs typeface="+mn-cs"/>
          <a:sym typeface="Helvetica Neue"/>
        </a:defRPr>
      </a:lvl1pPr>
      <a:lvl2pPr marL="1219200" marR="0" indent="-609600" algn="l" defTabSz="2438338" rtl="0" latinLnBrk="0">
        <a:lnSpc>
          <a:spcPct val="90000"/>
        </a:lnSpc>
        <a:spcBef>
          <a:spcPts val="4500"/>
        </a:spcBef>
        <a:spcAft>
          <a:spcPts val="0"/>
        </a:spcAft>
        <a:buClrTx/>
        <a:buSzPct val="123000"/>
        <a:buFontTx/>
        <a:buChar char="•"/>
        <a:tabLst/>
        <a:defRPr b="0" baseline="0" cap="none" i="0" spc="0" strike="noStrike" sz="4800" u="none">
          <a:solidFill>
            <a:srgbClr val="000000"/>
          </a:solidFill>
          <a:uFillTx/>
          <a:latin typeface="+mn-lt"/>
          <a:ea typeface="+mn-ea"/>
          <a:cs typeface="+mn-cs"/>
          <a:sym typeface="Helvetica Neue"/>
        </a:defRPr>
      </a:lvl2pPr>
      <a:lvl3pPr marL="1828800" marR="0" indent="-609600" algn="l" defTabSz="2438338" rtl="0" latinLnBrk="0">
        <a:lnSpc>
          <a:spcPct val="90000"/>
        </a:lnSpc>
        <a:spcBef>
          <a:spcPts val="4500"/>
        </a:spcBef>
        <a:spcAft>
          <a:spcPts val="0"/>
        </a:spcAft>
        <a:buClrTx/>
        <a:buSzPct val="123000"/>
        <a:buFontTx/>
        <a:buChar char="•"/>
        <a:tabLst/>
        <a:defRPr b="0" baseline="0" cap="none" i="0" spc="0" strike="noStrike" sz="4800" u="none">
          <a:solidFill>
            <a:srgbClr val="000000"/>
          </a:solidFill>
          <a:uFillTx/>
          <a:latin typeface="+mn-lt"/>
          <a:ea typeface="+mn-ea"/>
          <a:cs typeface="+mn-cs"/>
          <a:sym typeface="Helvetica Neue"/>
        </a:defRPr>
      </a:lvl3pPr>
      <a:lvl4pPr marL="2438400" marR="0" indent="-609600" algn="l" defTabSz="2438338" rtl="0" latinLnBrk="0">
        <a:lnSpc>
          <a:spcPct val="90000"/>
        </a:lnSpc>
        <a:spcBef>
          <a:spcPts val="4500"/>
        </a:spcBef>
        <a:spcAft>
          <a:spcPts val="0"/>
        </a:spcAft>
        <a:buClrTx/>
        <a:buSzPct val="123000"/>
        <a:buFontTx/>
        <a:buChar char="•"/>
        <a:tabLst/>
        <a:defRPr b="0" baseline="0" cap="none" i="0" spc="0" strike="noStrike" sz="4800" u="none">
          <a:solidFill>
            <a:srgbClr val="000000"/>
          </a:solidFill>
          <a:uFillTx/>
          <a:latin typeface="+mn-lt"/>
          <a:ea typeface="+mn-ea"/>
          <a:cs typeface="+mn-cs"/>
          <a:sym typeface="Helvetica Neue"/>
        </a:defRPr>
      </a:lvl4pPr>
      <a:lvl5pPr marL="3048000" marR="0" indent="-609600" algn="l" defTabSz="2438338" rtl="0" latinLnBrk="0">
        <a:lnSpc>
          <a:spcPct val="90000"/>
        </a:lnSpc>
        <a:spcBef>
          <a:spcPts val="4500"/>
        </a:spcBef>
        <a:spcAft>
          <a:spcPts val="0"/>
        </a:spcAft>
        <a:buClrTx/>
        <a:buSzPct val="123000"/>
        <a:buFontTx/>
        <a:buChar char="•"/>
        <a:tabLst/>
        <a:defRPr b="0" baseline="0" cap="none" i="0" spc="0" strike="noStrike" sz="4800" u="none">
          <a:solidFill>
            <a:srgbClr val="000000"/>
          </a:solidFill>
          <a:uFillTx/>
          <a:latin typeface="+mn-lt"/>
          <a:ea typeface="+mn-ea"/>
          <a:cs typeface="+mn-cs"/>
          <a:sym typeface="Helvetica Neue"/>
        </a:defRPr>
      </a:lvl5pPr>
      <a:lvl6pPr marL="3657600" marR="0" indent="-609600" algn="l" defTabSz="2438338" rtl="0" latinLnBrk="0">
        <a:lnSpc>
          <a:spcPct val="90000"/>
        </a:lnSpc>
        <a:spcBef>
          <a:spcPts val="4500"/>
        </a:spcBef>
        <a:spcAft>
          <a:spcPts val="0"/>
        </a:spcAft>
        <a:buClrTx/>
        <a:buSzPct val="123000"/>
        <a:buFontTx/>
        <a:buChar char="•"/>
        <a:tabLst/>
        <a:defRPr b="0" baseline="0" cap="none" i="0" spc="0" strike="noStrike" sz="4800" u="none">
          <a:solidFill>
            <a:srgbClr val="000000"/>
          </a:solidFill>
          <a:uFillTx/>
          <a:latin typeface="+mn-lt"/>
          <a:ea typeface="+mn-ea"/>
          <a:cs typeface="+mn-cs"/>
          <a:sym typeface="Helvetica Neue"/>
        </a:defRPr>
      </a:lvl6pPr>
      <a:lvl7pPr marL="4267200" marR="0" indent="-609600" algn="l" defTabSz="2438338" rtl="0" latinLnBrk="0">
        <a:lnSpc>
          <a:spcPct val="90000"/>
        </a:lnSpc>
        <a:spcBef>
          <a:spcPts val="4500"/>
        </a:spcBef>
        <a:spcAft>
          <a:spcPts val="0"/>
        </a:spcAft>
        <a:buClrTx/>
        <a:buSzPct val="123000"/>
        <a:buFontTx/>
        <a:buChar char="•"/>
        <a:tabLst/>
        <a:defRPr b="0" baseline="0" cap="none" i="0" spc="0" strike="noStrike" sz="4800" u="none">
          <a:solidFill>
            <a:srgbClr val="000000"/>
          </a:solidFill>
          <a:uFillTx/>
          <a:latin typeface="+mn-lt"/>
          <a:ea typeface="+mn-ea"/>
          <a:cs typeface="+mn-cs"/>
          <a:sym typeface="Helvetica Neue"/>
        </a:defRPr>
      </a:lvl7pPr>
      <a:lvl8pPr marL="4876800" marR="0" indent="-609600" algn="l" defTabSz="2438338" rtl="0" latinLnBrk="0">
        <a:lnSpc>
          <a:spcPct val="90000"/>
        </a:lnSpc>
        <a:spcBef>
          <a:spcPts val="4500"/>
        </a:spcBef>
        <a:spcAft>
          <a:spcPts val="0"/>
        </a:spcAft>
        <a:buClrTx/>
        <a:buSzPct val="123000"/>
        <a:buFontTx/>
        <a:buChar char="•"/>
        <a:tabLst/>
        <a:defRPr b="0" baseline="0" cap="none" i="0" spc="0" strike="noStrike" sz="4800" u="none">
          <a:solidFill>
            <a:srgbClr val="000000"/>
          </a:solidFill>
          <a:uFillTx/>
          <a:latin typeface="+mn-lt"/>
          <a:ea typeface="+mn-ea"/>
          <a:cs typeface="+mn-cs"/>
          <a:sym typeface="Helvetica Neue"/>
        </a:defRPr>
      </a:lvl8pPr>
      <a:lvl9pPr marL="5486400" marR="0" indent="-609600" algn="l" defTabSz="2438338" rtl="0" latinLnBrk="0">
        <a:lnSpc>
          <a:spcPct val="90000"/>
        </a:lnSpc>
        <a:spcBef>
          <a:spcPts val="4500"/>
        </a:spcBef>
        <a:spcAft>
          <a:spcPts val="0"/>
        </a:spcAft>
        <a:buClrTx/>
        <a:buSzPct val="123000"/>
        <a:buFontTx/>
        <a:buChar char="•"/>
        <a:tabLst/>
        <a:defRPr b="0" baseline="0" cap="none" i="0" spc="0" strike="noStrike" sz="4800" u="none">
          <a:solidFill>
            <a:srgbClr val="000000"/>
          </a:solidFill>
          <a:uFillTx/>
          <a:latin typeface="+mn-lt"/>
          <a:ea typeface="+mn-ea"/>
          <a:cs typeface="+mn-cs"/>
          <a:sym typeface="Helvetica Neue"/>
        </a:defRPr>
      </a:lvl9pPr>
    </p:bodyStyle>
    <p:otherStyle>
      <a:lvl1pPr marL="0" marR="0" indent="0" algn="ctr" defTabSz="5842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1800" u="none">
          <a:solidFill>
            <a:schemeClr val="tx1"/>
          </a:solidFill>
          <a:uFillTx/>
          <a:latin typeface="+mn-lt"/>
          <a:ea typeface="+mn-ea"/>
          <a:cs typeface="+mn-cs"/>
          <a:sym typeface="Helvetica Neue"/>
        </a:defRPr>
      </a:lvl1pPr>
      <a:lvl2pPr marL="0" marR="0" indent="457200" algn="ctr" defTabSz="5842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1800" u="none">
          <a:solidFill>
            <a:schemeClr val="tx1"/>
          </a:solidFill>
          <a:uFillTx/>
          <a:latin typeface="+mn-lt"/>
          <a:ea typeface="+mn-ea"/>
          <a:cs typeface="+mn-cs"/>
          <a:sym typeface="Helvetica Neue"/>
        </a:defRPr>
      </a:lvl2pPr>
      <a:lvl3pPr marL="0" marR="0" indent="914400" algn="ctr" defTabSz="5842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1800" u="none">
          <a:solidFill>
            <a:schemeClr val="tx1"/>
          </a:solidFill>
          <a:uFillTx/>
          <a:latin typeface="+mn-lt"/>
          <a:ea typeface="+mn-ea"/>
          <a:cs typeface="+mn-cs"/>
          <a:sym typeface="Helvetica Neue"/>
        </a:defRPr>
      </a:lvl3pPr>
      <a:lvl4pPr marL="0" marR="0" indent="1371600" algn="ctr" defTabSz="5842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1800" u="none">
          <a:solidFill>
            <a:schemeClr val="tx1"/>
          </a:solidFill>
          <a:uFillTx/>
          <a:latin typeface="+mn-lt"/>
          <a:ea typeface="+mn-ea"/>
          <a:cs typeface="+mn-cs"/>
          <a:sym typeface="Helvetica Neue"/>
        </a:defRPr>
      </a:lvl4pPr>
      <a:lvl5pPr marL="0" marR="0" indent="1828800" algn="ctr" defTabSz="5842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1800" u="none">
          <a:solidFill>
            <a:schemeClr val="tx1"/>
          </a:solidFill>
          <a:uFillTx/>
          <a:latin typeface="+mn-lt"/>
          <a:ea typeface="+mn-ea"/>
          <a:cs typeface="+mn-cs"/>
          <a:sym typeface="Helvetica Neue"/>
        </a:defRPr>
      </a:lvl5pPr>
      <a:lvl6pPr marL="0" marR="0" indent="2286000" algn="ctr" defTabSz="5842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1800" u="none">
          <a:solidFill>
            <a:schemeClr val="tx1"/>
          </a:solidFill>
          <a:uFillTx/>
          <a:latin typeface="+mn-lt"/>
          <a:ea typeface="+mn-ea"/>
          <a:cs typeface="+mn-cs"/>
          <a:sym typeface="Helvetica Neue"/>
        </a:defRPr>
      </a:lvl6pPr>
      <a:lvl7pPr marL="0" marR="0" indent="2743200" algn="ctr" defTabSz="5842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1800" u="none">
          <a:solidFill>
            <a:schemeClr val="tx1"/>
          </a:solidFill>
          <a:uFillTx/>
          <a:latin typeface="+mn-lt"/>
          <a:ea typeface="+mn-ea"/>
          <a:cs typeface="+mn-cs"/>
          <a:sym typeface="Helvetica Neue"/>
        </a:defRPr>
      </a:lvl7pPr>
      <a:lvl8pPr marL="0" marR="0" indent="3200400" algn="ctr" defTabSz="5842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1800" u="none">
          <a:solidFill>
            <a:schemeClr val="tx1"/>
          </a:solidFill>
          <a:uFillTx/>
          <a:latin typeface="+mn-lt"/>
          <a:ea typeface="+mn-ea"/>
          <a:cs typeface="+mn-cs"/>
          <a:sym typeface="Helvetica Neue"/>
        </a:defRPr>
      </a:lvl8pPr>
      <a:lvl9pPr marL="0" marR="0" indent="3657600" algn="ctr" defTabSz="5842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1800" u="none">
          <a:solidFill>
            <a:schemeClr val="tx1"/>
          </a:solidFill>
          <a:uFillTx/>
          <a:latin typeface="+mn-lt"/>
          <a:ea typeface="+mn-ea"/>
          <a:cs typeface="+mn-cs"/>
          <a:sym typeface="Helvetica Neue"/>
        </a:defRPr>
      </a:lvl9pPr>
    </p:otherStyle>
  </p:txStyles>
</p:sldMaster>
</file>

<file path=ppt/slides/_rels/slide1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7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1.png"/><Relationship Id="rId4" Type="http://schemas.openxmlformats.org/officeDocument/2006/relationships/image" Target="../media/image1.jpeg"/><Relationship Id="rId5" Type="http://schemas.openxmlformats.org/officeDocument/2006/relationships/image" Target="../media/image2.png"/><Relationship Id="rId6" Type="http://schemas.openxmlformats.org/officeDocument/2006/relationships/image" Target="../media/image3.png"/></Relationships>

</file>

<file path=ppt/slides/_rels/slide2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7.xml"/><Relationship Id="rId2" Type="http://schemas.openxmlformats.org/officeDocument/2006/relationships/notesSlide" Target="../notesSlides/notesSlide2.xml"/><Relationship Id="rId3" Type="http://schemas.openxmlformats.org/officeDocument/2006/relationships/image" Target="../media/image1.png"/><Relationship Id="rId4" Type="http://schemas.openxmlformats.org/officeDocument/2006/relationships/image" Target="../media/image2.jpeg"/><Relationship Id="rId5" Type="http://schemas.openxmlformats.org/officeDocument/2006/relationships/image" Target="../media/image3.jpeg"/><Relationship Id="rId6" Type="http://schemas.openxmlformats.org/officeDocument/2006/relationships/image" Target="../media/image4.png"/></Relationships>

</file>

<file path=ppt/slides/_rels/slide3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7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1.png"/><Relationship Id="rId4" Type="http://schemas.openxmlformats.org/officeDocument/2006/relationships/image" Target="../media/image5.png"/></Relationships>

</file>

<file path=ppt/slides/_rels/slide4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7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1.png"/><Relationship Id="rId4" Type="http://schemas.openxmlformats.org/officeDocument/2006/relationships/image" Target="../media/image6.png"/></Relationships>

</file>

<file path=ppt/slides/_rels/slide5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7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1.png"/><Relationship Id="rId4" Type="http://schemas.openxmlformats.org/officeDocument/2006/relationships/image" Target="../media/image7.png"/></Relationships>

</file>

<file path=ppt/slides/_rels/slide6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7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1.png"/><Relationship Id="rId4" Type="http://schemas.openxmlformats.org/officeDocument/2006/relationships/image" Target="../media/image8.png"/></Relationships>

</file>

<file path=ppt/slides/_rels/slide7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7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1.png"/><Relationship Id="rId4" Type="http://schemas.openxmlformats.org/officeDocument/2006/relationships/image" Target="../media/image9.png"/></Relationships>

</file>

<file path=ppt/slides/_rels/slide8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7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1.png"/><Relationship Id="rId4" Type="http://schemas.openxmlformats.org/officeDocument/2006/relationships/image" Target="../media/image10.png"/></Relationships>

</file>

<file path=ppt/slides/_rels/slide9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7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1.png"/><Relationship Id="rId4" Type="http://schemas.openxmlformats.org/officeDocument/2006/relationships/image" Target="../media/image11.png"/></Relationships>

</file>

<file path=ppt/slides/_rels/slide10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7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1.png"/><Relationship Id="rId4" Type="http://schemas.openxmlformats.org/officeDocument/2006/relationships/image" Target="../media/image12.png"/><Relationship Id="rId5" Type="http://schemas.openxmlformats.org/officeDocument/2006/relationships/image" Target="../media/image13.png"/></Relationships>

</file>

<file path=ppt/slides/_rels/slide11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7.xml"/><Relationship Id="rId2" Type="http://schemas.openxmlformats.org/officeDocument/2006/relationships/notesSlide" Target="../notesSlides/notesSlide11.xml"/><Relationship Id="rId3" Type="http://schemas.openxmlformats.org/officeDocument/2006/relationships/image" Target="../media/image1.png"/><Relationship Id="rId4" Type="http://schemas.openxmlformats.org/officeDocument/2006/relationships/image" Target="../media/image14.png"/><Relationship Id="rId5" Type="http://schemas.openxmlformats.org/officeDocument/2006/relationships/image" Target="../media/image15.png"/></Relationships>

</file>

<file path=ppt/slides/_rels/slide12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7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1.png"/><Relationship Id="rId4" Type="http://schemas.openxmlformats.org/officeDocument/2006/relationships/image" Target="../media/image16.png"/><Relationship Id="rId5" Type="http://schemas.openxmlformats.org/officeDocument/2006/relationships/image" Target="../media/image17.png"/><Relationship Id="rId6" Type="http://schemas.openxmlformats.org/officeDocument/2006/relationships/image" Target="../media/image18.png"/><Relationship Id="rId7" Type="http://schemas.openxmlformats.org/officeDocument/2006/relationships/image" Target="../media/image19.png"/><Relationship Id="rId8" Type="http://schemas.openxmlformats.org/officeDocument/2006/relationships/image" Target="../media/image20.png"/></Relationships>

</file>

<file path=ppt/slides/_rels/slide13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7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1.png"/><Relationship Id="rId4" Type="http://schemas.openxmlformats.org/officeDocument/2006/relationships/image" Target="../media/image21.png"/><Relationship Id="rId5" Type="http://schemas.openxmlformats.org/officeDocument/2006/relationships/image" Target="../media/image22.png"/><Relationship Id="rId6" Type="http://schemas.openxmlformats.org/officeDocument/2006/relationships/image" Target="../media/image23.png"/><Relationship Id="rId7" Type="http://schemas.openxmlformats.org/officeDocument/2006/relationships/image" Target="../media/image24.png"/></Relationships>

</file>

<file path=ppt/slides/_rels/slide14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7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1.png"/><Relationship Id="rId4" Type="http://schemas.openxmlformats.org/officeDocument/2006/relationships/image" Target="../media/image25.png"/></Relationships>

</file>

<file path=ppt/slides/_rels/slide15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7.xml"/><Relationship Id="rId2" Type="http://schemas.openxmlformats.org/officeDocument/2006/relationships/notesSlide" Target="../notesSlides/notesSlide15.xml"/><Relationship Id="rId3" Type="http://schemas.openxmlformats.org/officeDocument/2006/relationships/image" Target="../media/image1.png"/><Relationship Id="rId4" Type="http://schemas.openxmlformats.org/officeDocument/2006/relationships/image" Target="../media/image26.png"/></Relationships>

</file>

<file path=ppt/slides/_rels/slide16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7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1.png"/><Relationship Id="rId4" Type="http://schemas.openxmlformats.org/officeDocument/2006/relationships/image" Target="../media/image1.gif"/><Relationship Id="rId5" Type="http://schemas.openxmlformats.org/officeDocument/2006/relationships/image" Target="../media/image27.png"/></Relationships>

</file>

<file path=ppt/slides/_rels/slide17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7.xml"/><Relationship Id="rId2" Type="http://schemas.openxmlformats.org/officeDocument/2006/relationships/notesSlide" Target="../notesSlides/notesSlide17.xml"/><Relationship Id="rId3" Type="http://schemas.openxmlformats.org/officeDocument/2006/relationships/image" Target="../media/image1.png"/><Relationship Id="rId4" Type="http://schemas.openxmlformats.org/officeDocument/2006/relationships/image" Target="../media/image28.png"/><Relationship Id="rId5" Type="http://schemas.openxmlformats.org/officeDocument/2006/relationships/image" Target="../media/image29.png"/></Relationships>

</file>

<file path=ppt/slides/_rels/slide18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7.xml"/><Relationship Id="rId2" Type="http://schemas.openxmlformats.org/officeDocument/2006/relationships/notesSlide" Target="../notesSlides/notesSlide18.xml"/><Relationship Id="rId3" Type="http://schemas.openxmlformats.org/officeDocument/2006/relationships/image" Target="../media/image1.png"/><Relationship Id="rId4" Type="http://schemas.openxmlformats.org/officeDocument/2006/relationships/image" Target="../media/image30.png"/><Relationship Id="rId5" Type="http://schemas.openxmlformats.org/officeDocument/2006/relationships/image" Target="../media/image31.png"/><Relationship Id="rId6" Type="http://schemas.openxmlformats.org/officeDocument/2006/relationships/image" Target="../media/image28.png"/><Relationship Id="rId7" Type="http://schemas.openxmlformats.org/officeDocument/2006/relationships/image" Target="../media/image32.png"/></Relationships>

</file>

<file path=ppt/slides/_rels/slide19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7.xml"/><Relationship Id="rId2" Type="http://schemas.openxmlformats.org/officeDocument/2006/relationships/notesSlide" Target="../notesSlides/notesSlide19.xml"/><Relationship Id="rId3" Type="http://schemas.openxmlformats.org/officeDocument/2006/relationships/image" Target="../media/image1.png"/><Relationship Id="rId4" Type="http://schemas.openxmlformats.org/officeDocument/2006/relationships/image" Target="../media/image33.png"/><Relationship Id="rId5" Type="http://schemas.openxmlformats.org/officeDocument/2006/relationships/image" Target="../media/image34.png"/><Relationship Id="rId6" Type="http://schemas.openxmlformats.org/officeDocument/2006/relationships/image" Target="../media/image28.png"/><Relationship Id="rId7" Type="http://schemas.openxmlformats.org/officeDocument/2006/relationships/image" Target="../media/image35.png"/></Relationships>

</file>

<file path=ppt/slides/_rels/slide20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7.xml"/><Relationship Id="rId2" Type="http://schemas.openxmlformats.org/officeDocument/2006/relationships/notesSlide" Target="../notesSlides/notesSlide20.xml"/><Relationship Id="rId3" Type="http://schemas.openxmlformats.org/officeDocument/2006/relationships/image" Target="../media/image1.png"/><Relationship Id="rId4" Type="http://schemas.openxmlformats.org/officeDocument/2006/relationships/image" Target="../media/image36.png"/></Relationships>

</file>

<file path=ppt/slides/_rels/slide21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7.xml"/><Relationship Id="rId2" Type="http://schemas.openxmlformats.org/officeDocument/2006/relationships/notesSlide" Target="../notesSlides/notesSlide21.xml"/><Relationship Id="rId3" Type="http://schemas.openxmlformats.org/officeDocument/2006/relationships/image" Target="../media/image1.png"/><Relationship Id="rId4" Type="http://schemas.openxmlformats.org/officeDocument/2006/relationships/image" Target="../media/image37.png"/></Relationships>

</file>

<file path=ppt/slides/_rels/slide22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7.xml"/><Relationship Id="rId2" Type="http://schemas.openxmlformats.org/officeDocument/2006/relationships/notesSlide" Target="../notesSlides/notesSlide22.xml"/><Relationship Id="rId3" Type="http://schemas.openxmlformats.org/officeDocument/2006/relationships/image" Target="../media/image1.png"/><Relationship Id="rId4" Type="http://schemas.openxmlformats.org/officeDocument/2006/relationships/image" Target="../media/image38.png"/><Relationship Id="rId5" Type="http://schemas.openxmlformats.org/officeDocument/2006/relationships/image" Target="../media/image39.png"/><Relationship Id="rId6" Type="http://schemas.openxmlformats.org/officeDocument/2006/relationships/image" Target="../media/image40.png"/><Relationship Id="rId7" Type="http://schemas.openxmlformats.org/officeDocument/2006/relationships/image" Target="../media/image41.png"/><Relationship Id="rId8" Type="http://schemas.openxmlformats.org/officeDocument/2006/relationships/image" Target="../media/image42.png"/></Relationships>

</file>

<file path=ppt/slides/_rels/slide23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7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1.png"/><Relationship Id="rId4" Type="http://schemas.openxmlformats.org/officeDocument/2006/relationships/image" Target="../media/image43.png"/><Relationship Id="rId5" Type="http://schemas.openxmlformats.org/officeDocument/2006/relationships/image" Target="../media/image44.png"/><Relationship Id="rId6" Type="http://schemas.openxmlformats.org/officeDocument/2006/relationships/image" Target="../media/image45.png"/><Relationship Id="rId7" Type="http://schemas.openxmlformats.org/officeDocument/2006/relationships/image" Target="../media/image46.png"/><Relationship Id="rId8" Type="http://schemas.openxmlformats.org/officeDocument/2006/relationships/image" Target="../media/image47.png"/><Relationship Id="rId9" Type="http://schemas.openxmlformats.org/officeDocument/2006/relationships/image" Target="../media/image48.png"/><Relationship Id="rId10" Type="http://schemas.openxmlformats.org/officeDocument/2006/relationships/image" Target="../media/image49.png"/><Relationship Id="rId11" Type="http://schemas.openxmlformats.org/officeDocument/2006/relationships/image" Target="../media/image50.png"/></Relationships>

</file>

<file path=ppt/slides/_rels/slide24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7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1.png"/><Relationship Id="rId4" Type="http://schemas.openxmlformats.org/officeDocument/2006/relationships/image" Target="../media/image51.png"/></Relationships>

</file>

<file path=ppt/slides/_rels/slide25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7.xml"/><Relationship Id="rId2" Type="http://schemas.openxmlformats.org/officeDocument/2006/relationships/notesSlide" Target="../notesSlides/notesSlide25.xml"/><Relationship Id="rId3" Type="http://schemas.openxmlformats.org/officeDocument/2006/relationships/image" Target="../media/image1.png"/><Relationship Id="rId4" Type="http://schemas.openxmlformats.org/officeDocument/2006/relationships/image" Target="../media/image52.png"/><Relationship Id="rId5" Type="http://schemas.openxmlformats.org/officeDocument/2006/relationships/image" Target="../media/image53.png"/><Relationship Id="rId6" Type="http://schemas.openxmlformats.org/officeDocument/2006/relationships/image" Target="../media/image54.png"/></Relationships>

</file>

<file path=ppt/slides/_rels/slide26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7.xml"/><Relationship Id="rId2" Type="http://schemas.openxmlformats.org/officeDocument/2006/relationships/notesSlide" Target="../notesSlides/notesSlide26.xml"/><Relationship Id="rId3" Type="http://schemas.openxmlformats.org/officeDocument/2006/relationships/image" Target="../media/image1.png"/><Relationship Id="rId4" Type="http://schemas.openxmlformats.org/officeDocument/2006/relationships/image" Target="../media/image52.png"/><Relationship Id="rId5" Type="http://schemas.openxmlformats.org/officeDocument/2006/relationships/image" Target="../media/image53.png"/><Relationship Id="rId6" Type="http://schemas.openxmlformats.org/officeDocument/2006/relationships/image" Target="../media/image55.png"/></Relationships>

</file>

<file path=ppt/slides/_rels/slide27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7.xml"/><Relationship Id="rId2" Type="http://schemas.openxmlformats.org/officeDocument/2006/relationships/notesSlide" Target="../notesSlides/notesSlide27.xml"/><Relationship Id="rId3" Type="http://schemas.openxmlformats.org/officeDocument/2006/relationships/image" Target="../media/image1.png"/><Relationship Id="rId4" Type="http://schemas.openxmlformats.org/officeDocument/2006/relationships/image" Target="../media/image56.png"/></Relationships>

</file>

<file path=ppt/slides/_rels/slide28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7.xml"/><Relationship Id="rId2" Type="http://schemas.openxmlformats.org/officeDocument/2006/relationships/notesSlide" Target="../notesSlides/notesSlide28.xml"/><Relationship Id="rId3" Type="http://schemas.openxmlformats.org/officeDocument/2006/relationships/image" Target="../media/image1.png"/><Relationship Id="rId4" Type="http://schemas.openxmlformats.org/officeDocument/2006/relationships/image" Target="../media/image2.gif"/><Relationship Id="rId5" Type="http://schemas.openxmlformats.org/officeDocument/2006/relationships/image" Target="../media/image57.png"/></Relationships>

</file>

<file path=ppt/slides/_rels/slide29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7.xml"/><Relationship Id="rId2" Type="http://schemas.openxmlformats.org/officeDocument/2006/relationships/image" Target="../media/image1.png"/><Relationship Id="rId3" Type="http://schemas.openxmlformats.org/officeDocument/2006/relationships/image" Target="../media/image58.png"/></Relationships>

</file>

<file path=ppt/slides/_rels/slide30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7.xml"/><Relationship Id="rId2" Type="http://schemas.openxmlformats.org/officeDocument/2006/relationships/notesSlide" Target="../notesSlides/notesSlide29.xml"/><Relationship Id="rId3" Type="http://schemas.openxmlformats.org/officeDocument/2006/relationships/image" Target="../media/image1.png"/><Relationship Id="rId4" Type="http://schemas.openxmlformats.org/officeDocument/2006/relationships/image" Target="../media/image59.png"/></Relationships>

</file>

<file path=ppt/slides/_rels/slide31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7.xml"/><Relationship Id="rId2" Type="http://schemas.openxmlformats.org/officeDocument/2006/relationships/notesSlide" Target="../notesSlides/notesSlide30.xml"/><Relationship Id="rId3" Type="http://schemas.openxmlformats.org/officeDocument/2006/relationships/image" Target="../media/image1.png"/><Relationship Id="rId4" Type="http://schemas.openxmlformats.org/officeDocument/2006/relationships/image" Target="../media/image60.png"/></Relationships>

</file>

<file path=ppt/slides/_rels/slide32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7.xml"/><Relationship Id="rId2" Type="http://schemas.openxmlformats.org/officeDocument/2006/relationships/notesSlide" Target="../notesSlides/notesSlide31.xml"/><Relationship Id="rId3" Type="http://schemas.openxmlformats.org/officeDocument/2006/relationships/image" Target="../media/image1.png"/><Relationship Id="rId4" Type="http://schemas.openxmlformats.org/officeDocument/2006/relationships/image" Target="../media/image61.png"/><Relationship Id="rId5" Type="http://schemas.openxmlformats.org/officeDocument/2006/relationships/image" Target="../media/image62.png"/><Relationship Id="rId6" Type="http://schemas.openxmlformats.org/officeDocument/2006/relationships/image" Target="../media/image63.png"/></Relationships>

</file>

<file path=ppt/slides/_rels/slide33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7.xml"/><Relationship Id="rId2" Type="http://schemas.openxmlformats.org/officeDocument/2006/relationships/notesSlide" Target="../notesSlides/notesSlide32.xml"/><Relationship Id="rId3" Type="http://schemas.openxmlformats.org/officeDocument/2006/relationships/image" Target="../media/image1.png"/><Relationship Id="rId4" Type="http://schemas.openxmlformats.org/officeDocument/2006/relationships/image" Target="../media/image64.png"/></Relationships>

</file>

<file path=ppt/slides/_rels/slide34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7.xml"/><Relationship Id="rId2" Type="http://schemas.openxmlformats.org/officeDocument/2006/relationships/notesSlide" Target="../notesSlides/notesSlide33.xml"/><Relationship Id="rId3" Type="http://schemas.openxmlformats.org/officeDocument/2006/relationships/image" Target="../media/image1.png"/><Relationship Id="rId4" Type="http://schemas.openxmlformats.org/officeDocument/2006/relationships/image" Target="../media/image65.png"/><Relationship Id="rId5" Type="http://schemas.openxmlformats.org/officeDocument/2006/relationships/image" Target="../media/image66.png"/></Relationships>

</file>

<file path=ppt/slides/_rels/slide35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7.xml"/><Relationship Id="rId2" Type="http://schemas.openxmlformats.org/officeDocument/2006/relationships/notesSlide" Target="../notesSlides/notesSlide34.xml"/><Relationship Id="rId3" Type="http://schemas.openxmlformats.org/officeDocument/2006/relationships/image" Target="../media/image1.png"/><Relationship Id="rId4" Type="http://schemas.openxmlformats.org/officeDocument/2006/relationships/image" Target="../media/image67.png"/></Relationships>

</file>

<file path=ppt/slides/_rels/slide36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7.xml"/><Relationship Id="rId2" Type="http://schemas.openxmlformats.org/officeDocument/2006/relationships/notesSlide" Target="../notesSlides/notesSlide35.xml"/><Relationship Id="rId3" Type="http://schemas.openxmlformats.org/officeDocument/2006/relationships/image" Target="../media/image1.png"/><Relationship Id="rId4" Type="http://schemas.openxmlformats.org/officeDocument/2006/relationships/image" Target="../media/image68.png"/></Relationships>

</file>

<file path=ppt/slides/_rels/slide37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7.xml"/><Relationship Id="rId2" Type="http://schemas.openxmlformats.org/officeDocument/2006/relationships/notesSlide" Target="../notesSlides/notesSlide36.xml"/><Relationship Id="rId3" Type="http://schemas.openxmlformats.org/officeDocument/2006/relationships/image" Target="../media/image1.png"/><Relationship Id="rId4" Type="http://schemas.openxmlformats.org/officeDocument/2006/relationships/image" Target="../media/image69.png"/></Relationships>

</file>

<file path=ppt/slides/_rels/slide38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7.xml"/><Relationship Id="rId2" Type="http://schemas.openxmlformats.org/officeDocument/2006/relationships/notesSlide" Target="../notesSlides/notesSlide37.xml"/><Relationship Id="rId3" Type="http://schemas.openxmlformats.org/officeDocument/2006/relationships/image" Target="../media/image1.png"/><Relationship Id="rId4" Type="http://schemas.openxmlformats.org/officeDocument/2006/relationships/image" Target="../media/image70.png"/></Relationships>

</file>

<file path=ppt/slides/_rels/slide39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7.xml"/><Relationship Id="rId2" Type="http://schemas.openxmlformats.org/officeDocument/2006/relationships/notesSlide" Target="../notesSlides/notesSlide38.xml"/><Relationship Id="rId3" Type="http://schemas.openxmlformats.org/officeDocument/2006/relationships/image" Target="../media/image1.png"/><Relationship Id="rId4" Type="http://schemas.openxmlformats.org/officeDocument/2006/relationships/image" Target="../media/image71.png"/><Relationship Id="rId5" Type="http://schemas.openxmlformats.org/officeDocument/2006/relationships/image" Target="../media/image72.png"/><Relationship Id="rId6" Type="http://schemas.openxmlformats.org/officeDocument/2006/relationships/image" Target="../media/image73.png"/></Relationships>

</file>

<file path=ppt/slides/_rels/slide40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7.xml"/><Relationship Id="rId2" Type="http://schemas.openxmlformats.org/officeDocument/2006/relationships/notesSlide" Target="../notesSlides/notesSlide39.xml"/><Relationship Id="rId3" Type="http://schemas.openxmlformats.org/officeDocument/2006/relationships/image" Target="../media/image1.png"/><Relationship Id="rId4" Type="http://schemas.openxmlformats.org/officeDocument/2006/relationships/image" Target="../media/image74.png"/><Relationship Id="rId5" Type="http://schemas.openxmlformats.org/officeDocument/2006/relationships/image" Target="../media/image75.png"/></Relationships>

</file>

<file path=ppt/slides/_rels/slide41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7.xml"/><Relationship Id="rId2" Type="http://schemas.openxmlformats.org/officeDocument/2006/relationships/notesSlide" Target="../notesSlides/notesSlide40.xml"/><Relationship Id="rId3" Type="http://schemas.openxmlformats.org/officeDocument/2006/relationships/image" Target="../media/image1.png"/><Relationship Id="rId4" Type="http://schemas.openxmlformats.org/officeDocument/2006/relationships/image" Target="../media/image76.png"/><Relationship Id="rId5" Type="http://schemas.openxmlformats.org/officeDocument/2006/relationships/image" Target="../media/image77.png"/></Relationships>

</file>

<file path=ppt/slides/_rels/slide42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7.xml"/><Relationship Id="rId2" Type="http://schemas.openxmlformats.org/officeDocument/2006/relationships/notesSlide" Target="../notesSlides/notesSlide41.xml"/><Relationship Id="rId3" Type="http://schemas.openxmlformats.org/officeDocument/2006/relationships/image" Target="../media/image1.png"/><Relationship Id="rId4" Type="http://schemas.openxmlformats.org/officeDocument/2006/relationships/image" Target="../media/image78.png"/></Relationships>

</file>

<file path=ppt/slides/_rels/slide43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7.xml"/><Relationship Id="rId2" Type="http://schemas.openxmlformats.org/officeDocument/2006/relationships/image" Target="../media/image1.png"/><Relationship Id="rId3" Type="http://schemas.openxmlformats.org/officeDocument/2006/relationships/image" Target="../media/image79.png"/></Relationships>

</file>

<file path=ppt/slides/_rels/slide44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7.xml"/><Relationship Id="rId2" Type="http://schemas.openxmlformats.org/officeDocument/2006/relationships/image" Target="../media/image1.png"/><Relationship Id="rId3" Type="http://schemas.openxmlformats.org/officeDocument/2006/relationships/hyperlink" Target="http://github.com/rollecode/wpsuomi2026-talk-slides" TargetMode="External"/><Relationship Id="rId4" Type="http://schemas.openxmlformats.org/officeDocument/2006/relationships/image" Target="../media/image80.png"/>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71" name="bg.png" descr="bg.png"/>
          <p:cNvPicPr>
            <a:picLocks noChangeAspect="1"/>
          </p:cNvPicPr>
          <p:nvPr/>
        </p:nvPicPr>
        <p:blipFill>
          <a:blip r:embed="rId3">
            <a:extLst/>
          </a:blip>
          <a:stretch>
            <a:fillRect/>
          </a:stretch>
        </p:blipFill>
        <p:spPr>
          <a:xfrm>
            <a:off x="0" y="0"/>
            <a:ext cx="24384000" cy="13716000"/>
          </a:xfrm>
          <a:prstGeom prst="rect">
            <a:avLst/>
          </a:prstGeom>
          <a:ln w="12700">
            <a:miter lim="400000"/>
          </a:ln>
        </p:spPr>
      </p:pic>
      <p:pic>
        <p:nvPicPr>
          <p:cNvPr id="172" name="portrait-crop.jpg" descr="portrait-crop.jpg"/>
          <p:cNvPicPr>
            <a:picLocks noChangeAspect="1"/>
          </p:cNvPicPr>
          <p:nvPr/>
        </p:nvPicPr>
        <p:blipFill>
          <a:blip r:embed="rId4">
            <a:extLst/>
          </a:blip>
          <a:stretch>
            <a:fillRect/>
          </a:stretch>
        </p:blipFill>
        <p:spPr>
          <a:xfrm>
            <a:off x="18554700" y="0"/>
            <a:ext cx="5829300" cy="13716000"/>
          </a:xfrm>
          <a:prstGeom prst="rect">
            <a:avLst/>
          </a:prstGeom>
          <a:ln w="12700">
            <a:miter lim="400000"/>
          </a:ln>
        </p:spPr>
      </p:pic>
      <p:pic>
        <p:nvPicPr>
          <p:cNvPr id="173" name="wpsuomi.png" descr="wpsuomi.png"/>
          <p:cNvPicPr>
            <a:picLocks noChangeAspect="1"/>
          </p:cNvPicPr>
          <p:nvPr/>
        </p:nvPicPr>
        <p:blipFill>
          <a:blip r:embed="rId5">
            <a:extLst/>
          </a:blip>
          <a:stretch>
            <a:fillRect/>
          </a:stretch>
        </p:blipFill>
        <p:spPr>
          <a:xfrm>
            <a:off x="1397000" y="965200"/>
            <a:ext cx="3012764" cy="723900"/>
          </a:xfrm>
          <a:prstGeom prst="rect">
            <a:avLst/>
          </a:prstGeom>
          <a:ln w="12700">
            <a:miter lim="400000"/>
          </a:ln>
        </p:spPr>
      </p:pic>
      <p:pic>
        <p:nvPicPr>
          <p:cNvPr id="174" name="icons.png" descr="icons.png"/>
          <p:cNvPicPr>
            <a:picLocks noChangeAspect="1"/>
          </p:cNvPicPr>
          <p:nvPr/>
        </p:nvPicPr>
        <p:blipFill>
          <a:blip r:embed="rId6">
            <a:extLst/>
          </a:blip>
          <a:stretch>
            <a:fillRect/>
          </a:stretch>
        </p:blipFill>
        <p:spPr>
          <a:xfrm>
            <a:off x="1371600" y="12407900"/>
            <a:ext cx="3922713" cy="355600"/>
          </a:xfrm>
          <a:prstGeom prst="rect">
            <a:avLst/>
          </a:prstGeom>
          <a:ln w="12700">
            <a:miter lim="400000"/>
          </a:ln>
        </p:spPr>
      </p:pic>
      <p:sp>
        <p:nvSpPr>
          <p:cNvPr id="175" name="WP Suomi 2026, Oulu, 16th of October, 2026"/>
          <p:cNvSpPr txBox="1"/>
          <p:nvPr/>
        </p:nvSpPr>
        <p:spPr>
          <a:xfrm>
            <a:off x="1346200" y="1803400"/>
            <a:ext cx="6819900" cy="4953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50800" tIns="50800" rIns="50800" bIns="50800" anchor="ctr">
            <a:spAutoFit/>
          </a:bodyPr>
          <a:lstStyle>
            <a:lvl1pPr>
              <a:defRPr sz="2400">
                <a:solidFill>
                  <a:srgbClr val="665A7C"/>
                </a:solidFill>
                <a:latin typeface="Geist Medium"/>
                <a:ea typeface="Geist Medium"/>
                <a:cs typeface="Geist Medium"/>
                <a:sym typeface="Geist Medium"/>
              </a:defRPr>
            </a:lvl1pPr>
          </a:lstStyle>
          <a:p>
            <a:pPr/>
            <a:r>
              <a:t>WP Suomi 2026, Oulu, 16th of October, 2026</a:t>
            </a:r>
          </a:p>
        </p:txBody>
      </p:sp>
      <p:sp>
        <p:nvSpPr>
          <p:cNvPr id="176" name="Going"/>
          <p:cNvSpPr txBox="1"/>
          <p:nvPr/>
        </p:nvSpPr>
        <p:spPr>
          <a:xfrm>
            <a:off x="1295400" y="3670300"/>
            <a:ext cx="18072100" cy="22733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50800" tIns="50800" rIns="50800" bIns="50800" anchor="ctr">
            <a:spAutoFit/>
          </a:bodyPr>
          <a:lstStyle>
            <a:lvl1pPr>
              <a:defRPr sz="13800">
                <a:solidFill>
                  <a:srgbClr val="220D44"/>
                </a:solidFill>
                <a:latin typeface="Unbounded ExtraBold"/>
                <a:ea typeface="Unbounded ExtraBold"/>
                <a:cs typeface="Unbounded ExtraBold"/>
                <a:sym typeface="Unbounded ExtraBold"/>
              </a:defRPr>
            </a:lvl1pPr>
          </a:lstStyle>
          <a:p>
            <a:pPr/>
            <a:r>
              <a:t>Going</a:t>
            </a:r>
          </a:p>
        </p:txBody>
      </p:sp>
      <p:sp>
        <p:nvSpPr>
          <p:cNvPr id="177" name="ACF-free"/>
          <p:cNvSpPr txBox="1"/>
          <p:nvPr/>
        </p:nvSpPr>
        <p:spPr>
          <a:xfrm>
            <a:off x="1409700" y="5105400"/>
            <a:ext cx="18072100" cy="29718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50800" tIns="50800" rIns="50800" bIns="50800" anchor="ctr">
            <a:spAutoFit/>
          </a:bodyPr>
          <a:lstStyle>
            <a:lvl1pPr>
              <a:defRPr i="1" sz="17400">
                <a:solidFill>
                  <a:srgbClr val="6033A6"/>
                </a:solidFill>
                <a:latin typeface="Instrument Serif"/>
                <a:ea typeface="Instrument Serif"/>
                <a:cs typeface="Instrument Serif"/>
                <a:sym typeface="Instrument Serif"/>
              </a:defRPr>
            </a:lvl1pPr>
          </a:lstStyle>
          <a:p>
            <a:pPr/>
            <a:r>
              <a:t>ACF-free</a:t>
            </a:r>
          </a:p>
        </p:txBody>
      </p:sp>
      <p:sp>
        <p:nvSpPr>
          <p:cNvPr id="178" name="Replacing a plugin dependency"/>
          <p:cNvSpPr txBox="1"/>
          <p:nvPr/>
        </p:nvSpPr>
        <p:spPr>
          <a:xfrm>
            <a:off x="1320800" y="7937500"/>
            <a:ext cx="18072100" cy="7239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50800" tIns="50800" rIns="50800" bIns="50800" anchor="ctr">
            <a:spAutoFit/>
          </a:bodyPr>
          <a:lstStyle>
            <a:lvl1pPr>
              <a:defRPr sz="3800">
                <a:solidFill>
                  <a:srgbClr val="4B3051"/>
                </a:solidFill>
                <a:latin typeface="Geist"/>
                <a:ea typeface="Geist"/>
                <a:cs typeface="Geist"/>
                <a:sym typeface="Geist"/>
              </a:defRPr>
            </a:lvl1pPr>
          </a:lstStyle>
          <a:p>
            <a:pPr/>
            <a:r>
              <a:t>Replacing a plugin dependency</a:t>
            </a:r>
          </a:p>
        </p:txBody>
      </p:sp>
      <p:sp>
        <p:nvSpPr>
          <p:cNvPr id="179" name="with core WordPress"/>
          <p:cNvSpPr txBox="1"/>
          <p:nvPr/>
        </p:nvSpPr>
        <p:spPr>
          <a:xfrm>
            <a:off x="1320800" y="8597900"/>
            <a:ext cx="18072100" cy="7239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50800" tIns="50800" rIns="50800" bIns="50800" anchor="ctr">
            <a:spAutoFit/>
          </a:bodyPr>
          <a:lstStyle>
            <a:lvl1pPr>
              <a:defRPr sz="3800">
                <a:solidFill>
                  <a:srgbClr val="4B3051"/>
                </a:solidFill>
                <a:latin typeface="Geist"/>
                <a:ea typeface="Geist"/>
                <a:cs typeface="Geist"/>
                <a:sym typeface="Geist"/>
              </a:defRPr>
            </a:lvl1pPr>
          </a:lstStyle>
          <a:p>
            <a:pPr/>
            <a:r>
              <a:t>with core WordPress</a:t>
            </a:r>
          </a:p>
        </p:txBody>
      </p:sp>
      <p:sp>
        <p:nvSpPr>
          <p:cNvPr id="180" name="Rolle Laukkarinen"/>
          <p:cNvSpPr txBox="1"/>
          <p:nvPr/>
        </p:nvSpPr>
        <p:spPr>
          <a:xfrm>
            <a:off x="1320800" y="11010899"/>
            <a:ext cx="18072100" cy="6985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50800" tIns="50800" rIns="50800" bIns="50800" anchor="ctr">
            <a:spAutoFit/>
          </a:bodyPr>
          <a:lstStyle>
            <a:lvl1pPr>
              <a:defRPr sz="3600">
                <a:solidFill>
                  <a:srgbClr val="220D44"/>
                </a:solidFill>
                <a:latin typeface="Geist SemiBold"/>
                <a:ea typeface="Geist SemiBold"/>
                <a:cs typeface="Geist SemiBold"/>
                <a:sym typeface="Geist SemiBold"/>
              </a:defRPr>
            </a:lvl1pPr>
          </a:lstStyle>
          <a:p>
            <a:pPr/>
            <a:r>
              <a:t>Rolle Laukkarinen</a:t>
            </a:r>
          </a:p>
        </p:txBody>
      </p:sp>
      <p:sp>
        <p:nvSpPr>
          <p:cNvPr id="181" name="Founder and CTO, Digitoimisto Dude Oy"/>
          <p:cNvSpPr txBox="1"/>
          <p:nvPr/>
        </p:nvSpPr>
        <p:spPr>
          <a:xfrm>
            <a:off x="1320800" y="11645899"/>
            <a:ext cx="18072100" cy="5842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50800" tIns="50800" rIns="50800" bIns="50800" anchor="ctr">
            <a:spAutoFit/>
          </a:bodyPr>
          <a:lstStyle>
            <a:lvl1pPr>
              <a:defRPr sz="2900">
                <a:solidFill>
                  <a:srgbClr val="5D4E61"/>
                </a:solidFill>
                <a:latin typeface="Geist"/>
                <a:ea typeface="Geist"/>
                <a:cs typeface="Geist"/>
                <a:sym typeface="Geist"/>
              </a:defRPr>
            </a:lvl1pPr>
          </a:lstStyle>
          <a:p>
            <a:pPr/>
            <a:r>
              <a:t>Founder and CTO, Digitoimisto Dude Oy</a:t>
            </a:r>
          </a:p>
        </p:txBody>
      </p:sp>
      <p:sp>
        <p:nvSpPr>
          <p:cNvPr id="182" name="→ rolle.social"/>
          <p:cNvSpPr txBox="1"/>
          <p:nvPr/>
        </p:nvSpPr>
        <p:spPr>
          <a:xfrm>
            <a:off x="5524500" y="12306300"/>
            <a:ext cx="2362200" cy="5334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50800" tIns="50800" rIns="50800" bIns="50800" anchor="ctr">
            <a:spAutoFit/>
          </a:bodyPr>
          <a:lstStyle>
            <a:lvl1pPr>
              <a:defRPr sz="2600">
                <a:solidFill>
                  <a:srgbClr val="5D4E61"/>
                </a:solidFill>
                <a:latin typeface="Geist Medium"/>
                <a:ea typeface="Geist Medium"/>
                <a:cs typeface="Geist Medium"/>
                <a:sym typeface="Geist Medium"/>
              </a:defRPr>
            </a:lvl1pPr>
          </a:lstStyle>
          <a:p>
            <a:pPr/>
            <a:r>
              <a:t>→ rolle.social</a:t>
            </a:r>
          </a:p>
        </p:txBody>
      </p:sp>
    </p:spTree>
  </p:cSld>
  <p:clrMapOvr>
    <a:masterClrMapping/>
  </p:clrMapOvr>
  <p:transition xmlns:p14="http://schemas.microsoft.com/office/powerpoint/2010/main" spd="med" advClick="1"/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86" name="bg.png" descr="bg.png"/>
          <p:cNvPicPr>
            <a:picLocks noChangeAspect="1"/>
          </p:cNvPicPr>
          <p:nvPr/>
        </p:nvPicPr>
        <p:blipFill>
          <a:blip r:embed="rId3">
            <a:extLst/>
          </a:blip>
          <a:stretch>
            <a:fillRect/>
          </a:stretch>
        </p:blipFill>
        <p:spPr>
          <a:xfrm>
            <a:off x="0" y="0"/>
            <a:ext cx="24384000" cy="13716000"/>
          </a:xfrm>
          <a:prstGeom prst="rect">
            <a:avLst/>
          </a:prstGeom>
          <a:ln w="12700">
            <a:miter lim="400000"/>
          </a:ln>
        </p:spPr>
      </p:pic>
      <p:pic>
        <p:nvPicPr>
          <p:cNvPr id="187" name="rolle-90s.jpg" descr="rolle-90s.jpg"/>
          <p:cNvPicPr>
            <a:picLocks noChangeAspect="1"/>
          </p:cNvPicPr>
          <p:nvPr/>
        </p:nvPicPr>
        <p:blipFill>
          <a:blip r:embed="rId4">
            <a:extLst/>
          </a:blip>
          <a:stretch>
            <a:fillRect/>
          </a:stretch>
        </p:blipFill>
        <p:spPr>
          <a:xfrm>
            <a:off x="15240000" y="0"/>
            <a:ext cx="9144000" cy="6858000"/>
          </a:xfrm>
          <a:prstGeom prst="rect">
            <a:avLst/>
          </a:prstGeom>
          <a:ln w="12700">
            <a:miter lim="400000"/>
          </a:ln>
        </p:spPr>
      </p:pic>
      <p:pic>
        <p:nvPicPr>
          <p:cNvPr id="188" name="dudella.jpg" descr="dudella.jpg"/>
          <p:cNvPicPr>
            <a:picLocks noChangeAspect="1"/>
          </p:cNvPicPr>
          <p:nvPr/>
        </p:nvPicPr>
        <p:blipFill>
          <a:blip r:embed="rId5">
            <a:extLst/>
          </a:blip>
          <a:stretch>
            <a:fillRect/>
          </a:stretch>
        </p:blipFill>
        <p:spPr>
          <a:xfrm>
            <a:off x="15240000" y="6858000"/>
            <a:ext cx="9144000" cy="6858000"/>
          </a:xfrm>
          <a:prstGeom prst="rect">
            <a:avLst/>
          </a:prstGeom>
          <a:ln w="12700">
            <a:miter lim="400000"/>
          </a:ln>
        </p:spPr>
      </p:pic>
      <p:sp>
        <p:nvSpPr>
          <p:cNvPr id="189" name="About Rolle"/>
          <p:cNvSpPr txBox="1"/>
          <p:nvPr/>
        </p:nvSpPr>
        <p:spPr>
          <a:xfrm>
            <a:off x="1308100" y="1574800"/>
            <a:ext cx="13512800" cy="14478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50800" tIns="50800" rIns="50800" bIns="50800" anchor="ctr">
            <a:spAutoFit/>
          </a:bodyPr>
          <a:lstStyle/>
          <a:p>
            <a:pPr>
              <a:defRPr sz="6400">
                <a:solidFill>
                  <a:srgbClr val="220D44"/>
                </a:solidFill>
                <a:latin typeface="Unbounded ExtraBold"/>
                <a:ea typeface="Unbounded ExtraBold"/>
                <a:cs typeface="Unbounded ExtraBold"/>
                <a:sym typeface="Unbounded ExtraBold"/>
              </a:defRPr>
            </a:pPr>
            <a:r>
              <a:t>About </a:t>
            </a:r>
            <a:r>
              <a:rPr i="1" sz="8200">
                <a:solidFill>
                  <a:srgbClr val="6033A6"/>
                </a:solidFill>
                <a:latin typeface="Instrument Serif"/>
                <a:ea typeface="Instrument Serif"/>
                <a:cs typeface="Instrument Serif"/>
                <a:sym typeface="Instrument Serif"/>
              </a:rPr>
              <a:t>Rolle</a:t>
            </a:r>
          </a:p>
        </p:txBody>
      </p:sp>
      <p:sp>
        <p:nvSpPr>
          <p:cNvPr id="190" name="Founder and CTO of Digitoimisto Dude Oy. Code soon 30 years, WordPress since 2005, online since 1999. Accessibility, open source, Linux servers, and building my own tools. Free time: running, bilingual family, knows sign language."/>
          <p:cNvSpPr txBox="1"/>
          <p:nvPr/>
        </p:nvSpPr>
        <p:spPr>
          <a:xfrm>
            <a:off x="1320800" y="3073399"/>
            <a:ext cx="12567634" cy="216916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50800" tIns="50800" rIns="50800" bIns="50800" anchor="ctr">
            <a:spAutoFit/>
          </a:bodyPr>
          <a:lstStyle/>
          <a:p>
            <a:pPr>
              <a:defRPr sz="3400">
                <a:solidFill>
                  <a:srgbClr val="3D2644"/>
                </a:solidFill>
                <a:latin typeface="Geist"/>
                <a:ea typeface="Geist"/>
                <a:cs typeface="Geist"/>
                <a:sym typeface="Geist"/>
              </a:defRPr>
            </a:pPr>
            <a:r>
              <a:t>Founder and CTO of Digitoimisto Dude Oy. Code soon</a:t>
            </a:r>
            <a:br/>
            <a:r>
              <a:t>30 years, WordPress since 2005, online since 1999. Accessibility, open source, Linux servers, and building my own tools. Free time: running, bilingual family, knows sign language.</a:t>
            </a:r>
          </a:p>
        </p:txBody>
      </p:sp>
      <p:sp>
        <p:nvSpPr>
          <p:cNvPr id="191" name="Dude &amp; WordPress"/>
          <p:cNvSpPr txBox="1"/>
          <p:nvPr/>
        </p:nvSpPr>
        <p:spPr>
          <a:xfrm>
            <a:off x="1308100" y="5765800"/>
            <a:ext cx="13512800" cy="14478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50800" tIns="50800" rIns="50800" bIns="50800" anchor="ctr">
            <a:spAutoFit/>
          </a:bodyPr>
          <a:lstStyle/>
          <a:p>
            <a:pPr>
              <a:defRPr sz="6400">
                <a:solidFill>
                  <a:srgbClr val="220D44"/>
                </a:solidFill>
                <a:latin typeface="Unbounded ExtraBold"/>
                <a:ea typeface="Unbounded ExtraBold"/>
                <a:cs typeface="Unbounded ExtraBold"/>
                <a:sym typeface="Unbounded ExtraBold"/>
              </a:defRPr>
            </a:pPr>
            <a:r>
              <a:t>Dude &amp; </a:t>
            </a:r>
            <a:r>
              <a:rPr i="1" sz="8200">
                <a:solidFill>
                  <a:srgbClr val="6033A6"/>
                </a:solidFill>
                <a:latin typeface="Instrument Serif"/>
                <a:ea typeface="Instrument Serif"/>
                <a:cs typeface="Instrument Serif"/>
                <a:sym typeface="Instrument Serif"/>
              </a:rPr>
              <a:t>WordPress</a:t>
            </a:r>
          </a:p>
        </p:txBody>
      </p:sp>
      <p:sp>
        <p:nvSpPr>
          <p:cNvPr id="192" name="Contributing to WordPress and open source since we founded Dude in 2013: 71 open source repositories on GitHub, including air-light, our starter theme with over 1100 stars."/>
          <p:cNvSpPr txBox="1"/>
          <p:nvPr/>
        </p:nvSpPr>
        <p:spPr>
          <a:xfrm>
            <a:off x="1320800" y="7226300"/>
            <a:ext cx="10824466" cy="216916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50800" tIns="50800" rIns="50800" bIns="50800" anchor="ctr">
            <a:spAutoFit/>
          </a:bodyPr>
          <a:lstStyle>
            <a:lvl1pPr>
              <a:defRPr sz="3400">
                <a:solidFill>
                  <a:srgbClr val="3D2644"/>
                </a:solidFill>
                <a:latin typeface="Geist"/>
                <a:ea typeface="Geist"/>
                <a:cs typeface="Geist"/>
                <a:sym typeface="Geist"/>
              </a:defRPr>
            </a:lvl1pPr>
          </a:lstStyle>
          <a:p>
            <a:pPr/>
            <a:r>
              <a:t>Contributing to WordPress and open source since we founded Dude in 2013: 71 open source repositories on GitHub, including air-light, our starter theme with over 1100 stars.</a:t>
            </a:r>
          </a:p>
        </p:txBody>
      </p:sp>
      <p:sp>
        <p:nvSpPr>
          <p:cNvPr id="193" name="Going ACF-free"/>
          <p:cNvSpPr txBox="1"/>
          <p:nvPr/>
        </p:nvSpPr>
        <p:spPr>
          <a:xfrm>
            <a:off x="1320800" y="12344400"/>
            <a:ext cx="2451100" cy="4953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50800" tIns="50800" rIns="50800" bIns="50800" anchor="ctr">
            <a:spAutoFit/>
          </a:bodyPr>
          <a:lstStyle>
            <a:lvl1pPr>
              <a:defRPr sz="2400">
                <a:solidFill>
                  <a:srgbClr val="5D4E61"/>
                </a:solidFill>
                <a:latin typeface="Geist"/>
                <a:ea typeface="Geist"/>
                <a:cs typeface="Geist"/>
                <a:sym typeface="Geist"/>
              </a:defRPr>
            </a:lvl1pPr>
          </a:lstStyle>
          <a:p>
            <a:pPr/>
            <a:r>
              <a:t>Going ACF-free</a:t>
            </a:r>
          </a:p>
        </p:txBody>
      </p:sp>
      <p:pic>
        <p:nvPicPr>
          <p:cNvPr id="194" name="pills.png" descr="pills.png"/>
          <p:cNvPicPr>
            <a:picLocks noChangeAspect="1"/>
          </p:cNvPicPr>
          <p:nvPr/>
        </p:nvPicPr>
        <p:blipFill>
          <a:blip r:embed="rId6">
            <a:extLst/>
          </a:blip>
          <a:stretch>
            <a:fillRect/>
          </a:stretch>
        </p:blipFill>
        <p:spPr>
          <a:xfrm>
            <a:off x="1351280" y="10125062"/>
            <a:ext cx="11443976" cy="1540536"/>
          </a:xfrm>
          <a:prstGeom prst="rect">
            <a:avLst/>
          </a:prstGeom>
          <a:ln w="12700">
            <a:miter lim="400000"/>
          </a:ln>
        </p:spPr>
      </p:pic>
    </p:spTree>
  </p:cSld>
  <p:clrMapOvr>
    <a:masterClrMapping/>
  </p:clrMapOvr>
  <p:transition xmlns:p14="http://schemas.microsoft.com/office/powerpoint/2010/main" spd="med" advClick="1"/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98" name="bg.png" descr="bg.png"/>
          <p:cNvPicPr>
            <a:picLocks noChangeAspect="1"/>
          </p:cNvPicPr>
          <p:nvPr/>
        </p:nvPicPr>
        <p:blipFill>
          <a:blip r:embed="rId3">
            <a:extLst/>
          </a:blip>
          <a:stretch>
            <a:fillRect/>
          </a:stretch>
        </p:blipFill>
        <p:spPr>
          <a:xfrm>
            <a:off x="0" y="0"/>
            <a:ext cx="24384000" cy="13716000"/>
          </a:xfrm>
          <a:prstGeom prst="rect">
            <a:avLst/>
          </a:prstGeom>
          <a:ln w="12700">
            <a:miter lim="400000"/>
          </a:ln>
        </p:spPr>
      </p:pic>
      <p:sp>
        <p:nvSpPr>
          <p:cNvPr id="199" name="No shame in"/>
          <p:cNvSpPr txBox="1"/>
          <p:nvPr/>
        </p:nvSpPr>
        <p:spPr>
          <a:xfrm>
            <a:off x="1308100" y="4203699"/>
            <a:ext cx="22707600" cy="15621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50800" tIns="50800" rIns="50800" bIns="50800" anchor="ctr">
            <a:spAutoFit/>
          </a:bodyPr>
          <a:lstStyle>
            <a:lvl1pPr>
              <a:defRPr sz="9200">
                <a:solidFill>
                  <a:srgbClr val="220D44"/>
                </a:solidFill>
                <a:latin typeface="Unbounded ExtraBold"/>
                <a:ea typeface="Unbounded ExtraBold"/>
                <a:cs typeface="Unbounded ExtraBold"/>
                <a:sym typeface="Unbounded ExtraBold"/>
              </a:defRPr>
            </a:lvl1pPr>
          </a:lstStyle>
          <a:p>
            <a:pPr/>
            <a:r>
              <a:t>No shame in</a:t>
            </a:r>
          </a:p>
        </p:txBody>
      </p:sp>
      <p:sp>
        <p:nvSpPr>
          <p:cNvPr id="200" name="using ACF or plugins"/>
          <p:cNvSpPr txBox="1"/>
          <p:nvPr/>
        </p:nvSpPr>
        <p:spPr>
          <a:xfrm>
            <a:off x="1308100" y="5372099"/>
            <a:ext cx="22707600" cy="20574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50800" tIns="50800" rIns="50800" bIns="50800" anchor="ctr">
            <a:spAutoFit/>
          </a:bodyPr>
          <a:lstStyle>
            <a:lvl1pPr>
              <a:defRPr i="1" sz="11800">
                <a:solidFill>
                  <a:srgbClr val="6033A6"/>
                </a:solidFill>
                <a:latin typeface="Instrument Serif"/>
                <a:ea typeface="Instrument Serif"/>
                <a:cs typeface="Instrument Serif"/>
                <a:sym typeface="Instrument Serif"/>
              </a:defRPr>
            </a:lvl1pPr>
          </a:lstStyle>
          <a:p>
            <a:pPr/>
            <a:r>
              <a:t>using ACF or plugins</a:t>
            </a:r>
          </a:p>
        </p:txBody>
      </p:sp>
      <p:sp>
        <p:nvSpPr>
          <p:cNvPr id="201" name="WordPress has a great plugin ecosystem, and ACF is a very good plugin."/>
          <p:cNvSpPr txBox="1"/>
          <p:nvPr/>
        </p:nvSpPr>
        <p:spPr>
          <a:xfrm>
            <a:off x="1320800" y="7708899"/>
            <a:ext cx="19050000" cy="6985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50800" tIns="50800" rIns="50800" bIns="50800" anchor="ctr">
            <a:spAutoFit/>
          </a:bodyPr>
          <a:lstStyle>
            <a:lvl1pPr>
              <a:defRPr sz="3600">
                <a:solidFill>
                  <a:srgbClr val="4B3051"/>
                </a:solidFill>
                <a:latin typeface="Geist"/>
                <a:ea typeface="Geist"/>
                <a:cs typeface="Geist"/>
                <a:sym typeface="Geist"/>
              </a:defRPr>
            </a:lvl1pPr>
          </a:lstStyle>
          <a:p>
            <a:pPr/>
            <a:r>
              <a:t>WordPress has a great plugin ecosystem, and ACF is a very good plugin.</a:t>
            </a:r>
          </a:p>
        </p:txBody>
      </p:sp>
      <p:sp>
        <p:nvSpPr>
          <p:cNvPr id="202" name="ACF built a lot of good sites, ours included."/>
          <p:cNvSpPr txBox="1"/>
          <p:nvPr/>
        </p:nvSpPr>
        <p:spPr>
          <a:xfrm>
            <a:off x="1320800" y="8369299"/>
            <a:ext cx="19050000" cy="6985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50800" tIns="50800" rIns="50800" bIns="50800" anchor="ctr">
            <a:spAutoFit/>
          </a:bodyPr>
          <a:lstStyle>
            <a:lvl1pPr>
              <a:defRPr sz="3600">
                <a:solidFill>
                  <a:srgbClr val="4B3051"/>
                </a:solidFill>
                <a:latin typeface="Geist"/>
                <a:ea typeface="Geist"/>
                <a:cs typeface="Geist"/>
                <a:sym typeface="Geist"/>
              </a:defRPr>
            </a:lvl1pPr>
          </a:lstStyle>
          <a:p>
            <a:pPr/>
            <a:r>
              <a:t>ACF built a lot of good sites, ours included.</a:t>
            </a:r>
          </a:p>
        </p:txBody>
      </p:sp>
      <p:sp>
        <p:nvSpPr>
          <p:cNvPr id="203" name="Going ACF-free"/>
          <p:cNvSpPr txBox="1"/>
          <p:nvPr/>
        </p:nvSpPr>
        <p:spPr>
          <a:xfrm>
            <a:off x="1320800" y="12344400"/>
            <a:ext cx="2451100" cy="4953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50800" tIns="50800" rIns="50800" bIns="50800" anchor="ctr">
            <a:spAutoFit/>
          </a:bodyPr>
          <a:lstStyle>
            <a:lvl1pPr>
              <a:defRPr sz="2400">
                <a:solidFill>
                  <a:srgbClr val="5D4E61"/>
                </a:solidFill>
                <a:latin typeface="Geist"/>
                <a:ea typeface="Geist"/>
                <a:cs typeface="Geist"/>
                <a:sym typeface="Geist"/>
              </a:defRPr>
            </a:lvl1pPr>
          </a:lstStyle>
          <a:p>
            <a:pPr/>
            <a:r>
              <a:t>Going ACF-free</a:t>
            </a:r>
          </a:p>
        </p:txBody>
      </p:sp>
      <p:pic>
        <p:nvPicPr>
          <p:cNvPr id="204" name="prog-3.png" descr="prog-3.png"/>
          <p:cNvPicPr>
            <a:picLocks noChangeAspect="1"/>
          </p:cNvPicPr>
          <p:nvPr/>
        </p:nvPicPr>
        <p:blipFill>
          <a:blip r:embed="rId4">
            <a:extLst/>
          </a:blip>
          <a:stretch>
            <a:fillRect/>
          </a:stretch>
        </p:blipFill>
        <p:spPr>
          <a:xfrm>
            <a:off x="17170400" y="12395200"/>
            <a:ext cx="5842000" cy="406400"/>
          </a:xfrm>
          <a:prstGeom prst="rect">
            <a:avLst/>
          </a:prstGeom>
          <a:ln w="12700">
            <a:miter lim="400000"/>
          </a:ln>
        </p:spPr>
      </p:pic>
    </p:spTree>
  </p:cSld>
  <p:clrMapOvr>
    <a:masterClrMapping/>
  </p:clrMapOvr>
  <p:transition xmlns:p14="http://schemas.microsoft.com/office/powerpoint/2010/main" spd="med" advClick="1"/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8" name="bg.png" descr="bg.png"/>
          <p:cNvPicPr>
            <a:picLocks noChangeAspect="1"/>
          </p:cNvPicPr>
          <p:nvPr/>
        </p:nvPicPr>
        <p:blipFill>
          <a:blip r:embed="rId3">
            <a:extLst/>
          </a:blip>
          <a:stretch>
            <a:fillRect/>
          </a:stretch>
        </p:blipFill>
        <p:spPr>
          <a:xfrm>
            <a:off x="0" y="0"/>
            <a:ext cx="24384000" cy="13716000"/>
          </a:xfrm>
          <a:prstGeom prst="rect">
            <a:avLst/>
          </a:prstGeom>
          <a:ln w="12700">
            <a:miter lim="400000"/>
          </a:ln>
        </p:spPr>
      </p:pic>
      <p:sp>
        <p:nvSpPr>
          <p:cNvPr id="209" name="Going ACF-free"/>
          <p:cNvSpPr txBox="1"/>
          <p:nvPr/>
        </p:nvSpPr>
        <p:spPr>
          <a:xfrm>
            <a:off x="1320800" y="12344400"/>
            <a:ext cx="2451100" cy="4953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50800" tIns="50800" rIns="50800" bIns="50800" anchor="ctr">
            <a:spAutoFit/>
          </a:bodyPr>
          <a:lstStyle>
            <a:lvl1pPr>
              <a:defRPr sz="2400">
                <a:solidFill>
                  <a:srgbClr val="5D4E61"/>
                </a:solidFill>
                <a:latin typeface="Geist"/>
                <a:ea typeface="Geist"/>
                <a:cs typeface="Geist"/>
                <a:sym typeface="Geist"/>
              </a:defRPr>
            </a:lvl1pPr>
          </a:lstStyle>
          <a:p>
            <a:pPr/>
            <a:r>
              <a:t>Going ACF-free</a:t>
            </a:r>
          </a:p>
        </p:txBody>
      </p:sp>
      <p:sp>
        <p:nvSpPr>
          <p:cNvPr id="210" name="A quick poll"/>
          <p:cNvSpPr txBox="1"/>
          <p:nvPr/>
        </p:nvSpPr>
        <p:spPr>
          <a:xfrm>
            <a:off x="1308100" y="2692399"/>
            <a:ext cx="22707600" cy="17145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50800" tIns="50800" rIns="50800" bIns="50800" anchor="ctr">
            <a:spAutoFit/>
          </a:bodyPr>
          <a:lstStyle/>
          <a:p>
            <a:pPr>
              <a:defRPr sz="7600">
                <a:solidFill>
                  <a:srgbClr val="220D44"/>
                </a:solidFill>
                <a:latin typeface="Unbounded ExtraBold"/>
                <a:ea typeface="Unbounded ExtraBold"/>
                <a:cs typeface="Unbounded ExtraBold"/>
                <a:sym typeface="Unbounded ExtraBold"/>
              </a:defRPr>
            </a:pPr>
            <a:r>
              <a:t>A quick </a:t>
            </a:r>
            <a:r>
              <a:rPr i="1" sz="9800">
                <a:solidFill>
                  <a:srgbClr val="6033A6"/>
                </a:solidFill>
                <a:latin typeface="Instrument Serif"/>
                <a:ea typeface="Instrument Serif"/>
                <a:cs typeface="Instrument Serif"/>
                <a:sym typeface="Instrument Serif"/>
              </a:rPr>
              <a:t>poll</a:t>
            </a:r>
          </a:p>
        </p:txBody>
      </p:sp>
      <p:sp>
        <p:nvSpPr>
          <p:cNvPr id="211" name="How many of you…"/>
          <p:cNvSpPr txBox="1"/>
          <p:nvPr/>
        </p:nvSpPr>
        <p:spPr>
          <a:xfrm>
            <a:off x="1371600" y="4571999"/>
            <a:ext cx="20320000" cy="7620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50800" tIns="50800" rIns="50800" bIns="50800" anchor="ctr">
            <a:spAutoFit/>
          </a:bodyPr>
          <a:lstStyle>
            <a:lvl1pPr>
              <a:defRPr sz="4000">
                <a:solidFill>
                  <a:srgbClr val="4B3051"/>
                </a:solidFill>
                <a:latin typeface="Geist"/>
                <a:ea typeface="Geist"/>
                <a:cs typeface="Geist"/>
                <a:sym typeface="Geist"/>
              </a:defRPr>
            </a:lvl1pPr>
          </a:lstStyle>
          <a:p>
            <a:pPr/>
            <a:r>
              <a:t>How many of you…</a:t>
            </a:r>
          </a:p>
        </p:txBody>
      </p:sp>
      <p:pic>
        <p:nvPicPr>
          <p:cNvPr id="212" name="prog-4.png" descr="prog-4.png"/>
          <p:cNvPicPr>
            <a:picLocks noChangeAspect="1"/>
          </p:cNvPicPr>
          <p:nvPr/>
        </p:nvPicPr>
        <p:blipFill>
          <a:blip r:embed="rId4">
            <a:extLst/>
          </a:blip>
          <a:stretch>
            <a:fillRect/>
          </a:stretch>
        </p:blipFill>
        <p:spPr>
          <a:xfrm>
            <a:off x="17170400" y="12395200"/>
            <a:ext cx="5842000" cy="406400"/>
          </a:xfrm>
          <a:prstGeom prst="rect">
            <a:avLst/>
          </a:prstGeom>
          <a:ln w="12700">
            <a:miter lim="400000"/>
          </a:ln>
        </p:spPr>
      </p:pic>
    </p:spTree>
  </p:cSld>
  <p:clrMapOvr>
    <a:masterClrMapping/>
  </p:clrMapOvr>
  <p:transition xmlns:p14="http://schemas.microsoft.com/office/powerpoint/2010/main" spd="med" advClick="1"/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16" name="bg.png" descr="bg.png"/>
          <p:cNvPicPr>
            <a:picLocks noChangeAspect="1"/>
          </p:cNvPicPr>
          <p:nvPr/>
        </p:nvPicPr>
        <p:blipFill>
          <a:blip r:embed="rId3">
            <a:extLst/>
          </a:blip>
          <a:stretch>
            <a:fillRect/>
          </a:stretch>
        </p:blipFill>
        <p:spPr>
          <a:xfrm>
            <a:off x="0" y="0"/>
            <a:ext cx="24384000" cy="13716000"/>
          </a:xfrm>
          <a:prstGeom prst="rect">
            <a:avLst/>
          </a:prstGeom>
          <a:ln w="12700">
            <a:miter lim="400000"/>
          </a:ln>
        </p:spPr>
      </p:pic>
      <p:sp>
        <p:nvSpPr>
          <p:cNvPr id="217" name="Going ACF-free"/>
          <p:cNvSpPr txBox="1"/>
          <p:nvPr/>
        </p:nvSpPr>
        <p:spPr>
          <a:xfrm>
            <a:off x="1320800" y="12344400"/>
            <a:ext cx="2451100" cy="4953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50800" tIns="50800" rIns="50800" bIns="50800" anchor="ctr">
            <a:spAutoFit/>
          </a:bodyPr>
          <a:lstStyle>
            <a:lvl1pPr>
              <a:defRPr sz="2400">
                <a:solidFill>
                  <a:srgbClr val="5D4E61"/>
                </a:solidFill>
                <a:latin typeface="Geist"/>
                <a:ea typeface="Geist"/>
                <a:cs typeface="Geist"/>
                <a:sym typeface="Geist"/>
              </a:defRPr>
            </a:lvl1pPr>
          </a:lstStyle>
          <a:p>
            <a:pPr/>
            <a:r>
              <a:t>Going ACF-free</a:t>
            </a:r>
          </a:p>
        </p:txBody>
      </p:sp>
      <p:sp>
        <p:nvSpPr>
          <p:cNvPr id="218" name="A quick poll"/>
          <p:cNvSpPr txBox="1"/>
          <p:nvPr/>
        </p:nvSpPr>
        <p:spPr>
          <a:xfrm>
            <a:off x="1308100" y="2692399"/>
            <a:ext cx="22707600" cy="17145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50800" tIns="50800" rIns="50800" bIns="50800" anchor="ctr">
            <a:spAutoFit/>
          </a:bodyPr>
          <a:lstStyle/>
          <a:p>
            <a:pPr>
              <a:defRPr sz="7600">
                <a:solidFill>
                  <a:srgbClr val="220D44"/>
                </a:solidFill>
                <a:latin typeface="Unbounded ExtraBold"/>
                <a:ea typeface="Unbounded ExtraBold"/>
                <a:cs typeface="Unbounded ExtraBold"/>
                <a:sym typeface="Unbounded ExtraBold"/>
              </a:defRPr>
            </a:pPr>
            <a:r>
              <a:t>A quick </a:t>
            </a:r>
            <a:r>
              <a:rPr i="1" sz="9800">
                <a:solidFill>
                  <a:srgbClr val="6033A6"/>
                </a:solidFill>
                <a:latin typeface="Instrument Serif"/>
                <a:ea typeface="Instrument Serif"/>
                <a:cs typeface="Instrument Serif"/>
                <a:sym typeface="Instrument Serif"/>
              </a:rPr>
              <a:t>poll</a:t>
            </a:r>
          </a:p>
        </p:txBody>
      </p:sp>
      <p:sp>
        <p:nvSpPr>
          <p:cNvPr id="219" name="How many of you…"/>
          <p:cNvSpPr txBox="1"/>
          <p:nvPr/>
        </p:nvSpPr>
        <p:spPr>
          <a:xfrm>
            <a:off x="1371600" y="4571999"/>
            <a:ext cx="20320000" cy="7620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50800" tIns="50800" rIns="50800" bIns="50800" anchor="ctr">
            <a:spAutoFit/>
          </a:bodyPr>
          <a:lstStyle>
            <a:lvl1pPr>
              <a:defRPr sz="4000">
                <a:solidFill>
                  <a:srgbClr val="4B3051"/>
                </a:solidFill>
                <a:latin typeface="Geist"/>
                <a:ea typeface="Geist"/>
                <a:cs typeface="Geist"/>
                <a:sym typeface="Geist"/>
              </a:defRPr>
            </a:lvl1pPr>
          </a:lstStyle>
          <a:p>
            <a:pPr/>
            <a:r>
              <a:t>How many of you…</a:t>
            </a:r>
          </a:p>
        </p:txBody>
      </p:sp>
      <p:sp>
        <p:nvSpPr>
          <p:cNvPr id="220" name="1"/>
          <p:cNvSpPr txBox="1"/>
          <p:nvPr/>
        </p:nvSpPr>
        <p:spPr>
          <a:xfrm>
            <a:off x="1371600" y="5842000"/>
            <a:ext cx="1016000" cy="10541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50800" tIns="50800" rIns="50800" bIns="50800" anchor="ctr">
            <a:spAutoFit/>
          </a:bodyPr>
          <a:lstStyle>
            <a:lvl1pPr>
              <a:defRPr sz="6000">
                <a:solidFill>
                  <a:srgbClr val="6033A6"/>
                </a:solidFill>
                <a:latin typeface="Unbounded SemiBold"/>
                <a:ea typeface="Unbounded SemiBold"/>
                <a:cs typeface="Unbounded SemiBold"/>
                <a:sym typeface="Unbounded SemiBold"/>
              </a:defRPr>
            </a:lvl1pPr>
          </a:lstStyle>
          <a:p>
            <a:pPr/>
            <a:r>
              <a:t>1</a:t>
            </a:r>
          </a:p>
        </p:txBody>
      </p:sp>
      <p:sp>
        <p:nvSpPr>
          <p:cNvPr id="221" name="Still use ACF for everything (okay, with exceptions, let’s say 80%)"/>
          <p:cNvSpPr txBox="1"/>
          <p:nvPr/>
        </p:nvSpPr>
        <p:spPr>
          <a:xfrm>
            <a:off x="2489200" y="5969000"/>
            <a:ext cx="20320000" cy="8255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50800" tIns="50800" rIns="50800" bIns="50800" anchor="ctr">
            <a:spAutoFit/>
          </a:bodyPr>
          <a:lstStyle>
            <a:lvl1pPr>
              <a:defRPr sz="4400">
                <a:solidFill>
                  <a:srgbClr val="3D2644"/>
                </a:solidFill>
                <a:latin typeface="Geist"/>
                <a:ea typeface="Geist"/>
                <a:cs typeface="Geist"/>
                <a:sym typeface="Geist"/>
              </a:defRPr>
            </a:lvl1pPr>
          </a:lstStyle>
          <a:p>
            <a:pPr/>
            <a:r>
              <a:t>Still use ACF for everything (okay, with exceptions, let’s say 80%)</a:t>
            </a:r>
          </a:p>
        </p:txBody>
      </p:sp>
      <p:pic>
        <p:nvPicPr>
          <p:cNvPr id="222" name="prog-5.png" descr="prog-5.png"/>
          <p:cNvPicPr>
            <a:picLocks noChangeAspect="1"/>
          </p:cNvPicPr>
          <p:nvPr/>
        </p:nvPicPr>
        <p:blipFill>
          <a:blip r:embed="rId4">
            <a:extLst/>
          </a:blip>
          <a:stretch>
            <a:fillRect/>
          </a:stretch>
        </p:blipFill>
        <p:spPr>
          <a:xfrm>
            <a:off x="17170400" y="12395200"/>
            <a:ext cx="5842000" cy="406400"/>
          </a:xfrm>
          <a:prstGeom prst="rect">
            <a:avLst/>
          </a:prstGeom>
          <a:ln w="12700">
            <a:miter lim="400000"/>
          </a:ln>
        </p:spPr>
      </p:pic>
    </p:spTree>
  </p:cSld>
  <p:clrMapOvr>
    <a:masterClrMapping/>
  </p:clrMapOvr>
  <p:transition xmlns:p14="http://schemas.microsoft.com/office/powerpoint/2010/main" spd="med" advClick="1"/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26" name="bg.png" descr="bg.png"/>
          <p:cNvPicPr>
            <a:picLocks noChangeAspect="1"/>
          </p:cNvPicPr>
          <p:nvPr/>
        </p:nvPicPr>
        <p:blipFill>
          <a:blip r:embed="rId3">
            <a:extLst/>
          </a:blip>
          <a:stretch>
            <a:fillRect/>
          </a:stretch>
        </p:blipFill>
        <p:spPr>
          <a:xfrm>
            <a:off x="0" y="0"/>
            <a:ext cx="24384000" cy="13716000"/>
          </a:xfrm>
          <a:prstGeom prst="rect">
            <a:avLst/>
          </a:prstGeom>
          <a:ln w="12700">
            <a:miter lim="400000"/>
          </a:ln>
        </p:spPr>
      </p:pic>
      <p:sp>
        <p:nvSpPr>
          <p:cNvPr id="227" name="Going ACF-free"/>
          <p:cNvSpPr txBox="1"/>
          <p:nvPr/>
        </p:nvSpPr>
        <p:spPr>
          <a:xfrm>
            <a:off x="1320800" y="12344400"/>
            <a:ext cx="2451100" cy="4953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50800" tIns="50800" rIns="50800" bIns="50800" anchor="ctr">
            <a:spAutoFit/>
          </a:bodyPr>
          <a:lstStyle>
            <a:lvl1pPr>
              <a:defRPr sz="2400">
                <a:solidFill>
                  <a:srgbClr val="5D4E61"/>
                </a:solidFill>
                <a:latin typeface="Geist"/>
                <a:ea typeface="Geist"/>
                <a:cs typeface="Geist"/>
                <a:sym typeface="Geist"/>
              </a:defRPr>
            </a:lvl1pPr>
          </a:lstStyle>
          <a:p>
            <a:pPr/>
            <a:r>
              <a:t>Going ACF-free</a:t>
            </a:r>
          </a:p>
        </p:txBody>
      </p:sp>
      <p:sp>
        <p:nvSpPr>
          <p:cNvPr id="228" name="A quick poll"/>
          <p:cNvSpPr txBox="1"/>
          <p:nvPr/>
        </p:nvSpPr>
        <p:spPr>
          <a:xfrm>
            <a:off x="1308100" y="2692399"/>
            <a:ext cx="22707600" cy="17145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50800" tIns="50800" rIns="50800" bIns="50800" anchor="ctr">
            <a:spAutoFit/>
          </a:bodyPr>
          <a:lstStyle/>
          <a:p>
            <a:pPr>
              <a:defRPr sz="7600">
                <a:solidFill>
                  <a:srgbClr val="220D44"/>
                </a:solidFill>
                <a:latin typeface="Unbounded ExtraBold"/>
                <a:ea typeface="Unbounded ExtraBold"/>
                <a:cs typeface="Unbounded ExtraBold"/>
                <a:sym typeface="Unbounded ExtraBold"/>
              </a:defRPr>
            </a:pPr>
            <a:r>
              <a:t>A quick </a:t>
            </a:r>
            <a:r>
              <a:rPr i="1" sz="9800">
                <a:solidFill>
                  <a:srgbClr val="6033A6"/>
                </a:solidFill>
                <a:latin typeface="Instrument Serif"/>
                <a:ea typeface="Instrument Serif"/>
                <a:cs typeface="Instrument Serif"/>
                <a:sym typeface="Instrument Serif"/>
              </a:rPr>
              <a:t>poll</a:t>
            </a:r>
          </a:p>
        </p:txBody>
      </p:sp>
      <p:sp>
        <p:nvSpPr>
          <p:cNvPr id="229" name="How many of you…"/>
          <p:cNvSpPr txBox="1"/>
          <p:nvPr/>
        </p:nvSpPr>
        <p:spPr>
          <a:xfrm>
            <a:off x="1371600" y="4571999"/>
            <a:ext cx="20320000" cy="7620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50800" tIns="50800" rIns="50800" bIns="50800" anchor="ctr">
            <a:spAutoFit/>
          </a:bodyPr>
          <a:lstStyle>
            <a:lvl1pPr>
              <a:defRPr sz="4000">
                <a:solidFill>
                  <a:srgbClr val="4B3051"/>
                </a:solidFill>
                <a:latin typeface="Geist"/>
                <a:ea typeface="Geist"/>
                <a:cs typeface="Geist"/>
                <a:sym typeface="Geist"/>
              </a:defRPr>
            </a:lvl1pPr>
          </a:lstStyle>
          <a:p>
            <a:pPr/>
            <a:r>
              <a:t>How many of you…</a:t>
            </a:r>
          </a:p>
        </p:txBody>
      </p:sp>
      <p:sp>
        <p:nvSpPr>
          <p:cNvPr id="230" name="1"/>
          <p:cNvSpPr txBox="1"/>
          <p:nvPr/>
        </p:nvSpPr>
        <p:spPr>
          <a:xfrm>
            <a:off x="1371600" y="5842000"/>
            <a:ext cx="1016000" cy="10541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50800" tIns="50800" rIns="50800" bIns="50800" anchor="ctr">
            <a:spAutoFit/>
          </a:bodyPr>
          <a:lstStyle>
            <a:lvl1pPr>
              <a:defRPr sz="6000">
                <a:solidFill>
                  <a:srgbClr val="6033A6"/>
                </a:solidFill>
                <a:latin typeface="Unbounded SemiBold"/>
                <a:ea typeface="Unbounded SemiBold"/>
                <a:cs typeface="Unbounded SemiBold"/>
                <a:sym typeface="Unbounded SemiBold"/>
              </a:defRPr>
            </a:lvl1pPr>
          </a:lstStyle>
          <a:p>
            <a:pPr/>
            <a:r>
              <a:t>1</a:t>
            </a:r>
          </a:p>
        </p:txBody>
      </p:sp>
      <p:sp>
        <p:nvSpPr>
          <p:cNvPr id="231" name="Still use ACF for everything (okay, with exceptions, let’s say 80%)"/>
          <p:cNvSpPr txBox="1"/>
          <p:nvPr/>
        </p:nvSpPr>
        <p:spPr>
          <a:xfrm>
            <a:off x="2489200" y="5969000"/>
            <a:ext cx="20320000" cy="8255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50800" tIns="50800" rIns="50800" bIns="50800" anchor="ctr">
            <a:spAutoFit/>
          </a:bodyPr>
          <a:lstStyle>
            <a:lvl1pPr>
              <a:defRPr sz="4400">
                <a:solidFill>
                  <a:srgbClr val="3D2644"/>
                </a:solidFill>
                <a:latin typeface="Geist"/>
                <a:ea typeface="Geist"/>
                <a:cs typeface="Geist"/>
                <a:sym typeface="Geist"/>
              </a:defRPr>
            </a:lvl1pPr>
          </a:lstStyle>
          <a:p>
            <a:pPr/>
            <a:r>
              <a:t>Still use ACF for everything (okay, with exceptions, let’s say 80%)</a:t>
            </a:r>
          </a:p>
        </p:txBody>
      </p:sp>
      <p:sp>
        <p:nvSpPr>
          <p:cNvPr id="232" name="2"/>
          <p:cNvSpPr txBox="1"/>
          <p:nvPr/>
        </p:nvSpPr>
        <p:spPr>
          <a:xfrm>
            <a:off x="1371600" y="7366000"/>
            <a:ext cx="1016000" cy="10541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50800" tIns="50800" rIns="50800" bIns="50800" anchor="ctr">
            <a:spAutoFit/>
          </a:bodyPr>
          <a:lstStyle>
            <a:lvl1pPr>
              <a:defRPr sz="6000">
                <a:solidFill>
                  <a:srgbClr val="6033A6"/>
                </a:solidFill>
                <a:latin typeface="Unbounded SemiBold"/>
                <a:ea typeface="Unbounded SemiBold"/>
                <a:cs typeface="Unbounded SemiBold"/>
                <a:sym typeface="Unbounded SemiBold"/>
              </a:defRPr>
            </a:lvl1pPr>
          </a:lstStyle>
          <a:p>
            <a:pPr/>
            <a:r>
              <a:t>2</a:t>
            </a:r>
          </a:p>
        </p:txBody>
      </p:sp>
      <p:sp>
        <p:nvSpPr>
          <p:cNvPr id="233" name="Use ACF for some things"/>
          <p:cNvSpPr txBox="1"/>
          <p:nvPr/>
        </p:nvSpPr>
        <p:spPr>
          <a:xfrm>
            <a:off x="2489200" y="7493000"/>
            <a:ext cx="20320000" cy="8255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50800" tIns="50800" rIns="50800" bIns="50800" anchor="ctr">
            <a:spAutoFit/>
          </a:bodyPr>
          <a:lstStyle>
            <a:lvl1pPr>
              <a:defRPr sz="4400">
                <a:solidFill>
                  <a:srgbClr val="3D2644"/>
                </a:solidFill>
                <a:latin typeface="Geist"/>
                <a:ea typeface="Geist"/>
                <a:cs typeface="Geist"/>
                <a:sym typeface="Geist"/>
              </a:defRPr>
            </a:lvl1pPr>
          </a:lstStyle>
          <a:p>
            <a:pPr/>
            <a:r>
              <a:t>Use ACF for some things</a:t>
            </a:r>
          </a:p>
        </p:txBody>
      </p:sp>
      <p:pic>
        <p:nvPicPr>
          <p:cNvPr id="234" name="prog-6.png" descr="prog-6.png"/>
          <p:cNvPicPr>
            <a:picLocks noChangeAspect="1"/>
          </p:cNvPicPr>
          <p:nvPr/>
        </p:nvPicPr>
        <p:blipFill>
          <a:blip r:embed="rId4">
            <a:extLst/>
          </a:blip>
          <a:stretch>
            <a:fillRect/>
          </a:stretch>
        </p:blipFill>
        <p:spPr>
          <a:xfrm>
            <a:off x="17170400" y="12395200"/>
            <a:ext cx="5842000" cy="406400"/>
          </a:xfrm>
          <a:prstGeom prst="rect">
            <a:avLst/>
          </a:prstGeom>
          <a:ln w="12700">
            <a:miter lim="400000"/>
          </a:ln>
        </p:spPr>
      </p:pic>
    </p:spTree>
  </p:cSld>
  <p:clrMapOvr>
    <a:masterClrMapping/>
  </p:clrMapOvr>
  <p:transition xmlns:p14="http://schemas.microsoft.com/office/powerpoint/2010/main" spd="med" advClick="1"/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38" name="bg.png" descr="bg.png"/>
          <p:cNvPicPr>
            <a:picLocks noChangeAspect="1"/>
          </p:cNvPicPr>
          <p:nvPr/>
        </p:nvPicPr>
        <p:blipFill>
          <a:blip r:embed="rId3">
            <a:extLst/>
          </a:blip>
          <a:stretch>
            <a:fillRect/>
          </a:stretch>
        </p:blipFill>
        <p:spPr>
          <a:xfrm>
            <a:off x="0" y="0"/>
            <a:ext cx="24384000" cy="13716000"/>
          </a:xfrm>
          <a:prstGeom prst="rect">
            <a:avLst/>
          </a:prstGeom>
          <a:ln w="12700">
            <a:miter lim="400000"/>
          </a:ln>
        </p:spPr>
      </p:pic>
      <p:sp>
        <p:nvSpPr>
          <p:cNvPr id="239" name="Going ACF-free"/>
          <p:cNvSpPr txBox="1"/>
          <p:nvPr/>
        </p:nvSpPr>
        <p:spPr>
          <a:xfrm>
            <a:off x="1320800" y="12344400"/>
            <a:ext cx="2451100" cy="4953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50800" tIns="50800" rIns="50800" bIns="50800" anchor="ctr">
            <a:spAutoFit/>
          </a:bodyPr>
          <a:lstStyle>
            <a:lvl1pPr>
              <a:defRPr sz="2400">
                <a:solidFill>
                  <a:srgbClr val="5D4E61"/>
                </a:solidFill>
                <a:latin typeface="Geist"/>
                <a:ea typeface="Geist"/>
                <a:cs typeface="Geist"/>
                <a:sym typeface="Geist"/>
              </a:defRPr>
            </a:lvl1pPr>
          </a:lstStyle>
          <a:p>
            <a:pPr/>
            <a:r>
              <a:t>Going ACF-free</a:t>
            </a:r>
          </a:p>
        </p:txBody>
      </p:sp>
      <p:sp>
        <p:nvSpPr>
          <p:cNvPr id="240" name="A quick poll"/>
          <p:cNvSpPr txBox="1"/>
          <p:nvPr/>
        </p:nvSpPr>
        <p:spPr>
          <a:xfrm>
            <a:off x="1308100" y="2692399"/>
            <a:ext cx="22707600" cy="17145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50800" tIns="50800" rIns="50800" bIns="50800" anchor="ctr">
            <a:spAutoFit/>
          </a:bodyPr>
          <a:lstStyle/>
          <a:p>
            <a:pPr>
              <a:defRPr sz="7600">
                <a:solidFill>
                  <a:srgbClr val="220D44"/>
                </a:solidFill>
                <a:latin typeface="Unbounded ExtraBold"/>
                <a:ea typeface="Unbounded ExtraBold"/>
                <a:cs typeface="Unbounded ExtraBold"/>
                <a:sym typeface="Unbounded ExtraBold"/>
              </a:defRPr>
            </a:pPr>
            <a:r>
              <a:t>A quick </a:t>
            </a:r>
            <a:r>
              <a:rPr i="1" sz="9800">
                <a:solidFill>
                  <a:srgbClr val="6033A6"/>
                </a:solidFill>
                <a:latin typeface="Instrument Serif"/>
                <a:ea typeface="Instrument Serif"/>
                <a:cs typeface="Instrument Serif"/>
                <a:sym typeface="Instrument Serif"/>
              </a:rPr>
              <a:t>poll</a:t>
            </a:r>
          </a:p>
        </p:txBody>
      </p:sp>
      <p:sp>
        <p:nvSpPr>
          <p:cNvPr id="241" name="How many of you…"/>
          <p:cNvSpPr txBox="1"/>
          <p:nvPr/>
        </p:nvSpPr>
        <p:spPr>
          <a:xfrm>
            <a:off x="1371600" y="4571999"/>
            <a:ext cx="20320000" cy="7620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50800" tIns="50800" rIns="50800" bIns="50800" anchor="ctr">
            <a:spAutoFit/>
          </a:bodyPr>
          <a:lstStyle>
            <a:lvl1pPr>
              <a:defRPr sz="4000">
                <a:solidFill>
                  <a:srgbClr val="4B3051"/>
                </a:solidFill>
                <a:latin typeface="Geist"/>
                <a:ea typeface="Geist"/>
                <a:cs typeface="Geist"/>
                <a:sym typeface="Geist"/>
              </a:defRPr>
            </a:lvl1pPr>
          </a:lstStyle>
          <a:p>
            <a:pPr/>
            <a:r>
              <a:t>How many of you…</a:t>
            </a:r>
          </a:p>
        </p:txBody>
      </p:sp>
      <p:sp>
        <p:nvSpPr>
          <p:cNvPr id="242" name="1"/>
          <p:cNvSpPr txBox="1"/>
          <p:nvPr/>
        </p:nvSpPr>
        <p:spPr>
          <a:xfrm>
            <a:off x="1371600" y="5842000"/>
            <a:ext cx="1016000" cy="10541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50800" tIns="50800" rIns="50800" bIns="50800" anchor="ctr">
            <a:spAutoFit/>
          </a:bodyPr>
          <a:lstStyle>
            <a:lvl1pPr>
              <a:defRPr sz="6000">
                <a:solidFill>
                  <a:srgbClr val="6033A6"/>
                </a:solidFill>
                <a:latin typeface="Unbounded SemiBold"/>
                <a:ea typeface="Unbounded SemiBold"/>
                <a:cs typeface="Unbounded SemiBold"/>
                <a:sym typeface="Unbounded SemiBold"/>
              </a:defRPr>
            </a:lvl1pPr>
          </a:lstStyle>
          <a:p>
            <a:pPr/>
            <a:r>
              <a:t>1</a:t>
            </a:r>
          </a:p>
        </p:txBody>
      </p:sp>
      <p:sp>
        <p:nvSpPr>
          <p:cNvPr id="243" name="Still use ACF for everything (okay, with exceptions, let’s say 80%)"/>
          <p:cNvSpPr txBox="1"/>
          <p:nvPr/>
        </p:nvSpPr>
        <p:spPr>
          <a:xfrm>
            <a:off x="2489200" y="5969000"/>
            <a:ext cx="20320000" cy="8255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50800" tIns="50800" rIns="50800" bIns="50800" anchor="ctr">
            <a:spAutoFit/>
          </a:bodyPr>
          <a:lstStyle>
            <a:lvl1pPr>
              <a:defRPr sz="4400">
                <a:solidFill>
                  <a:srgbClr val="3D2644"/>
                </a:solidFill>
                <a:latin typeface="Geist"/>
                <a:ea typeface="Geist"/>
                <a:cs typeface="Geist"/>
                <a:sym typeface="Geist"/>
              </a:defRPr>
            </a:lvl1pPr>
          </a:lstStyle>
          <a:p>
            <a:pPr/>
            <a:r>
              <a:t>Still use ACF for everything (okay, with exceptions, let’s say 80%)</a:t>
            </a:r>
          </a:p>
        </p:txBody>
      </p:sp>
      <p:sp>
        <p:nvSpPr>
          <p:cNvPr id="244" name="2"/>
          <p:cNvSpPr txBox="1"/>
          <p:nvPr/>
        </p:nvSpPr>
        <p:spPr>
          <a:xfrm>
            <a:off x="1371600" y="7366000"/>
            <a:ext cx="1016000" cy="10541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50800" tIns="50800" rIns="50800" bIns="50800" anchor="ctr">
            <a:spAutoFit/>
          </a:bodyPr>
          <a:lstStyle>
            <a:lvl1pPr>
              <a:defRPr sz="6000">
                <a:solidFill>
                  <a:srgbClr val="6033A6"/>
                </a:solidFill>
                <a:latin typeface="Unbounded SemiBold"/>
                <a:ea typeface="Unbounded SemiBold"/>
                <a:cs typeface="Unbounded SemiBold"/>
                <a:sym typeface="Unbounded SemiBold"/>
              </a:defRPr>
            </a:lvl1pPr>
          </a:lstStyle>
          <a:p>
            <a:pPr/>
            <a:r>
              <a:t>2</a:t>
            </a:r>
          </a:p>
        </p:txBody>
      </p:sp>
      <p:sp>
        <p:nvSpPr>
          <p:cNvPr id="245" name="Use ACF for some things"/>
          <p:cNvSpPr txBox="1"/>
          <p:nvPr/>
        </p:nvSpPr>
        <p:spPr>
          <a:xfrm>
            <a:off x="2489200" y="7493000"/>
            <a:ext cx="20320000" cy="8255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50800" tIns="50800" rIns="50800" bIns="50800" anchor="ctr">
            <a:spAutoFit/>
          </a:bodyPr>
          <a:lstStyle>
            <a:lvl1pPr>
              <a:defRPr sz="4400">
                <a:solidFill>
                  <a:srgbClr val="3D2644"/>
                </a:solidFill>
                <a:latin typeface="Geist"/>
                <a:ea typeface="Geist"/>
                <a:cs typeface="Geist"/>
                <a:sym typeface="Geist"/>
              </a:defRPr>
            </a:lvl1pPr>
          </a:lstStyle>
          <a:p>
            <a:pPr/>
            <a:r>
              <a:t>Use ACF for some things</a:t>
            </a:r>
          </a:p>
        </p:txBody>
      </p:sp>
      <p:sp>
        <p:nvSpPr>
          <p:cNvPr id="246" name="3"/>
          <p:cNvSpPr txBox="1"/>
          <p:nvPr/>
        </p:nvSpPr>
        <p:spPr>
          <a:xfrm>
            <a:off x="1371600" y="8890000"/>
            <a:ext cx="1016000" cy="10541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50800" tIns="50800" rIns="50800" bIns="50800" anchor="ctr">
            <a:spAutoFit/>
          </a:bodyPr>
          <a:lstStyle>
            <a:lvl1pPr>
              <a:defRPr sz="6000">
                <a:solidFill>
                  <a:srgbClr val="6033A6"/>
                </a:solidFill>
                <a:latin typeface="Unbounded SemiBold"/>
                <a:ea typeface="Unbounded SemiBold"/>
                <a:cs typeface="Unbounded SemiBold"/>
                <a:sym typeface="Unbounded SemiBold"/>
              </a:defRPr>
            </a:lvl1pPr>
          </a:lstStyle>
          <a:p>
            <a:pPr/>
            <a:r>
              <a:t>3</a:t>
            </a:r>
          </a:p>
        </p:txBody>
      </p:sp>
      <p:sp>
        <p:nvSpPr>
          <p:cNvPr id="247" name="Have fully moved on to native, React or core Gutenberg blocks"/>
          <p:cNvSpPr txBox="1"/>
          <p:nvPr/>
        </p:nvSpPr>
        <p:spPr>
          <a:xfrm>
            <a:off x="2489200" y="9017000"/>
            <a:ext cx="20320000" cy="8255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50800" tIns="50800" rIns="50800" bIns="50800" anchor="ctr">
            <a:spAutoFit/>
          </a:bodyPr>
          <a:lstStyle>
            <a:lvl1pPr>
              <a:defRPr sz="4400">
                <a:solidFill>
                  <a:srgbClr val="3D2644"/>
                </a:solidFill>
                <a:latin typeface="Geist"/>
                <a:ea typeface="Geist"/>
                <a:cs typeface="Geist"/>
                <a:sym typeface="Geist"/>
              </a:defRPr>
            </a:lvl1pPr>
          </a:lstStyle>
          <a:p>
            <a:pPr/>
            <a:r>
              <a:t>Have fully moved on to native, React or core Gutenberg blocks</a:t>
            </a:r>
          </a:p>
        </p:txBody>
      </p:sp>
      <p:pic>
        <p:nvPicPr>
          <p:cNvPr id="248" name="prog-7.png" descr="prog-7.png"/>
          <p:cNvPicPr>
            <a:picLocks noChangeAspect="1"/>
          </p:cNvPicPr>
          <p:nvPr/>
        </p:nvPicPr>
        <p:blipFill>
          <a:blip r:embed="rId4">
            <a:extLst/>
          </a:blip>
          <a:stretch>
            <a:fillRect/>
          </a:stretch>
        </p:blipFill>
        <p:spPr>
          <a:xfrm>
            <a:off x="17170400" y="12395200"/>
            <a:ext cx="5842000" cy="406400"/>
          </a:xfrm>
          <a:prstGeom prst="rect">
            <a:avLst/>
          </a:prstGeom>
          <a:ln w="12700">
            <a:miter lim="400000"/>
          </a:ln>
        </p:spPr>
      </p:pic>
    </p:spTree>
  </p:cSld>
  <p:clrMapOvr>
    <a:masterClrMapping/>
  </p:clrMapOvr>
  <p:transition xmlns:p14="http://schemas.microsoft.com/office/powerpoint/2010/main" spd="med" advClick="1"/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52" name="bg.png" descr="bg.png"/>
          <p:cNvPicPr>
            <a:picLocks noChangeAspect="1"/>
          </p:cNvPicPr>
          <p:nvPr/>
        </p:nvPicPr>
        <p:blipFill>
          <a:blip r:embed="rId3">
            <a:extLst/>
          </a:blip>
          <a:stretch>
            <a:fillRect/>
          </a:stretch>
        </p:blipFill>
        <p:spPr>
          <a:xfrm>
            <a:off x="0" y="0"/>
            <a:ext cx="24384000" cy="13716000"/>
          </a:xfrm>
          <a:prstGeom prst="rect">
            <a:avLst/>
          </a:prstGeom>
          <a:ln w="12700">
            <a:miter lim="400000"/>
          </a:ln>
        </p:spPr>
      </p:pic>
      <p:sp>
        <p:nvSpPr>
          <p:cNvPr id="253" name="Going ACF-free"/>
          <p:cNvSpPr txBox="1"/>
          <p:nvPr/>
        </p:nvSpPr>
        <p:spPr>
          <a:xfrm>
            <a:off x="1320800" y="12344400"/>
            <a:ext cx="2451100" cy="4953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50800" tIns="50800" rIns="50800" bIns="50800" anchor="ctr">
            <a:spAutoFit/>
          </a:bodyPr>
          <a:lstStyle>
            <a:lvl1pPr>
              <a:defRPr sz="2400">
                <a:solidFill>
                  <a:srgbClr val="5D4E61"/>
                </a:solidFill>
                <a:latin typeface="Geist"/>
                <a:ea typeface="Geist"/>
                <a:cs typeface="Geist"/>
                <a:sym typeface="Geist"/>
              </a:defRPr>
            </a:lvl1pPr>
          </a:lstStyle>
          <a:p>
            <a:pPr/>
            <a:r>
              <a:t>Going ACF-free</a:t>
            </a:r>
          </a:p>
        </p:txBody>
      </p:sp>
      <p:sp>
        <p:nvSpPr>
          <p:cNvPr id="254" name="What is a dependency?"/>
          <p:cNvSpPr txBox="1"/>
          <p:nvPr/>
        </p:nvSpPr>
        <p:spPr>
          <a:xfrm>
            <a:off x="1308100" y="3581399"/>
            <a:ext cx="22707600" cy="17145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50800" tIns="50800" rIns="50800" bIns="50800" anchor="ctr">
            <a:spAutoFit/>
          </a:bodyPr>
          <a:lstStyle/>
          <a:p>
            <a:pPr>
              <a:defRPr sz="7600">
                <a:solidFill>
                  <a:srgbClr val="220D44"/>
                </a:solidFill>
                <a:latin typeface="Unbounded ExtraBold"/>
                <a:ea typeface="Unbounded ExtraBold"/>
                <a:cs typeface="Unbounded ExtraBold"/>
                <a:sym typeface="Unbounded ExtraBold"/>
              </a:defRPr>
            </a:pPr>
            <a:r>
              <a:t>What is </a:t>
            </a:r>
            <a:r>
              <a:rPr i="1" sz="9800">
                <a:solidFill>
                  <a:srgbClr val="6033A6"/>
                </a:solidFill>
                <a:latin typeface="Instrument Serif"/>
                <a:ea typeface="Instrument Serif"/>
                <a:cs typeface="Instrument Serif"/>
                <a:sym typeface="Instrument Serif"/>
              </a:rPr>
              <a:t>a dependency?</a:t>
            </a:r>
          </a:p>
        </p:txBody>
      </p:sp>
      <p:sp>
        <p:nvSpPr>
          <p:cNvPr id="255" name="“A situation in which you need something or someone and are unable to continue normally without them.”"/>
          <p:cNvSpPr txBox="1"/>
          <p:nvPr/>
        </p:nvSpPr>
        <p:spPr>
          <a:xfrm>
            <a:off x="1308100" y="5969000"/>
            <a:ext cx="19812000" cy="215265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50800" tIns="50800" rIns="50800" bIns="50800" anchor="ctr">
            <a:spAutoFit/>
          </a:bodyPr>
          <a:lstStyle>
            <a:lvl1pPr>
              <a:defRPr i="1" sz="6600">
                <a:solidFill>
                  <a:srgbClr val="220D44"/>
                </a:solidFill>
                <a:latin typeface="Instrument Serif"/>
                <a:ea typeface="Instrument Serif"/>
                <a:cs typeface="Instrument Serif"/>
                <a:sym typeface="Instrument Serif"/>
              </a:defRPr>
            </a:lvl1pPr>
          </a:lstStyle>
          <a:p>
            <a:pPr/>
            <a:r>
              <a:t>“A situation in which you need something or someone and are unable to continue normally without them.”</a:t>
            </a:r>
          </a:p>
        </p:txBody>
      </p:sp>
      <p:sp>
        <p:nvSpPr>
          <p:cNvPr id="256" name="Cambridge Dictionary"/>
          <p:cNvSpPr txBox="1"/>
          <p:nvPr/>
        </p:nvSpPr>
        <p:spPr>
          <a:xfrm>
            <a:off x="1371600" y="8636000"/>
            <a:ext cx="10160000" cy="5969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50800" tIns="50800" rIns="50800" bIns="50800" anchor="ctr">
            <a:spAutoFit/>
          </a:bodyPr>
          <a:lstStyle>
            <a:lvl1pPr>
              <a:defRPr sz="3000">
                <a:solidFill>
                  <a:srgbClr val="5D4E61"/>
                </a:solidFill>
                <a:latin typeface="Geist Medium"/>
                <a:ea typeface="Geist Medium"/>
                <a:cs typeface="Geist Medium"/>
                <a:sym typeface="Geist Medium"/>
              </a:defRPr>
            </a:lvl1pPr>
          </a:lstStyle>
          <a:p>
            <a:pPr/>
            <a:r>
              <a:t>Cambridge Dictionary</a:t>
            </a:r>
          </a:p>
        </p:txBody>
      </p:sp>
      <p:pic>
        <p:nvPicPr>
          <p:cNvPr id="257" name="prog-8.png" descr="prog-8.png"/>
          <p:cNvPicPr>
            <a:picLocks noChangeAspect="1"/>
          </p:cNvPicPr>
          <p:nvPr/>
        </p:nvPicPr>
        <p:blipFill>
          <a:blip r:embed="rId4">
            <a:extLst/>
          </a:blip>
          <a:stretch>
            <a:fillRect/>
          </a:stretch>
        </p:blipFill>
        <p:spPr>
          <a:xfrm>
            <a:off x="17170400" y="12395200"/>
            <a:ext cx="5842000" cy="406400"/>
          </a:xfrm>
          <a:prstGeom prst="rect">
            <a:avLst/>
          </a:prstGeom>
          <a:ln w="12700">
            <a:miter lim="400000"/>
          </a:ln>
        </p:spPr>
      </p:pic>
    </p:spTree>
  </p:cSld>
  <p:clrMapOvr>
    <a:masterClrMapping/>
  </p:clrMapOvr>
  <p:transition xmlns:p14="http://schemas.microsoft.com/office/powerpoint/2010/main" spd="med" advClick="1"/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61" name="bg.png" descr="bg.png"/>
          <p:cNvPicPr>
            <a:picLocks noChangeAspect="1"/>
          </p:cNvPicPr>
          <p:nvPr/>
        </p:nvPicPr>
        <p:blipFill>
          <a:blip r:embed="rId3">
            <a:extLst/>
          </a:blip>
          <a:stretch>
            <a:fillRect/>
          </a:stretch>
        </p:blipFill>
        <p:spPr>
          <a:xfrm>
            <a:off x="0" y="0"/>
            <a:ext cx="24384000" cy="13716000"/>
          </a:xfrm>
          <a:prstGeom prst="rect">
            <a:avLst/>
          </a:prstGeom>
          <a:ln w="12700">
            <a:miter lim="400000"/>
          </a:ln>
        </p:spPr>
      </p:pic>
      <p:sp>
        <p:nvSpPr>
          <p:cNvPr id="262" name="A brief history of"/>
          <p:cNvSpPr txBox="1"/>
          <p:nvPr/>
        </p:nvSpPr>
        <p:spPr>
          <a:xfrm>
            <a:off x="1278774" y="4898736"/>
            <a:ext cx="22707601" cy="15621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50800" tIns="50800" rIns="50800" bIns="50800" anchor="ctr">
            <a:spAutoFit/>
          </a:bodyPr>
          <a:lstStyle>
            <a:lvl1pPr>
              <a:defRPr sz="9200">
                <a:solidFill>
                  <a:srgbClr val="220D44"/>
                </a:solidFill>
                <a:latin typeface="Unbounded ExtraBold"/>
                <a:ea typeface="Unbounded ExtraBold"/>
                <a:cs typeface="Unbounded ExtraBold"/>
                <a:sym typeface="Unbounded ExtraBold"/>
              </a:defRPr>
            </a:lvl1pPr>
          </a:lstStyle>
          <a:p>
            <a:pPr/>
            <a:r>
              <a:t>A brief history of</a:t>
            </a:r>
          </a:p>
        </p:txBody>
      </p:sp>
      <p:sp>
        <p:nvSpPr>
          <p:cNvPr id="263" name="fields and dependencies in WordPress"/>
          <p:cNvSpPr txBox="1"/>
          <p:nvPr/>
        </p:nvSpPr>
        <p:spPr>
          <a:xfrm>
            <a:off x="1291474" y="6067136"/>
            <a:ext cx="22707601" cy="20574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50800" tIns="50800" rIns="50800" bIns="50800" anchor="ctr">
            <a:spAutoFit/>
          </a:bodyPr>
          <a:lstStyle>
            <a:lvl1pPr>
              <a:defRPr i="1" sz="11800">
                <a:solidFill>
                  <a:srgbClr val="6033A6"/>
                </a:solidFill>
                <a:latin typeface="Instrument Serif"/>
                <a:ea typeface="Instrument Serif"/>
                <a:cs typeface="Instrument Serif"/>
                <a:sym typeface="Instrument Serif"/>
              </a:defRPr>
            </a:lvl1pPr>
          </a:lstStyle>
          <a:p>
            <a:pPr/>
            <a:r>
              <a:t>fields and dependencies in WordPress</a:t>
            </a:r>
          </a:p>
        </p:txBody>
      </p:sp>
      <p:sp>
        <p:nvSpPr>
          <p:cNvPr id="264" name="Going ACF-free"/>
          <p:cNvSpPr txBox="1"/>
          <p:nvPr/>
        </p:nvSpPr>
        <p:spPr>
          <a:xfrm>
            <a:off x="1320800" y="12344400"/>
            <a:ext cx="2451100" cy="4953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50800" tIns="50800" rIns="50800" bIns="50800" anchor="ctr">
            <a:spAutoFit/>
          </a:bodyPr>
          <a:lstStyle>
            <a:lvl1pPr>
              <a:defRPr sz="2400">
                <a:solidFill>
                  <a:srgbClr val="5D4E61"/>
                </a:solidFill>
                <a:latin typeface="Geist"/>
                <a:ea typeface="Geist"/>
                <a:cs typeface="Geist"/>
                <a:sym typeface="Geist"/>
              </a:defRPr>
            </a:lvl1pPr>
          </a:lstStyle>
          <a:p>
            <a:pPr/>
            <a:r>
              <a:t>Going ACF-free</a:t>
            </a:r>
          </a:p>
        </p:txBody>
      </p:sp>
      <p:pic>
        <p:nvPicPr>
          <p:cNvPr id="265" name="prog-9.png" descr="prog-9.png"/>
          <p:cNvPicPr>
            <a:picLocks noChangeAspect="1"/>
          </p:cNvPicPr>
          <p:nvPr/>
        </p:nvPicPr>
        <p:blipFill>
          <a:blip r:embed="rId4">
            <a:extLst/>
          </a:blip>
          <a:stretch>
            <a:fillRect/>
          </a:stretch>
        </p:blipFill>
        <p:spPr>
          <a:xfrm>
            <a:off x="17170400" y="12395200"/>
            <a:ext cx="5842000" cy="406400"/>
          </a:xfrm>
          <a:prstGeom prst="rect">
            <a:avLst/>
          </a:prstGeom>
          <a:ln w="12700">
            <a:miter lim="400000"/>
          </a:ln>
        </p:spPr>
      </p:pic>
    </p:spTree>
  </p:cSld>
  <p:clrMapOvr>
    <a:masterClrMapping/>
  </p:clrMapOvr>
  <p:transition xmlns:p14="http://schemas.microsoft.com/office/powerpoint/2010/main" spd="med" advClick="1"/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69" name="bg.png" descr="bg.png"/>
          <p:cNvPicPr>
            <a:picLocks noChangeAspect="1"/>
          </p:cNvPicPr>
          <p:nvPr/>
        </p:nvPicPr>
        <p:blipFill>
          <a:blip r:embed="rId3">
            <a:extLst/>
          </a:blip>
          <a:stretch>
            <a:fillRect/>
          </a:stretch>
        </p:blipFill>
        <p:spPr>
          <a:xfrm>
            <a:off x="0" y="0"/>
            <a:ext cx="24384000" cy="13716000"/>
          </a:xfrm>
          <a:prstGeom prst="rect">
            <a:avLst/>
          </a:prstGeom>
          <a:ln w="12700">
            <a:miter lim="400000"/>
          </a:ln>
        </p:spPr>
      </p:pic>
      <p:sp>
        <p:nvSpPr>
          <p:cNvPr id="270" name="Fields since 2004"/>
          <p:cNvSpPr txBox="1"/>
          <p:nvPr/>
        </p:nvSpPr>
        <p:spPr>
          <a:xfrm>
            <a:off x="1308100" y="3174999"/>
            <a:ext cx="22707600" cy="17145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50800" tIns="50800" rIns="50800" bIns="50800" anchor="ctr">
            <a:spAutoFit/>
          </a:bodyPr>
          <a:lstStyle/>
          <a:p>
            <a:pPr>
              <a:defRPr sz="7600">
                <a:solidFill>
                  <a:srgbClr val="220D44"/>
                </a:solidFill>
                <a:latin typeface="Unbounded ExtraBold"/>
                <a:ea typeface="Unbounded ExtraBold"/>
                <a:cs typeface="Unbounded ExtraBold"/>
                <a:sym typeface="Unbounded ExtraBold"/>
              </a:defRPr>
            </a:pPr>
            <a:r>
              <a:t>Fields </a:t>
            </a:r>
            <a:r>
              <a:rPr i="1" sz="9800">
                <a:solidFill>
                  <a:srgbClr val="6033A6"/>
                </a:solidFill>
                <a:latin typeface="Instrument Serif"/>
                <a:ea typeface="Instrument Serif"/>
                <a:cs typeface="Instrument Serif"/>
                <a:sym typeface="Instrument Serif"/>
              </a:rPr>
              <a:t>since 2004</a:t>
            </a:r>
          </a:p>
        </p:txBody>
      </p:sp>
      <p:sp>
        <p:nvSpPr>
          <p:cNvPr id="271" name="Going ACF-free"/>
          <p:cNvSpPr txBox="1"/>
          <p:nvPr/>
        </p:nvSpPr>
        <p:spPr>
          <a:xfrm>
            <a:off x="1320800" y="12344400"/>
            <a:ext cx="2451100" cy="4953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50800" tIns="50800" rIns="50800" bIns="50800" anchor="ctr">
            <a:spAutoFit/>
          </a:bodyPr>
          <a:lstStyle>
            <a:lvl1pPr>
              <a:defRPr sz="2400">
                <a:solidFill>
                  <a:srgbClr val="5D4E61"/>
                </a:solidFill>
                <a:latin typeface="Geist"/>
                <a:ea typeface="Geist"/>
                <a:cs typeface="Geist"/>
                <a:sym typeface="Geist"/>
              </a:defRPr>
            </a:lvl1pPr>
          </a:lstStyle>
          <a:p>
            <a:pPr/>
            <a:r>
              <a:t>Going ACF-free</a:t>
            </a:r>
          </a:p>
        </p:txBody>
      </p:sp>
      <p:pic>
        <p:nvPicPr>
          <p:cNvPr id="272" name="timeline.png" descr="timeline.png"/>
          <p:cNvPicPr>
            <a:picLocks noChangeAspect="1"/>
          </p:cNvPicPr>
          <p:nvPr/>
        </p:nvPicPr>
        <p:blipFill>
          <a:blip r:embed="rId4">
            <a:extLst/>
          </a:blip>
          <a:stretch>
            <a:fillRect/>
          </a:stretch>
        </p:blipFill>
        <p:spPr>
          <a:xfrm>
            <a:off x="0" y="5588000"/>
            <a:ext cx="24384000" cy="4064000"/>
          </a:xfrm>
          <a:prstGeom prst="rect">
            <a:avLst/>
          </a:prstGeom>
          <a:ln w="12700">
            <a:miter lim="400000"/>
          </a:ln>
        </p:spPr>
      </p:pic>
      <p:sp>
        <p:nvSpPr>
          <p:cNvPr id="273" name="2005"/>
          <p:cNvSpPr txBox="1"/>
          <p:nvPr/>
        </p:nvSpPr>
        <p:spPr>
          <a:xfrm>
            <a:off x="1778000" y="5676900"/>
            <a:ext cx="3327400" cy="6096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50800" tIns="50800" rIns="50800" bIns="50800" anchor="ctr">
            <a:spAutoFit/>
          </a:bodyPr>
          <a:lstStyle>
            <a:lvl1pPr>
              <a:defRPr sz="3200">
                <a:solidFill>
                  <a:srgbClr val="6033A6"/>
                </a:solidFill>
                <a:latin typeface="Unbounded SemiBold"/>
                <a:ea typeface="Unbounded SemiBold"/>
                <a:cs typeface="Unbounded SemiBold"/>
                <a:sym typeface="Unbounded SemiBold"/>
              </a:defRPr>
            </a:lvl1pPr>
          </a:lstStyle>
          <a:p>
            <a:pPr/>
            <a:r>
              <a:t>2005</a:t>
            </a:r>
          </a:p>
        </p:txBody>
      </p:sp>
      <p:sp>
        <p:nvSpPr>
          <p:cNvPr id="274" name="2010"/>
          <p:cNvSpPr txBox="1"/>
          <p:nvPr/>
        </p:nvSpPr>
        <p:spPr>
          <a:xfrm>
            <a:off x="3556000" y="8064500"/>
            <a:ext cx="3327400" cy="6096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50800" tIns="50800" rIns="50800" bIns="50800" anchor="ctr">
            <a:spAutoFit/>
          </a:bodyPr>
          <a:lstStyle>
            <a:lvl1pPr>
              <a:defRPr sz="3200">
                <a:solidFill>
                  <a:srgbClr val="6033A6"/>
                </a:solidFill>
                <a:latin typeface="Unbounded SemiBold"/>
                <a:ea typeface="Unbounded SemiBold"/>
                <a:cs typeface="Unbounded SemiBold"/>
                <a:sym typeface="Unbounded SemiBold"/>
              </a:defRPr>
            </a:lvl1pPr>
          </a:lstStyle>
          <a:p>
            <a:pPr/>
            <a:r>
              <a:t>2010</a:t>
            </a:r>
          </a:p>
        </p:txBody>
      </p:sp>
      <p:sp>
        <p:nvSpPr>
          <p:cNvPr id="275" name="2011"/>
          <p:cNvSpPr txBox="1"/>
          <p:nvPr/>
        </p:nvSpPr>
        <p:spPr>
          <a:xfrm>
            <a:off x="5334000" y="5676900"/>
            <a:ext cx="3327400" cy="6096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50800" tIns="50800" rIns="50800" bIns="50800" anchor="ctr">
            <a:spAutoFit/>
          </a:bodyPr>
          <a:lstStyle>
            <a:lvl1pPr>
              <a:defRPr sz="3200">
                <a:solidFill>
                  <a:srgbClr val="6033A6"/>
                </a:solidFill>
                <a:latin typeface="Unbounded SemiBold"/>
                <a:ea typeface="Unbounded SemiBold"/>
                <a:cs typeface="Unbounded SemiBold"/>
                <a:sym typeface="Unbounded SemiBold"/>
              </a:defRPr>
            </a:lvl1pPr>
          </a:lstStyle>
          <a:p>
            <a:pPr/>
            <a:r>
              <a:t>2011</a:t>
            </a:r>
          </a:p>
        </p:txBody>
      </p:sp>
      <p:sp>
        <p:nvSpPr>
          <p:cNvPr id="276" name="2014"/>
          <p:cNvSpPr txBox="1"/>
          <p:nvPr/>
        </p:nvSpPr>
        <p:spPr>
          <a:xfrm>
            <a:off x="7112000" y="8064500"/>
            <a:ext cx="3327400" cy="6096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50800" tIns="50800" rIns="50800" bIns="50800" anchor="ctr">
            <a:spAutoFit/>
          </a:bodyPr>
          <a:lstStyle>
            <a:lvl1pPr>
              <a:defRPr sz="3200">
                <a:solidFill>
                  <a:srgbClr val="6033A6"/>
                </a:solidFill>
                <a:latin typeface="Unbounded SemiBold"/>
                <a:ea typeface="Unbounded SemiBold"/>
                <a:cs typeface="Unbounded SemiBold"/>
                <a:sym typeface="Unbounded SemiBold"/>
              </a:defRPr>
            </a:lvl1pPr>
          </a:lstStyle>
          <a:p>
            <a:pPr/>
            <a:r>
              <a:t>2014</a:t>
            </a:r>
          </a:p>
        </p:txBody>
      </p:sp>
      <p:sp>
        <p:nvSpPr>
          <p:cNvPr id="277" name="2018"/>
          <p:cNvSpPr txBox="1"/>
          <p:nvPr/>
        </p:nvSpPr>
        <p:spPr>
          <a:xfrm>
            <a:off x="8890000" y="5676900"/>
            <a:ext cx="3327400" cy="6096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50800" tIns="50800" rIns="50800" bIns="50800" anchor="ctr">
            <a:spAutoFit/>
          </a:bodyPr>
          <a:lstStyle>
            <a:lvl1pPr>
              <a:defRPr sz="3200">
                <a:solidFill>
                  <a:srgbClr val="6033A6"/>
                </a:solidFill>
                <a:latin typeface="Unbounded SemiBold"/>
                <a:ea typeface="Unbounded SemiBold"/>
                <a:cs typeface="Unbounded SemiBold"/>
                <a:sym typeface="Unbounded SemiBold"/>
              </a:defRPr>
            </a:lvl1pPr>
          </a:lstStyle>
          <a:p>
            <a:pPr/>
            <a:r>
              <a:t>2018</a:t>
            </a:r>
          </a:p>
        </p:txBody>
      </p:sp>
      <p:sp>
        <p:nvSpPr>
          <p:cNvPr id="278" name="2019"/>
          <p:cNvSpPr txBox="1"/>
          <p:nvPr/>
        </p:nvSpPr>
        <p:spPr>
          <a:xfrm>
            <a:off x="10668000" y="8064500"/>
            <a:ext cx="3327400" cy="6096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50800" tIns="50800" rIns="50800" bIns="50800" anchor="ctr">
            <a:spAutoFit/>
          </a:bodyPr>
          <a:lstStyle>
            <a:lvl1pPr>
              <a:defRPr sz="3200">
                <a:solidFill>
                  <a:srgbClr val="6033A6"/>
                </a:solidFill>
                <a:latin typeface="Unbounded SemiBold"/>
                <a:ea typeface="Unbounded SemiBold"/>
                <a:cs typeface="Unbounded SemiBold"/>
                <a:sym typeface="Unbounded SemiBold"/>
              </a:defRPr>
            </a:lvl1pPr>
          </a:lstStyle>
          <a:p>
            <a:pPr/>
            <a:r>
              <a:t>2019</a:t>
            </a:r>
          </a:p>
        </p:txBody>
      </p:sp>
      <p:sp>
        <p:nvSpPr>
          <p:cNvPr id="279" name="2021"/>
          <p:cNvSpPr txBox="1"/>
          <p:nvPr/>
        </p:nvSpPr>
        <p:spPr>
          <a:xfrm>
            <a:off x="12446000" y="5676900"/>
            <a:ext cx="3327400" cy="6096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50800" tIns="50800" rIns="50800" bIns="50800" anchor="ctr">
            <a:spAutoFit/>
          </a:bodyPr>
          <a:lstStyle>
            <a:lvl1pPr>
              <a:defRPr sz="3200">
                <a:solidFill>
                  <a:srgbClr val="6033A6"/>
                </a:solidFill>
                <a:latin typeface="Unbounded SemiBold"/>
                <a:ea typeface="Unbounded SemiBold"/>
                <a:cs typeface="Unbounded SemiBold"/>
                <a:sym typeface="Unbounded SemiBold"/>
              </a:defRPr>
            </a:lvl1pPr>
          </a:lstStyle>
          <a:p>
            <a:pPr/>
            <a:r>
              <a:t>2021</a:t>
            </a:r>
          </a:p>
        </p:txBody>
      </p:sp>
      <p:sp>
        <p:nvSpPr>
          <p:cNvPr id="280" name="2022"/>
          <p:cNvSpPr txBox="1"/>
          <p:nvPr/>
        </p:nvSpPr>
        <p:spPr>
          <a:xfrm>
            <a:off x="14224000" y="8064500"/>
            <a:ext cx="3327400" cy="6096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50800" tIns="50800" rIns="50800" bIns="50800" anchor="ctr">
            <a:spAutoFit/>
          </a:bodyPr>
          <a:lstStyle>
            <a:lvl1pPr>
              <a:defRPr sz="3200">
                <a:solidFill>
                  <a:srgbClr val="6033A6"/>
                </a:solidFill>
                <a:latin typeface="Unbounded SemiBold"/>
                <a:ea typeface="Unbounded SemiBold"/>
                <a:cs typeface="Unbounded SemiBold"/>
                <a:sym typeface="Unbounded SemiBold"/>
              </a:defRPr>
            </a:lvl1pPr>
          </a:lstStyle>
          <a:p>
            <a:pPr/>
            <a:r>
              <a:t>2022</a:t>
            </a:r>
          </a:p>
        </p:txBody>
      </p:sp>
      <p:sp>
        <p:nvSpPr>
          <p:cNvPr id="281" name="2024"/>
          <p:cNvSpPr txBox="1"/>
          <p:nvPr/>
        </p:nvSpPr>
        <p:spPr>
          <a:xfrm>
            <a:off x="16002000" y="5676900"/>
            <a:ext cx="3327400" cy="6096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50800" tIns="50800" rIns="50800" bIns="50800" anchor="ctr">
            <a:spAutoFit/>
          </a:bodyPr>
          <a:lstStyle>
            <a:lvl1pPr>
              <a:defRPr sz="3200">
                <a:solidFill>
                  <a:srgbClr val="6033A6"/>
                </a:solidFill>
                <a:latin typeface="Unbounded SemiBold"/>
                <a:ea typeface="Unbounded SemiBold"/>
                <a:cs typeface="Unbounded SemiBold"/>
                <a:sym typeface="Unbounded SemiBold"/>
              </a:defRPr>
            </a:lvl1pPr>
          </a:lstStyle>
          <a:p>
            <a:pPr/>
            <a:r>
              <a:t>2024</a:t>
            </a:r>
          </a:p>
        </p:txBody>
      </p:sp>
      <p:sp>
        <p:nvSpPr>
          <p:cNvPr id="282" name="2025"/>
          <p:cNvSpPr txBox="1"/>
          <p:nvPr/>
        </p:nvSpPr>
        <p:spPr>
          <a:xfrm>
            <a:off x="17780000" y="8064500"/>
            <a:ext cx="3327400" cy="6096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50800" tIns="50800" rIns="50800" bIns="50800" anchor="ctr">
            <a:spAutoFit/>
          </a:bodyPr>
          <a:lstStyle>
            <a:lvl1pPr>
              <a:defRPr sz="3200">
                <a:solidFill>
                  <a:srgbClr val="6033A6"/>
                </a:solidFill>
                <a:latin typeface="Unbounded SemiBold"/>
                <a:ea typeface="Unbounded SemiBold"/>
                <a:cs typeface="Unbounded SemiBold"/>
                <a:sym typeface="Unbounded SemiBold"/>
              </a:defRPr>
            </a:lvl1pPr>
          </a:lstStyle>
          <a:p>
            <a:pPr/>
            <a:r>
              <a:t>2025</a:t>
            </a:r>
          </a:p>
        </p:txBody>
      </p:sp>
      <p:sp>
        <p:nvSpPr>
          <p:cNvPr id="283" name="2026"/>
          <p:cNvSpPr txBox="1"/>
          <p:nvPr/>
        </p:nvSpPr>
        <p:spPr>
          <a:xfrm>
            <a:off x="19558000" y="5676900"/>
            <a:ext cx="3327400" cy="6096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50800" tIns="50800" rIns="50800" bIns="50800" anchor="ctr">
            <a:spAutoFit/>
          </a:bodyPr>
          <a:lstStyle>
            <a:lvl1pPr>
              <a:defRPr sz="3200">
                <a:solidFill>
                  <a:srgbClr val="6033A6"/>
                </a:solidFill>
                <a:latin typeface="Unbounded SemiBold"/>
                <a:ea typeface="Unbounded SemiBold"/>
                <a:cs typeface="Unbounded SemiBold"/>
                <a:sym typeface="Unbounded SemiBold"/>
              </a:defRPr>
            </a:lvl1pPr>
          </a:lstStyle>
          <a:p>
            <a:pPr/>
            <a:r>
              <a:t>2026</a:t>
            </a:r>
          </a:p>
        </p:txBody>
      </p:sp>
      <p:sp>
        <p:nvSpPr>
          <p:cNvPr id="284" name="My first WordPress"/>
          <p:cNvSpPr txBox="1"/>
          <p:nvPr/>
        </p:nvSpPr>
        <p:spPr>
          <a:xfrm>
            <a:off x="1803400" y="6286500"/>
            <a:ext cx="3327400" cy="4953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50800" tIns="50800" rIns="50800" bIns="50800" anchor="ctr">
            <a:spAutoFit/>
          </a:bodyPr>
          <a:lstStyle>
            <a:lvl1pPr>
              <a:defRPr sz="2400">
                <a:solidFill>
                  <a:srgbClr val="220D44"/>
                </a:solidFill>
                <a:latin typeface="Geist SemiBold"/>
                <a:ea typeface="Geist SemiBold"/>
                <a:cs typeface="Geist SemiBold"/>
                <a:sym typeface="Geist SemiBold"/>
              </a:defRPr>
            </a:lvl1pPr>
          </a:lstStyle>
          <a:p>
            <a:pPr/>
            <a:r>
              <a:t>My first WordPress</a:t>
            </a:r>
          </a:p>
        </p:txBody>
      </p:sp>
      <p:sp>
        <p:nvSpPr>
          <p:cNvPr id="285" name="custom fields in core"/>
          <p:cNvSpPr txBox="1"/>
          <p:nvPr/>
        </p:nvSpPr>
        <p:spPr>
          <a:xfrm>
            <a:off x="1803400" y="6705599"/>
            <a:ext cx="3327400" cy="4572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50800" tIns="50800" rIns="50800" bIns="50800" anchor="ctr">
            <a:spAutoFit/>
          </a:bodyPr>
          <a:lstStyle>
            <a:lvl1pPr>
              <a:defRPr sz="2200">
                <a:solidFill>
                  <a:srgbClr val="5D4E61"/>
                </a:solidFill>
                <a:latin typeface="Geist"/>
                <a:ea typeface="Geist"/>
                <a:cs typeface="Geist"/>
                <a:sym typeface="Geist"/>
              </a:defRPr>
            </a:lvl1pPr>
          </a:lstStyle>
          <a:p>
            <a:pPr/>
            <a:r>
              <a:t>custom fields in core</a:t>
            </a:r>
          </a:p>
        </p:txBody>
      </p:sp>
      <p:sp>
        <p:nvSpPr>
          <p:cNvPr id="286" name="WordPress 3.0"/>
          <p:cNvSpPr txBox="1"/>
          <p:nvPr/>
        </p:nvSpPr>
        <p:spPr>
          <a:xfrm>
            <a:off x="3581400" y="8674100"/>
            <a:ext cx="3327400" cy="4953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50800" tIns="50800" rIns="50800" bIns="50800" anchor="ctr">
            <a:spAutoFit/>
          </a:bodyPr>
          <a:lstStyle>
            <a:lvl1pPr>
              <a:defRPr sz="2400">
                <a:solidFill>
                  <a:srgbClr val="220D44"/>
                </a:solidFill>
                <a:latin typeface="Geist SemiBold"/>
                <a:ea typeface="Geist SemiBold"/>
                <a:cs typeface="Geist SemiBold"/>
                <a:sym typeface="Geist SemiBold"/>
              </a:defRPr>
            </a:lvl1pPr>
          </a:lstStyle>
          <a:p>
            <a:pPr/>
            <a:r>
              <a:t>WordPress 3.0</a:t>
            </a:r>
          </a:p>
        </p:txBody>
      </p:sp>
      <p:sp>
        <p:nvSpPr>
          <p:cNvPr id="287" name="custom post types"/>
          <p:cNvSpPr txBox="1"/>
          <p:nvPr/>
        </p:nvSpPr>
        <p:spPr>
          <a:xfrm>
            <a:off x="3581400" y="9093199"/>
            <a:ext cx="3327400" cy="4572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50800" tIns="50800" rIns="50800" bIns="50800" anchor="ctr">
            <a:spAutoFit/>
          </a:bodyPr>
          <a:lstStyle>
            <a:lvl1pPr>
              <a:defRPr sz="2200">
                <a:solidFill>
                  <a:srgbClr val="5D4E61"/>
                </a:solidFill>
                <a:latin typeface="Geist"/>
                <a:ea typeface="Geist"/>
                <a:cs typeface="Geist"/>
                <a:sym typeface="Geist"/>
              </a:defRPr>
            </a:lvl1pPr>
          </a:lstStyle>
          <a:p>
            <a:pPr/>
            <a:r>
              <a:t>custom post types</a:t>
            </a:r>
          </a:p>
        </p:txBody>
      </p:sp>
      <p:sp>
        <p:nvSpPr>
          <p:cNvPr id="288" name="ACF"/>
          <p:cNvSpPr txBox="1"/>
          <p:nvPr/>
        </p:nvSpPr>
        <p:spPr>
          <a:xfrm>
            <a:off x="5359400" y="6286500"/>
            <a:ext cx="3327400" cy="4953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50800" tIns="50800" rIns="50800" bIns="50800" anchor="ctr">
            <a:spAutoFit/>
          </a:bodyPr>
          <a:lstStyle>
            <a:lvl1pPr>
              <a:defRPr sz="2400">
                <a:solidFill>
                  <a:srgbClr val="220D44"/>
                </a:solidFill>
                <a:latin typeface="Geist SemiBold"/>
                <a:ea typeface="Geist SemiBold"/>
                <a:cs typeface="Geist SemiBold"/>
                <a:sym typeface="Geist SemiBold"/>
              </a:defRPr>
            </a:lvl1pPr>
          </a:lstStyle>
          <a:p>
            <a:pPr/>
            <a:r>
              <a:t>ACF</a:t>
            </a:r>
          </a:p>
        </p:txBody>
      </p:sp>
      <p:sp>
        <p:nvSpPr>
          <p:cNvPr id="289" name="ACF’s first commit"/>
          <p:cNvSpPr txBox="1"/>
          <p:nvPr/>
        </p:nvSpPr>
        <p:spPr>
          <a:xfrm>
            <a:off x="5359400" y="6705599"/>
            <a:ext cx="3327400" cy="4572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50800" tIns="50800" rIns="50800" bIns="50800" anchor="ctr">
            <a:spAutoFit/>
          </a:bodyPr>
          <a:lstStyle>
            <a:lvl1pPr>
              <a:defRPr sz="2200">
                <a:solidFill>
                  <a:srgbClr val="5D4E61"/>
                </a:solidFill>
                <a:latin typeface="Geist"/>
                <a:ea typeface="Geist"/>
                <a:cs typeface="Geist"/>
                <a:sym typeface="Geist"/>
              </a:defRPr>
            </a:lvl1pPr>
          </a:lstStyle>
          <a:p>
            <a:pPr/>
            <a:r>
              <a:t>ACF’s first commit</a:t>
            </a:r>
          </a:p>
        </p:txBody>
      </p:sp>
      <p:sp>
        <p:nvSpPr>
          <p:cNvPr id="290" name="dudestack"/>
          <p:cNvSpPr txBox="1"/>
          <p:nvPr/>
        </p:nvSpPr>
        <p:spPr>
          <a:xfrm>
            <a:off x="7137400" y="8674100"/>
            <a:ext cx="3327400" cy="4953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50800" tIns="50800" rIns="50800" bIns="50800" anchor="ctr">
            <a:spAutoFit/>
          </a:bodyPr>
          <a:lstStyle>
            <a:lvl1pPr>
              <a:defRPr sz="2400">
                <a:solidFill>
                  <a:srgbClr val="220D44"/>
                </a:solidFill>
                <a:latin typeface="Geist SemiBold"/>
                <a:ea typeface="Geist SemiBold"/>
                <a:cs typeface="Geist SemiBold"/>
                <a:sym typeface="Geist SemiBold"/>
              </a:defRPr>
            </a:lvl1pPr>
          </a:lstStyle>
          <a:p>
            <a:pPr/>
            <a:r>
              <a:t>dudestack</a:t>
            </a:r>
          </a:p>
        </p:txBody>
      </p:sp>
      <p:sp>
        <p:nvSpPr>
          <p:cNvPr id="291" name="ACF from commit one"/>
          <p:cNvSpPr txBox="1"/>
          <p:nvPr/>
        </p:nvSpPr>
        <p:spPr>
          <a:xfrm>
            <a:off x="7137400" y="9093199"/>
            <a:ext cx="3327400" cy="4572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50800" tIns="50800" rIns="50800" bIns="50800" anchor="ctr">
            <a:spAutoFit/>
          </a:bodyPr>
          <a:lstStyle>
            <a:lvl1pPr>
              <a:defRPr sz="2200">
                <a:solidFill>
                  <a:srgbClr val="5D4E61"/>
                </a:solidFill>
                <a:latin typeface="Geist"/>
                <a:ea typeface="Geist"/>
                <a:cs typeface="Geist"/>
                <a:sym typeface="Geist"/>
              </a:defRPr>
            </a:lvl1pPr>
          </a:lstStyle>
          <a:p>
            <a:pPr/>
            <a:r>
              <a:t>ACF from commit one</a:t>
            </a:r>
          </a:p>
        </p:txBody>
      </p:sp>
      <p:sp>
        <p:nvSpPr>
          <p:cNvPr id="292" name="WordPress 5.0"/>
          <p:cNvSpPr txBox="1"/>
          <p:nvPr/>
        </p:nvSpPr>
        <p:spPr>
          <a:xfrm>
            <a:off x="8915400" y="6286500"/>
            <a:ext cx="3327400" cy="4953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50800" tIns="50800" rIns="50800" bIns="50800" anchor="ctr">
            <a:spAutoFit/>
          </a:bodyPr>
          <a:lstStyle>
            <a:lvl1pPr>
              <a:defRPr sz="2400">
                <a:solidFill>
                  <a:srgbClr val="220D44"/>
                </a:solidFill>
                <a:latin typeface="Geist SemiBold"/>
                <a:ea typeface="Geist SemiBold"/>
                <a:cs typeface="Geist SemiBold"/>
                <a:sym typeface="Geist SemiBold"/>
              </a:defRPr>
            </a:lvl1pPr>
          </a:lstStyle>
          <a:p>
            <a:pPr/>
            <a:r>
              <a:t>WordPress 5.0</a:t>
            </a:r>
          </a:p>
        </p:txBody>
      </p:sp>
      <p:sp>
        <p:nvSpPr>
          <p:cNvPr id="293" name="Gutenberg and React"/>
          <p:cNvSpPr txBox="1"/>
          <p:nvPr/>
        </p:nvSpPr>
        <p:spPr>
          <a:xfrm>
            <a:off x="8915400" y="6705599"/>
            <a:ext cx="3327400" cy="4572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50800" tIns="50800" rIns="50800" bIns="50800" anchor="ctr">
            <a:spAutoFit/>
          </a:bodyPr>
          <a:lstStyle>
            <a:lvl1pPr>
              <a:defRPr sz="2200">
                <a:solidFill>
                  <a:srgbClr val="5D4E61"/>
                </a:solidFill>
                <a:latin typeface="Geist"/>
                <a:ea typeface="Geist"/>
                <a:cs typeface="Geist"/>
                <a:sym typeface="Geist"/>
              </a:defRPr>
            </a:lvl1pPr>
          </a:lstStyle>
          <a:p>
            <a:pPr/>
            <a:r>
              <a:t>Gutenberg and React</a:t>
            </a:r>
          </a:p>
        </p:txBody>
      </p:sp>
      <p:sp>
        <p:nvSpPr>
          <p:cNvPr id="294" name="ACF Blocks"/>
          <p:cNvSpPr txBox="1"/>
          <p:nvPr/>
        </p:nvSpPr>
        <p:spPr>
          <a:xfrm>
            <a:off x="10693400" y="8674100"/>
            <a:ext cx="3327400" cy="4953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50800" tIns="50800" rIns="50800" bIns="50800" anchor="ctr">
            <a:spAutoFit/>
          </a:bodyPr>
          <a:lstStyle>
            <a:lvl1pPr>
              <a:defRPr sz="2400">
                <a:solidFill>
                  <a:srgbClr val="220D44"/>
                </a:solidFill>
                <a:latin typeface="Geist SemiBold"/>
                <a:ea typeface="Geist SemiBold"/>
                <a:cs typeface="Geist SemiBold"/>
                <a:sym typeface="Geist SemiBold"/>
              </a:defRPr>
            </a:lvl1pPr>
          </a:lstStyle>
          <a:p>
            <a:pPr/>
            <a:r>
              <a:t>ACF Blocks</a:t>
            </a:r>
          </a:p>
        </p:txBody>
      </p:sp>
      <p:sp>
        <p:nvSpPr>
          <p:cNvPr id="295" name="fields inside blocks"/>
          <p:cNvSpPr txBox="1"/>
          <p:nvPr/>
        </p:nvSpPr>
        <p:spPr>
          <a:xfrm>
            <a:off x="10693400" y="9093199"/>
            <a:ext cx="3327400" cy="4572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50800" tIns="50800" rIns="50800" bIns="50800" anchor="ctr">
            <a:spAutoFit/>
          </a:bodyPr>
          <a:lstStyle>
            <a:lvl1pPr>
              <a:defRPr sz="2200">
                <a:solidFill>
                  <a:srgbClr val="5D4E61"/>
                </a:solidFill>
                <a:latin typeface="Geist"/>
                <a:ea typeface="Geist"/>
                <a:cs typeface="Geist"/>
                <a:sym typeface="Geist"/>
              </a:defRPr>
            </a:lvl1pPr>
          </a:lstStyle>
          <a:p>
            <a:pPr/>
            <a:r>
              <a:t>fields inside blocks</a:t>
            </a:r>
          </a:p>
        </p:txBody>
      </p:sp>
      <p:sp>
        <p:nvSpPr>
          <p:cNvPr id="296" name="WordPress 5.8"/>
          <p:cNvSpPr txBox="1"/>
          <p:nvPr/>
        </p:nvSpPr>
        <p:spPr>
          <a:xfrm>
            <a:off x="12471400" y="6286500"/>
            <a:ext cx="3327400" cy="4953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50800" tIns="50800" rIns="50800" bIns="50800" anchor="ctr">
            <a:spAutoFit/>
          </a:bodyPr>
          <a:lstStyle>
            <a:lvl1pPr>
              <a:defRPr sz="2400">
                <a:solidFill>
                  <a:srgbClr val="220D44"/>
                </a:solidFill>
                <a:latin typeface="Geist SemiBold"/>
                <a:ea typeface="Geist SemiBold"/>
                <a:cs typeface="Geist SemiBold"/>
                <a:sym typeface="Geist SemiBold"/>
              </a:defRPr>
            </a:lvl1pPr>
          </a:lstStyle>
          <a:p>
            <a:pPr/>
            <a:r>
              <a:t>WordPress 5.8</a:t>
            </a:r>
          </a:p>
        </p:txBody>
      </p:sp>
      <p:sp>
        <p:nvSpPr>
          <p:cNvPr id="297" name="theme.json, block.json"/>
          <p:cNvSpPr txBox="1"/>
          <p:nvPr/>
        </p:nvSpPr>
        <p:spPr>
          <a:xfrm>
            <a:off x="12471400" y="6724649"/>
            <a:ext cx="3327400" cy="4191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50800" tIns="50800" rIns="50800" bIns="50800" anchor="ctr">
            <a:spAutoFit/>
          </a:bodyPr>
          <a:lstStyle/>
          <a:p>
            <a:pPr>
              <a:defRPr sz="1900">
                <a:solidFill>
                  <a:srgbClr val="5D4E61"/>
                </a:solidFill>
                <a:latin typeface="Geist"/>
                <a:ea typeface="Geist"/>
                <a:cs typeface="Geist"/>
                <a:sym typeface="Geist"/>
              </a:defRPr>
            </a:pPr>
            <a:r>
              <a:rPr>
                <a:solidFill>
                  <a:srgbClr val="6033A6"/>
                </a:solidFill>
                <a:latin typeface="Geist Mono"/>
                <a:ea typeface="Geist Mono"/>
                <a:cs typeface="Geist Mono"/>
                <a:sym typeface="Geist Mono"/>
              </a:rPr>
              <a:t>theme.json</a:t>
            </a:r>
            <a:r>
              <a:t>, </a:t>
            </a:r>
            <a:r>
              <a:rPr>
                <a:solidFill>
                  <a:srgbClr val="6033A6"/>
                </a:solidFill>
                <a:latin typeface="Geist Mono"/>
                <a:ea typeface="Geist Mono"/>
                <a:cs typeface="Geist Mono"/>
                <a:sym typeface="Geist Mono"/>
              </a:rPr>
              <a:t>block.json</a:t>
            </a:r>
          </a:p>
        </p:txBody>
      </p:sp>
      <p:sp>
        <p:nvSpPr>
          <p:cNvPr id="298" name="ACF to WP Engine"/>
          <p:cNvSpPr txBox="1"/>
          <p:nvPr/>
        </p:nvSpPr>
        <p:spPr>
          <a:xfrm>
            <a:off x="14249400" y="8674100"/>
            <a:ext cx="3327400" cy="4953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50800" tIns="50800" rIns="50800" bIns="50800" anchor="ctr">
            <a:spAutoFit/>
          </a:bodyPr>
          <a:lstStyle>
            <a:lvl1pPr>
              <a:defRPr sz="2400">
                <a:solidFill>
                  <a:srgbClr val="220D44"/>
                </a:solidFill>
                <a:latin typeface="Geist SemiBold"/>
                <a:ea typeface="Geist SemiBold"/>
                <a:cs typeface="Geist SemiBold"/>
                <a:sym typeface="Geist SemiBold"/>
              </a:defRPr>
            </a:lvl1pPr>
          </a:lstStyle>
          <a:p>
            <a:pPr/>
            <a:r>
              <a:t>ACF to WP Engine</a:t>
            </a:r>
          </a:p>
        </p:txBody>
      </p:sp>
      <p:sp>
        <p:nvSpPr>
          <p:cNvPr id="299" name="via Delicious Brains"/>
          <p:cNvSpPr txBox="1"/>
          <p:nvPr/>
        </p:nvSpPr>
        <p:spPr>
          <a:xfrm>
            <a:off x="14249400" y="9093199"/>
            <a:ext cx="3327400" cy="4572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50800" tIns="50800" rIns="50800" bIns="50800" anchor="ctr">
            <a:spAutoFit/>
          </a:bodyPr>
          <a:lstStyle>
            <a:lvl1pPr>
              <a:defRPr sz="2200">
                <a:solidFill>
                  <a:srgbClr val="5D4E61"/>
                </a:solidFill>
                <a:latin typeface="Geist"/>
                <a:ea typeface="Geist"/>
                <a:cs typeface="Geist"/>
                <a:sym typeface="Geist"/>
              </a:defRPr>
            </a:lvl1pPr>
          </a:lstStyle>
          <a:p>
            <a:pPr/>
            <a:r>
              <a:t>via Delicious Brains</a:t>
            </a:r>
          </a:p>
        </p:txBody>
      </p:sp>
      <p:sp>
        <p:nvSpPr>
          <p:cNvPr id="300" name="ACF is forked"/>
          <p:cNvSpPr txBox="1"/>
          <p:nvPr/>
        </p:nvSpPr>
        <p:spPr>
          <a:xfrm>
            <a:off x="16027400" y="6286500"/>
            <a:ext cx="3327400" cy="4953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50800" tIns="50800" rIns="50800" bIns="50800" anchor="ctr">
            <a:spAutoFit/>
          </a:bodyPr>
          <a:lstStyle>
            <a:lvl1pPr>
              <a:defRPr sz="2400">
                <a:solidFill>
                  <a:srgbClr val="220D44"/>
                </a:solidFill>
                <a:latin typeface="Geist SemiBold"/>
                <a:ea typeface="Geist SemiBold"/>
                <a:cs typeface="Geist SemiBold"/>
                <a:sym typeface="Geist SemiBold"/>
              </a:defRPr>
            </a:lvl1pPr>
          </a:lstStyle>
          <a:p>
            <a:pPr/>
            <a:r>
              <a:t>ACF is forked</a:t>
            </a:r>
          </a:p>
        </p:txBody>
      </p:sp>
      <p:sp>
        <p:nvSpPr>
          <p:cNvPr id="301" name="Bindings land in 6.5"/>
          <p:cNvSpPr txBox="1"/>
          <p:nvPr/>
        </p:nvSpPr>
        <p:spPr>
          <a:xfrm>
            <a:off x="16027400" y="6705599"/>
            <a:ext cx="3327400" cy="4572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50800" tIns="50800" rIns="50800" bIns="50800" anchor="ctr">
            <a:spAutoFit/>
          </a:bodyPr>
          <a:lstStyle>
            <a:lvl1pPr>
              <a:defRPr sz="2200">
                <a:solidFill>
                  <a:srgbClr val="5D4E61"/>
                </a:solidFill>
                <a:latin typeface="Geist"/>
                <a:ea typeface="Geist"/>
                <a:cs typeface="Geist"/>
                <a:sym typeface="Geist"/>
              </a:defRPr>
            </a:lvl1pPr>
          </a:lstStyle>
          <a:p>
            <a:pPr/>
            <a:r>
              <a:t>Bindings land in 6.5</a:t>
            </a:r>
          </a:p>
        </p:txBody>
      </p:sp>
      <p:sp>
        <p:nvSpPr>
          <p:cNvPr id="302" name="WordPress 6.9"/>
          <p:cNvSpPr txBox="1"/>
          <p:nvPr/>
        </p:nvSpPr>
        <p:spPr>
          <a:xfrm>
            <a:off x="17805400" y="8674100"/>
            <a:ext cx="3327400" cy="4953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50800" tIns="50800" rIns="50800" bIns="50800" anchor="ctr">
            <a:spAutoFit/>
          </a:bodyPr>
          <a:lstStyle>
            <a:lvl1pPr>
              <a:defRPr sz="2400">
                <a:solidFill>
                  <a:srgbClr val="220D44"/>
                </a:solidFill>
                <a:latin typeface="Geist SemiBold"/>
                <a:ea typeface="Geist SemiBold"/>
                <a:cs typeface="Geist SemiBold"/>
                <a:sym typeface="Geist SemiBold"/>
              </a:defRPr>
            </a:lvl1pPr>
          </a:lstStyle>
          <a:p>
            <a:pPr/>
            <a:r>
              <a:t>WordPress 6.9</a:t>
            </a:r>
          </a:p>
        </p:txBody>
      </p:sp>
      <p:sp>
        <p:nvSpPr>
          <p:cNvPr id="303" name="Native blocks at Dude"/>
          <p:cNvSpPr txBox="1"/>
          <p:nvPr/>
        </p:nvSpPr>
        <p:spPr>
          <a:xfrm>
            <a:off x="17805400" y="9093199"/>
            <a:ext cx="3009682" cy="4572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50800" tIns="50800" rIns="50800" bIns="50800" anchor="ctr">
            <a:spAutoFit/>
          </a:bodyPr>
          <a:lstStyle>
            <a:lvl1pPr>
              <a:defRPr sz="2200">
                <a:solidFill>
                  <a:srgbClr val="5D4E61"/>
                </a:solidFill>
                <a:latin typeface="Geist"/>
                <a:ea typeface="Geist"/>
                <a:cs typeface="Geist"/>
                <a:sym typeface="Geist"/>
              </a:defRPr>
            </a:lvl1pPr>
          </a:lstStyle>
          <a:p>
            <a:pPr/>
            <a:r>
              <a:t>Native blocks at Dude</a:t>
            </a:r>
          </a:p>
        </p:txBody>
      </p:sp>
      <p:sp>
        <p:nvSpPr>
          <p:cNvPr id="304" name="WordPress 7 -&gt;"/>
          <p:cNvSpPr txBox="1"/>
          <p:nvPr/>
        </p:nvSpPr>
        <p:spPr>
          <a:xfrm>
            <a:off x="19583400" y="6286500"/>
            <a:ext cx="3327400" cy="4953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50800" tIns="50800" rIns="50800" bIns="50800" anchor="ctr">
            <a:spAutoFit/>
          </a:bodyPr>
          <a:lstStyle>
            <a:lvl1pPr>
              <a:defRPr sz="2400">
                <a:solidFill>
                  <a:srgbClr val="220D44"/>
                </a:solidFill>
                <a:latin typeface="Geist SemiBold"/>
                <a:ea typeface="Geist SemiBold"/>
                <a:cs typeface="Geist SemiBold"/>
                <a:sym typeface="Geist SemiBold"/>
              </a:defRPr>
            </a:lvl1pPr>
          </a:lstStyle>
          <a:p>
            <a:pPr/>
            <a:r>
              <a:t>WordPress 7 -&gt;</a:t>
            </a:r>
          </a:p>
        </p:txBody>
      </p:sp>
      <p:sp>
        <p:nvSpPr>
          <p:cNvPr id="305" name="Going ACF-free"/>
          <p:cNvSpPr txBox="1"/>
          <p:nvPr/>
        </p:nvSpPr>
        <p:spPr>
          <a:xfrm>
            <a:off x="19583400" y="6705599"/>
            <a:ext cx="3327400" cy="4572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50800" tIns="50800" rIns="50800" bIns="50800" anchor="ctr">
            <a:spAutoFit/>
          </a:bodyPr>
          <a:lstStyle>
            <a:lvl1pPr>
              <a:defRPr sz="2200">
                <a:solidFill>
                  <a:srgbClr val="5D4E61"/>
                </a:solidFill>
                <a:latin typeface="Geist"/>
                <a:ea typeface="Geist"/>
                <a:cs typeface="Geist"/>
                <a:sym typeface="Geist"/>
              </a:defRPr>
            </a:lvl1pPr>
          </a:lstStyle>
          <a:p>
            <a:pPr/>
            <a:r>
              <a:t>Going ACF-free</a:t>
            </a:r>
          </a:p>
        </p:txBody>
      </p:sp>
      <p:pic>
        <p:nvPicPr>
          <p:cNvPr id="306" name="prog-10.png" descr="prog-10.png"/>
          <p:cNvPicPr>
            <a:picLocks noChangeAspect="1"/>
          </p:cNvPicPr>
          <p:nvPr/>
        </p:nvPicPr>
        <p:blipFill>
          <a:blip r:embed="rId5">
            <a:extLst/>
          </a:blip>
          <a:stretch>
            <a:fillRect/>
          </a:stretch>
        </p:blipFill>
        <p:spPr>
          <a:xfrm>
            <a:off x="17170400" y="12395200"/>
            <a:ext cx="5842000" cy="406400"/>
          </a:xfrm>
          <a:prstGeom prst="rect">
            <a:avLst/>
          </a:prstGeom>
          <a:ln w="12700">
            <a:miter lim="400000"/>
          </a:ln>
        </p:spPr>
      </p:pic>
    </p:spTree>
  </p:cSld>
  <p:clrMapOvr>
    <a:masterClrMapping/>
  </p:clrMapOvr>
  <p:transition xmlns:p14="http://schemas.microsoft.com/office/powerpoint/2010/main" spd="med" advClick="1"/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10" name="bg.png" descr="bg.png"/>
          <p:cNvPicPr>
            <a:picLocks noChangeAspect="1"/>
          </p:cNvPicPr>
          <p:nvPr/>
        </p:nvPicPr>
        <p:blipFill>
          <a:blip r:embed="rId3">
            <a:extLst/>
          </a:blip>
          <a:stretch>
            <a:fillRect/>
          </a:stretch>
        </p:blipFill>
        <p:spPr>
          <a:xfrm>
            <a:off x="0" y="0"/>
            <a:ext cx="24384000" cy="13716000"/>
          </a:xfrm>
          <a:prstGeom prst="rect">
            <a:avLst/>
          </a:prstGeom>
          <a:ln w="12700">
            <a:miter lim="400000"/>
          </a:ln>
        </p:spPr>
      </p:pic>
      <p:sp>
        <p:nvSpPr>
          <p:cNvPr id="311" name="Advanced"/>
          <p:cNvSpPr txBox="1"/>
          <p:nvPr/>
        </p:nvSpPr>
        <p:spPr>
          <a:xfrm>
            <a:off x="1292120" y="4938419"/>
            <a:ext cx="22707601" cy="15621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50800" tIns="50800" rIns="50800" bIns="50800" anchor="ctr">
            <a:spAutoFit/>
          </a:bodyPr>
          <a:lstStyle>
            <a:lvl1pPr>
              <a:defRPr sz="9200">
                <a:solidFill>
                  <a:srgbClr val="220D44"/>
                </a:solidFill>
                <a:latin typeface="Unbounded ExtraBold"/>
                <a:ea typeface="Unbounded ExtraBold"/>
                <a:cs typeface="Unbounded ExtraBold"/>
                <a:sym typeface="Unbounded ExtraBold"/>
              </a:defRPr>
            </a:lvl1pPr>
          </a:lstStyle>
          <a:p>
            <a:pPr/>
            <a:r>
              <a:t>Advanced</a:t>
            </a:r>
          </a:p>
        </p:txBody>
      </p:sp>
      <p:sp>
        <p:nvSpPr>
          <p:cNvPr id="312" name="What is a field, anyway?"/>
          <p:cNvSpPr txBox="1"/>
          <p:nvPr/>
        </p:nvSpPr>
        <p:spPr>
          <a:xfrm>
            <a:off x="1320800" y="6959599"/>
            <a:ext cx="19050000" cy="6985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50800" tIns="50800" rIns="50800" bIns="50800" anchor="ctr">
            <a:spAutoFit/>
          </a:bodyPr>
          <a:lstStyle>
            <a:lvl1pPr>
              <a:defRPr sz="3600">
                <a:solidFill>
                  <a:srgbClr val="4B3051"/>
                </a:solidFill>
                <a:latin typeface="Geist"/>
                <a:ea typeface="Geist"/>
                <a:cs typeface="Geist"/>
                <a:sym typeface="Geist"/>
              </a:defRPr>
            </a:lvl1pPr>
          </a:lstStyle>
          <a:p>
            <a:pPr/>
            <a:r>
              <a:t>What is a field, anyway?</a:t>
            </a:r>
          </a:p>
        </p:txBody>
      </p:sp>
      <p:sp>
        <p:nvSpPr>
          <p:cNvPr id="313" name="We are talking about fields, right?"/>
          <p:cNvSpPr txBox="1"/>
          <p:nvPr/>
        </p:nvSpPr>
        <p:spPr>
          <a:xfrm>
            <a:off x="1320800" y="7619999"/>
            <a:ext cx="19050000" cy="6985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50800" tIns="50800" rIns="50800" bIns="50800" anchor="ctr">
            <a:spAutoFit/>
          </a:bodyPr>
          <a:lstStyle>
            <a:lvl1pPr>
              <a:defRPr sz="3600">
                <a:solidFill>
                  <a:srgbClr val="4B3051"/>
                </a:solidFill>
                <a:latin typeface="Geist"/>
                <a:ea typeface="Geist"/>
                <a:cs typeface="Geist"/>
                <a:sym typeface="Geist"/>
              </a:defRPr>
            </a:lvl1pPr>
          </a:lstStyle>
          <a:p>
            <a:pPr/>
            <a:r>
              <a:t>We are talking about fields, right?</a:t>
            </a:r>
          </a:p>
        </p:txBody>
      </p:sp>
      <p:sp>
        <p:nvSpPr>
          <p:cNvPr id="314" name="Going ACF-free"/>
          <p:cNvSpPr txBox="1"/>
          <p:nvPr/>
        </p:nvSpPr>
        <p:spPr>
          <a:xfrm>
            <a:off x="1320800" y="12344400"/>
            <a:ext cx="2451100" cy="4953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50800" tIns="50800" rIns="50800" bIns="50800" anchor="ctr">
            <a:spAutoFit/>
          </a:bodyPr>
          <a:lstStyle>
            <a:lvl1pPr>
              <a:defRPr sz="2400">
                <a:solidFill>
                  <a:srgbClr val="5D4E61"/>
                </a:solidFill>
                <a:latin typeface="Geist"/>
                <a:ea typeface="Geist"/>
                <a:cs typeface="Geist"/>
                <a:sym typeface="Geist"/>
              </a:defRPr>
            </a:lvl1pPr>
          </a:lstStyle>
          <a:p>
            <a:pPr/>
            <a:r>
              <a:t>Going ACF-free</a:t>
            </a:r>
          </a:p>
        </p:txBody>
      </p:sp>
      <p:pic>
        <p:nvPicPr>
          <p:cNvPr id="315" name="scratch.png" descr="scratch.png"/>
          <p:cNvPicPr>
            <a:picLocks noChangeAspect="1"/>
          </p:cNvPicPr>
          <p:nvPr/>
        </p:nvPicPr>
        <p:blipFill>
          <a:blip r:embed="rId4">
            <a:extLst/>
          </a:blip>
          <a:stretch>
            <a:fillRect/>
          </a:stretch>
        </p:blipFill>
        <p:spPr>
          <a:xfrm>
            <a:off x="707920" y="4836819"/>
            <a:ext cx="8890001" cy="1778001"/>
          </a:xfrm>
          <a:prstGeom prst="rect">
            <a:avLst/>
          </a:prstGeom>
          <a:ln w="12700">
            <a:miter lim="400000"/>
          </a:ln>
        </p:spPr>
      </p:pic>
      <p:sp>
        <p:nvSpPr>
          <p:cNvPr id="316" name="Custom fields"/>
          <p:cNvSpPr txBox="1"/>
          <p:nvPr/>
        </p:nvSpPr>
        <p:spPr>
          <a:xfrm>
            <a:off x="9359331" y="4970169"/>
            <a:ext cx="10769185" cy="14986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50800" tIns="50800" rIns="50800" bIns="50800" anchor="ctr">
            <a:spAutoFit/>
          </a:bodyPr>
          <a:lstStyle>
            <a:lvl1pPr>
              <a:defRPr sz="8800">
                <a:solidFill>
                  <a:srgbClr val="220D44"/>
                </a:solidFill>
                <a:latin typeface="Unbounded ExtraBold"/>
                <a:ea typeface="Unbounded ExtraBold"/>
                <a:cs typeface="Unbounded ExtraBold"/>
                <a:sym typeface="Unbounded ExtraBold"/>
              </a:defRPr>
            </a:lvl1pPr>
          </a:lstStyle>
          <a:p>
            <a:pPr/>
            <a:r>
              <a:t>Custom fields</a:t>
            </a:r>
          </a:p>
        </p:txBody>
      </p:sp>
      <p:sp>
        <p:nvSpPr>
          <p:cNvPr id="317" name="First there were"/>
          <p:cNvSpPr txBox="1"/>
          <p:nvPr/>
        </p:nvSpPr>
        <p:spPr>
          <a:xfrm>
            <a:off x="1295400" y="3175000"/>
            <a:ext cx="12014200" cy="19685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50800" tIns="50800" rIns="50800" bIns="50800" anchor="ctr">
            <a:spAutoFit/>
          </a:bodyPr>
          <a:lstStyle/>
          <a:p>
            <a:pPr>
              <a:defRPr sz="8800">
                <a:solidFill>
                  <a:srgbClr val="220D44"/>
                </a:solidFill>
                <a:latin typeface="Unbounded ExtraBold"/>
                <a:ea typeface="Unbounded ExtraBold"/>
                <a:cs typeface="Unbounded ExtraBold"/>
                <a:sym typeface="Unbounded ExtraBold"/>
              </a:defRPr>
            </a:pPr>
            <a:r>
              <a:t>First </a:t>
            </a:r>
            <a:r>
              <a:rPr i="1" sz="11300">
                <a:solidFill>
                  <a:srgbClr val="6033A6"/>
                </a:solidFill>
                <a:latin typeface="Instrument Serif"/>
                <a:ea typeface="Instrument Serif"/>
                <a:cs typeface="Instrument Serif"/>
                <a:sym typeface="Instrument Serif"/>
              </a:rPr>
              <a:t>there were</a:t>
            </a:r>
          </a:p>
        </p:txBody>
      </p:sp>
      <p:pic>
        <p:nvPicPr>
          <p:cNvPr id="318" name="prog-11.png" descr="prog-11.png"/>
          <p:cNvPicPr>
            <a:picLocks noChangeAspect="1"/>
          </p:cNvPicPr>
          <p:nvPr/>
        </p:nvPicPr>
        <p:blipFill>
          <a:blip r:embed="rId5">
            <a:extLst/>
          </a:blip>
          <a:stretch>
            <a:fillRect/>
          </a:stretch>
        </p:blipFill>
        <p:spPr>
          <a:xfrm>
            <a:off x="17170400" y="12395200"/>
            <a:ext cx="5842000" cy="406400"/>
          </a:xfrm>
          <a:prstGeom prst="rect">
            <a:avLst/>
          </a:prstGeom>
          <a:ln w="12700">
            <a:miter lim="400000"/>
          </a:ln>
        </p:spPr>
      </p:pic>
    </p:spTree>
  </p:cSld>
  <p:clrMapOvr>
    <a:masterClrMapping/>
  </p:clrMapOvr>
  <p:transition xmlns:p14="http://schemas.microsoft.com/office/powerpoint/2010/main" spd="med" advClick="1"/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22" name="bg.png" descr="bg.png"/>
          <p:cNvPicPr>
            <a:picLocks noChangeAspect="1"/>
          </p:cNvPicPr>
          <p:nvPr/>
        </p:nvPicPr>
        <p:blipFill>
          <a:blip r:embed="rId3">
            <a:extLst/>
          </a:blip>
          <a:stretch>
            <a:fillRect/>
          </a:stretch>
        </p:blipFill>
        <p:spPr>
          <a:xfrm>
            <a:off x="0" y="0"/>
            <a:ext cx="24384000" cy="13716000"/>
          </a:xfrm>
          <a:prstGeom prst="rect">
            <a:avLst/>
          </a:prstGeom>
          <a:ln w="12700">
            <a:miter lim="400000"/>
          </a:ln>
        </p:spPr>
      </p:pic>
      <p:sp>
        <p:nvSpPr>
          <p:cNvPr id="323" name="No dependencies?"/>
          <p:cNvSpPr txBox="1"/>
          <p:nvPr/>
        </p:nvSpPr>
        <p:spPr>
          <a:xfrm>
            <a:off x="1308100" y="2489200"/>
            <a:ext cx="22707600" cy="13081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50800" tIns="50800" rIns="50800" bIns="50800" anchor="ctr">
            <a:spAutoFit/>
          </a:bodyPr>
          <a:lstStyle>
            <a:lvl1pPr>
              <a:defRPr sz="7600">
                <a:solidFill>
                  <a:srgbClr val="220D44"/>
                </a:solidFill>
                <a:latin typeface="Unbounded ExtraBold"/>
                <a:ea typeface="Unbounded ExtraBold"/>
                <a:cs typeface="Unbounded ExtraBold"/>
                <a:sym typeface="Unbounded ExtraBold"/>
              </a:defRPr>
            </a:lvl1pPr>
          </a:lstStyle>
          <a:p>
            <a:pPr/>
            <a:r>
              <a:t>No dependencies?</a:t>
            </a:r>
          </a:p>
        </p:txBody>
      </p:sp>
      <p:sp>
        <p:nvSpPr>
          <p:cNvPr id="324" name="—"/>
          <p:cNvSpPr txBox="1"/>
          <p:nvPr/>
        </p:nvSpPr>
        <p:spPr>
          <a:xfrm>
            <a:off x="1320800" y="5842000"/>
            <a:ext cx="990600" cy="7239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50800" tIns="50800" rIns="50800" bIns="50800" anchor="ctr">
            <a:spAutoFit/>
          </a:bodyPr>
          <a:lstStyle>
            <a:lvl1pPr>
              <a:defRPr i="1" sz="3800">
                <a:solidFill>
                  <a:srgbClr val="6033A6"/>
                </a:solidFill>
                <a:latin typeface="Geist"/>
                <a:ea typeface="Geist"/>
                <a:cs typeface="Geist"/>
                <a:sym typeface="Geist"/>
              </a:defRPr>
            </a:lvl1pPr>
          </a:lstStyle>
          <a:p>
            <a:pPr/>
            <a:r>
              <a:t>—</a:t>
            </a:r>
          </a:p>
        </p:txBody>
      </p:sp>
      <p:sp>
        <p:nvSpPr>
          <p:cNvPr id="325" name="In the early days, some of us used plain meta fields, and it was enough."/>
          <p:cNvSpPr txBox="1"/>
          <p:nvPr/>
        </p:nvSpPr>
        <p:spPr>
          <a:xfrm>
            <a:off x="2082800" y="5841999"/>
            <a:ext cx="9621818" cy="128397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50800" tIns="50800" rIns="50800" bIns="50800" anchor="ctr">
            <a:spAutoFit/>
          </a:bodyPr>
          <a:lstStyle>
            <a:lvl1pPr>
              <a:defRPr sz="3800">
                <a:solidFill>
                  <a:srgbClr val="3D2644"/>
                </a:solidFill>
                <a:latin typeface="Geist"/>
                <a:ea typeface="Geist"/>
                <a:cs typeface="Geist"/>
                <a:sym typeface="Geist"/>
              </a:defRPr>
            </a:lvl1pPr>
          </a:lstStyle>
          <a:p>
            <a:pPr/>
            <a:r>
              <a:t>In the early days, some of us used plain meta fields, and it was enough.</a:t>
            </a:r>
          </a:p>
        </p:txBody>
      </p:sp>
      <p:sp>
        <p:nvSpPr>
          <p:cNvPr id="326" name="—"/>
          <p:cNvSpPr txBox="1"/>
          <p:nvPr/>
        </p:nvSpPr>
        <p:spPr>
          <a:xfrm>
            <a:off x="1320800" y="7531100"/>
            <a:ext cx="990600" cy="7239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50800" tIns="50800" rIns="50800" bIns="50800" anchor="ctr">
            <a:spAutoFit/>
          </a:bodyPr>
          <a:lstStyle>
            <a:lvl1pPr>
              <a:defRPr i="1" sz="3800">
                <a:solidFill>
                  <a:srgbClr val="6033A6"/>
                </a:solidFill>
                <a:latin typeface="Geist"/>
                <a:ea typeface="Geist"/>
                <a:cs typeface="Geist"/>
                <a:sym typeface="Geist"/>
              </a:defRPr>
            </a:lvl1pPr>
          </a:lstStyle>
          <a:p>
            <a:pPr/>
            <a:r>
              <a:t>—</a:t>
            </a:r>
          </a:p>
        </p:txBody>
      </p:sp>
      <p:sp>
        <p:nvSpPr>
          <p:cNvPr id="327" name="For a developer, get_post_meta() is fine. It is a knife straight into a row."/>
          <p:cNvSpPr txBox="1"/>
          <p:nvPr/>
        </p:nvSpPr>
        <p:spPr>
          <a:xfrm>
            <a:off x="2082800" y="7531099"/>
            <a:ext cx="9225995" cy="128397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50800" tIns="50800" rIns="50800" bIns="50800" anchor="ctr">
            <a:spAutoFit/>
          </a:bodyPr>
          <a:lstStyle/>
          <a:p>
            <a:pPr>
              <a:defRPr sz="3800">
                <a:solidFill>
                  <a:srgbClr val="3D2644"/>
                </a:solidFill>
                <a:latin typeface="Geist"/>
                <a:ea typeface="Geist"/>
                <a:cs typeface="Geist"/>
                <a:sym typeface="Geist"/>
              </a:defRPr>
            </a:pPr>
            <a:r>
              <a:t>For a developer, </a:t>
            </a:r>
            <a:r>
              <a:rPr sz="3400">
                <a:solidFill>
                  <a:srgbClr val="6033A6"/>
                </a:solidFill>
                <a:latin typeface="Geist Mono"/>
                <a:ea typeface="Geist Mono"/>
                <a:cs typeface="Geist Mono"/>
                <a:sym typeface="Geist Mono"/>
              </a:rPr>
              <a:t>get_post_meta()</a:t>
            </a:r>
            <a:r>
              <a:t> is fine. It is a knife straight into a row.</a:t>
            </a:r>
          </a:p>
        </p:txBody>
      </p:sp>
      <p:sp>
        <p:nvSpPr>
          <p:cNvPr id="328" name="—"/>
          <p:cNvSpPr txBox="1"/>
          <p:nvPr/>
        </p:nvSpPr>
        <p:spPr>
          <a:xfrm>
            <a:off x="1320800" y="9220200"/>
            <a:ext cx="990600" cy="7239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50800" tIns="50800" rIns="50800" bIns="50800" anchor="ctr">
            <a:spAutoFit/>
          </a:bodyPr>
          <a:lstStyle>
            <a:lvl1pPr>
              <a:defRPr i="1" sz="3800">
                <a:solidFill>
                  <a:srgbClr val="6033A6"/>
                </a:solidFill>
                <a:latin typeface="Geist"/>
                <a:ea typeface="Geist"/>
                <a:cs typeface="Geist"/>
                <a:sym typeface="Geist"/>
              </a:defRPr>
            </a:lvl1pPr>
          </a:lstStyle>
          <a:p>
            <a:pPr/>
            <a:r>
              <a:t>—</a:t>
            </a:r>
          </a:p>
        </p:txBody>
      </p:sp>
      <p:sp>
        <p:nvSpPr>
          <p:cNvPr id="329" name="Once clients edit content themselves, they need a proper editing interface. Also, text fields are way too limited."/>
          <p:cNvSpPr txBox="1"/>
          <p:nvPr/>
        </p:nvSpPr>
        <p:spPr>
          <a:xfrm>
            <a:off x="2082800" y="9220199"/>
            <a:ext cx="8652888" cy="184404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50800" tIns="50800" rIns="50800" bIns="50800" anchor="ctr">
            <a:spAutoFit/>
          </a:bodyPr>
          <a:lstStyle>
            <a:lvl1pPr>
              <a:defRPr sz="3800">
                <a:solidFill>
                  <a:srgbClr val="3D2644"/>
                </a:solidFill>
                <a:latin typeface="Geist"/>
                <a:ea typeface="Geist"/>
                <a:cs typeface="Geist"/>
                <a:sym typeface="Geist"/>
              </a:defRPr>
            </a:lvl1pPr>
          </a:lstStyle>
          <a:p>
            <a:pPr/>
            <a:r>
              <a:t>Once clients edit content themselves, they need a proper editing interface. Also, text fields are way too limited.</a:t>
            </a:r>
          </a:p>
        </p:txBody>
      </p:sp>
      <p:sp>
        <p:nvSpPr>
          <p:cNvPr id="330" name="Going ACF-free"/>
          <p:cNvSpPr txBox="1"/>
          <p:nvPr/>
        </p:nvSpPr>
        <p:spPr>
          <a:xfrm>
            <a:off x="1320800" y="12344400"/>
            <a:ext cx="2451100" cy="4953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50800" tIns="50800" rIns="50800" bIns="50800" anchor="ctr">
            <a:spAutoFit/>
          </a:bodyPr>
          <a:lstStyle>
            <a:lvl1pPr>
              <a:defRPr sz="2400">
                <a:solidFill>
                  <a:srgbClr val="5D4E61"/>
                </a:solidFill>
                <a:latin typeface="Geist"/>
                <a:ea typeface="Geist"/>
                <a:cs typeface="Geist"/>
                <a:sym typeface="Geist"/>
              </a:defRPr>
            </a:lvl1pPr>
          </a:lstStyle>
          <a:p>
            <a:pPr/>
            <a:r>
              <a:t>Going ACF-free</a:t>
            </a:r>
          </a:p>
        </p:txBody>
      </p:sp>
      <p:pic>
        <p:nvPicPr>
          <p:cNvPr id="331" name="custom-fields.png" descr="custom-fields.png"/>
          <p:cNvPicPr>
            <a:picLocks noChangeAspect="1"/>
          </p:cNvPicPr>
          <p:nvPr/>
        </p:nvPicPr>
        <p:blipFill>
          <a:blip r:embed="rId4">
            <a:extLst/>
          </a:blip>
          <a:stretch>
            <a:fillRect/>
          </a:stretch>
        </p:blipFill>
        <p:spPr>
          <a:xfrm>
            <a:off x="12090400" y="5918200"/>
            <a:ext cx="10929526" cy="4229100"/>
          </a:xfrm>
          <a:prstGeom prst="rect">
            <a:avLst/>
          </a:prstGeom>
          <a:ln w="12700">
            <a:miter lim="400000"/>
          </a:ln>
        </p:spPr>
      </p:pic>
      <p:sp>
        <p:nvSpPr>
          <p:cNvPr id="332" name="Let’s knife the database!"/>
          <p:cNvSpPr txBox="1"/>
          <p:nvPr/>
        </p:nvSpPr>
        <p:spPr>
          <a:xfrm>
            <a:off x="1308100" y="3555999"/>
            <a:ext cx="16510000" cy="17145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50800" tIns="50800" rIns="50800" bIns="50800" anchor="ctr">
            <a:spAutoFit/>
          </a:bodyPr>
          <a:lstStyle>
            <a:lvl1pPr>
              <a:defRPr i="1" sz="9800">
                <a:solidFill>
                  <a:srgbClr val="6033A6"/>
                </a:solidFill>
                <a:latin typeface="Instrument Serif"/>
                <a:ea typeface="Instrument Serif"/>
                <a:cs typeface="Instrument Serif"/>
                <a:sym typeface="Instrument Serif"/>
              </a:defRPr>
            </a:lvl1pPr>
          </a:lstStyle>
          <a:p>
            <a:pPr/>
            <a:r>
              <a:t>Let’s knife the database!</a:t>
            </a:r>
          </a:p>
        </p:txBody>
      </p:sp>
      <p:sp>
        <p:nvSpPr>
          <p:cNvPr id="333" name="Let’s go back to"/>
          <p:cNvSpPr txBox="1"/>
          <p:nvPr/>
        </p:nvSpPr>
        <p:spPr>
          <a:xfrm>
            <a:off x="13977619" y="937894"/>
            <a:ext cx="5334001" cy="9144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50800" tIns="50800" rIns="50800" bIns="50800" anchor="ctr">
            <a:spAutoFit/>
          </a:bodyPr>
          <a:lstStyle>
            <a:lvl1pPr>
              <a:defRPr i="1" sz="4900">
                <a:solidFill>
                  <a:srgbClr val="6033A6"/>
                </a:solidFill>
                <a:latin typeface="Instrument Serif"/>
                <a:ea typeface="Instrument Serif"/>
                <a:cs typeface="Instrument Serif"/>
                <a:sym typeface="Instrument Serif"/>
              </a:defRPr>
            </a:lvl1pPr>
          </a:lstStyle>
          <a:p>
            <a:pPr/>
            <a:r>
              <a:t>Let’s go back to</a:t>
            </a:r>
          </a:p>
        </p:txBody>
      </p:sp>
      <p:sp>
        <p:nvSpPr>
          <p:cNvPr id="334" name="prehistoric times…"/>
          <p:cNvSpPr txBox="1"/>
          <p:nvPr/>
        </p:nvSpPr>
        <p:spPr>
          <a:xfrm>
            <a:off x="13977619" y="1598295"/>
            <a:ext cx="5334001" cy="9144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50800" tIns="50800" rIns="50800" bIns="50800" anchor="ctr">
            <a:spAutoFit/>
          </a:bodyPr>
          <a:lstStyle>
            <a:lvl1pPr>
              <a:defRPr i="1" sz="4900">
                <a:solidFill>
                  <a:srgbClr val="6033A6"/>
                </a:solidFill>
                <a:latin typeface="Instrument Serif"/>
                <a:ea typeface="Instrument Serif"/>
                <a:cs typeface="Instrument Serif"/>
                <a:sym typeface="Instrument Serif"/>
              </a:defRPr>
            </a:lvl1pPr>
          </a:lstStyle>
          <a:p>
            <a:pPr/>
            <a:r>
              <a:t>prehistoric times…</a:t>
            </a:r>
          </a:p>
        </p:txBody>
      </p:sp>
      <p:pic>
        <p:nvPicPr>
          <p:cNvPr id="335" name="arrow.png" descr="arrow.png"/>
          <p:cNvPicPr>
            <a:picLocks noChangeAspect="1"/>
          </p:cNvPicPr>
          <p:nvPr/>
        </p:nvPicPr>
        <p:blipFill>
          <a:blip r:embed="rId5">
            <a:extLst/>
          </a:blip>
          <a:stretch>
            <a:fillRect/>
          </a:stretch>
        </p:blipFill>
        <p:spPr>
          <a:xfrm rot="16988635">
            <a:off x="18097935" y="1393913"/>
            <a:ext cx="929326" cy="1323164"/>
          </a:xfrm>
          <a:prstGeom prst="rect">
            <a:avLst/>
          </a:prstGeom>
          <a:ln w="12700">
            <a:miter lim="400000"/>
          </a:ln>
        </p:spPr>
      </p:pic>
      <p:pic>
        <p:nvPicPr>
          <p:cNvPr id="336" name="trex-only.png" descr="trex-only.png"/>
          <p:cNvPicPr>
            <a:picLocks noChangeAspect="1"/>
          </p:cNvPicPr>
          <p:nvPr/>
        </p:nvPicPr>
        <p:blipFill>
          <a:blip r:embed="rId6">
            <a:extLst/>
          </a:blip>
          <a:stretch>
            <a:fillRect/>
          </a:stretch>
        </p:blipFill>
        <p:spPr>
          <a:xfrm>
            <a:off x="18923000" y="1790700"/>
            <a:ext cx="4191000" cy="3556000"/>
          </a:xfrm>
          <a:prstGeom prst="rect">
            <a:avLst/>
          </a:prstGeom>
          <a:ln w="12700">
            <a:miter lim="400000"/>
          </a:ln>
        </p:spPr>
      </p:pic>
      <p:pic>
        <p:nvPicPr>
          <p:cNvPr id="337" name="stamp-best-before.png" descr="stamp-best-before.png"/>
          <p:cNvPicPr>
            <a:picLocks noChangeAspect="1"/>
          </p:cNvPicPr>
          <p:nvPr/>
        </p:nvPicPr>
        <p:blipFill>
          <a:blip r:embed="rId7">
            <a:extLst/>
          </a:blip>
          <a:stretch>
            <a:fillRect/>
          </a:stretch>
        </p:blipFill>
        <p:spPr>
          <a:xfrm>
            <a:off x="14859000" y="7772400"/>
            <a:ext cx="8629650" cy="3835400"/>
          </a:xfrm>
          <a:prstGeom prst="rect">
            <a:avLst/>
          </a:prstGeom>
          <a:ln w="12700">
            <a:miter lim="400000"/>
          </a:ln>
        </p:spPr>
      </p:pic>
      <p:pic>
        <p:nvPicPr>
          <p:cNvPr id="338" name="prog-12.png" descr="prog-12.png"/>
          <p:cNvPicPr>
            <a:picLocks noChangeAspect="1"/>
          </p:cNvPicPr>
          <p:nvPr/>
        </p:nvPicPr>
        <p:blipFill>
          <a:blip r:embed="rId8">
            <a:extLst/>
          </a:blip>
          <a:stretch>
            <a:fillRect/>
          </a:stretch>
        </p:blipFill>
        <p:spPr>
          <a:xfrm>
            <a:off x="17170400" y="12395200"/>
            <a:ext cx="5842000" cy="406400"/>
          </a:xfrm>
          <a:prstGeom prst="rect">
            <a:avLst/>
          </a:prstGeom>
          <a:ln w="12700">
            <a:miter lim="400000"/>
          </a:ln>
        </p:spPr>
      </p:pic>
    </p:spTree>
  </p:cSld>
  <p:clrMapOvr>
    <a:masterClrMapping/>
  </p:clrMapOvr>
  <p:transition xmlns:p14="http://schemas.microsoft.com/office/powerpoint/2010/main" spd="med" advClick="1"/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42" name="bg.png" descr="bg.png"/>
          <p:cNvPicPr>
            <a:picLocks noChangeAspect="1"/>
          </p:cNvPicPr>
          <p:nvPr/>
        </p:nvPicPr>
        <p:blipFill>
          <a:blip r:embed="rId3">
            <a:extLst/>
          </a:blip>
          <a:stretch>
            <a:fillRect/>
          </a:stretch>
        </p:blipFill>
        <p:spPr>
          <a:xfrm>
            <a:off x="0" y="0"/>
            <a:ext cx="24384000" cy="13716000"/>
          </a:xfrm>
          <a:prstGeom prst="rect">
            <a:avLst/>
          </a:prstGeom>
          <a:ln w="12700">
            <a:miter lim="400000"/>
          </a:ln>
        </p:spPr>
      </p:pic>
      <p:sp>
        <p:nvSpPr>
          <p:cNvPr id="343" name="Using (prehistoric) custom fields"/>
          <p:cNvSpPr txBox="1"/>
          <p:nvPr/>
        </p:nvSpPr>
        <p:spPr>
          <a:xfrm>
            <a:off x="1308100" y="2692399"/>
            <a:ext cx="22707600" cy="17145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50800" tIns="50800" rIns="50800" bIns="50800" anchor="ctr">
            <a:spAutoFit/>
          </a:bodyPr>
          <a:lstStyle/>
          <a:p>
            <a:pPr>
              <a:defRPr sz="7600">
                <a:solidFill>
                  <a:srgbClr val="220D44"/>
                </a:solidFill>
                <a:latin typeface="Unbounded ExtraBold"/>
                <a:ea typeface="Unbounded ExtraBold"/>
                <a:cs typeface="Unbounded ExtraBold"/>
                <a:sym typeface="Unbounded ExtraBold"/>
              </a:defRPr>
            </a:pPr>
            <a:r>
              <a:t>Using (prehistoric) </a:t>
            </a:r>
            <a:r>
              <a:rPr i="1" sz="9800">
                <a:solidFill>
                  <a:srgbClr val="6033A6"/>
                </a:solidFill>
                <a:latin typeface="Instrument Serif"/>
                <a:ea typeface="Instrument Serif"/>
                <a:cs typeface="Instrument Serif"/>
                <a:sym typeface="Instrument Serif"/>
              </a:rPr>
              <a:t>custom fields</a:t>
            </a:r>
          </a:p>
        </p:txBody>
      </p:sp>
      <p:sp>
        <p:nvSpPr>
          <p:cNvPr id="344" name="Turn them on"/>
          <p:cNvSpPr txBox="1"/>
          <p:nvPr/>
        </p:nvSpPr>
        <p:spPr>
          <a:xfrm>
            <a:off x="1295400" y="4813299"/>
            <a:ext cx="10744200" cy="7620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50800" tIns="50800" rIns="50800" bIns="50800" anchor="ctr">
            <a:spAutoFit/>
          </a:bodyPr>
          <a:lstStyle>
            <a:lvl1pPr>
              <a:defRPr sz="4200">
                <a:solidFill>
                  <a:srgbClr val="6033A6"/>
                </a:solidFill>
                <a:latin typeface="Unbounded SemiBold"/>
                <a:ea typeface="Unbounded SemiBold"/>
                <a:cs typeface="Unbounded SemiBold"/>
                <a:sym typeface="Unbounded SemiBold"/>
              </a:defRPr>
            </a:lvl1pPr>
          </a:lstStyle>
          <a:p>
            <a:pPr/>
            <a:r>
              <a:t>Turn them on</a:t>
            </a:r>
          </a:p>
        </p:txBody>
      </p:sp>
      <p:sp>
        <p:nvSpPr>
          <p:cNvPr id="345" name="Options (three dots), Preferences, General, Advanced, Custom fields. The editor reloads."/>
          <p:cNvSpPr txBox="1"/>
          <p:nvPr/>
        </p:nvSpPr>
        <p:spPr>
          <a:xfrm>
            <a:off x="1320800" y="5638799"/>
            <a:ext cx="10364867" cy="116332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50800" tIns="50800" rIns="50800" bIns="50800" anchor="ctr">
            <a:spAutoFit/>
          </a:bodyPr>
          <a:lstStyle>
            <a:lvl1pPr>
              <a:defRPr sz="3400">
                <a:solidFill>
                  <a:srgbClr val="3D2644"/>
                </a:solidFill>
                <a:latin typeface="Geist"/>
                <a:ea typeface="Geist"/>
                <a:cs typeface="Geist"/>
                <a:sym typeface="Geist"/>
              </a:defRPr>
            </a:lvl1pPr>
          </a:lstStyle>
          <a:p>
            <a:pPr/>
            <a:r>
              <a:t>Options (three dots), Preferences, General, Advanced, Custom fields. The editor reloads.</a:t>
            </a:r>
          </a:p>
        </p:txBody>
      </p:sp>
      <p:sp>
        <p:nvSpPr>
          <p:cNvPr id="346" name="ACF actually disables them"/>
          <p:cNvSpPr txBox="1"/>
          <p:nvPr/>
        </p:nvSpPr>
        <p:spPr>
          <a:xfrm>
            <a:off x="12801600" y="4813299"/>
            <a:ext cx="10744200" cy="7620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50800" tIns="50800" rIns="50800" bIns="50800" anchor="ctr">
            <a:spAutoFit/>
          </a:bodyPr>
          <a:lstStyle>
            <a:lvl1pPr>
              <a:defRPr sz="4200">
                <a:solidFill>
                  <a:srgbClr val="6033A6"/>
                </a:solidFill>
                <a:latin typeface="Unbounded SemiBold"/>
                <a:ea typeface="Unbounded SemiBold"/>
                <a:cs typeface="Unbounded SemiBold"/>
                <a:sym typeface="Unbounded SemiBold"/>
              </a:defRPr>
            </a:lvl1pPr>
          </a:lstStyle>
          <a:p>
            <a:pPr/>
            <a:r>
              <a:t>ACF actually disables them</a:t>
            </a:r>
          </a:p>
        </p:txBody>
      </p:sp>
      <p:sp>
        <p:nvSpPr>
          <p:cNvPr id="347" name="ACF removes the Custom Fields box by default, so on an ACF site the toggle is not there at all. One filter brings it back."/>
          <p:cNvSpPr txBox="1"/>
          <p:nvPr/>
        </p:nvSpPr>
        <p:spPr>
          <a:xfrm>
            <a:off x="12827000" y="5638800"/>
            <a:ext cx="10101144" cy="166624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50800" tIns="50800" rIns="50800" bIns="50800" anchor="ctr">
            <a:spAutoFit/>
          </a:bodyPr>
          <a:lstStyle>
            <a:lvl1pPr>
              <a:defRPr sz="3400">
                <a:solidFill>
                  <a:srgbClr val="3D2644"/>
                </a:solidFill>
                <a:latin typeface="Geist"/>
                <a:ea typeface="Geist"/>
                <a:cs typeface="Geist"/>
                <a:sym typeface="Geist"/>
              </a:defRPr>
            </a:lvl1pPr>
          </a:lstStyle>
          <a:p>
            <a:pPr/>
            <a:r>
              <a:t>ACF removes the Custom Fields box by default, so on an ACF site the toggle is not there at all. One filter brings it back.</a:t>
            </a:r>
          </a:p>
        </p:txBody>
      </p:sp>
      <p:sp>
        <p:nvSpPr>
          <p:cNvPr id="348" name="Going ACF-free"/>
          <p:cNvSpPr txBox="1"/>
          <p:nvPr/>
        </p:nvSpPr>
        <p:spPr>
          <a:xfrm>
            <a:off x="1320800" y="12344400"/>
            <a:ext cx="2451100" cy="4953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50800" tIns="50800" rIns="50800" bIns="50800" anchor="ctr">
            <a:spAutoFit/>
          </a:bodyPr>
          <a:lstStyle>
            <a:lvl1pPr>
              <a:defRPr sz="2400">
                <a:solidFill>
                  <a:srgbClr val="5D4E61"/>
                </a:solidFill>
                <a:latin typeface="Geist"/>
                <a:ea typeface="Geist"/>
                <a:cs typeface="Geist"/>
                <a:sym typeface="Geist"/>
              </a:defRPr>
            </a:lvl1pPr>
          </a:lstStyle>
          <a:p>
            <a:pPr/>
            <a:r>
              <a:t>Going ACF-free</a:t>
            </a:r>
          </a:p>
        </p:txBody>
      </p:sp>
      <p:pic>
        <p:nvPicPr>
          <p:cNvPr id="349" name="code-acf-metabox-4.png" descr="code-acf-metabox-4.png"/>
          <p:cNvPicPr>
            <a:picLocks noChangeAspect="1"/>
          </p:cNvPicPr>
          <p:nvPr/>
        </p:nvPicPr>
        <p:blipFill>
          <a:blip r:embed="rId4">
            <a:extLst/>
          </a:blip>
          <a:stretch>
            <a:fillRect/>
          </a:stretch>
        </p:blipFill>
        <p:spPr>
          <a:xfrm>
            <a:off x="12827000" y="7620000"/>
            <a:ext cx="8890000" cy="2692400"/>
          </a:xfrm>
          <a:prstGeom prst="rect">
            <a:avLst/>
          </a:prstGeom>
          <a:ln w="12700">
            <a:miter lim="400000"/>
          </a:ln>
        </p:spPr>
      </p:pic>
      <p:pic>
        <p:nvPicPr>
          <p:cNvPr id="350" name="custom-fields-toggle.png" descr="custom-fields-toggle.png"/>
          <p:cNvPicPr>
            <a:picLocks noChangeAspect="1"/>
          </p:cNvPicPr>
          <p:nvPr/>
        </p:nvPicPr>
        <p:blipFill>
          <a:blip r:embed="rId5">
            <a:extLst/>
          </a:blip>
          <a:stretch>
            <a:fillRect/>
          </a:stretch>
        </p:blipFill>
        <p:spPr>
          <a:xfrm>
            <a:off x="1320800" y="7620000"/>
            <a:ext cx="10148048" cy="3657600"/>
          </a:xfrm>
          <a:prstGeom prst="rect">
            <a:avLst/>
          </a:prstGeom>
          <a:ln w="12700">
            <a:miter lim="400000"/>
          </a:ln>
        </p:spPr>
      </p:pic>
      <p:sp>
        <p:nvSpPr>
          <p:cNvPr id="351" name="Hidden in Preferences since 2018. Bring a shovel."/>
          <p:cNvSpPr txBox="1"/>
          <p:nvPr/>
        </p:nvSpPr>
        <p:spPr>
          <a:xfrm>
            <a:off x="12750800" y="10617199"/>
            <a:ext cx="10160000" cy="8382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50800" tIns="50800" rIns="50800" bIns="50800" anchor="ctr">
            <a:spAutoFit/>
          </a:bodyPr>
          <a:lstStyle>
            <a:lvl1pPr>
              <a:defRPr i="1" sz="4400">
                <a:solidFill>
                  <a:srgbClr val="6033A6"/>
                </a:solidFill>
                <a:latin typeface="Instrument Serif"/>
                <a:ea typeface="Instrument Serif"/>
                <a:cs typeface="Instrument Serif"/>
                <a:sym typeface="Instrument Serif"/>
              </a:defRPr>
            </a:lvl1pPr>
          </a:lstStyle>
          <a:p>
            <a:pPr/>
            <a:r>
              <a:t>Hidden in Preferences since 2018. Bring a shovel.</a:t>
            </a:r>
          </a:p>
        </p:txBody>
      </p:sp>
      <p:pic>
        <p:nvPicPr>
          <p:cNvPr id="352" name="stamp-dependency-free.png" descr="stamp-dependency-free.png"/>
          <p:cNvPicPr>
            <a:picLocks noChangeAspect="1"/>
          </p:cNvPicPr>
          <p:nvPr/>
        </p:nvPicPr>
        <p:blipFill>
          <a:blip r:embed="rId6">
            <a:extLst/>
          </a:blip>
          <a:stretch>
            <a:fillRect/>
          </a:stretch>
        </p:blipFill>
        <p:spPr>
          <a:xfrm>
            <a:off x="4699000" y="8280400"/>
            <a:ext cx="8629650" cy="3835400"/>
          </a:xfrm>
          <a:prstGeom prst="rect">
            <a:avLst/>
          </a:prstGeom>
          <a:ln w="12700">
            <a:miter lim="400000"/>
          </a:ln>
        </p:spPr>
      </p:pic>
      <p:pic>
        <p:nvPicPr>
          <p:cNvPr id="353" name="prog-13.png" descr="prog-13.png"/>
          <p:cNvPicPr>
            <a:picLocks noChangeAspect="1"/>
          </p:cNvPicPr>
          <p:nvPr/>
        </p:nvPicPr>
        <p:blipFill>
          <a:blip r:embed="rId7">
            <a:extLst/>
          </a:blip>
          <a:stretch>
            <a:fillRect/>
          </a:stretch>
        </p:blipFill>
        <p:spPr>
          <a:xfrm>
            <a:off x="17170400" y="12395200"/>
            <a:ext cx="5842000" cy="406400"/>
          </a:xfrm>
          <a:prstGeom prst="rect">
            <a:avLst/>
          </a:prstGeom>
          <a:ln w="12700">
            <a:miter lim="400000"/>
          </a:ln>
        </p:spPr>
      </p:pic>
    </p:spTree>
  </p:cSld>
  <p:clrMapOvr>
    <a:masterClrMapping/>
  </p:clrMapOvr>
  <p:transition xmlns:p14="http://schemas.microsoft.com/office/powerpoint/2010/main" spd="med" advClick="1"/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57" name="bg.png" descr="bg.png"/>
          <p:cNvPicPr>
            <a:picLocks noChangeAspect="1"/>
          </p:cNvPicPr>
          <p:nvPr/>
        </p:nvPicPr>
        <p:blipFill>
          <a:blip r:embed="rId3">
            <a:extLst/>
          </a:blip>
          <a:stretch>
            <a:fillRect/>
          </a:stretch>
        </p:blipFill>
        <p:spPr>
          <a:xfrm>
            <a:off x="0" y="0"/>
            <a:ext cx="24384000" cy="13716000"/>
          </a:xfrm>
          <a:prstGeom prst="rect">
            <a:avLst/>
          </a:prstGeom>
          <a:ln w="12700">
            <a:miter lim="400000"/>
          </a:ln>
        </p:spPr>
      </p:pic>
      <p:sp>
        <p:nvSpPr>
          <p:cNvPr id="358" name="Advanced Custom Fields"/>
          <p:cNvSpPr txBox="1"/>
          <p:nvPr/>
        </p:nvSpPr>
        <p:spPr>
          <a:xfrm>
            <a:off x="1308100" y="4207395"/>
            <a:ext cx="22707600" cy="15621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50800" tIns="50800" rIns="50800" bIns="50800" anchor="ctr">
            <a:spAutoFit/>
          </a:bodyPr>
          <a:lstStyle>
            <a:lvl1pPr>
              <a:defRPr sz="9200">
                <a:solidFill>
                  <a:srgbClr val="220D44"/>
                </a:solidFill>
                <a:latin typeface="Unbounded ExtraBold"/>
                <a:ea typeface="Unbounded ExtraBold"/>
                <a:cs typeface="Unbounded ExtraBold"/>
                <a:sym typeface="Unbounded ExtraBold"/>
              </a:defRPr>
            </a:lvl1pPr>
          </a:lstStyle>
          <a:p>
            <a:pPr/>
            <a:r>
              <a:t>Advanced Custom Fields</a:t>
            </a:r>
          </a:p>
        </p:txBody>
      </p:sp>
      <p:sp>
        <p:nvSpPr>
          <p:cNvPr id="359" name="since 2011"/>
          <p:cNvSpPr txBox="1"/>
          <p:nvPr/>
        </p:nvSpPr>
        <p:spPr>
          <a:xfrm>
            <a:off x="1308100" y="5366740"/>
            <a:ext cx="22707600" cy="20574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50800" tIns="50800" rIns="50800" bIns="50800" anchor="ctr">
            <a:spAutoFit/>
          </a:bodyPr>
          <a:lstStyle>
            <a:lvl1pPr>
              <a:defRPr i="1" sz="11800">
                <a:solidFill>
                  <a:srgbClr val="6033A6"/>
                </a:solidFill>
                <a:latin typeface="Instrument Serif"/>
                <a:ea typeface="Instrument Serif"/>
                <a:cs typeface="Instrument Serif"/>
                <a:sym typeface="Instrument Serif"/>
              </a:defRPr>
            </a:lvl1pPr>
          </a:lstStyle>
          <a:p>
            <a:pPr/>
            <a:r>
              <a:t>since 2011</a:t>
            </a:r>
          </a:p>
        </p:txBody>
      </p:sp>
      <p:sp>
        <p:nvSpPr>
          <p:cNvPr id="360" name="ACF was born to extend custom fields."/>
          <p:cNvSpPr txBox="1"/>
          <p:nvPr/>
        </p:nvSpPr>
        <p:spPr>
          <a:xfrm>
            <a:off x="1320800" y="7714209"/>
            <a:ext cx="19050000" cy="6985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50800" tIns="50800" rIns="50800" bIns="50800" anchor="ctr">
            <a:spAutoFit/>
          </a:bodyPr>
          <a:lstStyle>
            <a:lvl1pPr>
              <a:defRPr sz="3600">
                <a:solidFill>
                  <a:srgbClr val="4B3051"/>
                </a:solidFill>
                <a:latin typeface="Geist"/>
                <a:ea typeface="Geist"/>
                <a:cs typeface="Geist"/>
                <a:sym typeface="Geist"/>
              </a:defRPr>
            </a:lvl1pPr>
          </a:lstStyle>
          <a:p>
            <a:pPr/>
            <a:r>
              <a:t>ACF was born to extend custom fields.</a:t>
            </a:r>
          </a:p>
        </p:txBody>
      </p:sp>
      <p:sp>
        <p:nvSpPr>
          <p:cNvPr id="361" name="Better fields, but still fields."/>
          <p:cNvSpPr txBox="1"/>
          <p:nvPr/>
        </p:nvSpPr>
        <p:spPr>
          <a:xfrm>
            <a:off x="1320800" y="8374609"/>
            <a:ext cx="19050000" cy="6985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50800" tIns="50800" rIns="50800" bIns="50800" anchor="ctr">
            <a:spAutoFit/>
          </a:bodyPr>
          <a:lstStyle>
            <a:lvl1pPr>
              <a:defRPr sz="3600">
                <a:solidFill>
                  <a:srgbClr val="4B3051"/>
                </a:solidFill>
                <a:latin typeface="Geist"/>
                <a:ea typeface="Geist"/>
                <a:cs typeface="Geist"/>
                <a:sym typeface="Geist"/>
              </a:defRPr>
            </a:lvl1pPr>
          </a:lstStyle>
          <a:p>
            <a:pPr/>
            <a:r>
              <a:t>Better fields, but still fields.</a:t>
            </a:r>
          </a:p>
        </p:txBody>
      </p:sp>
      <p:sp>
        <p:nvSpPr>
          <p:cNvPr id="362" name="Going ACF-free"/>
          <p:cNvSpPr txBox="1"/>
          <p:nvPr/>
        </p:nvSpPr>
        <p:spPr>
          <a:xfrm>
            <a:off x="1320800" y="12344400"/>
            <a:ext cx="2451100" cy="4953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50800" tIns="50800" rIns="50800" bIns="50800" anchor="ctr">
            <a:spAutoFit/>
          </a:bodyPr>
          <a:lstStyle>
            <a:lvl1pPr>
              <a:defRPr sz="2400">
                <a:solidFill>
                  <a:srgbClr val="5D4E61"/>
                </a:solidFill>
                <a:latin typeface="Geist"/>
                <a:ea typeface="Geist"/>
                <a:cs typeface="Geist"/>
                <a:sym typeface="Geist"/>
              </a:defRPr>
            </a:lvl1pPr>
          </a:lstStyle>
          <a:p>
            <a:pPr/>
            <a:r>
              <a:t>Going ACF-free</a:t>
            </a:r>
          </a:p>
        </p:txBody>
      </p:sp>
      <p:sp>
        <p:nvSpPr>
          <p:cNvPr id="363" name="We are past the field era and into the block era."/>
          <p:cNvSpPr txBox="1"/>
          <p:nvPr/>
        </p:nvSpPr>
        <p:spPr>
          <a:xfrm>
            <a:off x="1320800" y="9009609"/>
            <a:ext cx="19050000" cy="6985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50800" tIns="50800" rIns="50800" bIns="50800" anchor="ctr">
            <a:spAutoFit/>
          </a:bodyPr>
          <a:lstStyle>
            <a:lvl1pPr>
              <a:defRPr sz="3600">
                <a:solidFill>
                  <a:srgbClr val="4B3051"/>
                </a:solidFill>
                <a:latin typeface="Geist"/>
                <a:ea typeface="Geist"/>
                <a:cs typeface="Geist"/>
                <a:sym typeface="Geist"/>
              </a:defRPr>
            </a:lvl1pPr>
          </a:lstStyle>
          <a:p>
            <a:pPr/>
            <a:r>
              <a:t>We are past the field era and into the block era.</a:t>
            </a:r>
          </a:p>
        </p:txBody>
      </p:sp>
      <p:pic>
        <p:nvPicPr>
          <p:cNvPr id="364" name="prog-14.png" descr="prog-14.png"/>
          <p:cNvPicPr>
            <a:picLocks noChangeAspect="1"/>
          </p:cNvPicPr>
          <p:nvPr/>
        </p:nvPicPr>
        <p:blipFill>
          <a:blip r:embed="rId4">
            <a:extLst/>
          </a:blip>
          <a:stretch>
            <a:fillRect/>
          </a:stretch>
        </p:blipFill>
        <p:spPr>
          <a:xfrm>
            <a:off x="17170400" y="12395200"/>
            <a:ext cx="5842000" cy="406400"/>
          </a:xfrm>
          <a:prstGeom prst="rect">
            <a:avLst/>
          </a:prstGeom>
          <a:ln w="12700">
            <a:miter lim="400000"/>
          </a:ln>
        </p:spPr>
      </p:pic>
    </p:spTree>
  </p:cSld>
  <p:clrMapOvr>
    <a:masterClrMapping/>
  </p:clrMapOvr>
  <p:transition xmlns:p14="http://schemas.microsoft.com/office/powerpoint/2010/main" spd="med" advClick="1"/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68" name="bg.png" descr="bg.png"/>
          <p:cNvPicPr>
            <a:picLocks noChangeAspect="1"/>
          </p:cNvPicPr>
          <p:nvPr/>
        </p:nvPicPr>
        <p:blipFill>
          <a:blip r:embed="rId3">
            <a:extLst/>
          </a:blip>
          <a:stretch>
            <a:fillRect/>
          </a:stretch>
        </p:blipFill>
        <p:spPr>
          <a:xfrm>
            <a:off x="0" y="0"/>
            <a:ext cx="24384000" cy="13716000"/>
          </a:xfrm>
          <a:prstGeom prst="rect">
            <a:avLst/>
          </a:prstGeom>
          <a:ln w="12700">
            <a:miter lim="400000"/>
          </a:ln>
        </p:spPr>
      </p:pic>
      <p:sp>
        <p:nvSpPr>
          <p:cNvPr id="369" name="We thought we did “the core way”"/>
          <p:cNvSpPr txBox="1"/>
          <p:nvPr/>
        </p:nvSpPr>
        <p:spPr>
          <a:xfrm>
            <a:off x="1308100" y="2692399"/>
            <a:ext cx="22707600" cy="17145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50800" tIns="50800" rIns="50800" bIns="50800" anchor="ctr">
            <a:spAutoFit/>
          </a:bodyPr>
          <a:lstStyle/>
          <a:p>
            <a:pPr>
              <a:defRPr sz="7600">
                <a:solidFill>
                  <a:srgbClr val="220D44"/>
                </a:solidFill>
                <a:latin typeface="Unbounded ExtraBold"/>
                <a:ea typeface="Unbounded ExtraBold"/>
                <a:cs typeface="Unbounded ExtraBold"/>
                <a:sym typeface="Unbounded ExtraBold"/>
              </a:defRPr>
            </a:pPr>
            <a:r>
              <a:t>We thought we did </a:t>
            </a:r>
            <a:r>
              <a:rPr i="1" sz="9800">
                <a:solidFill>
                  <a:srgbClr val="6033A6"/>
                </a:solidFill>
                <a:latin typeface="Instrument Serif"/>
                <a:ea typeface="Instrument Serif"/>
                <a:cs typeface="Instrument Serif"/>
                <a:sym typeface="Instrument Serif"/>
              </a:rPr>
              <a:t>“the core way”</a:t>
            </a:r>
          </a:p>
        </p:txBody>
      </p:sp>
      <p:sp>
        <p:nvSpPr>
          <p:cNvPr id="370" name="Underscores, 2016"/>
          <p:cNvSpPr txBox="1"/>
          <p:nvPr/>
        </p:nvSpPr>
        <p:spPr>
          <a:xfrm>
            <a:off x="1295400" y="4813299"/>
            <a:ext cx="10744200" cy="7620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50800" tIns="50800" rIns="50800" bIns="50800" anchor="ctr">
            <a:spAutoFit/>
          </a:bodyPr>
          <a:lstStyle>
            <a:lvl1pPr>
              <a:defRPr sz="4200">
                <a:solidFill>
                  <a:srgbClr val="6033A6"/>
                </a:solidFill>
                <a:latin typeface="Unbounded SemiBold"/>
                <a:ea typeface="Unbounded SemiBold"/>
                <a:cs typeface="Unbounded SemiBold"/>
                <a:sym typeface="Unbounded SemiBold"/>
              </a:defRPr>
            </a:lvl1pPr>
          </a:lstStyle>
          <a:p>
            <a:pPr/>
            <a:r>
              <a:t>Underscores, 2016</a:t>
            </a:r>
          </a:p>
        </p:txBody>
      </p:sp>
      <p:sp>
        <p:nvSpPr>
          <p:cNvPr id="371" name="air-light started from Automattic’s starter theme, a traditional theme kept as close to core as we could."/>
          <p:cNvSpPr txBox="1"/>
          <p:nvPr/>
        </p:nvSpPr>
        <p:spPr>
          <a:xfrm>
            <a:off x="1320800" y="5638799"/>
            <a:ext cx="10693400" cy="116332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50800" tIns="50800" rIns="50800" bIns="50800" anchor="ctr">
            <a:spAutoFit/>
          </a:bodyPr>
          <a:lstStyle/>
          <a:p>
            <a:pPr>
              <a:defRPr sz="3400">
                <a:solidFill>
                  <a:srgbClr val="3D2644"/>
                </a:solidFill>
                <a:latin typeface="Geist"/>
                <a:ea typeface="Geist"/>
                <a:cs typeface="Geist"/>
                <a:sym typeface="Geist"/>
              </a:defRPr>
            </a:pPr>
            <a:r>
              <a:t>air-light started from Automattic’s starter theme,</a:t>
            </a:r>
            <a:br/>
            <a:r>
              <a:t>a traditional theme kept as close to core as we could.</a:t>
            </a:r>
          </a:p>
        </p:txBody>
      </p:sp>
      <p:sp>
        <p:nvSpPr>
          <p:cNvPr id="372" name="Core functions"/>
          <p:cNvSpPr txBox="1"/>
          <p:nvPr/>
        </p:nvSpPr>
        <p:spPr>
          <a:xfrm>
            <a:off x="12801600" y="4813299"/>
            <a:ext cx="10744200" cy="7620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50800" tIns="50800" rIns="50800" bIns="50800" anchor="ctr">
            <a:spAutoFit/>
          </a:bodyPr>
          <a:lstStyle>
            <a:lvl1pPr>
              <a:defRPr sz="4200">
                <a:solidFill>
                  <a:srgbClr val="6033A6"/>
                </a:solidFill>
                <a:latin typeface="Unbounded SemiBold"/>
                <a:ea typeface="Unbounded SemiBold"/>
                <a:cs typeface="Unbounded SemiBold"/>
                <a:sym typeface="Unbounded SemiBold"/>
              </a:defRPr>
            </a:lvl1pPr>
          </a:lstStyle>
          <a:p>
            <a:pPr/>
            <a:r>
              <a:t>Core functions</a:t>
            </a:r>
          </a:p>
        </p:txBody>
      </p:sp>
      <p:sp>
        <p:nvSpPr>
          <p:cNvPr id="373" name="Templates built from WordPress’s own parts: the loop, template parts, WP_Query."/>
          <p:cNvSpPr txBox="1"/>
          <p:nvPr/>
        </p:nvSpPr>
        <p:spPr>
          <a:xfrm>
            <a:off x="12827000" y="5638799"/>
            <a:ext cx="10101144" cy="116332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50800" tIns="50800" rIns="50800" bIns="50800" anchor="ctr">
            <a:spAutoFit/>
          </a:bodyPr>
          <a:lstStyle/>
          <a:p>
            <a:pPr>
              <a:defRPr sz="3400">
                <a:solidFill>
                  <a:srgbClr val="3D2644"/>
                </a:solidFill>
                <a:latin typeface="Geist"/>
                <a:ea typeface="Geist"/>
                <a:cs typeface="Geist"/>
                <a:sym typeface="Geist"/>
              </a:defRPr>
            </a:pPr>
            <a:r>
              <a:t>Templates built from WordPress’s own parts: the loop, template parts, </a:t>
            </a:r>
            <a:r>
              <a:rPr sz="3100">
                <a:solidFill>
                  <a:srgbClr val="6033A6"/>
                </a:solidFill>
                <a:latin typeface="Geist Mono"/>
                <a:ea typeface="Geist Mono"/>
                <a:cs typeface="Geist Mono"/>
                <a:sym typeface="Geist Mono"/>
              </a:rPr>
              <a:t>WP_Query</a:t>
            </a:r>
            <a:r>
              <a:t>.</a:t>
            </a:r>
          </a:p>
        </p:txBody>
      </p:sp>
      <p:sp>
        <p:nvSpPr>
          <p:cNvPr id="374" name="ACF on every site"/>
          <p:cNvSpPr txBox="1"/>
          <p:nvPr/>
        </p:nvSpPr>
        <p:spPr>
          <a:xfrm>
            <a:off x="1295400" y="7734299"/>
            <a:ext cx="10744200" cy="7620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50800" tIns="50800" rIns="50800" bIns="50800" anchor="ctr">
            <a:spAutoFit/>
          </a:bodyPr>
          <a:lstStyle>
            <a:lvl1pPr>
              <a:defRPr sz="4200">
                <a:solidFill>
                  <a:srgbClr val="6033A6"/>
                </a:solidFill>
                <a:latin typeface="Unbounded SemiBold"/>
                <a:ea typeface="Unbounded SemiBold"/>
                <a:cs typeface="Unbounded SemiBold"/>
                <a:sym typeface="Unbounded SemiBold"/>
              </a:defRPr>
            </a:lvl1pPr>
          </a:lstStyle>
          <a:p>
            <a:pPr/>
            <a:r>
              <a:t>ACF on every site</a:t>
            </a:r>
          </a:p>
        </p:txBody>
      </p:sp>
      <p:sp>
        <p:nvSpPr>
          <p:cNvPr id="375" name="The content in those templates came from ACF fields. That is not the core way."/>
          <p:cNvSpPr txBox="1"/>
          <p:nvPr/>
        </p:nvSpPr>
        <p:spPr>
          <a:xfrm>
            <a:off x="1320800" y="8559799"/>
            <a:ext cx="10101144" cy="116332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50800" tIns="50800" rIns="50800" bIns="50800" anchor="ctr">
            <a:spAutoFit/>
          </a:bodyPr>
          <a:lstStyle>
            <a:lvl1pPr>
              <a:defRPr sz="3400">
                <a:solidFill>
                  <a:srgbClr val="3D2644"/>
                </a:solidFill>
                <a:latin typeface="Geist"/>
                <a:ea typeface="Geist"/>
                <a:cs typeface="Geist"/>
                <a:sym typeface="Geist"/>
              </a:defRPr>
            </a:lvl1pPr>
          </a:lstStyle>
          <a:p>
            <a:pPr/>
            <a:r>
              <a:t>The content in those templates came from ACF fields. That is not the core way.</a:t>
            </a:r>
          </a:p>
        </p:txBody>
      </p:sp>
      <p:sp>
        <p:nvSpPr>
          <p:cNvPr id="376" name="Why we kept doing ACF"/>
          <p:cNvSpPr txBox="1"/>
          <p:nvPr/>
        </p:nvSpPr>
        <p:spPr>
          <a:xfrm>
            <a:off x="12801600" y="7734299"/>
            <a:ext cx="10744200" cy="7620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50800" tIns="50800" rIns="50800" bIns="50800" anchor="ctr">
            <a:spAutoFit/>
          </a:bodyPr>
          <a:lstStyle>
            <a:lvl1pPr>
              <a:defRPr sz="4200">
                <a:solidFill>
                  <a:srgbClr val="6033A6"/>
                </a:solidFill>
                <a:latin typeface="Unbounded SemiBold"/>
                <a:ea typeface="Unbounded SemiBold"/>
                <a:cs typeface="Unbounded SemiBold"/>
                <a:sym typeface="Unbounded SemiBold"/>
              </a:defRPr>
            </a:lvl1pPr>
          </a:lstStyle>
          <a:p>
            <a:pPr/>
            <a:r>
              <a:t>Why we kept doing ACF</a:t>
            </a:r>
          </a:p>
        </p:txBody>
      </p:sp>
      <p:sp>
        <p:nvSpPr>
          <p:cNvPr id="377" name="ACF was quick to build with, and the sites built on it kept working for years."/>
          <p:cNvSpPr txBox="1"/>
          <p:nvPr/>
        </p:nvSpPr>
        <p:spPr>
          <a:xfrm>
            <a:off x="12827000" y="8559799"/>
            <a:ext cx="9959979" cy="116332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50800" tIns="50800" rIns="50800" bIns="50800" anchor="ctr">
            <a:spAutoFit/>
          </a:bodyPr>
          <a:lstStyle>
            <a:lvl1pPr>
              <a:defRPr sz="3400">
                <a:solidFill>
                  <a:srgbClr val="3D2644"/>
                </a:solidFill>
                <a:latin typeface="Geist"/>
                <a:ea typeface="Geist"/>
                <a:cs typeface="Geist"/>
                <a:sym typeface="Geist"/>
              </a:defRPr>
            </a:lvl1pPr>
          </a:lstStyle>
          <a:p>
            <a:pPr/>
            <a:r>
              <a:t>ACF was quick to build with, and the sites built on it kept working for years.</a:t>
            </a:r>
          </a:p>
        </p:txBody>
      </p:sp>
      <p:sp>
        <p:nvSpPr>
          <p:cNvPr id="378" name="Going ACF-free"/>
          <p:cNvSpPr txBox="1"/>
          <p:nvPr/>
        </p:nvSpPr>
        <p:spPr>
          <a:xfrm>
            <a:off x="1320800" y="12344400"/>
            <a:ext cx="2451100" cy="4953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50800" tIns="50800" rIns="50800" bIns="50800" anchor="ctr">
            <a:spAutoFit/>
          </a:bodyPr>
          <a:lstStyle>
            <a:lvl1pPr>
              <a:defRPr sz="2400">
                <a:solidFill>
                  <a:srgbClr val="5D4E61"/>
                </a:solidFill>
                <a:latin typeface="Geist"/>
                <a:ea typeface="Geist"/>
                <a:cs typeface="Geist"/>
                <a:sym typeface="Geist"/>
              </a:defRPr>
            </a:lvl1pPr>
          </a:lstStyle>
          <a:p>
            <a:pPr/>
            <a:r>
              <a:t>Going ACF-free</a:t>
            </a:r>
          </a:p>
        </p:txBody>
      </p:sp>
      <p:pic>
        <p:nvPicPr>
          <p:cNvPr id="379" name="prog-15.png" descr="prog-15.png"/>
          <p:cNvPicPr>
            <a:picLocks noChangeAspect="1"/>
          </p:cNvPicPr>
          <p:nvPr/>
        </p:nvPicPr>
        <p:blipFill>
          <a:blip r:embed="rId4">
            <a:extLst/>
          </a:blip>
          <a:stretch>
            <a:fillRect/>
          </a:stretch>
        </p:blipFill>
        <p:spPr>
          <a:xfrm>
            <a:off x="17170400" y="12395200"/>
            <a:ext cx="5842000" cy="406400"/>
          </a:xfrm>
          <a:prstGeom prst="rect">
            <a:avLst/>
          </a:prstGeom>
          <a:ln w="12700">
            <a:miter lim="400000"/>
          </a:ln>
        </p:spPr>
      </p:pic>
    </p:spTree>
  </p:cSld>
  <p:clrMapOvr>
    <a:masterClrMapping/>
  </p:clrMapOvr>
  <p:transition xmlns:p14="http://schemas.microsoft.com/office/powerpoint/2010/main" spd="med" advClick="1"/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83" name="bg.png" descr="bg.png"/>
          <p:cNvPicPr>
            <a:picLocks noChangeAspect="1"/>
          </p:cNvPicPr>
          <p:nvPr/>
        </p:nvPicPr>
        <p:blipFill>
          <a:blip r:embed="rId3">
            <a:extLst/>
          </a:blip>
          <a:stretch>
            <a:fillRect/>
          </a:stretch>
        </p:blipFill>
        <p:spPr>
          <a:xfrm>
            <a:off x="0" y="0"/>
            <a:ext cx="24384000" cy="13716000"/>
          </a:xfrm>
          <a:prstGeom prst="rect">
            <a:avLst/>
          </a:prstGeom>
          <a:ln w="12700">
            <a:miter lim="400000"/>
          </a:ln>
        </p:spPr>
      </p:pic>
      <p:sp>
        <p:nvSpPr>
          <p:cNvPr id="384" name="So what’s"/>
          <p:cNvSpPr txBox="1"/>
          <p:nvPr/>
        </p:nvSpPr>
        <p:spPr>
          <a:xfrm>
            <a:off x="1308100" y="4203699"/>
            <a:ext cx="22707600" cy="15621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50800" tIns="50800" rIns="50800" bIns="50800" anchor="ctr">
            <a:spAutoFit/>
          </a:bodyPr>
          <a:lstStyle>
            <a:lvl1pPr>
              <a:defRPr sz="9200">
                <a:solidFill>
                  <a:srgbClr val="220D44"/>
                </a:solidFill>
                <a:latin typeface="Unbounded ExtraBold"/>
                <a:ea typeface="Unbounded ExtraBold"/>
                <a:cs typeface="Unbounded ExtraBold"/>
                <a:sym typeface="Unbounded ExtraBold"/>
              </a:defRPr>
            </a:lvl1pPr>
          </a:lstStyle>
          <a:p>
            <a:pPr/>
            <a:r>
              <a:t>So what’s</a:t>
            </a:r>
          </a:p>
        </p:txBody>
      </p:sp>
      <p:sp>
        <p:nvSpPr>
          <p:cNvPr id="385" name="the answer?"/>
          <p:cNvSpPr txBox="1"/>
          <p:nvPr/>
        </p:nvSpPr>
        <p:spPr>
          <a:xfrm>
            <a:off x="1308100" y="5372099"/>
            <a:ext cx="22707600" cy="20574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50800" tIns="50800" rIns="50800" bIns="50800" anchor="ctr">
            <a:spAutoFit/>
          </a:bodyPr>
          <a:lstStyle>
            <a:lvl1pPr>
              <a:defRPr i="1" sz="11800">
                <a:solidFill>
                  <a:srgbClr val="6033A6"/>
                </a:solidFill>
                <a:latin typeface="Instrument Serif"/>
                <a:ea typeface="Instrument Serif"/>
                <a:cs typeface="Instrument Serif"/>
                <a:sym typeface="Instrument Serif"/>
              </a:defRPr>
            </a:lvl1pPr>
          </a:lstStyle>
          <a:p>
            <a:pPr/>
            <a:r>
              <a:t>the answer?</a:t>
            </a:r>
          </a:p>
        </p:txBody>
      </p:sp>
      <p:sp>
        <p:nvSpPr>
          <p:cNvPr id="386" name="When we finally went native in 2025,"/>
          <p:cNvSpPr txBox="1"/>
          <p:nvPr/>
        </p:nvSpPr>
        <p:spPr>
          <a:xfrm>
            <a:off x="1320800" y="7708899"/>
            <a:ext cx="19050000" cy="6985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50800" tIns="50800" rIns="50800" bIns="50800" anchor="ctr">
            <a:spAutoFit/>
          </a:bodyPr>
          <a:lstStyle>
            <a:lvl1pPr>
              <a:defRPr sz="3600">
                <a:solidFill>
                  <a:srgbClr val="4B3051"/>
                </a:solidFill>
                <a:latin typeface="Geist"/>
                <a:ea typeface="Geist"/>
                <a:cs typeface="Geist"/>
                <a:sym typeface="Geist"/>
              </a:defRPr>
            </a:lvl1pPr>
          </a:lstStyle>
          <a:p>
            <a:pPr/>
            <a:r>
              <a:t>When we finally went native in 2025,</a:t>
            </a:r>
          </a:p>
        </p:txBody>
      </p:sp>
      <p:sp>
        <p:nvSpPr>
          <p:cNvPr id="387" name="we thought we knew."/>
          <p:cNvSpPr txBox="1"/>
          <p:nvPr/>
        </p:nvSpPr>
        <p:spPr>
          <a:xfrm>
            <a:off x="1320800" y="8369299"/>
            <a:ext cx="19050000" cy="6985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50800" tIns="50800" rIns="50800" bIns="50800" anchor="ctr">
            <a:spAutoFit/>
          </a:bodyPr>
          <a:lstStyle>
            <a:lvl1pPr>
              <a:defRPr sz="3600">
                <a:solidFill>
                  <a:srgbClr val="4B3051"/>
                </a:solidFill>
                <a:latin typeface="Geist"/>
                <a:ea typeface="Geist"/>
                <a:cs typeface="Geist"/>
                <a:sym typeface="Geist"/>
              </a:defRPr>
            </a:lvl1pPr>
          </a:lstStyle>
          <a:p>
            <a:pPr/>
            <a:r>
              <a:t>we thought we knew.</a:t>
            </a:r>
          </a:p>
        </p:txBody>
      </p:sp>
      <p:sp>
        <p:nvSpPr>
          <p:cNvPr id="388" name="Going ACF-free"/>
          <p:cNvSpPr txBox="1"/>
          <p:nvPr/>
        </p:nvSpPr>
        <p:spPr>
          <a:xfrm>
            <a:off x="1320800" y="12344400"/>
            <a:ext cx="2451100" cy="4953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50800" tIns="50800" rIns="50800" bIns="50800" anchor="ctr">
            <a:spAutoFit/>
          </a:bodyPr>
          <a:lstStyle>
            <a:lvl1pPr>
              <a:defRPr sz="2400">
                <a:solidFill>
                  <a:srgbClr val="5D4E61"/>
                </a:solidFill>
                <a:latin typeface="Geist"/>
                <a:ea typeface="Geist"/>
                <a:cs typeface="Geist"/>
                <a:sym typeface="Geist"/>
              </a:defRPr>
            </a:lvl1pPr>
          </a:lstStyle>
          <a:p>
            <a:pPr/>
            <a:r>
              <a:t>Going ACF-free</a:t>
            </a:r>
          </a:p>
        </p:txBody>
      </p:sp>
      <p:pic>
        <p:nvPicPr>
          <p:cNvPr id="389" name="deep-thought-42.gif" descr="deep-thought-42.gif"/>
          <p:cNvPicPr>
            <a:picLocks noChangeAspect="0"/>
          </p:cNvPicPr>
          <p:nvPr/>
        </p:nvPicPr>
        <p:blipFill>
          <a:blip r:embed="rId4">
            <a:extLst/>
          </a:blip>
          <a:stretch>
            <a:fillRect/>
          </a:stretch>
        </p:blipFill>
        <p:spPr>
          <a:xfrm>
            <a:off x="13462000" y="4572000"/>
            <a:ext cx="9534574" cy="3810000"/>
          </a:xfrm>
          <a:prstGeom prst="rect">
            <a:avLst/>
          </a:prstGeom>
          <a:ln w="12700">
            <a:miter lim="400000"/>
          </a:ln>
        </p:spPr>
      </p:pic>
      <p:pic>
        <p:nvPicPr>
          <p:cNvPr id="390" name="prog-16.png" descr="prog-16.png"/>
          <p:cNvPicPr>
            <a:picLocks noChangeAspect="1"/>
          </p:cNvPicPr>
          <p:nvPr/>
        </p:nvPicPr>
        <p:blipFill>
          <a:blip r:embed="rId5">
            <a:extLst/>
          </a:blip>
          <a:stretch>
            <a:fillRect/>
          </a:stretch>
        </p:blipFill>
        <p:spPr>
          <a:xfrm>
            <a:off x="17170400" y="12395200"/>
            <a:ext cx="5842000" cy="406400"/>
          </a:xfrm>
          <a:prstGeom prst="rect">
            <a:avLst/>
          </a:prstGeom>
          <a:ln w="12700">
            <a:miter lim="400000"/>
          </a:ln>
        </p:spPr>
      </p:pic>
    </p:spTree>
  </p:cSld>
  <p:clrMapOvr>
    <a:masterClrMapping/>
  </p:clrMapOvr>
  <p:transition xmlns:p14="http://schemas.microsoft.com/office/powerpoint/2010/main" spd="med" advClick="1"/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94" name="bg.png" descr="bg.png"/>
          <p:cNvPicPr>
            <a:picLocks noChangeAspect="1"/>
          </p:cNvPicPr>
          <p:nvPr/>
        </p:nvPicPr>
        <p:blipFill>
          <a:blip r:embed="rId3">
            <a:extLst/>
          </a:blip>
          <a:stretch>
            <a:fillRect/>
          </a:stretch>
        </p:blipFill>
        <p:spPr>
          <a:xfrm>
            <a:off x="0" y="0"/>
            <a:ext cx="24384000" cy="13716000"/>
          </a:xfrm>
          <a:prstGeom prst="rect">
            <a:avLst/>
          </a:prstGeom>
          <a:ln w="12700">
            <a:miter lim="400000"/>
          </a:ln>
        </p:spPr>
      </p:pic>
      <p:sp>
        <p:nvSpPr>
          <p:cNvPr id="395" name="We thought “native” meant React.js"/>
          <p:cNvSpPr txBox="1"/>
          <p:nvPr/>
        </p:nvSpPr>
        <p:spPr>
          <a:xfrm>
            <a:off x="1308100" y="2692399"/>
            <a:ext cx="22707600" cy="17145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50800" tIns="50800" rIns="50800" bIns="50800" anchor="ctr">
            <a:spAutoFit/>
          </a:bodyPr>
          <a:lstStyle/>
          <a:p>
            <a:pPr>
              <a:defRPr sz="7600">
                <a:solidFill>
                  <a:srgbClr val="220D44"/>
                </a:solidFill>
                <a:latin typeface="Unbounded ExtraBold"/>
                <a:ea typeface="Unbounded ExtraBold"/>
                <a:cs typeface="Unbounded ExtraBold"/>
                <a:sym typeface="Unbounded ExtraBold"/>
              </a:defRPr>
            </a:pPr>
            <a:r>
              <a:t>We thought “native” </a:t>
            </a:r>
            <a:r>
              <a:rPr i="1" sz="9800">
                <a:solidFill>
                  <a:srgbClr val="6033A6"/>
                </a:solidFill>
                <a:latin typeface="Instrument Serif"/>
                <a:ea typeface="Instrument Serif"/>
                <a:cs typeface="Instrument Serif"/>
                <a:sym typeface="Instrument Serif"/>
              </a:rPr>
              <a:t>meant React.js</a:t>
            </a:r>
          </a:p>
        </p:txBody>
      </p:sp>
      <p:sp>
        <p:nvSpPr>
          <p:cNvPr id="396" name="2018 to 2024"/>
          <p:cNvSpPr txBox="1"/>
          <p:nvPr/>
        </p:nvSpPr>
        <p:spPr>
          <a:xfrm>
            <a:off x="1295400" y="4813299"/>
            <a:ext cx="10744200" cy="7620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50800" tIns="50800" rIns="50800" bIns="50800" anchor="ctr">
            <a:spAutoFit/>
          </a:bodyPr>
          <a:lstStyle>
            <a:lvl1pPr>
              <a:defRPr sz="4200">
                <a:solidFill>
                  <a:srgbClr val="6033A6"/>
                </a:solidFill>
                <a:latin typeface="Unbounded SemiBold"/>
                <a:ea typeface="Unbounded SemiBold"/>
                <a:cs typeface="Unbounded SemiBold"/>
                <a:sym typeface="Unbounded SemiBold"/>
              </a:defRPr>
            </a:lvl1pPr>
          </a:lstStyle>
          <a:p>
            <a:pPr/>
            <a:r>
              <a:t>2018 to 2024</a:t>
            </a:r>
          </a:p>
        </p:txBody>
      </p:sp>
      <p:sp>
        <p:nvSpPr>
          <p:cNvPr id="397" name="We used core Gutenberg for articles, ACF for everything else. ACF Gutenberg blocks since 2021."/>
          <p:cNvSpPr txBox="1"/>
          <p:nvPr/>
        </p:nvSpPr>
        <p:spPr>
          <a:xfrm>
            <a:off x="1320800" y="5638800"/>
            <a:ext cx="7932559" cy="166624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50800" tIns="50800" rIns="50800" bIns="50800" anchor="ctr">
            <a:spAutoFit/>
          </a:bodyPr>
          <a:lstStyle/>
          <a:p>
            <a:pPr>
              <a:defRPr sz="3400">
                <a:solidFill>
                  <a:srgbClr val="3D2644"/>
                </a:solidFill>
                <a:latin typeface="Geist"/>
                <a:ea typeface="Geist"/>
                <a:cs typeface="Geist"/>
                <a:sym typeface="Geist"/>
              </a:defRPr>
            </a:pPr>
            <a:r>
              <a:t>We used core Gutenberg for articles, ACF for everything else.</a:t>
            </a:r>
            <a:br/>
            <a:r>
              <a:t>ACF Gutenberg blocks since 2021.</a:t>
            </a:r>
          </a:p>
        </p:txBody>
      </p:sp>
      <p:sp>
        <p:nvSpPr>
          <p:cNvPr id="398" name="2025"/>
          <p:cNvSpPr txBox="1"/>
          <p:nvPr/>
        </p:nvSpPr>
        <p:spPr>
          <a:xfrm>
            <a:off x="12801600" y="4813299"/>
            <a:ext cx="10744200" cy="7620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50800" tIns="50800" rIns="50800" bIns="50800" anchor="ctr">
            <a:spAutoFit/>
          </a:bodyPr>
          <a:lstStyle>
            <a:lvl1pPr>
              <a:defRPr sz="4200">
                <a:solidFill>
                  <a:srgbClr val="6033A6"/>
                </a:solidFill>
                <a:latin typeface="Unbounded SemiBold"/>
                <a:ea typeface="Unbounded SemiBold"/>
                <a:cs typeface="Unbounded SemiBold"/>
                <a:sym typeface="Unbounded SemiBold"/>
              </a:defRPr>
            </a:lvl1pPr>
          </a:lstStyle>
          <a:p>
            <a:pPr/>
            <a:r>
              <a:t>2025</a:t>
            </a:r>
          </a:p>
        </p:txBody>
      </p:sp>
      <p:sp>
        <p:nvSpPr>
          <p:cNvPr id="399" name="Our first real native blocks: every option written by hand in React."/>
          <p:cNvSpPr txBox="1"/>
          <p:nvPr/>
        </p:nvSpPr>
        <p:spPr>
          <a:xfrm>
            <a:off x="12827000" y="5638799"/>
            <a:ext cx="9057700" cy="116332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50800" tIns="50800" rIns="50800" bIns="50800" anchor="ctr">
            <a:spAutoFit/>
          </a:bodyPr>
          <a:lstStyle/>
          <a:p>
            <a:pPr>
              <a:defRPr sz="3400">
                <a:solidFill>
                  <a:srgbClr val="3D2644"/>
                </a:solidFill>
                <a:latin typeface="Geist"/>
                <a:ea typeface="Geist"/>
                <a:cs typeface="Geist"/>
                <a:sym typeface="Geist"/>
              </a:defRPr>
            </a:pPr>
            <a:r>
              <a:t>Our first </a:t>
            </a:r>
            <a:r>
              <a:t>real</a:t>
            </a:r>
            <a:r>
              <a:t> native blocks:</a:t>
            </a:r>
            <a:br/>
            <a:r>
              <a:t>every option written by hand in React.</a:t>
            </a:r>
          </a:p>
        </p:txBody>
      </p:sp>
      <p:sp>
        <p:nvSpPr>
          <p:cNvPr id="400" name="One site, when we still stumbled"/>
          <p:cNvSpPr txBox="1"/>
          <p:nvPr/>
        </p:nvSpPr>
        <p:spPr>
          <a:xfrm>
            <a:off x="1295400" y="7734299"/>
            <a:ext cx="10744200" cy="7620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50800" tIns="50800" rIns="50800" bIns="50800" anchor="ctr">
            <a:spAutoFit/>
          </a:bodyPr>
          <a:lstStyle>
            <a:lvl1pPr>
              <a:defRPr sz="4200">
                <a:solidFill>
                  <a:srgbClr val="6033A6"/>
                </a:solidFill>
                <a:latin typeface="Unbounded SemiBold"/>
                <a:ea typeface="Unbounded SemiBold"/>
                <a:cs typeface="Unbounded SemiBold"/>
                <a:sym typeface="Unbounded SemiBold"/>
              </a:defRPr>
            </a:lvl1pPr>
          </a:lstStyle>
          <a:p>
            <a:pPr/>
            <a:r>
              <a:t>One site, when we still stumbled</a:t>
            </a:r>
          </a:p>
        </p:txBody>
      </p:sp>
      <p:sp>
        <p:nvSpPr>
          <p:cNvPr id="401" name="23 custom blocks, 77 attributes, about 3000 lines of edit.js JavaScript."/>
          <p:cNvSpPr txBox="1"/>
          <p:nvPr/>
        </p:nvSpPr>
        <p:spPr>
          <a:xfrm>
            <a:off x="1320800" y="8559799"/>
            <a:ext cx="8742793" cy="116332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50800" tIns="50800" rIns="50800" bIns="50800" anchor="ctr">
            <a:spAutoFit/>
          </a:bodyPr>
          <a:lstStyle>
            <a:lvl1pPr>
              <a:defRPr sz="3400">
                <a:solidFill>
                  <a:srgbClr val="3D2644"/>
                </a:solidFill>
                <a:latin typeface="Geist"/>
                <a:ea typeface="Geist"/>
                <a:cs typeface="Geist"/>
                <a:sym typeface="Geist"/>
              </a:defRPr>
            </a:lvl1pPr>
          </a:lstStyle>
          <a:p>
            <a:pPr/>
            <a:r>
              <a:t>23 custom blocks, 77 attributes, about 3000 lines of edit.js JavaScript.</a:t>
            </a:r>
          </a:p>
        </p:txBody>
      </p:sp>
      <p:sp>
        <p:nvSpPr>
          <p:cNvPr id="402" name="The result"/>
          <p:cNvSpPr txBox="1"/>
          <p:nvPr/>
        </p:nvSpPr>
        <p:spPr>
          <a:xfrm>
            <a:off x="12801600" y="7734299"/>
            <a:ext cx="10744200" cy="7620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50800" tIns="50800" rIns="50800" bIns="50800" anchor="ctr">
            <a:spAutoFit/>
          </a:bodyPr>
          <a:lstStyle>
            <a:lvl1pPr>
              <a:defRPr sz="4200">
                <a:solidFill>
                  <a:srgbClr val="6033A6"/>
                </a:solidFill>
                <a:latin typeface="Unbounded SemiBold"/>
                <a:ea typeface="Unbounded SemiBold"/>
                <a:cs typeface="Unbounded SemiBold"/>
                <a:sym typeface="Unbounded SemiBold"/>
              </a:defRPr>
            </a:lvl1pPr>
          </a:lstStyle>
          <a:p>
            <a:pPr/>
            <a:r>
              <a:t>The result</a:t>
            </a:r>
          </a:p>
        </p:txBody>
      </p:sp>
      <p:sp>
        <p:nvSpPr>
          <p:cNvPr id="403" name="Too static blocks, “reinventing the wheel” like with ACF…"/>
          <p:cNvSpPr txBox="1"/>
          <p:nvPr/>
        </p:nvSpPr>
        <p:spPr>
          <a:xfrm>
            <a:off x="12827000" y="8559799"/>
            <a:ext cx="6984510" cy="116332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50800" tIns="50800" rIns="50800" bIns="50800" anchor="ctr">
            <a:spAutoFit/>
          </a:bodyPr>
          <a:lstStyle>
            <a:lvl1pPr>
              <a:defRPr sz="3400">
                <a:solidFill>
                  <a:srgbClr val="3D2644"/>
                </a:solidFill>
                <a:latin typeface="Geist"/>
                <a:ea typeface="Geist"/>
                <a:cs typeface="Geist"/>
                <a:sym typeface="Geist"/>
              </a:defRPr>
            </a:lvl1pPr>
          </a:lstStyle>
          <a:p>
            <a:pPr/>
            <a:r>
              <a:t>Too static blocks, “reinventing the wheel” like with ACF…</a:t>
            </a:r>
          </a:p>
        </p:txBody>
      </p:sp>
      <p:sp>
        <p:nvSpPr>
          <p:cNvPr id="404" name="Going ACF-free"/>
          <p:cNvSpPr txBox="1"/>
          <p:nvPr/>
        </p:nvSpPr>
        <p:spPr>
          <a:xfrm>
            <a:off x="1320800" y="12344400"/>
            <a:ext cx="2451100" cy="4953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50800" tIns="50800" rIns="50800" bIns="50800" anchor="ctr">
            <a:spAutoFit/>
          </a:bodyPr>
          <a:lstStyle>
            <a:lvl1pPr>
              <a:defRPr sz="2400">
                <a:solidFill>
                  <a:srgbClr val="5D4E61"/>
                </a:solidFill>
                <a:latin typeface="Geist"/>
                <a:ea typeface="Geist"/>
                <a:cs typeface="Geist"/>
                <a:sym typeface="Geist"/>
              </a:defRPr>
            </a:lvl1pPr>
          </a:lstStyle>
          <a:p>
            <a:pPr/>
            <a:r>
              <a:t>Going ACF-free</a:t>
            </a:r>
          </a:p>
        </p:txBody>
      </p:sp>
      <p:pic>
        <p:nvPicPr>
          <p:cNvPr id="405" name="stamp-not-quite.png" descr="stamp-not-quite.png"/>
          <p:cNvPicPr>
            <a:picLocks noChangeAspect="1"/>
          </p:cNvPicPr>
          <p:nvPr/>
        </p:nvPicPr>
        <p:blipFill>
          <a:blip r:embed="rId4">
            <a:extLst/>
          </a:blip>
          <a:stretch>
            <a:fillRect/>
          </a:stretch>
        </p:blipFill>
        <p:spPr>
          <a:xfrm>
            <a:off x="15526374" y="9279588"/>
            <a:ext cx="7620001" cy="2857501"/>
          </a:xfrm>
          <a:prstGeom prst="rect">
            <a:avLst/>
          </a:prstGeom>
          <a:ln w="12700">
            <a:miter lim="400000"/>
          </a:ln>
        </p:spPr>
      </p:pic>
      <p:pic>
        <p:nvPicPr>
          <p:cNvPr id="406" name="prog-17.png" descr="prog-17.png"/>
          <p:cNvPicPr>
            <a:picLocks noChangeAspect="1"/>
          </p:cNvPicPr>
          <p:nvPr/>
        </p:nvPicPr>
        <p:blipFill>
          <a:blip r:embed="rId5">
            <a:extLst/>
          </a:blip>
          <a:stretch>
            <a:fillRect/>
          </a:stretch>
        </p:blipFill>
        <p:spPr>
          <a:xfrm>
            <a:off x="17170400" y="12395200"/>
            <a:ext cx="5842000" cy="406400"/>
          </a:xfrm>
          <a:prstGeom prst="rect">
            <a:avLst/>
          </a:prstGeom>
          <a:ln w="12700">
            <a:miter lim="400000"/>
          </a:ln>
        </p:spPr>
      </p:pic>
    </p:spTree>
  </p:cSld>
  <p:clrMapOvr>
    <a:masterClrMapping/>
  </p:clrMapOvr>
  <p:transition xmlns:p14="http://schemas.microsoft.com/office/powerpoint/2010/main" spd="med" advClick="1"/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10" name="bg.png" descr="bg.png"/>
          <p:cNvPicPr>
            <a:picLocks noChangeAspect="1"/>
          </p:cNvPicPr>
          <p:nvPr/>
        </p:nvPicPr>
        <p:blipFill>
          <a:blip r:embed="rId3">
            <a:extLst/>
          </a:blip>
          <a:stretch>
            <a:fillRect/>
          </a:stretch>
        </p:blipFill>
        <p:spPr>
          <a:xfrm>
            <a:off x="0" y="0"/>
            <a:ext cx="24384000" cy="13716000"/>
          </a:xfrm>
          <a:prstGeom prst="rect">
            <a:avLst/>
          </a:prstGeom>
          <a:ln w="12700">
            <a:miter lim="400000"/>
          </a:ln>
        </p:spPr>
      </p:pic>
      <p:sp>
        <p:nvSpPr>
          <p:cNvPr id="411" name="And suddenly we were"/>
          <p:cNvSpPr txBox="1"/>
          <p:nvPr/>
        </p:nvSpPr>
        <p:spPr>
          <a:xfrm>
            <a:off x="1308100" y="2959100"/>
            <a:ext cx="22707600" cy="13081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50800" tIns="50800" rIns="50800" bIns="50800" anchor="ctr">
            <a:spAutoFit/>
          </a:bodyPr>
          <a:lstStyle>
            <a:lvl1pPr>
              <a:defRPr sz="7600">
                <a:solidFill>
                  <a:srgbClr val="220D44"/>
                </a:solidFill>
                <a:latin typeface="Unbounded ExtraBold"/>
                <a:ea typeface="Unbounded ExtraBold"/>
                <a:cs typeface="Unbounded ExtraBold"/>
                <a:sym typeface="Unbounded ExtraBold"/>
              </a:defRPr>
            </a:lvl1pPr>
          </a:lstStyle>
          <a:p>
            <a:pPr/>
            <a:r>
              <a:t>And suddenly we were</a:t>
            </a:r>
          </a:p>
        </p:txBody>
      </p:sp>
      <p:sp>
        <p:nvSpPr>
          <p:cNvPr id="412" name="2012"/>
          <p:cNvSpPr txBox="1"/>
          <p:nvPr/>
        </p:nvSpPr>
        <p:spPr>
          <a:xfrm>
            <a:off x="1295400" y="5011420"/>
            <a:ext cx="10744200" cy="7620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50800" tIns="50800" rIns="50800" bIns="50800" anchor="ctr">
            <a:spAutoFit/>
          </a:bodyPr>
          <a:lstStyle>
            <a:lvl1pPr>
              <a:defRPr sz="4200">
                <a:solidFill>
                  <a:srgbClr val="6033A6"/>
                </a:solidFill>
                <a:latin typeface="Unbounded SemiBold"/>
                <a:ea typeface="Unbounded SemiBold"/>
                <a:cs typeface="Unbounded SemiBold"/>
                <a:sym typeface="Unbounded SemiBold"/>
              </a:defRPr>
            </a:lvl1pPr>
          </a:lstStyle>
          <a:p>
            <a:pPr/>
            <a:r>
              <a:t>2012</a:t>
            </a:r>
          </a:p>
        </p:txBody>
      </p:sp>
      <p:sp>
        <p:nvSpPr>
          <p:cNvPr id="413" name="Underscores. PHP, HTML and CSS. Where I learned themes, and where I stayed for the longest time."/>
          <p:cNvSpPr txBox="1"/>
          <p:nvPr/>
        </p:nvSpPr>
        <p:spPr>
          <a:xfrm>
            <a:off x="1320800" y="5836919"/>
            <a:ext cx="10744200" cy="116332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50800" tIns="50800" rIns="50800" bIns="50800" anchor="ctr">
            <a:spAutoFit/>
          </a:bodyPr>
          <a:lstStyle>
            <a:lvl1pPr>
              <a:defRPr sz="3400">
                <a:solidFill>
                  <a:srgbClr val="3D2644"/>
                </a:solidFill>
                <a:latin typeface="Geist"/>
                <a:ea typeface="Geist"/>
                <a:cs typeface="Geist"/>
                <a:sym typeface="Geist"/>
              </a:defRPr>
            </a:lvl1pPr>
          </a:lstStyle>
          <a:p>
            <a:pPr/>
            <a:r>
              <a:t>Underscores. PHP, HTML and CSS. Where I learned themes, and where I stayed for the longest time.</a:t>
            </a:r>
          </a:p>
        </p:txBody>
      </p:sp>
      <p:sp>
        <p:nvSpPr>
          <p:cNvPr id="414" name="Flashback, historical hard pass"/>
          <p:cNvSpPr txBox="1"/>
          <p:nvPr/>
        </p:nvSpPr>
        <p:spPr>
          <a:xfrm>
            <a:off x="12801600" y="5011420"/>
            <a:ext cx="10744200" cy="7620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50800" tIns="50800" rIns="50800" bIns="50800" anchor="ctr">
            <a:spAutoFit/>
          </a:bodyPr>
          <a:lstStyle>
            <a:lvl1pPr>
              <a:defRPr sz="4200">
                <a:solidFill>
                  <a:srgbClr val="6033A6"/>
                </a:solidFill>
                <a:latin typeface="Unbounded SemiBold"/>
                <a:ea typeface="Unbounded SemiBold"/>
                <a:cs typeface="Unbounded SemiBold"/>
                <a:sym typeface="Unbounded SemiBold"/>
              </a:defRPr>
            </a:lvl1pPr>
          </a:lstStyle>
          <a:p>
            <a:pPr/>
            <a:r>
              <a:t>Flashback, historical hard pass</a:t>
            </a:r>
          </a:p>
        </p:txBody>
      </p:sp>
      <p:sp>
        <p:nvSpPr>
          <p:cNvPr id="415" name="Sage, Twig, Timber, Blade, Dust.js, exotic ways of building WordPress. I kept at doing traditional WordPress."/>
          <p:cNvSpPr txBox="1"/>
          <p:nvPr/>
        </p:nvSpPr>
        <p:spPr>
          <a:xfrm>
            <a:off x="12827000" y="5814059"/>
            <a:ext cx="8655785" cy="166624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50800" tIns="50800" rIns="50800" bIns="50800" anchor="ctr">
            <a:spAutoFit/>
          </a:bodyPr>
          <a:lstStyle>
            <a:lvl1pPr>
              <a:defRPr sz="3400">
                <a:solidFill>
                  <a:srgbClr val="3D2644"/>
                </a:solidFill>
                <a:latin typeface="Geist"/>
                <a:ea typeface="Geist"/>
                <a:cs typeface="Geist"/>
                <a:sym typeface="Geist"/>
              </a:defRPr>
            </a:lvl1pPr>
          </a:lstStyle>
          <a:p>
            <a:pPr/>
            <a:r>
              <a:t>Sage, Twig, Timber, Blade, Dust.js, exotic ways of building WordPress. I kept at doing traditional WordPress.</a:t>
            </a:r>
          </a:p>
        </p:txBody>
      </p:sp>
      <p:sp>
        <p:nvSpPr>
          <p:cNvPr id="416" name="2017"/>
          <p:cNvSpPr txBox="1"/>
          <p:nvPr/>
        </p:nvSpPr>
        <p:spPr>
          <a:xfrm>
            <a:off x="1295400" y="7932419"/>
            <a:ext cx="10744200" cy="7620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50800" tIns="50800" rIns="50800" bIns="50800" anchor="ctr">
            <a:spAutoFit/>
          </a:bodyPr>
          <a:lstStyle>
            <a:lvl1pPr>
              <a:defRPr sz="4200">
                <a:solidFill>
                  <a:srgbClr val="6033A6"/>
                </a:solidFill>
                <a:latin typeface="Unbounded SemiBold"/>
                <a:ea typeface="Unbounded SemiBold"/>
                <a:cs typeface="Unbounded SemiBold"/>
                <a:sym typeface="Unbounded SemiBold"/>
              </a:defRPr>
            </a:lvl1pPr>
          </a:lstStyle>
          <a:p>
            <a:pPr/>
            <a:r>
              <a:t>2017</a:t>
            </a:r>
          </a:p>
        </p:txBody>
      </p:sp>
      <p:sp>
        <p:nvSpPr>
          <p:cNvPr id="417" name="WordPress nearly dropped React over its patent clause. Facebook relicensed it as MIT."/>
          <p:cNvSpPr txBox="1"/>
          <p:nvPr/>
        </p:nvSpPr>
        <p:spPr>
          <a:xfrm>
            <a:off x="1320800" y="8757919"/>
            <a:ext cx="10744200" cy="116332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50800" tIns="50800" rIns="50800" bIns="50800" anchor="ctr">
            <a:spAutoFit/>
          </a:bodyPr>
          <a:lstStyle>
            <a:lvl1pPr>
              <a:defRPr sz="3400">
                <a:solidFill>
                  <a:srgbClr val="3D2644"/>
                </a:solidFill>
                <a:latin typeface="Geist"/>
                <a:ea typeface="Geist"/>
                <a:cs typeface="Geist"/>
                <a:sym typeface="Geist"/>
              </a:defRPr>
            </a:lvl1pPr>
          </a:lstStyle>
          <a:p>
            <a:pPr/>
            <a:r>
              <a:t>WordPress nearly dropped React over its patent clause. Facebook relicensed it as MIT.</a:t>
            </a:r>
          </a:p>
        </p:txBody>
      </p:sp>
      <p:sp>
        <p:nvSpPr>
          <p:cNvPr id="418" name="2018"/>
          <p:cNvSpPr txBox="1"/>
          <p:nvPr/>
        </p:nvSpPr>
        <p:spPr>
          <a:xfrm>
            <a:off x="12801600" y="7932419"/>
            <a:ext cx="10744200" cy="7620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50800" tIns="50800" rIns="50800" bIns="50800" anchor="ctr">
            <a:spAutoFit/>
          </a:bodyPr>
          <a:lstStyle>
            <a:lvl1pPr>
              <a:defRPr sz="4200">
                <a:solidFill>
                  <a:srgbClr val="6033A6"/>
                </a:solidFill>
                <a:latin typeface="Unbounded SemiBold"/>
                <a:ea typeface="Unbounded SemiBold"/>
                <a:cs typeface="Unbounded SemiBold"/>
                <a:sym typeface="Unbounded SemiBold"/>
              </a:defRPr>
            </a:lvl1pPr>
          </a:lstStyle>
          <a:p>
            <a:pPr/>
            <a:r>
              <a:t>2018</a:t>
            </a:r>
          </a:p>
        </p:txBody>
      </p:sp>
      <p:sp>
        <p:nvSpPr>
          <p:cNvPr id="419" name="Blocks are React components, built with npm and @wordpress/scripts."/>
          <p:cNvSpPr txBox="1"/>
          <p:nvPr/>
        </p:nvSpPr>
        <p:spPr>
          <a:xfrm>
            <a:off x="12827000" y="8762999"/>
            <a:ext cx="8351466" cy="116332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50800" tIns="50800" rIns="50800" bIns="50800" anchor="ctr">
            <a:spAutoFit/>
          </a:bodyPr>
          <a:lstStyle/>
          <a:p>
            <a:pPr>
              <a:defRPr sz="3400">
                <a:solidFill>
                  <a:srgbClr val="3D2644"/>
                </a:solidFill>
                <a:latin typeface="Geist"/>
                <a:ea typeface="Geist"/>
                <a:cs typeface="Geist"/>
                <a:sym typeface="Geist"/>
              </a:defRPr>
            </a:pPr>
            <a:r>
              <a:t>Blocks are React components, built with npm and </a:t>
            </a:r>
            <a:r>
              <a:rPr sz="3100">
                <a:solidFill>
                  <a:srgbClr val="6033A6"/>
                </a:solidFill>
                <a:latin typeface="Geist Mono"/>
                <a:ea typeface="Geist Mono"/>
                <a:cs typeface="Geist Mono"/>
                <a:sym typeface="Geist Mono"/>
              </a:rPr>
              <a:t>@wordpress/scripts</a:t>
            </a:r>
            <a:r>
              <a:t>.</a:t>
            </a:r>
          </a:p>
        </p:txBody>
      </p:sp>
      <p:sp>
        <p:nvSpPr>
          <p:cNvPr id="420" name="Going ACF-free"/>
          <p:cNvSpPr txBox="1"/>
          <p:nvPr/>
        </p:nvSpPr>
        <p:spPr>
          <a:xfrm>
            <a:off x="1320800" y="12344400"/>
            <a:ext cx="2451100" cy="4953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50800" tIns="50800" rIns="50800" bIns="50800" anchor="ctr">
            <a:spAutoFit/>
          </a:bodyPr>
          <a:lstStyle>
            <a:lvl1pPr>
              <a:defRPr sz="2400">
                <a:solidFill>
                  <a:srgbClr val="5D4E61"/>
                </a:solidFill>
                <a:latin typeface="Geist"/>
                <a:ea typeface="Geist"/>
                <a:cs typeface="Geist"/>
                <a:sym typeface="Geist"/>
              </a:defRPr>
            </a:lvl1pPr>
          </a:lstStyle>
          <a:p>
            <a:pPr/>
            <a:r>
              <a:t>Going ACF-free</a:t>
            </a:r>
          </a:p>
        </p:txBody>
      </p:sp>
      <p:sp>
        <p:nvSpPr>
          <p:cNvPr id="421" name="-devs"/>
          <p:cNvSpPr txBox="1"/>
          <p:nvPr/>
        </p:nvSpPr>
        <p:spPr>
          <a:xfrm>
            <a:off x="19359880" y="2701289"/>
            <a:ext cx="6096001" cy="17145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50800" tIns="50800" rIns="50800" bIns="50800" anchor="ctr">
            <a:spAutoFit/>
          </a:bodyPr>
          <a:lstStyle>
            <a:lvl1pPr>
              <a:defRPr i="1" sz="9800">
                <a:solidFill>
                  <a:srgbClr val="6033A6"/>
                </a:solidFill>
                <a:latin typeface="Instrument Serif"/>
                <a:ea typeface="Instrument Serif"/>
                <a:cs typeface="Instrument Serif"/>
                <a:sym typeface="Instrument Serif"/>
              </a:defRPr>
            </a:lvl1pPr>
          </a:lstStyle>
          <a:p>
            <a:pPr/>
            <a:r>
              <a:t>-devs</a:t>
            </a:r>
          </a:p>
        </p:txBody>
      </p:sp>
      <p:pic>
        <p:nvPicPr>
          <p:cNvPr id="422" name="js-logo.png" descr="js-logo.png"/>
          <p:cNvPicPr>
            <a:picLocks noChangeAspect="1"/>
          </p:cNvPicPr>
          <p:nvPr/>
        </p:nvPicPr>
        <p:blipFill>
          <a:blip r:embed="rId4">
            <a:extLst/>
          </a:blip>
          <a:stretch>
            <a:fillRect/>
          </a:stretch>
        </p:blipFill>
        <p:spPr>
          <a:xfrm>
            <a:off x="15374619" y="3114039"/>
            <a:ext cx="965201" cy="965201"/>
          </a:xfrm>
          <a:prstGeom prst="rect">
            <a:avLst/>
          </a:prstGeom>
          <a:ln w="12700">
            <a:miter lim="400000"/>
          </a:ln>
        </p:spPr>
      </p:pic>
      <p:pic>
        <p:nvPicPr>
          <p:cNvPr id="423" name="react-lockup.png" descr="react-lockup.png"/>
          <p:cNvPicPr>
            <a:picLocks noChangeAspect="1"/>
          </p:cNvPicPr>
          <p:nvPr/>
        </p:nvPicPr>
        <p:blipFill>
          <a:blip r:embed="rId5">
            <a:extLst/>
          </a:blip>
          <a:stretch>
            <a:fillRect/>
          </a:stretch>
        </p:blipFill>
        <p:spPr>
          <a:xfrm>
            <a:off x="16512539" y="3181350"/>
            <a:ext cx="3118339" cy="965200"/>
          </a:xfrm>
          <a:prstGeom prst="rect">
            <a:avLst/>
          </a:prstGeom>
          <a:ln w="12700">
            <a:miter lim="400000"/>
          </a:ln>
        </p:spPr>
      </p:pic>
      <p:pic>
        <p:nvPicPr>
          <p:cNvPr id="424" name="stamp-not-quite.png" descr="stamp-not-quite.png"/>
          <p:cNvPicPr>
            <a:picLocks noChangeAspect="1"/>
          </p:cNvPicPr>
          <p:nvPr/>
        </p:nvPicPr>
        <p:blipFill>
          <a:blip r:embed="rId6">
            <a:extLst/>
          </a:blip>
          <a:stretch>
            <a:fillRect/>
          </a:stretch>
        </p:blipFill>
        <p:spPr>
          <a:xfrm>
            <a:off x="17345931" y="6512559"/>
            <a:ext cx="5177262" cy="1941474"/>
          </a:xfrm>
          <a:prstGeom prst="rect">
            <a:avLst/>
          </a:prstGeom>
          <a:ln w="12700">
            <a:miter lim="400000"/>
          </a:ln>
        </p:spPr>
      </p:pic>
      <p:pic>
        <p:nvPicPr>
          <p:cNvPr id="425" name="prog-18.png" descr="prog-18.png"/>
          <p:cNvPicPr>
            <a:picLocks noChangeAspect="1"/>
          </p:cNvPicPr>
          <p:nvPr/>
        </p:nvPicPr>
        <p:blipFill>
          <a:blip r:embed="rId7">
            <a:extLst/>
          </a:blip>
          <a:stretch>
            <a:fillRect/>
          </a:stretch>
        </p:blipFill>
        <p:spPr>
          <a:xfrm>
            <a:off x="17170400" y="12395200"/>
            <a:ext cx="5842000" cy="406400"/>
          </a:xfrm>
          <a:prstGeom prst="rect">
            <a:avLst/>
          </a:prstGeom>
          <a:ln w="12700">
            <a:miter lim="400000"/>
          </a:ln>
        </p:spPr>
      </p:pic>
    </p:spTree>
  </p:cSld>
  <p:clrMapOvr>
    <a:masterClrMapping/>
  </p:clrMapOvr>
  <p:transition xmlns:p14="http://schemas.microsoft.com/office/powerpoint/2010/main" spd="med" advClick="1"/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29" name="bg.png" descr="bg.png"/>
          <p:cNvPicPr>
            <a:picLocks noChangeAspect="1"/>
          </p:cNvPicPr>
          <p:nvPr/>
        </p:nvPicPr>
        <p:blipFill>
          <a:blip r:embed="rId3">
            <a:extLst/>
          </a:blip>
          <a:stretch>
            <a:fillRect/>
          </a:stretch>
        </p:blipFill>
        <p:spPr>
          <a:xfrm>
            <a:off x="0" y="0"/>
            <a:ext cx="24384000" cy="13716000"/>
          </a:xfrm>
          <a:prstGeom prst="rect">
            <a:avLst/>
          </a:prstGeom>
          <a:ln w="12700">
            <a:miter lim="400000"/>
          </a:ln>
        </p:spPr>
      </p:pic>
      <p:sp>
        <p:nvSpPr>
          <p:cNvPr id="430" name="Media and text, coded by hand"/>
          <p:cNvSpPr txBox="1"/>
          <p:nvPr/>
        </p:nvSpPr>
        <p:spPr>
          <a:xfrm>
            <a:off x="1308100" y="2692399"/>
            <a:ext cx="22707600" cy="17145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50800" tIns="50800" rIns="50800" bIns="50800" anchor="ctr">
            <a:spAutoFit/>
          </a:bodyPr>
          <a:lstStyle/>
          <a:p>
            <a:pPr>
              <a:defRPr sz="7600">
                <a:solidFill>
                  <a:srgbClr val="220D44"/>
                </a:solidFill>
                <a:latin typeface="Unbounded ExtraBold"/>
                <a:ea typeface="Unbounded ExtraBold"/>
                <a:cs typeface="Unbounded ExtraBold"/>
                <a:sym typeface="Unbounded ExtraBold"/>
              </a:defRPr>
            </a:pPr>
            <a:r>
              <a:t>Media and text, </a:t>
            </a:r>
            <a:r>
              <a:rPr i="1" sz="9800">
                <a:solidFill>
                  <a:srgbClr val="6033A6"/>
                </a:solidFill>
                <a:latin typeface="Instrument Serif"/>
                <a:ea typeface="Instrument Serif"/>
                <a:cs typeface="Instrument Serif"/>
                <a:sym typeface="Instrument Serif"/>
              </a:rPr>
              <a:t>coded by hand</a:t>
            </a:r>
          </a:p>
        </p:txBody>
      </p:sp>
      <p:sp>
        <p:nvSpPr>
          <p:cNvPr id="431" name="Going ACF-free"/>
          <p:cNvSpPr txBox="1"/>
          <p:nvPr/>
        </p:nvSpPr>
        <p:spPr>
          <a:xfrm>
            <a:off x="1320800" y="12344400"/>
            <a:ext cx="2451100" cy="4953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50800" tIns="50800" rIns="50800" bIns="50800" anchor="ctr">
            <a:spAutoFit/>
          </a:bodyPr>
          <a:lstStyle>
            <a:lvl1pPr>
              <a:defRPr sz="2400">
                <a:solidFill>
                  <a:srgbClr val="5D4E61"/>
                </a:solidFill>
                <a:latin typeface="Geist"/>
                <a:ea typeface="Geist"/>
                <a:cs typeface="Geist"/>
                <a:sym typeface="Geist"/>
              </a:defRPr>
            </a:lvl1pPr>
          </a:lstStyle>
          <a:p>
            <a:pPr/>
            <a:r>
              <a:t>Going ACF-free</a:t>
            </a:r>
          </a:p>
        </p:txBody>
      </p:sp>
      <p:pic>
        <p:nvPicPr>
          <p:cNvPr id="432" name="panel-470x456.png" descr="panel-470x456.png"/>
          <p:cNvPicPr>
            <a:picLocks noChangeAspect="1"/>
          </p:cNvPicPr>
          <p:nvPr/>
        </p:nvPicPr>
        <p:blipFill>
          <a:blip r:embed="rId4">
            <a:extLst/>
          </a:blip>
          <a:stretch>
            <a:fillRect/>
          </a:stretch>
        </p:blipFill>
        <p:spPr>
          <a:xfrm>
            <a:off x="1371600" y="4826000"/>
            <a:ext cx="5969000" cy="5791200"/>
          </a:xfrm>
          <a:prstGeom prst="rect">
            <a:avLst/>
          </a:prstGeom>
          <a:ln w="12700">
            <a:miter lim="400000"/>
          </a:ln>
        </p:spPr>
      </p:pic>
      <p:sp>
        <p:nvSpPr>
          <p:cNvPr id="433" name="blocks/media-text/ ├── block.json ├── build/ └── src/     ├── index.js     ├── edit.js     ├── save.js     ├── deprecated.js     ├── editor.scss     └── style.scss"/>
          <p:cNvSpPr txBox="1"/>
          <p:nvPr/>
        </p:nvSpPr>
        <p:spPr>
          <a:xfrm>
            <a:off x="1676400" y="5079999"/>
            <a:ext cx="5461000" cy="56896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50800" tIns="50800" rIns="50800" bIns="50800" anchor="ctr">
            <a:spAutoFit/>
          </a:bodyPr>
          <a:lstStyle/>
          <a:p>
            <a:pPr>
              <a:defRPr sz="2600">
                <a:solidFill>
                  <a:srgbClr val="EEE6FF"/>
                </a:solidFill>
                <a:latin typeface="Geist Mono"/>
                <a:ea typeface="Geist Mono"/>
                <a:cs typeface="Geist Mono"/>
                <a:sym typeface="Geist Mono"/>
              </a:defRPr>
            </a:pPr>
            <a:r>
              <a:t>blocks/media-text/</a:t>
            </a:r>
            <a:br>
              <a:rPr sz="3400"/>
            </a:br>
            <a:r>
              <a:t>├── block</a:t>
            </a:r>
            <a:r>
              <a:rPr>
                <a:solidFill>
                  <a:srgbClr val="C4B7E9"/>
                </a:solidFill>
              </a:rPr>
              <a:t>.</a:t>
            </a:r>
            <a:r>
              <a:t>json</a:t>
            </a:r>
            <a:br>
              <a:rPr sz="3400"/>
            </a:br>
            <a:r>
              <a:t>├── build/</a:t>
            </a:r>
            <a:br>
              <a:rPr sz="3400"/>
            </a:br>
            <a:r>
              <a:t>└── src/</a:t>
            </a:r>
            <a:br>
              <a:rPr sz="3400"/>
            </a:br>
            <a:r>
              <a:t>    ├── index</a:t>
            </a:r>
            <a:r>
              <a:rPr>
                <a:solidFill>
                  <a:srgbClr val="C4B7E9"/>
                </a:solidFill>
              </a:rPr>
              <a:t>.</a:t>
            </a:r>
            <a:r>
              <a:t>js</a:t>
            </a:r>
            <a:br>
              <a:rPr sz="3400"/>
            </a:br>
            <a:r>
              <a:t>    ├── edit</a:t>
            </a:r>
            <a:r>
              <a:rPr>
                <a:solidFill>
                  <a:srgbClr val="C4B7E9"/>
                </a:solidFill>
              </a:rPr>
              <a:t>.</a:t>
            </a:r>
            <a:r>
              <a:t>js</a:t>
            </a:r>
            <a:br>
              <a:rPr sz="3400"/>
            </a:br>
            <a:r>
              <a:t>    ├── save</a:t>
            </a:r>
            <a:r>
              <a:rPr>
                <a:solidFill>
                  <a:srgbClr val="C4B7E9"/>
                </a:solidFill>
              </a:rPr>
              <a:t>.</a:t>
            </a:r>
            <a:r>
              <a:t>js</a:t>
            </a:r>
            <a:br>
              <a:rPr sz="3400"/>
            </a:br>
            <a:r>
              <a:t>    ├── deprecated</a:t>
            </a:r>
            <a:r>
              <a:rPr>
                <a:solidFill>
                  <a:srgbClr val="C4B7E9"/>
                </a:solidFill>
              </a:rPr>
              <a:t>.</a:t>
            </a:r>
            <a:r>
              <a:t>js</a:t>
            </a:r>
            <a:br>
              <a:rPr sz="3400"/>
            </a:br>
            <a:r>
              <a:t>    ├── editor</a:t>
            </a:r>
            <a:r>
              <a:rPr>
                <a:solidFill>
                  <a:srgbClr val="C4B7E9"/>
                </a:solidFill>
              </a:rPr>
              <a:t>.</a:t>
            </a:r>
            <a:r>
              <a:t>scss</a:t>
            </a:r>
            <a:br>
              <a:rPr sz="3400"/>
            </a:br>
            <a:r>
              <a:t>    └── style</a:t>
            </a:r>
            <a:r>
              <a:rPr>
                <a:solidFill>
                  <a:srgbClr val="C4B7E9"/>
                </a:solidFill>
              </a:rPr>
              <a:t>.</a:t>
            </a:r>
            <a:r>
              <a:t>scss</a:t>
            </a:r>
            <a:br>
              <a:rPr sz="3400"/>
            </a:br>
          </a:p>
        </p:txBody>
      </p:sp>
      <p:pic>
        <p:nvPicPr>
          <p:cNvPr id="434" name="panel-1210x456.png" descr="panel-1210x456.png"/>
          <p:cNvPicPr>
            <a:picLocks noChangeAspect="1"/>
          </p:cNvPicPr>
          <p:nvPr/>
        </p:nvPicPr>
        <p:blipFill>
          <a:blip r:embed="rId5">
            <a:extLst/>
          </a:blip>
          <a:stretch>
            <a:fillRect/>
          </a:stretch>
        </p:blipFill>
        <p:spPr>
          <a:xfrm>
            <a:off x="7645400" y="4826000"/>
            <a:ext cx="15367000" cy="5791200"/>
          </a:xfrm>
          <a:prstGeom prst="rect">
            <a:avLst/>
          </a:prstGeom>
          <a:ln w="12700">
            <a:miter lim="400000"/>
          </a:ln>
        </p:spPr>
      </p:pic>
      <p:sp>
        <p:nvSpPr>
          <p:cNvPr id="435" name="const { heading, level, mediaUrl,   mediaRight, bgColor, padding } = attributes; &lt;InspectorControls&gt;   &lt;SelectControl label=&quot;Heading level&quot; value={ level } /&gt;   &lt;ToggleControl label=&quot;Media right&quot; checked={ mediaRight } /&gt;   &lt;ColorPalette value={ bgColor "/>
          <p:cNvSpPr txBox="1"/>
          <p:nvPr/>
        </p:nvSpPr>
        <p:spPr>
          <a:xfrm>
            <a:off x="7950200" y="5079999"/>
            <a:ext cx="14859000" cy="56896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50800" tIns="50800" rIns="50800" bIns="50800" anchor="ctr">
            <a:spAutoFit/>
          </a:bodyPr>
          <a:lstStyle/>
          <a:p>
            <a:pPr>
              <a:defRPr sz="2600">
                <a:solidFill>
                  <a:srgbClr val="EEE6FF"/>
                </a:solidFill>
                <a:latin typeface="Geist Mono"/>
                <a:ea typeface="Geist Mono"/>
                <a:cs typeface="Geist Mono"/>
                <a:sym typeface="Geist Mono"/>
              </a:defRPr>
            </a:pPr>
            <a:r>
              <a:rPr>
                <a:solidFill>
                  <a:srgbClr val="FF97E2"/>
                </a:solidFill>
              </a:rPr>
              <a:t>const</a:t>
            </a:r>
            <a:r>
              <a:t> </a:t>
            </a:r>
            <a:r>
              <a:rPr>
                <a:solidFill>
                  <a:srgbClr val="C4B7E9"/>
                </a:solidFill>
              </a:rPr>
              <a:t>{</a:t>
            </a:r>
            <a:r>
              <a:t> heading</a:t>
            </a:r>
            <a:r>
              <a:rPr>
                <a:solidFill>
                  <a:srgbClr val="C4B7E9"/>
                </a:solidFill>
              </a:rPr>
              <a:t>,</a:t>
            </a:r>
            <a:r>
              <a:t> level</a:t>
            </a:r>
            <a:r>
              <a:rPr>
                <a:solidFill>
                  <a:srgbClr val="C4B7E9"/>
                </a:solidFill>
              </a:rPr>
              <a:t>,</a:t>
            </a:r>
            <a:r>
              <a:t> mediaUrl</a:t>
            </a:r>
            <a:r>
              <a:rPr>
                <a:solidFill>
                  <a:srgbClr val="C4B7E9"/>
                </a:solidFill>
              </a:rPr>
              <a:t>,</a:t>
            </a:r>
            <a:br>
              <a:rPr sz="3400"/>
            </a:br>
            <a:r>
              <a:t>  mediaRight</a:t>
            </a:r>
            <a:r>
              <a:rPr>
                <a:solidFill>
                  <a:srgbClr val="C4B7E9"/>
                </a:solidFill>
              </a:rPr>
              <a:t>,</a:t>
            </a:r>
            <a:r>
              <a:t> bgColor</a:t>
            </a:r>
            <a:r>
              <a:rPr>
                <a:solidFill>
                  <a:srgbClr val="C4B7E9"/>
                </a:solidFill>
              </a:rPr>
              <a:t>,</a:t>
            </a:r>
            <a:r>
              <a:t> padding </a:t>
            </a:r>
            <a:r>
              <a:rPr>
                <a:solidFill>
                  <a:srgbClr val="C4B7E9"/>
                </a:solidFill>
              </a:rPr>
              <a:t>}</a:t>
            </a:r>
            <a:r>
              <a:t> </a:t>
            </a:r>
            <a:r>
              <a:rPr>
                <a:solidFill>
                  <a:srgbClr val="C4B7E9"/>
                </a:solidFill>
              </a:rPr>
              <a:t>=</a:t>
            </a:r>
            <a:r>
              <a:t> attributes</a:t>
            </a:r>
            <a:r>
              <a:rPr>
                <a:solidFill>
                  <a:srgbClr val="C4B7E9"/>
                </a:solidFill>
              </a:rPr>
              <a:t>;</a:t>
            </a:r>
            <a:br>
              <a:rPr sz="3400"/>
            </a:br>
            <a:r>
              <a:rPr>
                <a:solidFill>
                  <a:srgbClr val="C4B7E9"/>
                </a:solidFill>
              </a:rPr>
              <a:t>&lt;</a:t>
            </a:r>
            <a:r>
              <a:t>InspectorControls</a:t>
            </a:r>
            <a:r>
              <a:rPr>
                <a:solidFill>
                  <a:srgbClr val="C4B7E9"/>
                </a:solidFill>
              </a:rPr>
              <a:t>&gt;</a:t>
            </a:r>
            <a:br>
              <a:rPr sz="3400"/>
            </a:br>
            <a:r>
              <a:t>  </a:t>
            </a:r>
            <a:r>
              <a:rPr>
                <a:solidFill>
                  <a:srgbClr val="C4B7E9"/>
                </a:solidFill>
              </a:rPr>
              <a:t>&lt;</a:t>
            </a:r>
            <a:r>
              <a:t>SelectControl label</a:t>
            </a:r>
            <a:r>
              <a:rPr>
                <a:solidFill>
                  <a:srgbClr val="C4B7E9"/>
                </a:solidFill>
              </a:rPr>
              <a:t>=</a:t>
            </a:r>
            <a:r>
              <a:rPr>
                <a:solidFill>
                  <a:srgbClr val="FFC3E7"/>
                </a:solidFill>
              </a:rPr>
              <a:t>"Heading level"</a:t>
            </a:r>
            <a:r>
              <a:t> value</a:t>
            </a:r>
            <a:r>
              <a:rPr>
                <a:solidFill>
                  <a:srgbClr val="C4B7E9"/>
                </a:solidFill>
              </a:rPr>
              <a:t>={</a:t>
            </a:r>
            <a:r>
              <a:t> level </a:t>
            </a:r>
            <a:r>
              <a:rPr>
                <a:solidFill>
                  <a:srgbClr val="C4B7E9"/>
                </a:solidFill>
              </a:rPr>
              <a:t>}</a:t>
            </a:r>
            <a:r>
              <a:t> /</a:t>
            </a:r>
            <a:r>
              <a:rPr>
                <a:solidFill>
                  <a:srgbClr val="C4B7E9"/>
                </a:solidFill>
              </a:rPr>
              <a:t>&gt;</a:t>
            </a:r>
            <a:br>
              <a:rPr sz="3400"/>
            </a:br>
            <a:r>
              <a:t>  </a:t>
            </a:r>
            <a:r>
              <a:rPr>
                <a:solidFill>
                  <a:srgbClr val="C4B7E9"/>
                </a:solidFill>
              </a:rPr>
              <a:t>&lt;</a:t>
            </a:r>
            <a:r>
              <a:t>ToggleControl label</a:t>
            </a:r>
            <a:r>
              <a:rPr>
                <a:solidFill>
                  <a:srgbClr val="C4B7E9"/>
                </a:solidFill>
              </a:rPr>
              <a:t>=</a:t>
            </a:r>
            <a:r>
              <a:rPr>
                <a:solidFill>
                  <a:srgbClr val="FFC3E7"/>
                </a:solidFill>
              </a:rPr>
              <a:t>"Media right"</a:t>
            </a:r>
            <a:r>
              <a:t> checked</a:t>
            </a:r>
            <a:r>
              <a:rPr>
                <a:solidFill>
                  <a:srgbClr val="C4B7E9"/>
                </a:solidFill>
              </a:rPr>
              <a:t>={</a:t>
            </a:r>
            <a:r>
              <a:t> mediaRight </a:t>
            </a:r>
            <a:r>
              <a:rPr>
                <a:solidFill>
                  <a:srgbClr val="C4B7E9"/>
                </a:solidFill>
              </a:rPr>
              <a:t>}</a:t>
            </a:r>
            <a:r>
              <a:t> /</a:t>
            </a:r>
            <a:r>
              <a:rPr>
                <a:solidFill>
                  <a:srgbClr val="C4B7E9"/>
                </a:solidFill>
              </a:rPr>
              <a:t>&gt;</a:t>
            </a:r>
            <a:br>
              <a:rPr sz="3400"/>
            </a:br>
            <a:r>
              <a:t>  </a:t>
            </a:r>
            <a:r>
              <a:rPr>
                <a:solidFill>
                  <a:srgbClr val="C4B7E9"/>
                </a:solidFill>
              </a:rPr>
              <a:t>&lt;</a:t>
            </a:r>
            <a:r>
              <a:t>ColorPalette value</a:t>
            </a:r>
            <a:r>
              <a:rPr>
                <a:solidFill>
                  <a:srgbClr val="C4B7E9"/>
                </a:solidFill>
              </a:rPr>
              <a:t>={</a:t>
            </a:r>
            <a:r>
              <a:t> bgColor </a:t>
            </a:r>
            <a:r>
              <a:rPr>
                <a:solidFill>
                  <a:srgbClr val="C4B7E9"/>
                </a:solidFill>
              </a:rPr>
              <a:t>}</a:t>
            </a:r>
            <a:r>
              <a:t> onChange</a:t>
            </a:r>
            <a:r>
              <a:rPr>
                <a:solidFill>
                  <a:srgbClr val="C4B7E9"/>
                </a:solidFill>
              </a:rPr>
              <a:t>={</a:t>
            </a:r>
            <a:r>
              <a:t> setBg </a:t>
            </a:r>
            <a:r>
              <a:rPr>
                <a:solidFill>
                  <a:srgbClr val="C4B7E9"/>
                </a:solidFill>
              </a:rPr>
              <a:t>}</a:t>
            </a:r>
            <a:r>
              <a:t> /</a:t>
            </a:r>
            <a:r>
              <a:rPr>
                <a:solidFill>
                  <a:srgbClr val="C4B7E9"/>
                </a:solidFill>
              </a:rPr>
              <a:t>&gt;</a:t>
            </a:r>
            <a:br>
              <a:rPr sz="3400"/>
            </a:br>
            <a:r>
              <a:t>  </a:t>
            </a:r>
            <a:r>
              <a:rPr>
                <a:solidFill>
                  <a:srgbClr val="C4B7E9"/>
                </a:solidFill>
              </a:rPr>
              <a:t>&lt;</a:t>
            </a:r>
            <a:r>
              <a:t>RangeControl label</a:t>
            </a:r>
            <a:r>
              <a:rPr>
                <a:solidFill>
                  <a:srgbClr val="C4B7E9"/>
                </a:solidFill>
              </a:rPr>
              <a:t>=</a:t>
            </a:r>
            <a:r>
              <a:rPr>
                <a:solidFill>
                  <a:srgbClr val="FFC3E7"/>
                </a:solidFill>
              </a:rPr>
              <a:t>"Padding"</a:t>
            </a:r>
            <a:r>
              <a:t> value</a:t>
            </a:r>
            <a:r>
              <a:rPr>
                <a:solidFill>
                  <a:srgbClr val="C4B7E9"/>
                </a:solidFill>
              </a:rPr>
              <a:t>={</a:t>
            </a:r>
            <a:r>
              <a:t> padding </a:t>
            </a:r>
            <a:r>
              <a:rPr>
                <a:solidFill>
                  <a:srgbClr val="C4B7E9"/>
                </a:solidFill>
              </a:rPr>
              <a:t>}</a:t>
            </a:r>
            <a:r>
              <a:t> /</a:t>
            </a:r>
            <a:r>
              <a:rPr>
                <a:solidFill>
                  <a:srgbClr val="C4B7E9"/>
                </a:solidFill>
              </a:rPr>
              <a:t>&gt;</a:t>
            </a:r>
            <a:br>
              <a:rPr sz="3400"/>
            </a:br>
            <a:r>
              <a:rPr>
                <a:solidFill>
                  <a:srgbClr val="C4B7E9"/>
                </a:solidFill>
              </a:rPr>
              <a:t>&lt;</a:t>
            </a:r>
            <a:r>
              <a:t>/InspectorControls</a:t>
            </a:r>
            <a:r>
              <a:rPr>
                <a:solidFill>
                  <a:srgbClr val="C4B7E9"/>
                </a:solidFill>
              </a:rPr>
              <a:t>&gt;</a:t>
            </a:r>
            <a:br>
              <a:rPr sz="3400"/>
            </a:br>
            <a:r>
              <a:rPr>
                <a:solidFill>
                  <a:srgbClr val="C4B7E9"/>
                </a:solidFill>
              </a:rPr>
              <a:t>&lt;</a:t>
            </a:r>
            <a:r>
              <a:t>RichText tagName</a:t>
            </a:r>
            <a:r>
              <a:rPr>
                <a:solidFill>
                  <a:srgbClr val="C4B7E9"/>
                </a:solidFill>
              </a:rPr>
              <a:t>={</a:t>
            </a:r>
            <a:r>
              <a:t> level </a:t>
            </a:r>
            <a:r>
              <a:rPr>
                <a:solidFill>
                  <a:srgbClr val="C4B7E9"/>
                </a:solidFill>
              </a:rPr>
              <a:t>}</a:t>
            </a:r>
            <a:r>
              <a:t> value</a:t>
            </a:r>
            <a:r>
              <a:rPr>
                <a:solidFill>
                  <a:srgbClr val="C4B7E9"/>
                </a:solidFill>
              </a:rPr>
              <a:t>={</a:t>
            </a:r>
            <a:r>
              <a:t> heading </a:t>
            </a:r>
            <a:r>
              <a:rPr>
                <a:solidFill>
                  <a:srgbClr val="C4B7E9"/>
                </a:solidFill>
              </a:rPr>
              <a:t>}</a:t>
            </a:r>
            <a:r>
              <a:t> /</a:t>
            </a:r>
            <a:r>
              <a:rPr>
                <a:solidFill>
                  <a:srgbClr val="C4B7E9"/>
                </a:solidFill>
              </a:rPr>
              <a:t>&gt;</a:t>
            </a:r>
            <a:br>
              <a:rPr sz="3400"/>
            </a:br>
            <a:r>
              <a:rPr>
                <a:solidFill>
                  <a:srgbClr val="C4B7E9"/>
                </a:solidFill>
              </a:rPr>
              <a:t>&lt;</a:t>
            </a:r>
            <a:r>
              <a:t>MediaUpload onSelect</a:t>
            </a:r>
            <a:r>
              <a:rPr>
                <a:solidFill>
                  <a:srgbClr val="C4B7E9"/>
                </a:solidFill>
              </a:rPr>
              <a:t>={</a:t>
            </a:r>
            <a:r>
              <a:t> setMedia </a:t>
            </a:r>
            <a:r>
              <a:rPr>
                <a:solidFill>
                  <a:srgbClr val="C4B7E9"/>
                </a:solidFill>
              </a:rPr>
              <a:t>}</a:t>
            </a:r>
            <a:r>
              <a:t> render</a:t>
            </a:r>
            <a:r>
              <a:rPr>
                <a:solidFill>
                  <a:srgbClr val="C4B7E9"/>
                </a:solidFill>
              </a:rPr>
              <a:t>={</a:t>
            </a:r>
            <a:r>
              <a:t> button </a:t>
            </a:r>
            <a:r>
              <a:rPr>
                <a:solidFill>
                  <a:srgbClr val="C4B7E9"/>
                </a:solidFill>
              </a:rPr>
              <a:t>}</a:t>
            </a:r>
            <a:r>
              <a:t> /</a:t>
            </a:r>
            <a:r>
              <a:rPr>
                <a:solidFill>
                  <a:srgbClr val="C4B7E9"/>
                </a:solidFill>
              </a:rPr>
              <a:t>&gt;</a:t>
            </a:r>
            <a:br>
              <a:rPr sz="3400"/>
            </a:br>
          </a:p>
        </p:txBody>
      </p:sp>
      <p:sp>
        <p:nvSpPr>
          <p:cNvPr id="436" name="Every one of these controls already ships with core Media &amp; Text, in core since WordPress 5.0 (2018)."/>
          <p:cNvSpPr txBox="1"/>
          <p:nvPr/>
        </p:nvSpPr>
        <p:spPr>
          <a:xfrm>
            <a:off x="1320800" y="10998199"/>
            <a:ext cx="21590000" cy="6223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50800" tIns="50800" rIns="50800" bIns="50800" anchor="ctr">
            <a:spAutoFit/>
          </a:bodyPr>
          <a:lstStyle>
            <a:lvl1pPr>
              <a:defRPr sz="3200">
                <a:solidFill>
                  <a:srgbClr val="220D44"/>
                </a:solidFill>
                <a:latin typeface="Geist"/>
                <a:ea typeface="Geist"/>
                <a:cs typeface="Geist"/>
                <a:sym typeface="Geist"/>
              </a:defRPr>
            </a:lvl1pPr>
          </a:lstStyle>
          <a:p>
            <a:pPr/>
            <a:r>
              <a:t>Every one of these controls already ships with core Media &amp; Text, in core since WordPress 5.0 (2018).</a:t>
            </a:r>
          </a:p>
        </p:txBody>
      </p:sp>
      <p:pic>
        <p:nvPicPr>
          <p:cNvPr id="437" name="stamp-not-quite.png" descr="stamp-not-quite.png"/>
          <p:cNvPicPr>
            <a:picLocks noChangeAspect="1"/>
          </p:cNvPicPr>
          <p:nvPr/>
        </p:nvPicPr>
        <p:blipFill>
          <a:blip r:embed="rId6">
            <a:extLst/>
          </a:blip>
          <a:stretch>
            <a:fillRect/>
          </a:stretch>
        </p:blipFill>
        <p:spPr>
          <a:xfrm>
            <a:off x="17640349" y="3069388"/>
            <a:ext cx="5960535" cy="2235201"/>
          </a:xfrm>
          <a:prstGeom prst="rect">
            <a:avLst/>
          </a:prstGeom>
          <a:ln w="12700">
            <a:miter lim="400000"/>
          </a:ln>
        </p:spPr>
      </p:pic>
      <p:pic>
        <p:nvPicPr>
          <p:cNvPr id="438" name="prog-19.png" descr="prog-19.png"/>
          <p:cNvPicPr>
            <a:picLocks noChangeAspect="1"/>
          </p:cNvPicPr>
          <p:nvPr/>
        </p:nvPicPr>
        <p:blipFill>
          <a:blip r:embed="rId7">
            <a:extLst/>
          </a:blip>
          <a:stretch>
            <a:fillRect/>
          </a:stretch>
        </p:blipFill>
        <p:spPr>
          <a:xfrm>
            <a:off x="17170400" y="12395200"/>
            <a:ext cx="5842000" cy="406400"/>
          </a:xfrm>
          <a:prstGeom prst="rect">
            <a:avLst/>
          </a:prstGeom>
          <a:ln w="12700">
            <a:miter lim="400000"/>
          </a:ln>
        </p:spPr>
      </p:pic>
    </p:spTree>
  </p:cSld>
  <p:clrMapOvr>
    <a:masterClrMapping/>
  </p:clrMapOvr>
  <p:transition xmlns:p14="http://schemas.microsoft.com/office/powerpoint/2010/main" spd="med" advClick="1"/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42" name="bg.png" descr="bg.png"/>
          <p:cNvPicPr>
            <a:picLocks noChangeAspect="1"/>
          </p:cNvPicPr>
          <p:nvPr/>
        </p:nvPicPr>
        <p:blipFill>
          <a:blip r:embed="rId3">
            <a:extLst/>
          </a:blip>
          <a:stretch>
            <a:fillRect/>
          </a:stretch>
        </p:blipFill>
        <p:spPr>
          <a:xfrm>
            <a:off x="0" y="0"/>
            <a:ext cx="24384000" cy="13716000"/>
          </a:xfrm>
          <a:prstGeom prst="rect">
            <a:avLst/>
          </a:prstGeom>
          <a:ln w="12700">
            <a:miter lim="400000"/>
          </a:ln>
        </p:spPr>
      </p:pic>
      <p:sp>
        <p:nvSpPr>
          <p:cNvPr id="443" name="React is for"/>
          <p:cNvSpPr txBox="1"/>
          <p:nvPr/>
        </p:nvSpPr>
        <p:spPr>
          <a:xfrm>
            <a:off x="1308100" y="4203699"/>
            <a:ext cx="22707600" cy="15621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50800" tIns="50800" rIns="50800" bIns="50800" anchor="ctr">
            <a:spAutoFit/>
          </a:bodyPr>
          <a:lstStyle>
            <a:lvl1pPr>
              <a:defRPr sz="9200">
                <a:solidFill>
                  <a:srgbClr val="220D44"/>
                </a:solidFill>
                <a:latin typeface="Unbounded ExtraBold"/>
                <a:ea typeface="Unbounded ExtraBold"/>
                <a:cs typeface="Unbounded ExtraBold"/>
                <a:sym typeface="Unbounded ExtraBold"/>
              </a:defRPr>
            </a:lvl1pPr>
          </a:lstStyle>
          <a:p>
            <a:pPr/>
            <a:r>
              <a:t>React is for</a:t>
            </a:r>
          </a:p>
        </p:txBody>
      </p:sp>
      <p:sp>
        <p:nvSpPr>
          <p:cNvPr id="444" name="WordPress core developers"/>
          <p:cNvSpPr txBox="1"/>
          <p:nvPr/>
        </p:nvSpPr>
        <p:spPr>
          <a:xfrm>
            <a:off x="1308100" y="5372099"/>
            <a:ext cx="22707600" cy="20574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50800" tIns="50800" rIns="50800" bIns="50800" anchor="ctr">
            <a:spAutoFit/>
          </a:bodyPr>
          <a:lstStyle>
            <a:lvl1pPr>
              <a:defRPr i="1" sz="11800">
                <a:solidFill>
                  <a:srgbClr val="6033A6"/>
                </a:solidFill>
                <a:latin typeface="Instrument Serif"/>
                <a:ea typeface="Instrument Serif"/>
                <a:cs typeface="Instrument Serif"/>
                <a:sym typeface="Instrument Serif"/>
              </a:defRPr>
            </a:lvl1pPr>
          </a:lstStyle>
          <a:p>
            <a:pPr/>
            <a:r>
              <a:t>WordPress core developers</a:t>
            </a:r>
          </a:p>
        </p:txBody>
      </p:sp>
      <p:sp>
        <p:nvSpPr>
          <p:cNvPr id="445" name="The WordPress block editor itself is built with React.js."/>
          <p:cNvSpPr txBox="1"/>
          <p:nvPr/>
        </p:nvSpPr>
        <p:spPr>
          <a:xfrm>
            <a:off x="1320800" y="7708899"/>
            <a:ext cx="19050000" cy="6985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50800" tIns="50800" rIns="50800" bIns="50800" anchor="ctr">
            <a:spAutoFit/>
          </a:bodyPr>
          <a:lstStyle>
            <a:lvl1pPr>
              <a:defRPr sz="3600">
                <a:solidFill>
                  <a:srgbClr val="4B3051"/>
                </a:solidFill>
                <a:latin typeface="Geist"/>
                <a:ea typeface="Geist"/>
                <a:cs typeface="Geist"/>
                <a:sym typeface="Geist"/>
              </a:defRPr>
            </a:lvl1pPr>
          </a:lstStyle>
          <a:p>
            <a:pPr/>
            <a:r>
              <a:t>The WordPress block editor itself is built with React.js.</a:t>
            </a:r>
          </a:p>
        </p:txBody>
      </p:sp>
      <p:sp>
        <p:nvSpPr>
          <p:cNvPr id="446" name="Themes, patterns, styles and theme.json need none of it."/>
          <p:cNvSpPr txBox="1"/>
          <p:nvPr/>
        </p:nvSpPr>
        <p:spPr>
          <a:xfrm>
            <a:off x="1320800" y="8369299"/>
            <a:ext cx="19050000" cy="6985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50800" tIns="50800" rIns="50800" bIns="50800" anchor="ctr">
            <a:spAutoFit/>
          </a:bodyPr>
          <a:lstStyle>
            <a:lvl1pPr>
              <a:defRPr sz="3600">
                <a:solidFill>
                  <a:srgbClr val="4B3051"/>
                </a:solidFill>
                <a:latin typeface="Geist"/>
                <a:ea typeface="Geist"/>
                <a:cs typeface="Geist"/>
                <a:sym typeface="Geist"/>
              </a:defRPr>
            </a:lvl1pPr>
          </a:lstStyle>
          <a:p>
            <a:pPr/>
            <a:r>
              <a:t>Themes, patterns, styles and theme.json need none of it.</a:t>
            </a:r>
          </a:p>
        </p:txBody>
      </p:sp>
      <p:sp>
        <p:nvSpPr>
          <p:cNvPr id="447" name="Going ACF-free"/>
          <p:cNvSpPr txBox="1"/>
          <p:nvPr/>
        </p:nvSpPr>
        <p:spPr>
          <a:xfrm>
            <a:off x="1320800" y="12344400"/>
            <a:ext cx="2451100" cy="4953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50800" tIns="50800" rIns="50800" bIns="50800" anchor="ctr">
            <a:spAutoFit/>
          </a:bodyPr>
          <a:lstStyle>
            <a:lvl1pPr>
              <a:defRPr sz="2400">
                <a:solidFill>
                  <a:srgbClr val="5D4E61"/>
                </a:solidFill>
                <a:latin typeface="Geist"/>
                <a:ea typeface="Geist"/>
                <a:cs typeface="Geist"/>
                <a:sym typeface="Geist"/>
              </a:defRPr>
            </a:lvl1pPr>
          </a:lstStyle>
          <a:p>
            <a:pPr/>
            <a:r>
              <a:t>Going ACF-free</a:t>
            </a:r>
          </a:p>
        </p:txBody>
      </p:sp>
      <p:sp>
        <p:nvSpPr>
          <p:cNvPr id="448" name="React only comes in for a custom block, and that's the last resort."/>
          <p:cNvSpPr txBox="1"/>
          <p:nvPr/>
        </p:nvSpPr>
        <p:spPr>
          <a:xfrm>
            <a:off x="1320800" y="9029699"/>
            <a:ext cx="19050000" cy="6985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50800" tIns="50800" rIns="50800" bIns="50800" anchor="ctr">
            <a:spAutoFit/>
          </a:bodyPr>
          <a:lstStyle>
            <a:lvl1pPr>
              <a:defRPr sz="3600">
                <a:solidFill>
                  <a:srgbClr val="4B3051"/>
                </a:solidFill>
                <a:latin typeface="Geist"/>
                <a:ea typeface="Geist"/>
                <a:cs typeface="Geist"/>
                <a:sym typeface="Geist"/>
              </a:defRPr>
            </a:lvl1pPr>
          </a:lstStyle>
          <a:p>
            <a:pPr/>
            <a:r>
              <a:t>React only comes in for a custom block, and that's the last resort.</a:t>
            </a:r>
          </a:p>
        </p:txBody>
      </p:sp>
      <p:pic>
        <p:nvPicPr>
          <p:cNvPr id="449" name="prog-20.png" descr="prog-20.png"/>
          <p:cNvPicPr>
            <a:picLocks noChangeAspect="1"/>
          </p:cNvPicPr>
          <p:nvPr/>
        </p:nvPicPr>
        <p:blipFill>
          <a:blip r:embed="rId4">
            <a:extLst/>
          </a:blip>
          <a:stretch>
            <a:fillRect/>
          </a:stretch>
        </p:blipFill>
        <p:spPr>
          <a:xfrm>
            <a:off x="17170400" y="12395200"/>
            <a:ext cx="5842000" cy="406400"/>
          </a:xfrm>
          <a:prstGeom prst="rect">
            <a:avLst/>
          </a:prstGeom>
          <a:ln w="12700">
            <a:miter lim="400000"/>
          </a:ln>
        </p:spPr>
      </p:pic>
    </p:spTree>
  </p:cSld>
  <p:clrMapOvr>
    <a:masterClrMapping/>
  </p:clrMapOvr>
  <p:transition xmlns:p14="http://schemas.microsoft.com/office/powerpoint/2010/main" spd="med" advClick="1"/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53" name="bg.png" descr="bg.png"/>
          <p:cNvPicPr>
            <a:picLocks noChangeAspect="1"/>
          </p:cNvPicPr>
          <p:nvPr/>
        </p:nvPicPr>
        <p:blipFill>
          <a:blip r:embed="rId3">
            <a:extLst/>
          </a:blip>
          <a:stretch>
            <a:fillRect/>
          </a:stretch>
        </p:blipFill>
        <p:spPr>
          <a:xfrm>
            <a:off x="0" y="0"/>
            <a:ext cx="24384000" cy="13716000"/>
          </a:xfrm>
          <a:prstGeom prst="rect">
            <a:avLst/>
          </a:prstGeom>
          <a:ln w="12700">
            <a:miter lim="400000"/>
          </a:ln>
        </p:spPr>
      </p:pic>
      <p:sp>
        <p:nvSpPr>
          <p:cNvPr id="454" name="True dependency-free WordPress"/>
          <p:cNvSpPr txBox="1"/>
          <p:nvPr/>
        </p:nvSpPr>
        <p:spPr>
          <a:xfrm>
            <a:off x="1308100" y="3276862"/>
            <a:ext cx="22707600" cy="287655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50800" tIns="50800" rIns="50800" bIns="50800" anchor="ctr">
            <a:spAutoFit/>
          </a:bodyPr>
          <a:lstStyle>
            <a:lvl1pPr>
              <a:defRPr sz="9200">
                <a:solidFill>
                  <a:srgbClr val="220D44"/>
                </a:solidFill>
                <a:latin typeface="Unbounded ExtraBold"/>
                <a:ea typeface="Unbounded ExtraBold"/>
                <a:cs typeface="Unbounded ExtraBold"/>
                <a:sym typeface="Unbounded ExtraBold"/>
              </a:defRPr>
            </a:lvl1pPr>
          </a:lstStyle>
          <a:p>
            <a:pPr/>
            <a:r>
              <a:t>True dependency-free WordPress</a:t>
            </a:r>
          </a:p>
        </p:txBody>
      </p:sp>
      <p:sp>
        <p:nvSpPr>
          <p:cNvPr id="455" name="is the core way"/>
          <p:cNvSpPr txBox="1"/>
          <p:nvPr/>
        </p:nvSpPr>
        <p:spPr>
          <a:xfrm>
            <a:off x="1308100" y="5714217"/>
            <a:ext cx="22707600" cy="20574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50800" tIns="50800" rIns="50800" bIns="50800" anchor="ctr">
            <a:spAutoFit/>
          </a:bodyPr>
          <a:lstStyle>
            <a:lvl1pPr>
              <a:defRPr i="1" sz="11800">
                <a:solidFill>
                  <a:srgbClr val="6033A6"/>
                </a:solidFill>
                <a:latin typeface="Instrument Serif"/>
                <a:ea typeface="Instrument Serif"/>
                <a:cs typeface="Instrument Serif"/>
                <a:sym typeface="Instrument Serif"/>
              </a:defRPr>
            </a:lvl1pPr>
          </a:lstStyle>
          <a:p>
            <a:pPr/>
            <a:r>
              <a:t>is the core way</a:t>
            </a:r>
          </a:p>
        </p:txBody>
      </p:sp>
      <p:sp>
        <p:nvSpPr>
          <p:cNvPr id="456" name="The WordPress block editor (also called simply the block editor,"/>
          <p:cNvSpPr txBox="1"/>
          <p:nvPr/>
        </p:nvSpPr>
        <p:spPr>
          <a:xfrm>
            <a:off x="1320800" y="7873217"/>
            <a:ext cx="19050000" cy="6985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50800" tIns="50800" rIns="50800" bIns="50800" anchor="ctr">
            <a:spAutoFit/>
          </a:bodyPr>
          <a:lstStyle>
            <a:lvl1pPr>
              <a:defRPr sz="3600">
                <a:solidFill>
                  <a:srgbClr val="4B3051"/>
                </a:solidFill>
                <a:latin typeface="Geist"/>
                <a:ea typeface="Geist"/>
                <a:cs typeface="Geist"/>
                <a:sym typeface="Geist"/>
              </a:defRPr>
            </a:lvl1pPr>
          </a:lstStyle>
          <a:p>
            <a:pPr/>
            <a:r>
              <a:t>The WordPress block editor (also called simply the block editor,</a:t>
            </a:r>
          </a:p>
        </p:txBody>
      </p:sp>
      <p:sp>
        <p:nvSpPr>
          <p:cNvPr id="457" name="WordPress editor or Gutenberg editor) as the content management system,"/>
          <p:cNvSpPr txBox="1"/>
          <p:nvPr/>
        </p:nvSpPr>
        <p:spPr>
          <a:xfrm>
            <a:off x="1320800" y="8533617"/>
            <a:ext cx="19050000" cy="6985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50800" tIns="50800" rIns="50800" bIns="50800" anchor="ctr">
            <a:spAutoFit/>
          </a:bodyPr>
          <a:lstStyle>
            <a:lvl1pPr>
              <a:defRPr sz="3600">
                <a:solidFill>
                  <a:srgbClr val="4B3051"/>
                </a:solidFill>
                <a:latin typeface="Geist"/>
                <a:ea typeface="Geist"/>
                <a:cs typeface="Geist"/>
                <a:sym typeface="Geist"/>
              </a:defRPr>
            </a:lvl1pPr>
          </a:lstStyle>
          <a:p>
            <a:pPr/>
            <a:r>
              <a:t>WordPress editor or Gutenberg editor) as the content management system,</a:t>
            </a:r>
          </a:p>
        </p:txBody>
      </p:sp>
      <p:sp>
        <p:nvSpPr>
          <p:cNvPr id="458" name="Going ACF-free"/>
          <p:cNvSpPr txBox="1"/>
          <p:nvPr/>
        </p:nvSpPr>
        <p:spPr>
          <a:xfrm>
            <a:off x="1320800" y="12344400"/>
            <a:ext cx="2451100" cy="4953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50800" tIns="50800" rIns="50800" bIns="50800" anchor="ctr">
            <a:spAutoFit/>
          </a:bodyPr>
          <a:lstStyle>
            <a:lvl1pPr>
              <a:defRPr sz="2400">
                <a:solidFill>
                  <a:srgbClr val="5D4E61"/>
                </a:solidFill>
                <a:latin typeface="Geist"/>
                <a:ea typeface="Geist"/>
                <a:cs typeface="Geist"/>
                <a:sym typeface="Geist"/>
              </a:defRPr>
            </a:lvl1pPr>
          </a:lstStyle>
          <a:p>
            <a:pPr/>
            <a:r>
              <a:t>Going ACF-free</a:t>
            </a:r>
          </a:p>
        </p:txBody>
      </p:sp>
      <p:sp>
        <p:nvSpPr>
          <p:cNvPr id="459" name="with no plugin that the content depends on."/>
          <p:cNvSpPr txBox="1"/>
          <p:nvPr/>
        </p:nvSpPr>
        <p:spPr>
          <a:xfrm>
            <a:off x="1320800" y="9174967"/>
            <a:ext cx="19050000" cy="6985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50800" tIns="50800" rIns="50800" bIns="50800" anchor="ctr">
            <a:spAutoFit/>
          </a:bodyPr>
          <a:lstStyle>
            <a:lvl1pPr>
              <a:defRPr sz="3600">
                <a:solidFill>
                  <a:srgbClr val="4B3051"/>
                </a:solidFill>
                <a:latin typeface="Geist"/>
                <a:ea typeface="Geist"/>
                <a:cs typeface="Geist"/>
                <a:sym typeface="Geist"/>
              </a:defRPr>
            </a:lvl1pPr>
          </a:lstStyle>
          <a:p>
            <a:pPr/>
            <a:r>
              <a:t>with no plugin that the content depends on.</a:t>
            </a:r>
          </a:p>
        </p:txBody>
      </p:sp>
      <p:pic>
        <p:nvPicPr>
          <p:cNvPr id="460" name="prog-21.png" descr="prog-21.png"/>
          <p:cNvPicPr>
            <a:picLocks noChangeAspect="1"/>
          </p:cNvPicPr>
          <p:nvPr/>
        </p:nvPicPr>
        <p:blipFill>
          <a:blip r:embed="rId4">
            <a:extLst/>
          </a:blip>
          <a:stretch>
            <a:fillRect/>
          </a:stretch>
        </p:blipFill>
        <p:spPr>
          <a:xfrm>
            <a:off x="17170400" y="12395200"/>
            <a:ext cx="5842000" cy="406400"/>
          </a:xfrm>
          <a:prstGeom prst="rect">
            <a:avLst/>
          </a:prstGeom>
          <a:ln w="12700">
            <a:miter lim="400000"/>
          </a:ln>
        </p:spPr>
      </p:pic>
    </p:spTree>
  </p:cSld>
  <p:clrMapOvr>
    <a:masterClrMapping/>
  </p:clrMapOvr>
  <p:transition xmlns:p14="http://schemas.microsoft.com/office/powerpoint/2010/main" spd="med" advClick="1"/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64" name="bg.png" descr="bg.png"/>
          <p:cNvPicPr>
            <a:picLocks noChangeAspect="1"/>
          </p:cNvPicPr>
          <p:nvPr/>
        </p:nvPicPr>
        <p:blipFill>
          <a:blip r:embed="rId3">
            <a:extLst/>
          </a:blip>
          <a:stretch>
            <a:fillRect/>
          </a:stretch>
        </p:blipFill>
        <p:spPr>
          <a:xfrm>
            <a:off x="0" y="0"/>
            <a:ext cx="24384000" cy="13716000"/>
          </a:xfrm>
          <a:prstGeom prst="rect">
            <a:avLst/>
          </a:prstGeom>
          <a:ln w="12700">
            <a:miter lim="400000"/>
          </a:ln>
        </p:spPr>
      </p:pic>
      <p:sp>
        <p:nvSpPr>
          <p:cNvPr id="465" name="Going ACF-free"/>
          <p:cNvSpPr txBox="1"/>
          <p:nvPr/>
        </p:nvSpPr>
        <p:spPr>
          <a:xfrm>
            <a:off x="1320800" y="12344400"/>
            <a:ext cx="2451100" cy="4953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50800" tIns="50800" rIns="50800" bIns="50800" anchor="ctr">
            <a:spAutoFit/>
          </a:bodyPr>
          <a:lstStyle>
            <a:lvl1pPr>
              <a:defRPr sz="2400">
                <a:solidFill>
                  <a:srgbClr val="5D4E61"/>
                </a:solidFill>
                <a:latin typeface="Geist"/>
                <a:ea typeface="Geist"/>
                <a:cs typeface="Geist"/>
                <a:sym typeface="Geist"/>
              </a:defRPr>
            </a:lvl1pPr>
          </a:lstStyle>
          <a:p>
            <a:pPr/>
            <a:r>
              <a:t>Going ACF-free</a:t>
            </a:r>
          </a:p>
        </p:txBody>
      </p:sp>
      <p:sp>
        <p:nvSpPr>
          <p:cNvPr id="466" name="Three ways to build a sovereign theme"/>
          <p:cNvSpPr txBox="1"/>
          <p:nvPr/>
        </p:nvSpPr>
        <p:spPr>
          <a:xfrm>
            <a:off x="1308100" y="1435099"/>
            <a:ext cx="22707600" cy="17145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50800" tIns="50800" rIns="50800" bIns="50800" anchor="ctr">
            <a:spAutoFit/>
          </a:bodyPr>
          <a:lstStyle/>
          <a:p>
            <a:pPr>
              <a:defRPr sz="7600">
                <a:solidFill>
                  <a:srgbClr val="220D44"/>
                </a:solidFill>
                <a:latin typeface="Unbounded ExtraBold"/>
                <a:ea typeface="Unbounded ExtraBold"/>
                <a:cs typeface="Unbounded ExtraBold"/>
                <a:sym typeface="Unbounded ExtraBold"/>
              </a:defRPr>
            </a:pPr>
            <a:r>
              <a:t>Three ways to </a:t>
            </a:r>
            <a:r>
              <a:rPr i="1" sz="9800">
                <a:solidFill>
                  <a:srgbClr val="6033A6"/>
                </a:solidFill>
                <a:latin typeface="Instrument Serif"/>
                <a:ea typeface="Instrument Serif"/>
                <a:cs typeface="Instrument Serif"/>
                <a:sym typeface="Instrument Serif"/>
              </a:rPr>
              <a:t>build a sovereign theme</a:t>
            </a:r>
          </a:p>
        </p:txBody>
      </p:sp>
      <p:sp>
        <p:nvSpPr>
          <p:cNvPr id="467" name="Traditional"/>
          <p:cNvSpPr txBox="1"/>
          <p:nvPr/>
        </p:nvSpPr>
        <p:spPr>
          <a:xfrm>
            <a:off x="1346200" y="3327399"/>
            <a:ext cx="6807200" cy="7620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50800" tIns="50800" rIns="50800" bIns="50800" anchor="ctr">
            <a:spAutoFit/>
          </a:bodyPr>
          <a:lstStyle>
            <a:lvl1pPr>
              <a:defRPr sz="4200">
                <a:solidFill>
                  <a:srgbClr val="6033A6"/>
                </a:solidFill>
                <a:latin typeface="Unbounded SemiBold"/>
                <a:ea typeface="Unbounded SemiBold"/>
                <a:cs typeface="Unbounded SemiBold"/>
                <a:sym typeface="Unbounded SemiBold"/>
              </a:defRPr>
            </a:lvl1pPr>
          </a:lstStyle>
          <a:p>
            <a:pPr/>
            <a:r>
              <a:t>Traditional</a:t>
            </a:r>
          </a:p>
        </p:txBody>
      </p:sp>
      <p:sp>
        <p:nvSpPr>
          <p:cNvPr id="468" name="Underscores, 2012. PHP templates and the template hierarchy."/>
          <p:cNvSpPr txBox="1"/>
          <p:nvPr/>
        </p:nvSpPr>
        <p:spPr>
          <a:xfrm>
            <a:off x="1371600" y="10744199"/>
            <a:ext cx="6807200" cy="92202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50800" tIns="50800" rIns="50800" bIns="50800" anchor="ctr">
            <a:spAutoFit/>
          </a:bodyPr>
          <a:lstStyle>
            <a:lvl1pPr>
              <a:defRPr sz="2600">
                <a:solidFill>
                  <a:srgbClr val="5D4E61"/>
                </a:solidFill>
                <a:latin typeface="Geist"/>
                <a:ea typeface="Geist"/>
                <a:cs typeface="Geist"/>
                <a:sym typeface="Geist"/>
              </a:defRPr>
            </a:lvl1pPr>
          </a:lstStyle>
          <a:p>
            <a:pPr/>
            <a:r>
              <a:t>Underscores, 2012. PHP templates and the template hierarchy.</a:t>
            </a:r>
          </a:p>
        </p:txBody>
      </p:sp>
      <p:sp>
        <p:nvSpPr>
          <p:cNvPr id="469" name="Innovative"/>
          <p:cNvSpPr txBox="1"/>
          <p:nvPr/>
        </p:nvSpPr>
        <p:spPr>
          <a:xfrm>
            <a:off x="8763000" y="3327399"/>
            <a:ext cx="6807200" cy="7620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50800" tIns="50800" rIns="50800" bIns="50800" anchor="ctr">
            <a:spAutoFit/>
          </a:bodyPr>
          <a:lstStyle>
            <a:lvl1pPr>
              <a:defRPr sz="4200">
                <a:solidFill>
                  <a:srgbClr val="6033A6"/>
                </a:solidFill>
                <a:latin typeface="Unbounded SemiBold"/>
                <a:ea typeface="Unbounded SemiBold"/>
                <a:cs typeface="Unbounded SemiBold"/>
                <a:sym typeface="Unbounded SemiBold"/>
              </a:defRPr>
            </a:lvl1pPr>
          </a:lstStyle>
          <a:p>
            <a:pPr/>
            <a:r>
              <a:t>Innovative</a:t>
            </a:r>
          </a:p>
        </p:txBody>
      </p:sp>
      <p:sp>
        <p:nvSpPr>
          <p:cNvPr id="470" name="Sage by Roots. Blade, Composer and a build step on top of WordPress."/>
          <p:cNvSpPr txBox="1"/>
          <p:nvPr/>
        </p:nvSpPr>
        <p:spPr>
          <a:xfrm>
            <a:off x="8788400" y="10744199"/>
            <a:ext cx="6807200" cy="92202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50800" tIns="50800" rIns="50800" bIns="50800" anchor="ctr">
            <a:spAutoFit/>
          </a:bodyPr>
          <a:lstStyle>
            <a:lvl1pPr>
              <a:defRPr sz="2600">
                <a:solidFill>
                  <a:srgbClr val="5D4E61"/>
                </a:solidFill>
                <a:latin typeface="Geist"/>
                <a:ea typeface="Geist"/>
                <a:cs typeface="Geist"/>
                <a:sym typeface="Geist"/>
              </a:defRPr>
            </a:lvl1pPr>
          </a:lstStyle>
          <a:p>
            <a:pPr/>
            <a:r>
              <a:t>Sage by Roots. Blade, Composer and a build step on top of WordPress.</a:t>
            </a:r>
          </a:p>
        </p:txBody>
      </p:sp>
      <p:sp>
        <p:nvSpPr>
          <p:cNvPr id="471" name="Modern"/>
          <p:cNvSpPr txBox="1"/>
          <p:nvPr/>
        </p:nvSpPr>
        <p:spPr>
          <a:xfrm>
            <a:off x="16179800" y="3327399"/>
            <a:ext cx="6807200" cy="7620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50800" tIns="50800" rIns="50800" bIns="50800" anchor="ctr">
            <a:spAutoFit/>
          </a:bodyPr>
          <a:lstStyle>
            <a:lvl1pPr>
              <a:defRPr sz="4200">
                <a:solidFill>
                  <a:srgbClr val="6033A6"/>
                </a:solidFill>
                <a:latin typeface="Unbounded SemiBold"/>
                <a:ea typeface="Unbounded SemiBold"/>
                <a:cs typeface="Unbounded SemiBold"/>
                <a:sym typeface="Unbounded SemiBold"/>
              </a:defRPr>
            </a:lvl1pPr>
          </a:lstStyle>
          <a:p>
            <a:pPr/>
            <a:r>
              <a:t>Modern</a:t>
            </a:r>
          </a:p>
        </p:txBody>
      </p:sp>
      <p:sp>
        <p:nvSpPr>
          <p:cNvPr id="472" name="Block theme, WordPress 5.9. HTML templates and theme.json."/>
          <p:cNvSpPr txBox="1"/>
          <p:nvPr/>
        </p:nvSpPr>
        <p:spPr>
          <a:xfrm>
            <a:off x="16205200" y="10744199"/>
            <a:ext cx="6807200" cy="92202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50800" tIns="50800" rIns="50800" bIns="50800" anchor="ctr">
            <a:spAutoFit/>
          </a:bodyPr>
          <a:lstStyle/>
          <a:p>
            <a:pPr>
              <a:defRPr sz="2600">
                <a:solidFill>
                  <a:srgbClr val="5D4E61"/>
                </a:solidFill>
                <a:latin typeface="Geist"/>
                <a:ea typeface="Geist"/>
                <a:cs typeface="Geist"/>
                <a:sym typeface="Geist"/>
              </a:defRPr>
            </a:pPr>
            <a:r>
              <a:t>Block theme, WordPress 5.9. HTML templates and </a:t>
            </a:r>
            <a:r>
              <a:rPr sz="2300">
                <a:solidFill>
                  <a:srgbClr val="6033A6"/>
                </a:solidFill>
                <a:latin typeface="Geist Mono"/>
                <a:ea typeface="Geist Mono"/>
                <a:cs typeface="Geist Mono"/>
                <a:sym typeface="Geist Mono"/>
              </a:rPr>
              <a:t>theme.json</a:t>
            </a:r>
            <a:r>
              <a:t>.</a:t>
            </a:r>
          </a:p>
        </p:txBody>
      </p:sp>
      <p:pic>
        <p:nvPicPr>
          <p:cNvPr id="473" name="tree-panel.png" descr="tree-panel.png"/>
          <p:cNvPicPr>
            <a:picLocks noChangeAspect="1"/>
          </p:cNvPicPr>
          <p:nvPr/>
        </p:nvPicPr>
        <p:blipFill>
          <a:blip r:embed="rId4">
            <a:extLst/>
          </a:blip>
          <a:stretch>
            <a:fillRect/>
          </a:stretch>
        </p:blipFill>
        <p:spPr>
          <a:xfrm>
            <a:off x="1371600" y="4267200"/>
            <a:ext cx="6807200" cy="6248400"/>
          </a:xfrm>
          <a:prstGeom prst="rect">
            <a:avLst/>
          </a:prstGeom>
          <a:ln w="12700">
            <a:miter lim="400000"/>
          </a:ln>
        </p:spPr>
      </p:pic>
      <p:sp>
        <p:nvSpPr>
          <p:cNvPr id="474" name="_s/ ├── style.css ├── functions.php ├── header.php ├── footer.php ├── index.php ├── single.php ├── page.php ├── template-parts/ │   └── content.php └── inc/"/>
          <p:cNvSpPr txBox="1"/>
          <p:nvPr/>
        </p:nvSpPr>
        <p:spPr>
          <a:xfrm>
            <a:off x="1752600" y="4521199"/>
            <a:ext cx="6350000" cy="619252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50800" tIns="50800" rIns="50800" bIns="50800" anchor="ctr">
            <a:spAutoFit/>
          </a:bodyPr>
          <a:lstStyle/>
          <a:p>
            <a:pPr>
              <a:defRPr sz="3000">
                <a:solidFill>
                  <a:srgbClr val="EEE6FF"/>
                </a:solidFill>
                <a:latin typeface="Geist Mono"/>
                <a:ea typeface="Geist Mono"/>
                <a:cs typeface="Geist Mono"/>
                <a:sym typeface="Geist Mono"/>
              </a:defRPr>
            </a:pPr>
            <a:r>
              <a:rPr>
                <a:solidFill>
                  <a:srgbClr val="D2B0FF"/>
                </a:solidFill>
              </a:rPr>
              <a:t>_s/</a:t>
            </a:r>
            <a:br>
              <a:rPr sz="3400"/>
            </a:br>
            <a:r>
              <a:rPr>
                <a:solidFill>
                  <a:srgbClr val="C4B7E9"/>
                </a:solidFill>
              </a:rPr>
              <a:t>├── </a:t>
            </a:r>
            <a:r>
              <a:t>style.css</a:t>
            </a:r>
            <a:br>
              <a:rPr sz="3400"/>
            </a:br>
            <a:r>
              <a:rPr>
                <a:solidFill>
                  <a:srgbClr val="C4B7E9"/>
                </a:solidFill>
              </a:rPr>
              <a:t>├── </a:t>
            </a:r>
            <a:r>
              <a:t>functions.php</a:t>
            </a:r>
            <a:br>
              <a:rPr sz="3400"/>
            </a:br>
            <a:r>
              <a:rPr>
                <a:solidFill>
                  <a:srgbClr val="C4B7E9"/>
                </a:solidFill>
              </a:rPr>
              <a:t>├── </a:t>
            </a:r>
            <a:r>
              <a:t>header.php</a:t>
            </a:r>
            <a:br>
              <a:rPr sz="3400"/>
            </a:br>
            <a:r>
              <a:rPr>
                <a:solidFill>
                  <a:srgbClr val="C4B7E9"/>
                </a:solidFill>
              </a:rPr>
              <a:t>├── </a:t>
            </a:r>
            <a:r>
              <a:t>footer.php</a:t>
            </a:r>
            <a:br>
              <a:rPr sz="3400"/>
            </a:br>
            <a:r>
              <a:rPr>
                <a:solidFill>
                  <a:srgbClr val="C4B7E9"/>
                </a:solidFill>
              </a:rPr>
              <a:t>├── </a:t>
            </a:r>
            <a:r>
              <a:t>index.php</a:t>
            </a:r>
            <a:br>
              <a:rPr sz="3400"/>
            </a:br>
            <a:r>
              <a:rPr>
                <a:solidFill>
                  <a:srgbClr val="C4B7E9"/>
                </a:solidFill>
              </a:rPr>
              <a:t>├── </a:t>
            </a:r>
            <a:r>
              <a:rPr>
                <a:solidFill>
                  <a:srgbClr val="FF97E2"/>
                </a:solidFill>
              </a:rPr>
              <a:t>single.php</a:t>
            </a:r>
            <a:br>
              <a:rPr sz="3400"/>
            </a:br>
            <a:r>
              <a:rPr>
                <a:solidFill>
                  <a:srgbClr val="C4B7E9"/>
                </a:solidFill>
              </a:rPr>
              <a:t>├── </a:t>
            </a:r>
            <a:r>
              <a:t>page.php</a:t>
            </a:r>
            <a:br>
              <a:rPr sz="3400"/>
            </a:br>
            <a:r>
              <a:rPr>
                <a:solidFill>
                  <a:srgbClr val="C4B7E9"/>
                </a:solidFill>
              </a:rPr>
              <a:t>├── </a:t>
            </a:r>
            <a:r>
              <a:rPr>
                <a:solidFill>
                  <a:srgbClr val="D2B0FF"/>
                </a:solidFill>
              </a:rPr>
              <a:t>template-parts/</a:t>
            </a:r>
            <a:br>
              <a:rPr sz="3400"/>
            </a:br>
            <a:r>
              <a:rPr>
                <a:solidFill>
                  <a:srgbClr val="C4B7E9"/>
                </a:solidFill>
              </a:rPr>
              <a:t>│   └── </a:t>
            </a:r>
            <a:r>
              <a:t>content.php</a:t>
            </a:r>
            <a:br>
              <a:rPr sz="3400"/>
            </a:br>
            <a:r>
              <a:rPr>
                <a:solidFill>
                  <a:srgbClr val="C4B7E9"/>
                </a:solidFill>
              </a:rPr>
              <a:t>└── </a:t>
            </a:r>
            <a:r>
              <a:rPr>
                <a:solidFill>
                  <a:srgbClr val="D2B0FF"/>
                </a:solidFill>
              </a:rPr>
              <a:t>inc/</a:t>
            </a:r>
            <a:br>
              <a:rPr sz="3400">
                <a:solidFill>
                  <a:srgbClr val="D2B0FF"/>
                </a:solidFill>
              </a:rPr>
            </a:br>
          </a:p>
        </p:txBody>
      </p:sp>
      <p:pic>
        <p:nvPicPr>
          <p:cNvPr id="475" name="tree-panel.png" descr="tree-panel.png"/>
          <p:cNvPicPr>
            <a:picLocks noChangeAspect="1"/>
          </p:cNvPicPr>
          <p:nvPr/>
        </p:nvPicPr>
        <p:blipFill>
          <a:blip r:embed="rId4">
            <a:extLst/>
          </a:blip>
          <a:stretch>
            <a:fillRect/>
          </a:stretch>
        </p:blipFill>
        <p:spPr>
          <a:xfrm>
            <a:off x="8788400" y="4267200"/>
            <a:ext cx="6807200" cy="6248400"/>
          </a:xfrm>
          <a:prstGeom prst="rect">
            <a:avLst/>
          </a:prstGeom>
          <a:ln w="12700">
            <a:miter lim="400000"/>
          </a:ln>
        </p:spPr>
      </p:pic>
      <p:sp>
        <p:nvSpPr>
          <p:cNvPr id="476" name="sage/ ├── app/ │   └── View/Composers/ ├── resources/ │   ├── views/ │   │   └── index.blade.php │   ├── css/ │   └── js/ ├── composer.json ├── package.json └── vite.config.js"/>
          <p:cNvSpPr txBox="1"/>
          <p:nvPr/>
        </p:nvSpPr>
        <p:spPr>
          <a:xfrm>
            <a:off x="9169400" y="4521199"/>
            <a:ext cx="6350000" cy="619252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50800" tIns="50800" rIns="50800" bIns="50800" anchor="ctr">
            <a:spAutoFit/>
          </a:bodyPr>
          <a:lstStyle/>
          <a:p>
            <a:pPr>
              <a:defRPr sz="3000">
                <a:solidFill>
                  <a:srgbClr val="EEE6FF"/>
                </a:solidFill>
                <a:latin typeface="Geist Mono"/>
                <a:ea typeface="Geist Mono"/>
                <a:cs typeface="Geist Mono"/>
                <a:sym typeface="Geist Mono"/>
              </a:defRPr>
            </a:pPr>
            <a:r>
              <a:rPr>
                <a:solidFill>
                  <a:srgbClr val="D2B0FF"/>
                </a:solidFill>
              </a:rPr>
              <a:t>sage/</a:t>
            </a:r>
            <a:br>
              <a:rPr sz="3400"/>
            </a:br>
            <a:r>
              <a:rPr>
                <a:solidFill>
                  <a:srgbClr val="C4B7E9"/>
                </a:solidFill>
              </a:rPr>
              <a:t>├── </a:t>
            </a:r>
            <a:r>
              <a:rPr>
                <a:solidFill>
                  <a:srgbClr val="D2B0FF"/>
                </a:solidFill>
              </a:rPr>
              <a:t>app/</a:t>
            </a:r>
            <a:br>
              <a:rPr sz="3400"/>
            </a:br>
            <a:r>
              <a:rPr>
                <a:solidFill>
                  <a:srgbClr val="C4B7E9"/>
                </a:solidFill>
              </a:rPr>
              <a:t>│   └── </a:t>
            </a:r>
            <a:r>
              <a:rPr>
                <a:solidFill>
                  <a:srgbClr val="D2B0FF"/>
                </a:solidFill>
              </a:rPr>
              <a:t>View/Composers/</a:t>
            </a:r>
            <a:br>
              <a:rPr sz="3400"/>
            </a:br>
            <a:r>
              <a:rPr>
                <a:solidFill>
                  <a:srgbClr val="C4B7E9"/>
                </a:solidFill>
              </a:rPr>
              <a:t>├── </a:t>
            </a:r>
            <a:r>
              <a:rPr>
                <a:solidFill>
                  <a:srgbClr val="D2B0FF"/>
                </a:solidFill>
              </a:rPr>
              <a:t>resources/</a:t>
            </a:r>
            <a:br>
              <a:rPr sz="3400"/>
            </a:br>
            <a:r>
              <a:rPr>
                <a:solidFill>
                  <a:srgbClr val="C4B7E9"/>
                </a:solidFill>
              </a:rPr>
              <a:t>│   ├── </a:t>
            </a:r>
            <a:r>
              <a:rPr>
                <a:solidFill>
                  <a:srgbClr val="D2B0FF"/>
                </a:solidFill>
              </a:rPr>
              <a:t>views/</a:t>
            </a:r>
            <a:br>
              <a:rPr sz="3400"/>
            </a:br>
            <a:r>
              <a:rPr>
                <a:solidFill>
                  <a:srgbClr val="C4B7E9"/>
                </a:solidFill>
              </a:rPr>
              <a:t>│   │   └── </a:t>
            </a:r>
            <a:r>
              <a:rPr>
                <a:solidFill>
                  <a:srgbClr val="FF97E2"/>
                </a:solidFill>
              </a:rPr>
              <a:t>index.blade.php</a:t>
            </a:r>
            <a:br>
              <a:rPr sz="3400"/>
            </a:br>
            <a:r>
              <a:rPr>
                <a:solidFill>
                  <a:srgbClr val="C4B7E9"/>
                </a:solidFill>
              </a:rPr>
              <a:t>│   ├── </a:t>
            </a:r>
            <a:r>
              <a:rPr>
                <a:solidFill>
                  <a:srgbClr val="D2B0FF"/>
                </a:solidFill>
              </a:rPr>
              <a:t>css/</a:t>
            </a:r>
            <a:br>
              <a:rPr sz="3400"/>
            </a:br>
            <a:r>
              <a:rPr>
                <a:solidFill>
                  <a:srgbClr val="C4B7E9"/>
                </a:solidFill>
              </a:rPr>
              <a:t>│   └── </a:t>
            </a:r>
            <a:r>
              <a:rPr>
                <a:solidFill>
                  <a:srgbClr val="D2B0FF"/>
                </a:solidFill>
              </a:rPr>
              <a:t>js/</a:t>
            </a:r>
            <a:br>
              <a:rPr sz="3400"/>
            </a:br>
            <a:r>
              <a:rPr>
                <a:solidFill>
                  <a:srgbClr val="C4B7E9"/>
                </a:solidFill>
              </a:rPr>
              <a:t>├── </a:t>
            </a:r>
            <a:r>
              <a:t>composer.json</a:t>
            </a:r>
            <a:br>
              <a:rPr sz="3400"/>
            </a:br>
            <a:r>
              <a:rPr>
                <a:solidFill>
                  <a:srgbClr val="C4B7E9"/>
                </a:solidFill>
              </a:rPr>
              <a:t>├── </a:t>
            </a:r>
            <a:r>
              <a:t>package.json</a:t>
            </a:r>
            <a:br>
              <a:rPr sz="3400"/>
            </a:br>
            <a:r>
              <a:rPr>
                <a:solidFill>
                  <a:srgbClr val="C4B7E9"/>
                </a:solidFill>
              </a:rPr>
              <a:t>└── </a:t>
            </a:r>
            <a:r>
              <a:t>vite.config.js</a:t>
            </a:r>
            <a:br>
              <a:rPr sz="3400"/>
            </a:br>
          </a:p>
        </p:txBody>
      </p:sp>
      <p:pic>
        <p:nvPicPr>
          <p:cNvPr id="477" name="tree-panel.png" descr="tree-panel.png"/>
          <p:cNvPicPr>
            <a:picLocks noChangeAspect="1"/>
          </p:cNvPicPr>
          <p:nvPr/>
        </p:nvPicPr>
        <p:blipFill>
          <a:blip r:embed="rId4">
            <a:extLst/>
          </a:blip>
          <a:stretch>
            <a:fillRect/>
          </a:stretch>
        </p:blipFill>
        <p:spPr>
          <a:xfrm>
            <a:off x="16205200" y="4267200"/>
            <a:ext cx="6807200" cy="6248400"/>
          </a:xfrm>
          <a:prstGeom prst="rect">
            <a:avLst/>
          </a:prstGeom>
          <a:ln w="12700">
            <a:miter lim="400000"/>
          </a:ln>
        </p:spPr>
      </p:pic>
      <p:sp>
        <p:nvSpPr>
          <p:cNvPr id="478" name="block-theme/ ├── style.css ├── theme.json ├── functions.php ├── templates/ │   ├── index.html │   └── single.html ├── parts/ │   └── header.html ├── patterns/ └── styles/"/>
          <p:cNvSpPr txBox="1"/>
          <p:nvPr/>
        </p:nvSpPr>
        <p:spPr>
          <a:xfrm>
            <a:off x="16586200" y="4533899"/>
            <a:ext cx="6350000" cy="619252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50800" tIns="50800" rIns="50800" bIns="50800" anchor="ctr">
            <a:spAutoFit/>
          </a:bodyPr>
          <a:lstStyle/>
          <a:p>
            <a:pPr>
              <a:defRPr sz="3000">
                <a:solidFill>
                  <a:srgbClr val="EEE6FF"/>
                </a:solidFill>
                <a:latin typeface="Geist Mono"/>
                <a:ea typeface="Geist Mono"/>
                <a:cs typeface="Geist Mono"/>
                <a:sym typeface="Geist Mono"/>
              </a:defRPr>
            </a:pPr>
            <a:r>
              <a:rPr>
                <a:solidFill>
                  <a:srgbClr val="D2B0FF"/>
                </a:solidFill>
              </a:rPr>
              <a:t>block-theme/</a:t>
            </a:r>
            <a:br>
              <a:rPr sz="3400"/>
            </a:br>
            <a:r>
              <a:rPr>
                <a:solidFill>
                  <a:srgbClr val="C4B7E9"/>
                </a:solidFill>
              </a:rPr>
              <a:t>├── </a:t>
            </a:r>
            <a:r>
              <a:t>style.css</a:t>
            </a:r>
            <a:br>
              <a:rPr sz="3400"/>
            </a:br>
            <a:r>
              <a:rPr>
                <a:solidFill>
                  <a:srgbClr val="C4B7E9"/>
                </a:solidFill>
              </a:rPr>
              <a:t>├── </a:t>
            </a:r>
            <a:r>
              <a:rPr>
                <a:solidFill>
                  <a:srgbClr val="FF97E2"/>
                </a:solidFill>
              </a:rPr>
              <a:t>theme.json</a:t>
            </a:r>
            <a:br>
              <a:rPr sz="3400"/>
            </a:br>
            <a:r>
              <a:rPr>
                <a:solidFill>
                  <a:srgbClr val="C4B7E9"/>
                </a:solidFill>
              </a:rPr>
              <a:t>├── </a:t>
            </a:r>
            <a:r>
              <a:t>functions.php</a:t>
            </a:r>
            <a:br>
              <a:rPr sz="3400"/>
            </a:br>
            <a:r>
              <a:rPr>
                <a:solidFill>
                  <a:srgbClr val="C4B7E9"/>
                </a:solidFill>
              </a:rPr>
              <a:t>├── </a:t>
            </a:r>
            <a:r>
              <a:rPr>
                <a:solidFill>
                  <a:srgbClr val="D2B0FF"/>
                </a:solidFill>
              </a:rPr>
              <a:t>templates/</a:t>
            </a:r>
            <a:br>
              <a:rPr sz="3400"/>
            </a:br>
            <a:r>
              <a:rPr>
                <a:solidFill>
                  <a:srgbClr val="C4B7E9"/>
                </a:solidFill>
              </a:rPr>
              <a:t>│   ├── </a:t>
            </a:r>
            <a:r>
              <a:t>index.html</a:t>
            </a:r>
            <a:br>
              <a:rPr sz="3400"/>
            </a:br>
            <a:r>
              <a:rPr>
                <a:solidFill>
                  <a:srgbClr val="C4B7E9"/>
                </a:solidFill>
              </a:rPr>
              <a:t>│   └── </a:t>
            </a:r>
            <a:r>
              <a:t>single.html</a:t>
            </a:r>
            <a:br>
              <a:rPr sz="3400"/>
            </a:br>
            <a:r>
              <a:rPr>
                <a:solidFill>
                  <a:srgbClr val="C4B7E9"/>
                </a:solidFill>
              </a:rPr>
              <a:t>├── </a:t>
            </a:r>
            <a:r>
              <a:rPr>
                <a:solidFill>
                  <a:srgbClr val="D2B0FF"/>
                </a:solidFill>
              </a:rPr>
              <a:t>parts/</a:t>
            </a:r>
            <a:br>
              <a:rPr sz="3400"/>
            </a:br>
            <a:r>
              <a:rPr>
                <a:solidFill>
                  <a:srgbClr val="C4B7E9"/>
                </a:solidFill>
              </a:rPr>
              <a:t>│   └── </a:t>
            </a:r>
            <a:r>
              <a:t>header.html</a:t>
            </a:r>
            <a:br>
              <a:rPr sz="3400"/>
            </a:br>
            <a:r>
              <a:rPr>
                <a:solidFill>
                  <a:srgbClr val="C4B7E9"/>
                </a:solidFill>
              </a:rPr>
              <a:t>├── </a:t>
            </a:r>
            <a:r>
              <a:rPr>
                <a:solidFill>
                  <a:srgbClr val="D2B0FF"/>
                </a:solidFill>
              </a:rPr>
              <a:t>patterns/</a:t>
            </a:r>
            <a:br>
              <a:rPr sz="3400"/>
            </a:br>
            <a:r>
              <a:rPr>
                <a:solidFill>
                  <a:srgbClr val="C4B7E9"/>
                </a:solidFill>
              </a:rPr>
              <a:t>└── </a:t>
            </a:r>
            <a:r>
              <a:rPr>
                <a:solidFill>
                  <a:srgbClr val="D2B0FF"/>
                </a:solidFill>
              </a:rPr>
              <a:t>styles/</a:t>
            </a:r>
            <a:br>
              <a:rPr sz="3400">
                <a:solidFill>
                  <a:srgbClr val="D2B0FF"/>
                </a:solidFill>
              </a:rPr>
            </a:br>
          </a:p>
        </p:txBody>
      </p:sp>
      <p:pic>
        <p:nvPicPr>
          <p:cNvPr id="479" name="stamp-core-way-2.png" descr="stamp-core-way-2.png"/>
          <p:cNvPicPr>
            <a:picLocks noChangeAspect="1"/>
          </p:cNvPicPr>
          <p:nvPr/>
        </p:nvPicPr>
        <p:blipFill>
          <a:blip r:embed="rId5">
            <a:extLst/>
          </a:blip>
          <a:stretch>
            <a:fillRect/>
          </a:stretch>
        </p:blipFill>
        <p:spPr>
          <a:xfrm>
            <a:off x="18402300" y="2667000"/>
            <a:ext cx="4572000" cy="2032000"/>
          </a:xfrm>
          <a:prstGeom prst="rect">
            <a:avLst/>
          </a:prstGeom>
          <a:ln w="12700">
            <a:miter lim="400000"/>
          </a:ln>
        </p:spPr>
      </p:pic>
      <p:pic>
        <p:nvPicPr>
          <p:cNvPr id="480" name="stamp-not-core-way.png" descr="stamp-not-core-way.png"/>
          <p:cNvPicPr>
            <a:picLocks noChangeAspect="1"/>
          </p:cNvPicPr>
          <p:nvPr/>
        </p:nvPicPr>
        <p:blipFill>
          <a:blip r:embed="rId6">
            <a:extLst/>
          </a:blip>
          <a:stretch>
            <a:fillRect/>
          </a:stretch>
        </p:blipFill>
        <p:spPr>
          <a:xfrm>
            <a:off x="11988800" y="2667000"/>
            <a:ext cx="4572000" cy="2032000"/>
          </a:xfrm>
          <a:prstGeom prst="rect">
            <a:avLst/>
          </a:prstGeom>
          <a:ln w="12700">
            <a:miter lim="400000"/>
          </a:ln>
        </p:spPr>
      </p:pic>
      <p:pic>
        <p:nvPicPr>
          <p:cNvPr id="481" name="stamp-core-way.png" descr="stamp-core-way.png"/>
          <p:cNvPicPr>
            <a:picLocks noChangeAspect="1"/>
          </p:cNvPicPr>
          <p:nvPr/>
        </p:nvPicPr>
        <p:blipFill>
          <a:blip r:embed="rId7">
            <a:extLst/>
          </a:blip>
          <a:stretch>
            <a:fillRect/>
          </a:stretch>
        </p:blipFill>
        <p:spPr>
          <a:xfrm>
            <a:off x="4432300" y="2692400"/>
            <a:ext cx="4572000" cy="2032000"/>
          </a:xfrm>
          <a:prstGeom prst="rect">
            <a:avLst/>
          </a:prstGeom>
          <a:ln w="12700">
            <a:miter lim="400000"/>
          </a:ln>
        </p:spPr>
      </p:pic>
      <p:pic>
        <p:nvPicPr>
          <p:cNvPr id="482" name="prog-22.png" descr="prog-22.png"/>
          <p:cNvPicPr>
            <a:picLocks noChangeAspect="1"/>
          </p:cNvPicPr>
          <p:nvPr/>
        </p:nvPicPr>
        <p:blipFill>
          <a:blip r:embed="rId8">
            <a:extLst/>
          </a:blip>
          <a:stretch>
            <a:fillRect/>
          </a:stretch>
        </p:blipFill>
        <p:spPr>
          <a:xfrm>
            <a:off x="17170400" y="12395200"/>
            <a:ext cx="5842000" cy="406400"/>
          </a:xfrm>
          <a:prstGeom prst="rect">
            <a:avLst/>
          </a:prstGeom>
          <a:ln w="12700">
            <a:miter lim="400000"/>
          </a:ln>
        </p:spPr>
      </p:pic>
    </p:spTree>
  </p:cSld>
  <p:clrMapOvr>
    <a:masterClrMapping/>
  </p:clrMapOvr>
  <p:transition xmlns:p14="http://schemas.microsoft.com/office/powerpoint/2010/main" spd="med" advClick="1"/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86" name="bg.png" descr="bg.png"/>
          <p:cNvPicPr>
            <a:picLocks noChangeAspect="1"/>
          </p:cNvPicPr>
          <p:nvPr/>
        </p:nvPicPr>
        <p:blipFill>
          <a:blip r:embed="rId3">
            <a:extLst/>
          </a:blip>
          <a:stretch>
            <a:fillRect/>
          </a:stretch>
        </p:blipFill>
        <p:spPr>
          <a:xfrm>
            <a:off x="0" y="0"/>
            <a:ext cx="24384000" cy="13716000"/>
          </a:xfrm>
          <a:prstGeom prst="rect">
            <a:avLst/>
          </a:prstGeom>
          <a:ln w="12700">
            <a:miter lim="400000"/>
          </a:ln>
        </p:spPr>
      </p:pic>
      <p:sp>
        <p:nvSpPr>
          <p:cNvPr id="487" name="From Traditional to Modern"/>
          <p:cNvSpPr txBox="1"/>
          <p:nvPr/>
        </p:nvSpPr>
        <p:spPr>
          <a:xfrm>
            <a:off x="1308100" y="2692399"/>
            <a:ext cx="22707600" cy="17145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50800" tIns="50800" rIns="50800" bIns="50800" anchor="ctr">
            <a:spAutoFit/>
          </a:bodyPr>
          <a:lstStyle/>
          <a:p>
            <a:pPr>
              <a:defRPr sz="7600">
                <a:solidFill>
                  <a:srgbClr val="220D44"/>
                </a:solidFill>
                <a:latin typeface="Unbounded ExtraBold"/>
                <a:ea typeface="Unbounded ExtraBold"/>
                <a:cs typeface="Unbounded ExtraBold"/>
                <a:sym typeface="Unbounded ExtraBold"/>
              </a:defRPr>
            </a:pPr>
            <a:r>
              <a:t>From Traditional </a:t>
            </a:r>
            <a:r>
              <a:rPr i="1" sz="9800">
                <a:solidFill>
                  <a:srgbClr val="6033A6"/>
                </a:solidFill>
                <a:latin typeface="Instrument Serif"/>
                <a:ea typeface="Instrument Serif"/>
                <a:cs typeface="Instrument Serif"/>
                <a:sym typeface="Instrument Serif"/>
              </a:rPr>
              <a:t>to Modern</a:t>
            </a:r>
          </a:p>
        </p:txBody>
      </p:sp>
      <p:pic>
        <p:nvPicPr>
          <p:cNvPr id="488" name="dg-panel.png" descr="dg-panel.png"/>
          <p:cNvPicPr>
            <a:picLocks noChangeAspect="1"/>
          </p:cNvPicPr>
          <p:nvPr/>
        </p:nvPicPr>
        <p:blipFill>
          <a:blip r:embed="rId4">
            <a:extLst/>
          </a:blip>
          <a:stretch>
            <a:fillRect/>
          </a:stretch>
        </p:blipFill>
        <p:spPr>
          <a:xfrm>
            <a:off x="1320800" y="4953000"/>
            <a:ext cx="4572000" cy="5334000"/>
          </a:xfrm>
          <a:prstGeom prst="rect">
            <a:avLst/>
          </a:prstGeom>
          <a:ln w="12700">
            <a:miter lim="400000"/>
          </a:ln>
        </p:spPr>
      </p:pic>
      <p:pic>
        <p:nvPicPr>
          <p:cNvPr id="489" name="dg-panel.png" descr="dg-panel.png"/>
          <p:cNvPicPr>
            <a:picLocks noChangeAspect="1"/>
          </p:cNvPicPr>
          <p:nvPr/>
        </p:nvPicPr>
        <p:blipFill>
          <a:blip r:embed="rId4">
            <a:extLst/>
          </a:blip>
          <a:stretch>
            <a:fillRect/>
          </a:stretch>
        </p:blipFill>
        <p:spPr>
          <a:xfrm>
            <a:off x="18491200" y="4953000"/>
            <a:ext cx="4572000" cy="5334000"/>
          </a:xfrm>
          <a:prstGeom prst="rect">
            <a:avLst/>
          </a:prstGeom>
          <a:ln w="12700">
            <a:miter lim="400000"/>
          </a:ln>
        </p:spPr>
      </p:pic>
      <p:pic>
        <p:nvPicPr>
          <p:cNvPr id="490" name="dg-step1.png" descr="dg-step1.png"/>
          <p:cNvPicPr>
            <a:picLocks noChangeAspect="1"/>
          </p:cNvPicPr>
          <p:nvPr/>
        </p:nvPicPr>
        <p:blipFill>
          <a:blip r:embed="rId5">
            <a:extLst/>
          </a:blip>
          <a:stretch>
            <a:fillRect/>
          </a:stretch>
        </p:blipFill>
        <p:spPr>
          <a:xfrm>
            <a:off x="6400800" y="8255000"/>
            <a:ext cx="2768600" cy="2032000"/>
          </a:xfrm>
          <a:prstGeom prst="rect">
            <a:avLst/>
          </a:prstGeom>
          <a:ln w="12700">
            <a:miter lim="400000"/>
          </a:ln>
        </p:spPr>
      </p:pic>
      <p:pic>
        <p:nvPicPr>
          <p:cNvPr id="491" name="dg-step2.png" descr="dg-step2.png"/>
          <p:cNvPicPr>
            <a:picLocks noChangeAspect="1"/>
          </p:cNvPicPr>
          <p:nvPr/>
        </p:nvPicPr>
        <p:blipFill>
          <a:blip r:embed="rId6">
            <a:extLst/>
          </a:blip>
          <a:stretch>
            <a:fillRect/>
          </a:stretch>
        </p:blipFill>
        <p:spPr>
          <a:xfrm>
            <a:off x="9334500" y="7658100"/>
            <a:ext cx="2768600" cy="2628900"/>
          </a:xfrm>
          <a:prstGeom prst="rect">
            <a:avLst/>
          </a:prstGeom>
          <a:ln w="12700">
            <a:miter lim="400000"/>
          </a:ln>
        </p:spPr>
      </p:pic>
      <p:pic>
        <p:nvPicPr>
          <p:cNvPr id="492" name="dg-step3.png" descr="dg-step3.png"/>
          <p:cNvPicPr>
            <a:picLocks noChangeAspect="1"/>
          </p:cNvPicPr>
          <p:nvPr/>
        </p:nvPicPr>
        <p:blipFill>
          <a:blip r:embed="rId7">
            <a:extLst/>
          </a:blip>
          <a:stretch>
            <a:fillRect/>
          </a:stretch>
        </p:blipFill>
        <p:spPr>
          <a:xfrm>
            <a:off x="12268200" y="7061200"/>
            <a:ext cx="2768600" cy="3225800"/>
          </a:xfrm>
          <a:prstGeom prst="rect">
            <a:avLst/>
          </a:prstGeom>
          <a:ln w="12700">
            <a:miter lim="400000"/>
          </a:ln>
        </p:spPr>
      </p:pic>
      <p:pic>
        <p:nvPicPr>
          <p:cNvPr id="493" name="dg-step4.png" descr="dg-step4.png"/>
          <p:cNvPicPr>
            <a:picLocks noChangeAspect="1"/>
          </p:cNvPicPr>
          <p:nvPr/>
        </p:nvPicPr>
        <p:blipFill>
          <a:blip r:embed="rId8">
            <a:extLst/>
          </a:blip>
          <a:stretch>
            <a:fillRect/>
          </a:stretch>
        </p:blipFill>
        <p:spPr>
          <a:xfrm>
            <a:off x="15201900" y="6477000"/>
            <a:ext cx="2768600" cy="3810000"/>
          </a:xfrm>
          <a:prstGeom prst="rect">
            <a:avLst/>
          </a:prstGeom>
          <a:ln w="12700">
            <a:miter lim="400000"/>
          </a:ln>
        </p:spPr>
      </p:pic>
      <p:pic>
        <p:nvPicPr>
          <p:cNvPr id="494" name="dg-arrow.png" descr="dg-arrow.png"/>
          <p:cNvPicPr>
            <a:picLocks noChangeAspect="1"/>
          </p:cNvPicPr>
          <p:nvPr/>
        </p:nvPicPr>
        <p:blipFill>
          <a:blip r:embed="rId9">
            <a:extLst/>
          </a:blip>
          <a:stretch>
            <a:fillRect/>
          </a:stretch>
        </p:blipFill>
        <p:spPr>
          <a:xfrm>
            <a:off x="5829300" y="4445000"/>
            <a:ext cx="12573000" cy="1397000"/>
          </a:xfrm>
          <a:prstGeom prst="rect">
            <a:avLst/>
          </a:prstGeom>
          <a:ln w="12700">
            <a:miter lim="400000"/>
          </a:ln>
        </p:spPr>
      </p:pic>
      <p:pic>
        <p:nvPicPr>
          <p:cNvPr id="495" name="dg-bracket.png" descr="dg-bracket.png"/>
          <p:cNvPicPr>
            <a:picLocks noChangeAspect="1"/>
          </p:cNvPicPr>
          <p:nvPr/>
        </p:nvPicPr>
        <p:blipFill>
          <a:blip r:embed="rId10">
            <a:extLst/>
          </a:blip>
          <a:stretch>
            <a:fillRect/>
          </a:stretch>
        </p:blipFill>
        <p:spPr>
          <a:xfrm>
            <a:off x="6400800" y="10795000"/>
            <a:ext cx="11582400" cy="279400"/>
          </a:xfrm>
          <a:prstGeom prst="rect">
            <a:avLst/>
          </a:prstGeom>
          <a:ln w="12700">
            <a:miter lim="400000"/>
          </a:ln>
        </p:spPr>
      </p:pic>
      <p:sp>
        <p:nvSpPr>
          <p:cNvPr id="496" name="Traditional"/>
          <p:cNvSpPr txBox="1"/>
          <p:nvPr/>
        </p:nvSpPr>
        <p:spPr>
          <a:xfrm>
            <a:off x="1701800" y="5321299"/>
            <a:ext cx="4064000" cy="6985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50800" tIns="50800" rIns="50800" bIns="50800" anchor="ctr">
            <a:spAutoFit/>
          </a:bodyPr>
          <a:lstStyle>
            <a:lvl1pPr>
              <a:defRPr sz="3800">
                <a:solidFill>
                  <a:srgbClr val="FFFFFF"/>
                </a:solidFill>
                <a:latin typeface="Unbounded SemiBold"/>
                <a:ea typeface="Unbounded SemiBold"/>
                <a:cs typeface="Unbounded SemiBold"/>
                <a:sym typeface="Unbounded SemiBold"/>
              </a:defRPr>
            </a:lvl1pPr>
          </a:lstStyle>
          <a:p>
            <a:pPr/>
            <a:r>
              <a:t>Traditional</a:t>
            </a:r>
          </a:p>
        </p:txBody>
      </p:sp>
      <p:sp>
        <p:nvSpPr>
          <p:cNvPr id="497" name="PHP templates"/>
          <p:cNvSpPr txBox="1"/>
          <p:nvPr/>
        </p:nvSpPr>
        <p:spPr>
          <a:xfrm>
            <a:off x="1727200" y="6134100"/>
            <a:ext cx="4064000" cy="5588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50800" tIns="50800" rIns="50800" bIns="50800" anchor="ctr">
            <a:spAutoFit/>
          </a:bodyPr>
          <a:lstStyle>
            <a:lvl1pPr>
              <a:defRPr sz="2800">
                <a:solidFill>
                  <a:srgbClr val="EEE6FF"/>
                </a:solidFill>
                <a:latin typeface="Geist Mono"/>
                <a:ea typeface="Geist Mono"/>
                <a:cs typeface="Geist Mono"/>
                <a:sym typeface="Geist Mono"/>
              </a:defRPr>
            </a:lvl1pPr>
          </a:lstStyle>
          <a:p>
            <a:pPr/>
            <a:r>
              <a:t>PHP templates</a:t>
            </a:r>
          </a:p>
        </p:txBody>
      </p:sp>
      <p:sp>
        <p:nvSpPr>
          <p:cNvPr id="498" name="ACF fields"/>
          <p:cNvSpPr txBox="1"/>
          <p:nvPr/>
        </p:nvSpPr>
        <p:spPr>
          <a:xfrm>
            <a:off x="1727200" y="6743700"/>
            <a:ext cx="4064000" cy="5588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50800" tIns="50800" rIns="50800" bIns="50800" anchor="ctr">
            <a:spAutoFit/>
          </a:bodyPr>
          <a:lstStyle>
            <a:lvl1pPr>
              <a:defRPr sz="2800">
                <a:solidFill>
                  <a:srgbClr val="FF97E2"/>
                </a:solidFill>
                <a:latin typeface="Geist Mono"/>
                <a:ea typeface="Geist Mono"/>
                <a:cs typeface="Geist Mono"/>
                <a:sym typeface="Geist Mono"/>
              </a:defRPr>
            </a:lvl1pPr>
          </a:lstStyle>
          <a:p>
            <a:pPr/>
            <a:r>
              <a:t>ACF fields</a:t>
            </a:r>
          </a:p>
        </p:txBody>
      </p:sp>
      <p:sp>
        <p:nvSpPr>
          <p:cNvPr id="499" name="ACF blocks"/>
          <p:cNvSpPr txBox="1"/>
          <p:nvPr/>
        </p:nvSpPr>
        <p:spPr>
          <a:xfrm>
            <a:off x="1727200" y="7340600"/>
            <a:ext cx="4064000" cy="5588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50800" tIns="50800" rIns="50800" bIns="50800" anchor="ctr">
            <a:spAutoFit/>
          </a:bodyPr>
          <a:lstStyle>
            <a:lvl1pPr>
              <a:defRPr sz="2800">
                <a:solidFill>
                  <a:srgbClr val="FF97E2"/>
                </a:solidFill>
                <a:latin typeface="Geist Mono"/>
                <a:ea typeface="Geist Mono"/>
                <a:cs typeface="Geist Mono"/>
                <a:sym typeface="Geist Mono"/>
              </a:defRPr>
            </a:lvl1pPr>
          </a:lstStyle>
          <a:p>
            <a:pPr/>
            <a:r>
              <a:t>ACF blocks</a:t>
            </a:r>
          </a:p>
        </p:txBody>
      </p:sp>
      <p:sp>
        <p:nvSpPr>
          <p:cNvPr id="500" name="style.css"/>
          <p:cNvSpPr txBox="1"/>
          <p:nvPr/>
        </p:nvSpPr>
        <p:spPr>
          <a:xfrm>
            <a:off x="1727200" y="7950200"/>
            <a:ext cx="4064000" cy="5588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50800" tIns="50800" rIns="50800" bIns="50800" anchor="ctr">
            <a:spAutoFit/>
          </a:bodyPr>
          <a:lstStyle>
            <a:lvl1pPr>
              <a:defRPr sz="2800">
                <a:solidFill>
                  <a:srgbClr val="EEE6FF"/>
                </a:solidFill>
                <a:latin typeface="Geist Mono"/>
                <a:ea typeface="Geist Mono"/>
                <a:cs typeface="Geist Mono"/>
                <a:sym typeface="Geist Mono"/>
              </a:defRPr>
            </a:lvl1pPr>
          </a:lstStyle>
          <a:p>
            <a:pPr/>
            <a:r>
              <a:t>style.css</a:t>
            </a:r>
          </a:p>
        </p:txBody>
      </p:sp>
      <p:sp>
        <p:nvSpPr>
          <p:cNvPr id="501" name="jQuery/Vanilla JS"/>
          <p:cNvSpPr txBox="1"/>
          <p:nvPr/>
        </p:nvSpPr>
        <p:spPr>
          <a:xfrm>
            <a:off x="1727200" y="8547100"/>
            <a:ext cx="4064000" cy="5588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50800" tIns="50800" rIns="50800" bIns="50800" anchor="ctr">
            <a:spAutoFit/>
          </a:bodyPr>
          <a:lstStyle>
            <a:lvl1pPr>
              <a:defRPr sz="2800">
                <a:solidFill>
                  <a:srgbClr val="EEE6FF"/>
                </a:solidFill>
                <a:latin typeface="Geist Mono"/>
                <a:ea typeface="Geist Mono"/>
                <a:cs typeface="Geist Mono"/>
                <a:sym typeface="Geist Mono"/>
              </a:defRPr>
            </a:lvl1pPr>
          </a:lstStyle>
          <a:p>
            <a:pPr/>
            <a:r>
              <a:t>jQuery/Vanilla JS</a:t>
            </a:r>
          </a:p>
        </p:txBody>
      </p:sp>
      <p:sp>
        <p:nvSpPr>
          <p:cNvPr id="502" name="WP REST API"/>
          <p:cNvSpPr txBox="1"/>
          <p:nvPr/>
        </p:nvSpPr>
        <p:spPr>
          <a:xfrm>
            <a:off x="1727200" y="9156700"/>
            <a:ext cx="4064000" cy="5588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50800" tIns="50800" rIns="50800" bIns="50800" anchor="ctr">
            <a:spAutoFit/>
          </a:bodyPr>
          <a:lstStyle>
            <a:lvl1pPr>
              <a:defRPr sz="2800">
                <a:solidFill>
                  <a:srgbClr val="EEE6FF"/>
                </a:solidFill>
                <a:latin typeface="Geist Mono"/>
                <a:ea typeface="Geist Mono"/>
                <a:cs typeface="Geist Mono"/>
                <a:sym typeface="Geist Mono"/>
              </a:defRPr>
            </a:lvl1pPr>
          </a:lstStyle>
          <a:p>
            <a:pPr/>
            <a:r>
              <a:t>WP REST API</a:t>
            </a:r>
          </a:p>
        </p:txBody>
      </p:sp>
      <p:sp>
        <p:nvSpPr>
          <p:cNvPr id="503" name="Modern"/>
          <p:cNvSpPr txBox="1"/>
          <p:nvPr/>
        </p:nvSpPr>
        <p:spPr>
          <a:xfrm>
            <a:off x="18872200" y="5321299"/>
            <a:ext cx="4064000" cy="6985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50800" tIns="50800" rIns="50800" bIns="50800" anchor="ctr">
            <a:spAutoFit/>
          </a:bodyPr>
          <a:lstStyle>
            <a:lvl1pPr>
              <a:defRPr sz="3800">
                <a:solidFill>
                  <a:srgbClr val="FFFFFF"/>
                </a:solidFill>
                <a:latin typeface="Unbounded SemiBold"/>
                <a:ea typeface="Unbounded SemiBold"/>
                <a:cs typeface="Unbounded SemiBold"/>
                <a:sym typeface="Unbounded SemiBold"/>
              </a:defRPr>
            </a:lvl1pPr>
          </a:lstStyle>
          <a:p>
            <a:pPr/>
            <a:r>
              <a:t>Modern</a:t>
            </a:r>
          </a:p>
        </p:txBody>
      </p:sp>
      <p:sp>
        <p:nvSpPr>
          <p:cNvPr id="504" name="HTML templates"/>
          <p:cNvSpPr txBox="1"/>
          <p:nvPr/>
        </p:nvSpPr>
        <p:spPr>
          <a:xfrm>
            <a:off x="18897600" y="6134100"/>
            <a:ext cx="4064000" cy="5588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50800" tIns="50800" rIns="50800" bIns="50800" anchor="ctr">
            <a:spAutoFit/>
          </a:bodyPr>
          <a:lstStyle>
            <a:lvl1pPr>
              <a:defRPr sz="2800">
                <a:solidFill>
                  <a:srgbClr val="EEE6FF"/>
                </a:solidFill>
                <a:latin typeface="Geist Mono"/>
                <a:ea typeface="Geist Mono"/>
                <a:cs typeface="Geist Mono"/>
                <a:sym typeface="Geist Mono"/>
              </a:defRPr>
            </a:lvl1pPr>
          </a:lstStyle>
          <a:p>
            <a:pPr/>
            <a:r>
              <a:t>HTML templates</a:t>
            </a:r>
          </a:p>
        </p:txBody>
      </p:sp>
      <p:sp>
        <p:nvSpPr>
          <p:cNvPr id="505" name="post meta"/>
          <p:cNvSpPr txBox="1"/>
          <p:nvPr/>
        </p:nvSpPr>
        <p:spPr>
          <a:xfrm>
            <a:off x="18897600" y="6743700"/>
            <a:ext cx="4064000" cy="5588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50800" tIns="50800" rIns="50800" bIns="50800" anchor="ctr">
            <a:spAutoFit/>
          </a:bodyPr>
          <a:lstStyle>
            <a:lvl1pPr>
              <a:defRPr sz="2800">
                <a:solidFill>
                  <a:srgbClr val="9AEDFE"/>
                </a:solidFill>
                <a:latin typeface="Geist Mono"/>
                <a:ea typeface="Geist Mono"/>
                <a:cs typeface="Geist Mono"/>
                <a:sym typeface="Geist Mono"/>
              </a:defRPr>
            </a:lvl1pPr>
          </a:lstStyle>
          <a:p>
            <a:pPr/>
            <a:r>
              <a:t>post meta</a:t>
            </a:r>
          </a:p>
        </p:txBody>
      </p:sp>
      <p:sp>
        <p:nvSpPr>
          <p:cNvPr id="506" name="native blocks"/>
          <p:cNvSpPr txBox="1"/>
          <p:nvPr/>
        </p:nvSpPr>
        <p:spPr>
          <a:xfrm>
            <a:off x="18897600" y="7340600"/>
            <a:ext cx="4064000" cy="5588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50800" tIns="50800" rIns="50800" bIns="50800" anchor="ctr">
            <a:spAutoFit/>
          </a:bodyPr>
          <a:lstStyle>
            <a:lvl1pPr>
              <a:defRPr sz="2800">
                <a:solidFill>
                  <a:srgbClr val="9AEDFE"/>
                </a:solidFill>
                <a:latin typeface="Geist Mono"/>
                <a:ea typeface="Geist Mono"/>
                <a:cs typeface="Geist Mono"/>
                <a:sym typeface="Geist Mono"/>
              </a:defRPr>
            </a:lvl1pPr>
          </a:lstStyle>
          <a:p>
            <a:pPr/>
            <a:r>
              <a:t>native blocks</a:t>
            </a:r>
          </a:p>
        </p:txBody>
      </p:sp>
      <p:sp>
        <p:nvSpPr>
          <p:cNvPr id="507" name="theme.json"/>
          <p:cNvSpPr txBox="1"/>
          <p:nvPr/>
        </p:nvSpPr>
        <p:spPr>
          <a:xfrm>
            <a:off x="18897600" y="7950200"/>
            <a:ext cx="4064000" cy="5588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50800" tIns="50800" rIns="50800" bIns="50800" anchor="ctr">
            <a:spAutoFit/>
          </a:bodyPr>
          <a:lstStyle>
            <a:lvl1pPr>
              <a:defRPr sz="2800">
                <a:solidFill>
                  <a:srgbClr val="EEE6FF"/>
                </a:solidFill>
                <a:latin typeface="Geist Mono"/>
                <a:ea typeface="Geist Mono"/>
                <a:cs typeface="Geist Mono"/>
                <a:sym typeface="Geist Mono"/>
              </a:defRPr>
            </a:lvl1pPr>
          </a:lstStyle>
          <a:p>
            <a:pPr/>
            <a:r>
              <a:t>theme.json</a:t>
            </a:r>
          </a:p>
        </p:txBody>
      </p:sp>
      <p:sp>
        <p:nvSpPr>
          <p:cNvPr id="508" name="Interactivity API"/>
          <p:cNvSpPr txBox="1"/>
          <p:nvPr/>
        </p:nvSpPr>
        <p:spPr>
          <a:xfrm>
            <a:off x="18897600" y="8547100"/>
            <a:ext cx="4064000" cy="5588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50800" tIns="50800" rIns="50800" bIns="50800" anchor="ctr">
            <a:spAutoFit/>
          </a:bodyPr>
          <a:lstStyle>
            <a:lvl1pPr>
              <a:defRPr sz="2800">
                <a:solidFill>
                  <a:srgbClr val="9AEDFE"/>
                </a:solidFill>
                <a:latin typeface="Geist Mono"/>
                <a:ea typeface="Geist Mono"/>
                <a:cs typeface="Geist Mono"/>
                <a:sym typeface="Geist Mono"/>
              </a:defRPr>
            </a:lvl1pPr>
          </a:lstStyle>
          <a:p>
            <a:pPr/>
            <a:r>
              <a:t>Interactivity API</a:t>
            </a:r>
          </a:p>
        </p:txBody>
      </p:sp>
      <p:sp>
        <p:nvSpPr>
          <p:cNvPr id="509" name="AI client"/>
          <p:cNvSpPr txBox="1"/>
          <p:nvPr/>
        </p:nvSpPr>
        <p:spPr>
          <a:xfrm>
            <a:off x="18897600" y="9156700"/>
            <a:ext cx="4064000" cy="5588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50800" tIns="50800" rIns="50800" bIns="50800" anchor="ctr">
            <a:spAutoFit/>
          </a:bodyPr>
          <a:lstStyle>
            <a:lvl1pPr>
              <a:defRPr sz="2800">
                <a:solidFill>
                  <a:srgbClr val="9AEDFE"/>
                </a:solidFill>
                <a:latin typeface="Geist Mono"/>
                <a:ea typeface="Geist Mono"/>
                <a:cs typeface="Geist Mono"/>
                <a:sym typeface="Geist Mono"/>
              </a:defRPr>
            </a:lvl1pPr>
          </a:lstStyle>
          <a:p>
            <a:pPr/>
            <a:r>
              <a:t>AI client</a:t>
            </a:r>
          </a:p>
        </p:txBody>
      </p:sp>
      <p:sp>
        <p:nvSpPr>
          <p:cNvPr id="510" name="Native blocks"/>
          <p:cNvSpPr txBox="1"/>
          <p:nvPr/>
        </p:nvSpPr>
        <p:spPr>
          <a:xfrm>
            <a:off x="6553200" y="8496299"/>
            <a:ext cx="2413000" cy="92202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50800" tIns="50800" rIns="50800" bIns="50800" anchor="ctr">
            <a:spAutoFit/>
          </a:bodyPr>
          <a:lstStyle>
            <a:lvl1pPr>
              <a:defRPr sz="2700">
                <a:solidFill>
                  <a:srgbClr val="6F3CC3"/>
                </a:solidFill>
                <a:latin typeface="Unbounded SemiBold"/>
                <a:ea typeface="Unbounded SemiBold"/>
                <a:cs typeface="Unbounded SemiBold"/>
                <a:sym typeface="Unbounded SemiBold"/>
              </a:defRPr>
            </a:lvl1pPr>
          </a:lstStyle>
          <a:p>
            <a:pPr/>
            <a:r>
              <a:t>Native blocks</a:t>
            </a:r>
          </a:p>
        </p:txBody>
      </p:sp>
      <p:sp>
        <p:nvSpPr>
          <p:cNvPr id="511" name="5.0+"/>
          <p:cNvSpPr txBox="1"/>
          <p:nvPr/>
        </p:nvSpPr>
        <p:spPr>
          <a:xfrm>
            <a:off x="6578600" y="9385300"/>
            <a:ext cx="2413000" cy="5588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50800" tIns="50800" rIns="50800" bIns="50800" anchor="ctr">
            <a:spAutoFit/>
          </a:bodyPr>
          <a:lstStyle>
            <a:lvl1pPr>
              <a:defRPr sz="2800">
                <a:solidFill>
                  <a:srgbClr val="6F3CC3"/>
                </a:solidFill>
                <a:latin typeface="Geist Mono"/>
                <a:ea typeface="Geist Mono"/>
                <a:cs typeface="Geist Mono"/>
                <a:sym typeface="Geist Mono"/>
              </a:defRPr>
            </a:lvl1pPr>
          </a:lstStyle>
          <a:p>
            <a:pPr/>
            <a:r>
              <a:t>5.0+</a:t>
            </a:r>
          </a:p>
        </p:txBody>
      </p:sp>
      <p:sp>
        <p:nvSpPr>
          <p:cNvPr id="512" name="Post meta"/>
          <p:cNvSpPr txBox="1"/>
          <p:nvPr/>
        </p:nvSpPr>
        <p:spPr>
          <a:xfrm>
            <a:off x="9486900" y="7899400"/>
            <a:ext cx="2413000" cy="5334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50800" tIns="50800" rIns="50800" bIns="50800" anchor="ctr">
            <a:spAutoFit/>
          </a:bodyPr>
          <a:lstStyle>
            <a:lvl1pPr>
              <a:defRPr sz="2700">
                <a:solidFill>
                  <a:srgbClr val="6F3CC3"/>
                </a:solidFill>
                <a:latin typeface="Unbounded SemiBold"/>
                <a:ea typeface="Unbounded SemiBold"/>
                <a:cs typeface="Unbounded SemiBold"/>
                <a:sym typeface="Unbounded SemiBold"/>
              </a:defRPr>
            </a:lvl1pPr>
          </a:lstStyle>
          <a:p>
            <a:pPr/>
            <a:r>
              <a:t>Post meta</a:t>
            </a:r>
          </a:p>
        </p:txBody>
      </p:sp>
      <p:sp>
        <p:nvSpPr>
          <p:cNvPr id="513" name="6.5+"/>
          <p:cNvSpPr txBox="1"/>
          <p:nvPr/>
        </p:nvSpPr>
        <p:spPr>
          <a:xfrm>
            <a:off x="9512300" y="8394700"/>
            <a:ext cx="2413000" cy="5588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50800" tIns="50800" rIns="50800" bIns="50800" anchor="ctr">
            <a:spAutoFit/>
          </a:bodyPr>
          <a:lstStyle>
            <a:lvl1pPr>
              <a:defRPr sz="2800">
                <a:solidFill>
                  <a:srgbClr val="6F3CC3"/>
                </a:solidFill>
                <a:latin typeface="Geist Mono"/>
                <a:ea typeface="Geist Mono"/>
                <a:cs typeface="Geist Mono"/>
                <a:sym typeface="Geist Mono"/>
              </a:defRPr>
            </a:lvl1pPr>
          </a:lstStyle>
          <a:p>
            <a:pPr/>
            <a:r>
              <a:t>6.5+</a:t>
            </a:r>
          </a:p>
        </p:txBody>
      </p:sp>
      <p:sp>
        <p:nvSpPr>
          <p:cNvPr id="514" name="theme.json"/>
          <p:cNvSpPr txBox="1"/>
          <p:nvPr/>
        </p:nvSpPr>
        <p:spPr>
          <a:xfrm>
            <a:off x="12420600" y="7302500"/>
            <a:ext cx="2717800" cy="5334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50800" tIns="50800" rIns="50800" bIns="50800" anchor="ctr">
            <a:spAutoFit/>
          </a:bodyPr>
          <a:lstStyle>
            <a:lvl1pPr>
              <a:defRPr sz="2700">
                <a:solidFill>
                  <a:srgbClr val="6F3CC3"/>
                </a:solidFill>
                <a:latin typeface="Unbounded SemiBold"/>
                <a:ea typeface="Unbounded SemiBold"/>
                <a:cs typeface="Unbounded SemiBold"/>
                <a:sym typeface="Unbounded SemiBold"/>
              </a:defRPr>
            </a:lvl1pPr>
          </a:lstStyle>
          <a:p>
            <a:pPr/>
            <a:r>
              <a:t>theme.json</a:t>
            </a:r>
          </a:p>
        </p:txBody>
      </p:sp>
      <p:sp>
        <p:nvSpPr>
          <p:cNvPr id="515" name="5.8+"/>
          <p:cNvSpPr txBox="1"/>
          <p:nvPr/>
        </p:nvSpPr>
        <p:spPr>
          <a:xfrm>
            <a:off x="12446000" y="7797800"/>
            <a:ext cx="2413000" cy="5588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50800" tIns="50800" rIns="50800" bIns="50800" anchor="ctr">
            <a:spAutoFit/>
          </a:bodyPr>
          <a:lstStyle>
            <a:lvl1pPr>
              <a:defRPr sz="2800">
                <a:solidFill>
                  <a:srgbClr val="6F3CC3"/>
                </a:solidFill>
                <a:latin typeface="Geist Mono"/>
                <a:ea typeface="Geist Mono"/>
                <a:cs typeface="Geist Mono"/>
                <a:sym typeface="Geist Mono"/>
              </a:defRPr>
            </a:lvl1pPr>
          </a:lstStyle>
          <a:p>
            <a:pPr/>
            <a:r>
              <a:t>5.8+</a:t>
            </a:r>
          </a:p>
        </p:txBody>
      </p:sp>
      <p:sp>
        <p:nvSpPr>
          <p:cNvPr id="516" name="Block parts"/>
          <p:cNvSpPr txBox="1"/>
          <p:nvPr/>
        </p:nvSpPr>
        <p:spPr>
          <a:xfrm>
            <a:off x="15354300" y="6718299"/>
            <a:ext cx="2413000" cy="92202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50800" tIns="50800" rIns="50800" bIns="50800" anchor="ctr">
            <a:spAutoFit/>
          </a:bodyPr>
          <a:lstStyle>
            <a:lvl1pPr>
              <a:defRPr sz="2700">
                <a:solidFill>
                  <a:srgbClr val="6F3CC3"/>
                </a:solidFill>
                <a:latin typeface="Unbounded SemiBold"/>
                <a:ea typeface="Unbounded SemiBold"/>
                <a:cs typeface="Unbounded SemiBold"/>
                <a:sym typeface="Unbounded SemiBold"/>
              </a:defRPr>
            </a:lvl1pPr>
          </a:lstStyle>
          <a:p>
            <a:pPr/>
            <a:r>
              <a:t>Block parts</a:t>
            </a:r>
          </a:p>
        </p:txBody>
      </p:sp>
      <p:sp>
        <p:nvSpPr>
          <p:cNvPr id="517" name="6.1+"/>
          <p:cNvSpPr txBox="1"/>
          <p:nvPr/>
        </p:nvSpPr>
        <p:spPr>
          <a:xfrm>
            <a:off x="15379700" y="7607300"/>
            <a:ext cx="2413000" cy="5588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50800" tIns="50800" rIns="50800" bIns="50800" anchor="ctr">
            <a:spAutoFit/>
          </a:bodyPr>
          <a:lstStyle>
            <a:lvl1pPr>
              <a:defRPr sz="2800">
                <a:solidFill>
                  <a:srgbClr val="6F3CC3"/>
                </a:solidFill>
                <a:latin typeface="Geist Mono"/>
                <a:ea typeface="Geist Mono"/>
                <a:cs typeface="Geist Mono"/>
                <a:sym typeface="Geist Mono"/>
              </a:defRPr>
            </a:lvl1pPr>
          </a:lstStyle>
          <a:p>
            <a:pPr/>
            <a:r>
              <a:t>6.1+</a:t>
            </a:r>
          </a:p>
        </p:txBody>
      </p:sp>
      <p:sp>
        <p:nvSpPr>
          <p:cNvPr id="518" name="hybrid theme: every step works in a classic theme"/>
          <p:cNvSpPr txBox="1"/>
          <p:nvPr/>
        </p:nvSpPr>
        <p:spPr>
          <a:xfrm>
            <a:off x="7239000" y="11087099"/>
            <a:ext cx="10160000" cy="8382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50800" tIns="50800" rIns="50800" bIns="50800" anchor="ctr">
            <a:spAutoFit/>
          </a:bodyPr>
          <a:lstStyle>
            <a:lvl1pPr>
              <a:defRPr i="1" sz="4400">
                <a:solidFill>
                  <a:srgbClr val="6F3CC3"/>
                </a:solidFill>
                <a:latin typeface="Instrument Serif"/>
                <a:ea typeface="Instrument Serif"/>
                <a:cs typeface="Instrument Serif"/>
                <a:sym typeface="Instrument Serif"/>
              </a:defRPr>
            </a:lvl1pPr>
          </a:lstStyle>
          <a:p>
            <a:pPr/>
            <a:r>
              <a:t>hybrid theme: every step works in a classic theme</a:t>
            </a:r>
          </a:p>
        </p:txBody>
      </p:sp>
      <p:sp>
        <p:nvSpPr>
          <p:cNvPr id="519" name="Going ACF-free"/>
          <p:cNvSpPr txBox="1"/>
          <p:nvPr/>
        </p:nvSpPr>
        <p:spPr>
          <a:xfrm>
            <a:off x="1320800" y="12344400"/>
            <a:ext cx="2451100" cy="4953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50800" tIns="50800" rIns="50800" bIns="50800" anchor="ctr">
            <a:spAutoFit/>
          </a:bodyPr>
          <a:lstStyle>
            <a:lvl1pPr>
              <a:defRPr sz="2400">
                <a:solidFill>
                  <a:srgbClr val="5D4E61"/>
                </a:solidFill>
                <a:latin typeface="Geist"/>
                <a:ea typeface="Geist"/>
                <a:cs typeface="Geist"/>
                <a:sym typeface="Geist"/>
              </a:defRPr>
            </a:lvl1pPr>
          </a:lstStyle>
          <a:p>
            <a:pPr/>
            <a:r>
              <a:t>Going ACF-free</a:t>
            </a:r>
          </a:p>
        </p:txBody>
      </p:sp>
      <p:pic>
        <p:nvPicPr>
          <p:cNvPr id="520" name="prog-23.png" descr="prog-23.png"/>
          <p:cNvPicPr>
            <a:picLocks noChangeAspect="1"/>
          </p:cNvPicPr>
          <p:nvPr/>
        </p:nvPicPr>
        <p:blipFill>
          <a:blip r:embed="rId11">
            <a:extLst/>
          </a:blip>
          <a:stretch>
            <a:fillRect/>
          </a:stretch>
        </p:blipFill>
        <p:spPr>
          <a:xfrm>
            <a:off x="17170400" y="12395200"/>
            <a:ext cx="5842000" cy="406400"/>
          </a:xfrm>
          <a:prstGeom prst="rect">
            <a:avLst/>
          </a:prstGeom>
          <a:ln w="12700">
            <a:miter lim="400000"/>
          </a:ln>
        </p:spPr>
      </p:pic>
    </p:spTree>
  </p:cSld>
  <p:clrMapOvr>
    <a:masterClrMapping/>
  </p:clrMapOvr>
  <p:transition xmlns:p14="http://schemas.microsoft.com/office/powerpoint/2010/main" spd="med" advClick="1"/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24" name="bg.png" descr="bg.png"/>
          <p:cNvPicPr>
            <a:picLocks noChangeAspect="1"/>
          </p:cNvPicPr>
          <p:nvPr/>
        </p:nvPicPr>
        <p:blipFill>
          <a:blip r:embed="rId3">
            <a:extLst/>
          </a:blip>
          <a:stretch>
            <a:fillRect/>
          </a:stretch>
        </p:blipFill>
        <p:spPr>
          <a:xfrm>
            <a:off x="0" y="0"/>
            <a:ext cx="24384000" cy="13716000"/>
          </a:xfrm>
          <a:prstGeom prst="rect">
            <a:avLst/>
          </a:prstGeom>
          <a:ln w="12700">
            <a:miter lim="400000"/>
          </a:ln>
        </p:spPr>
      </p:pic>
      <p:sp>
        <p:nvSpPr>
          <p:cNvPr id="525" name="Going 100% core: pros"/>
          <p:cNvSpPr txBox="1"/>
          <p:nvPr/>
        </p:nvSpPr>
        <p:spPr>
          <a:xfrm>
            <a:off x="1308100" y="2692399"/>
            <a:ext cx="22707600" cy="17145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50800" tIns="50800" rIns="50800" bIns="50800" anchor="ctr">
            <a:spAutoFit/>
          </a:bodyPr>
          <a:lstStyle/>
          <a:p>
            <a:pPr>
              <a:defRPr sz="7600">
                <a:solidFill>
                  <a:srgbClr val="220D44"/>
                </a:solidFill>
                <a:latin typeface="Unbounded ExtraBold"/>
                <a:ea typeface="Unbounded ExtraBold"/>
                <a:cs typeface="Unbounded ExtraBold"/>
                <a:sym typeface="Unbounded ExtraBold"/>
              </a:defRPr>
            </a:pPr>
            <a:r>
              <a:t>Going 100% core: </a:t>
            </a:r>
            <a:r>
              <a:rPr i="1" sz="9800">
                <a:solidFill>
                  <a:srgbClr val="6033A6"/>
                </a:solidFill>
                <a:latin typeface="Instrument Serif"/>
                <a:ea typeface="Instrument Serif"/>
                <a:cs typeface="Instrument Serif"/>
                <a:sym typeface="Instrument Serif"/>
              </a:rPr>
              <a:t>pros</a:t>
            </a:r>
          </a:p>
        </p:txBody>
      </p:sp>
      <p:sp>
        <p:nvSpPr>
          <p:cNvPr id="526" name="Going ACF-free"/>
          <p:cNvSpPr txBox="1"/>
          <p:nvPr/>
        </p:nvSpPr>
        <p:spPr>
          <a:xfrm>
            <a:off x="1320800" y="12344400"/>
            <a:ext cx="2451100" cy="4953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50800" tIns="50800" rIns="50800" bIns="50800" anchor="ctr">
            <a:spAutoFit/>
          </a:bodyPr>
          <a:lstStyle>
            <a:lvl1pPr>
              <a:defRPr sz="2400">
                <a:solidFill>
                  <a:srgbClr val="5D4E61"/>
                </a:solidFill>
                <a:latin typeface="Geist"/>
                <a:ea typeface="Geist"/>
                <a:cs typeface="Geist"/>
                <a:sym typeface="Geist"/>
              </a:defRPr>
            </a:lvl1pPr>
          </a:lstStyle>
          <a:p>
            <a:pPr/>
            <a:r>
              <a:t>Going ACF-free</a:t>
            </a:r>
          </a:p>
        </p:txBody>
      </p:sp>
      <p:sp>
        <p:nvSpPr>
          <p:cNvPr id="527" name="—"/>
          <p:cNvSpPr txBox="1"/>
          <p:nvPr/>
        </p:nvSpPr>
        <p:spPr>
          <a:xfrm>
            <a:off x="1320800" y="4826000"/>
            <a:ext cx="558800" cy="7239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50800" tIns="50800" rIns="50800" bIns="50800" anchor="ctr">
            <a:spAutoFit/>
          </a:bodyPr>
          <a:lstStyle>
            <a:lvl1pPr>
              <a:defRPr i="1" sz="3800">
                <a:solidFill>
                  <a:srgbClr val="6033A6"/>
                </a:solidFill>
                <a:latin typeface="Geist"/>
                <a:ea typeface="Geist"/>
                <a:cs typeface="Geist"/>
                <a:sym typeface="Geist"/>
              </a:defRPr>
            </a:lvl1pPr>
          </a:lstStyle>
          <a:p>
            <a:pPr/>
            <a:r>
              <a:t>—</a:t>
            </a:r>
          </a:p>
        </p:txBody>
      </p:sp>
      <p:sp>
        <p:nvSpPr>
          <p:cNvPr id="528" name="Performance, things moving from server to browser"/>
          <p:cNvSpPr txBox="1"/>
          <p:nvPr/>
        </p:nvSpPr>
        <p:spPr>
          <a:xfrm>
            <a:off x="2032000" y="4826000"/>
            <a:ext cx="21336000" cy="7239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50800" tIns="50800" rIns="50800" bIns="50800" anchor="ctr">
            <a:spAutoFit/>
          </a:bodyPr>
          <a:lstStyle>
            <a:lvl1pPr>
              <a:defRPr sz="3800">
                <a:solidFill>
                  <a:srgbClr val="220D44"/>
                </a:solidFill>
                <a:latin typeface="Geist"/>
                <a:ea typeface="Geist"/>
                <a:cs typeface="Geist"/>
                <a:sym typeface="Geist"/>
              </a:defRPr>
            </a:lvl1pPr>
          </a:lstStyle>
          <a:p>
            <a:pPr/>
            <a:r>
              <a:t>Performance, things moving from server to browser</a:t>
            </a:r>
          </a:p>
        </p:txBody>
      </p:sp>
      <p:sp>
        <p:nvSpPr>
          <p:cNvPr id="529" name="—"/>
          <p:cNvSpPr txBox="1"/>
          <p:nvPr/>
        </p:nvSpPr>
        <p:spPr>
          <a:xfrm>
            <a:off x="1320800" y="5880100"/>
            <a:ext cx="558800" cy="7239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50800" tIns="50800" rIns="50800" bIns="50800" anchor="ctr">
            <a:spAutoFit/>
          </a:bodyPr>
          <a:lstStyle>
            <a:lvl1pPr>
              <a:defRPr i="1" sz="3800">
                <a:solidFill>
                  <a:srgbClr val="6033A6"/>
                </a:solidFill>
                <a:latin typeface="Geist"/>
                <a:ea typeface="Geist"/>
                <a:cs typeface="Geist"/>
                <a:sym typeface="Geist"/>
              </a:defRPr>
            </a:lvl1pPr>
          </a:lstStyle>
          <a:p>
            <a:pPr/>
            <a:r>
              <a:t>—</a:t>
            </a:r>
          </a:p>
        </p:txBody>
      </p:sp>
      <p:sp>
        <p:nvSpPr>
          <p:cNvPr id="530" name="Heading levels, colours and spacing are built in."/>
          <p:cNvSpPr txBox="1"/>
          <p:nvPr/>
        </p:nvSpPr>
        <p:spPr>
          <a:xfrm>
            <a:off x="2032000" y="5880100"/>
            <a:ext cx="21336000" cy="7239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50800" tIns="50800" rIns="50800" bIns="50800" anchor="ctr">
            <a:spAutoFit/>
          </a:bodyPr>
          <a:lstStyle>
            <a:lvl1pPr>
              <a:defRPr sz="3800">
                <a:solidFill>
                  <a:srgbClr val="220D44"/>
                </a:solidFill>
                <a:latin typeface="Geist"/>
                <a:ea typeface="Geist"/>
                <a:cs typeface="Geist"/>
                <a:sym typeface="Geist"/>
              </a:defRPr>
            </a:lvl1pPr>
          </a:lstStyle>
          <a:p>
            <a:pPr/>
            <a:r>
              <a:t>Heading levels, colours and spacing are built in.</a:t>
            </a:r>
          </a:p>
        </p:txBody>
      </p:sp>
      <p:sp>
        <p:nvSpPr>
          <p:cNvPr id="531" name="—"/>
          <p:cNvSpPr txBox="1"/>
          <p:nvPr/>
        </p:nvSpPr>
        <p:spPr>
          <a:xfrm>
            <a:off x="1320800" y="6934200"/>
            <a:ext cx="558800" cy="7239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50800" tIns="50800" rIns="50800" bIns="50800" anchor="ctr">
            <a:spAutoFit/>
          </a:bodyPr>
          <a:lstStyle>
            <a:lvl1pPr>
              <a:defRPr i="1" sz="3800">
                <a:solidFill>
                  <a:srgbClr val="6033A6"/>
                </a:solidFill>
                <a:latin typeface="Geist"/>
                <a:ea typeface="Geist"/>
                <a:cs typeface="Geist"/>
                <a:sym typeface="Geist"/>
              </a:defRPr>
            </a:lvl1pPr>
          </a:lstStyle>
          <a:p>
            <a:pPr/>
            <a:r>
              <a:t>—</a:t>
            </a:r>
          </a:p>
        </p:txBody>
      </p:sp>
      <p:sp>
        <p:nvSpPr>
          <p:cNvPr id="532" name="The client edits in the preview itself."/>
          <p:cNvSpPr txBox="1"/>
          <p:nvPr/>
        </p:nvSpPr>
        <p:spPr>
          <a:xfrm>
            <a:off x="2032000" y="6934200"/>
            <a:ext cx="21336000" cy="7239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50800" tIns="50800" rIns="50800" bIns="50800" anchor="ctr">
            <a:spAutoFit/>
          </a:bodyPr>
          <a:lstStyle>
            <a:lvl1pPr>
              <a:defRPr sz="3800">
                <a:solidFill>
                  <a:srgbClr val="220D44"/>
                </a:solidFill>
                <a:latin typeface="Geist"/>
                <a:ea typeface="Geist"/>
                <a:cs typeface="Geist"/>
                <a:sym typeface="Geist"/>
              </a:defRPr>
            </a:lvl1pPr>
          </a:lstStyle>
          <a:p>
            <a:pPr/>
            <a:r>
              <a:t>The client edits in the preview itself.</a:t>
            </a:r>
          </a:p>
        </p:txBody>
      </p:sp>
      <p:sp>
        <p:nvSpPr>
          <p:cNvPr id="533" name="—"/>
          <p:cNvSpPr txBox="1"/>
          <p:nvPr/>
        </p:nvSpPr>
        <p:spPr>
          <a:xfrm>
            <a:off x="1320800" y="7988300"/>
            <a:ext cx="558800" cy="7239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50800" tIns="50800" rIns="50800" bIns="50800" anchor="ctr">
            <a:spAutoFit/>
          </a:bodyPr>
          <a:lstStyle>
            <a:lvl1pPr>
              <a:defRPr i="1" sz="3800">
                <a:solidFill>
                  <a:srgbClr val="6033A6"/>
                </a:solidFill>
                <a:latin typeface="Geist"/>
                <a:ea typeface="Geist"/>
                <a:cs typeface="Geist"/>
                <a:sym typeface="Geist"/>
              </a:defRPr>
            </a:lvl1pPr>
          </a:lstStyle>
          <a:p>
            <a:pPr/>
            <a:r>
              <a:t>—</a:t>
            </a:r>
          </a:p>
        </p:txBody>
      </p:sp>
      <p:sp>
        <p:nvSpPr>
          <p:cNvPr id="534" name="Lego and Duplo at once, mixed freely."/>
          <p:cNvSpPr txBox="1"/>
          <p:nvPr/>
        </p:nvSpPr>
        <p:spPr>
          <a:xfrm>
            <a:off x="2032000" y="7988300"/>
            <a:ext cx="21336000" cy="7239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50800" tIns="50800" rIns="50800" bIns="50800" anchor="ctr">
            <a:spAutoFit/>
          </a:bodyPr>
          <a:lstStyle>
            <a:lvl1pPr>
              <a:defRPr sz="3800">
                <a:solidFill>
                  <a:srgbClr val="220D44"/>
                </a:solidFill>
                <a:latin typeface="Geist"/>
                <a:ea typeface="Geist"/>
                <a:cs typeface="Geist"/>
                <a:sym typeface="Geist"/>
              </a:defRPr>
            </a:lvl1pPr>
          </a:lstStyle>
          <a:p>
            <a:pPr/>
            <a:r>
              <a:t>Lego and Duplo at once, mixed freely.</a:t>
            </a:r>
          </a:p>
        </p:txBody>
      </p:sp>
      <p:sp>
        <p:nvSpPr>
          <p:cNvPr id="535" name="—"/>
          <p:cNvSpPr txBox="1"/>
          <p:nvPr/>
        </p:nvSpPr>
        <p:spPr>
          <a:xfrm>
            <a:off x="1320800" y="9042400"/>
            <a:ext cx="558800" cy="7239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50800" tIns="50800" rIns="50800" bIns="50800" anchor="ctr">
            <a:spAutoFit/>
          </a:bodyPr>
          <a:lstStyle>
            <a:lvl1pPr>
              <a:defRPr i="1" sz="3800">
                <a:solidFill>
                  <a:srgbClr val="6033A6"/>
                </a:solidFill>
                <a:latin typeface="Geist"/>
                <a:ea typeface="Geist"/>
                <a:cs typeface="Geist"/>
                <a:sym typeface="Geist"/>
              </a:defRPr>
            </a:lvl1pPr>
          </a:lstStyle>
          <a:p>
            <a:pPr/>
            <a:r>
              <a:t>—</a:t>
            </a:r>
          </a:p>
        </p:txBody>
      </p:sp>
      <p:sp>
        <p:nvSpPr>
          <p:cNvPr id="536" name="Anything can be moved, reordered and combined."/>
          <p:cNvSpPr txBox="1"/>
          <p:nvPr/>
        </p:nvSpPr>
        <p:spPr>
          <a:xfrm>
            <a:off x="2032000" y="9042400"/>
            <a:ext cx="21336000" cy="7239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50800" tIns="50800" rIns="50800" bIns="50800" anchor="ctr">
            <a:spAutoFit/>
          </a:bodyPr>
          <a:lstStyle>
            <a:lvl1pPr>
              <a:defRPr sz="3800">
                <a:solidFill>
                  <a:srgbClr val="220D44"/>
                </a:solidFill>
                <a:latin typeface="Geist"/>
                <a:ea typeface="Geist"/>
                <a:cs typeface="Geist"/>
                <a:sym typeface="Geist"/>
              </a:defRPr>
            </a:lvl1pPr>
          </a:lstStyle>
          <a:p>
            <a:pPr/>
            <a:r>
              <a:t>Anything can be moved, reordered and combined.</a:t>
            </a:r>
          </a:p>
        </p:txBody>
      </p:sp>
      <p:sp>
        <p:nvSpPr>
          <p:cNvPr id="537" name="—"/>
          <p:cNvSpPr txBox="1"/>
          <p:nvPr/>
        </p:nvSpPr>
        <p:spPr>
          <a:xfrm>
            <a:off x="1320800" y="10096500"/>
            <a:ext cx="558800" cy="7239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50800" tIns="50800" rIns="50800" bIns="50800" anchor="ctr">
            <a:spAutoFit/>
          </a:bodyPr>
          <a:lstStyle>
            <a:lvl1pPr>
              <a:defRPr i="1" sz="3800">
                <a:solidFill>
                  <a:srgbClr val="6033A6"/>
                </a:solidFill>
                <a:latin typeface="Geist"/>
                <a:ea typeface="Geist"/>
                <a:cs typeface="Geist"/>
                <a:sym typeface="Geist"/>
              </a:defRPr>
            </a:lvl1pPr>
          </a:lstStyle>
          <a:p>
            <a:pPr/>
            <a:r>
              <a:t>—</a:t>
            </a:r>
          </a:p>
        </p:txBody>
      </p:sp>
      <p:sp>
        <p:nvSpPr>
          <p:cNvPr id="538" name="The client gets a real tool. One client had called an old site “the WordPress straitjacket Dude knitted”."/>
          <p:cNvSpPr txBox="1"/>
          <p:nvPr/>
        </p:nvSpPr>
        <p:spPr>
          <a:xfrm>
            <a:off x="2032000" y="10096499"/>
            <a:ext cx="21336000" cy="128397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50800" tIns="50800" rIns="50800" bIns="50800" anchor="ctr">
            <a:spAutoFit/>
          </a:bodyPr>
          <a:lstStyle/>
          <a:p>
            <a:pPr>
              <a:defRPr sz="3800">
                <a:solidFill>
                  <a:srgbClr val="220D44"/>
                </a:solidFill>
                <a:latin typeface="Geist"/>
                <a:ea typeface="Geist"/>
                <a:cs typeface="Geist"/>
                <a:sym typeface="Geist"/>
              </a:defRPr>
            </a:pPr>
            <a:r>
              <a:t>The client gets a real tool. One client had called an</a:t>
            </a:r>
            <a:br/>
            <a:r>
              <a:t>old site “the WordPress straitjacket Dude knitted”.</a:t>
            </a:r>
          </a:p>
        </p:txBody>
      </p:sp>
      <p:pic>
        <p:nvPicPr>
          <p:cNvPr id="539" name="prog-24.png" descr="prog-24.png"/>
          <p:cNvPicPr>
            <a:picLocks noChangeAspect="1"/>
          </p:cNvPicPr>
          <p:nvPr/>
        </p:nvPicPr>
        <p:blipFill>
          <a:blip r:embed="rId4">
            <a:extLst/>
          </a:blip>
          <a:stretch>
            <a:fillRect/>
          </a:stretch>
        </p:blipFill>
        <p:spPr>
          <a:xfrm>
            <a:off x="17170400" y="12395200"/>
            <a:ext cx="5842000" cy="406400"/>
          </a:xfrm>
          <a:prstGeom prst="rect">
            <a:avLst/>
          </a:prstGeom>
          <a:ln w="12700">
            <a:miter lim="400000"/>
          </a:ln>
        </p:spPr>
      </p:pic>
    </p:spTree>
  </p:cSld>
  <p:clrMapOvr>
    <a:masterClrMapping/>
  </p:clrMapOvr>
  <p:transition xmlns:p14="http://schemas.microsoft.com/office/powerpoint/2010/main" spd="med" advClick="1"/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43" name="bg.png" descr="bg.png"/>
          <p:cNvPicPr>
            <a:picLocks noChangeAspect="1"/>
          </p:cNvPicPr>
          <p:nvPr/>
        </p:nvPicPr>
        <p:blipFill>
          <a:blip r:embed="rId3">
            <a:extLst/>
          </a:blip>
          <a:stretch>
            <a:fillRect/>
          </a:stretch>
        </p:blipFill>
        <p:spPr>
          <a:xfrm>
            <a:off x="0" y="0"/>
            <a:ext cx="24384000" cy="13716000"/>
          </a:xfrm>
          <a:prstGeom prst="rect">
            <a:avLst/>
          </a:prstGeom>
          <a:ln w="12700">
            <a:miter lim="400000"/>
          </a:ln>
        </p:spPr>
      </p:pic>
      <p:sp>
        <p:nvSpPr>
          <p:cNvPr id="544" name="Content in ACF and in core"/>
          <p:cNvSpPr txBox="1"/>
          <p:nvPr/>
        </p:nvSpPr>
        <p:spPr>
          <a:xfrm>
            <a:off x="1219200" y="2692399"/>
            <a:ext cx="22707600" cy="17145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50800" tIns="50800" rIns="50800" bIns="50800" anchor="ctr">
            <a:spAutoFit/>
          </a:bodyPr>
          <a:lstStyle/>
          <a:p>
            <a:pPr>
              <a:defRPr sz="7600">
                <a:solidFill>
                  <a:srgbClr val="220D44"/>
                </a:solidFill>
                <a:latin typeface="Unbounded ExtraBold"/>
                <a:ea typeface="Unbounded ExtraBold"/>
                <a:cs typeface="Unbounded ExtraBold"/>
                <a:sym typeface="Unbounded ExtraBold"/>
              </a:defRPr>
            </a:pPr>
            <a:r>
              <a:t>Content in ACF </a:t>
            </a:r>
            <a:r>
              <a:rPr i="1" sz="9800">
                <a:solidFill>
                  <a:srgbClr val="6033A6"/>
                </a:solidFill>
                <a:latin typeface="Instrument Serif"/>
                <a:ea typeface="Instrument Serif"/>
                <a:cs typeface="Instrument Serif"/>
                <a:sym typeface="Instrument Serif"/>
              </a:rPr>
              <a:t>and in core</a:t>
            </a:r>
          </a:p>
        </p:txBody>
      </p:sp>
      <p:sp>
        <p:nvSpPr>
          <p:cNvPr id="545" name="Going ACF-free"/>
          <p:cNvSpPr txBox="1"/>
          <p:nvPr/>
        </p:nvSpPr>
        <p:spPr>
          <a:xfrm>
            <a:off x="1320800" y="12344400"/>
            <a:ext cx="2451100" cy="4953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50800" tIns="50800" rIns="50800" bIns="50800" anchor="ctr">
            <a:spAutoFit/>
          </a:bodyPr>
          <a:lstStyle>
            <a:lvl1pPr>
              <a:defRPr sz="2400">
                <a:solidFill>
                  <a:srgbClr val="5D4E61"/>
                </a:solidFill>
                <a:latin typeface="Geist"/>
                <a:ea typeface="Geist"/>
                <a:cs typeface="Geist"/>
                <a:sym typeface="Geist"/>
              </a:defRPr>
            </a:lvl1pPr>
          </a:lstStyle>
          <a:p>
            <a:pPr/>
            <a:r>
              <a:t>Going ACF-free</a:t>
            </a:r>
          </a:p>
        </p:txBody>
      </p:sp>
      <p:sp>
        <p:nvSpPr>
          <p:cNvPr id="546" name="With ACF"/>
          <p:cNvSpPr txBox="1"/>
          <p:nvPr/>
        </p:nvSpPr>
        <p:spPr>
          <a:xfrm>
            <a:off x="1270000" y="5486400"/>
            <a:ext cx="3048000" cy="5715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50800" tIns="50800" rIns="50800" bIns="50800" anchor="ctr">
            <a:spAutoFit/>
          </a:bodyPr>
          <a:lstStyle>
            <a:lvl1pPr>
              <a:defRPr sz="3000">
                <a:solidFill>
                  <a:srgbClr val="6033A6"/>
                </a:solidFill>
                <a:latin typeface="Unbounded SemiBold"/>
                <a:ea typeface="Unbounded SemiBold"/>
                <a:cs typeface="Unbounded SemiBold"/>
                <a:sym typeface="Unbounded SemiBold"/>
              </a:defRPr>
            </a:lvl1pPr>
          </a:lstStyle>
          <a:p>
            <a:pPr/>
            <a:r>
              <a:t>With ACF</a:t>
            </a:r>
          </a:p>
        </p:txBody>
      </p:sp>
      <p:pic>
        <p:nvPicPr>
          <p:cNvPr id="547" name="dg-box.png" descr="dg-box.png"/>
          <p:cNvPicPr>
            <a:picLocks noChangeAspect="1"/>
          </p:cNvPicPr>
          <p:nvPr/>
        </p:nvPicPr>
        <p:blipFill>
          <a:blip r:embed="rId4">
            <a:extLst/>
          </a:blip>
          <a:stretch>
            <a:fillRect/>
          </a:stretch>
        </p:blipFill>
        <p:spPr>
          <a:xfrm>
            <a:off x="4622800" y="4914900"/>
            <a:ext cx="4191000" cy="2159000"/>
          </a:xfrm>
          <a:prstGeom prst="rect">
            <a:avLst/>
          </a:prstGeom>
          <a:ln w="12700">
            <a:miter lim="400000"/>
          </a:ln>
        </p:spPr>
      </p:pic>
      <p:sp>
        <p:nvSpPr>
          <p:cNvPr id="548" name="DATABASE + acf-json/"/>
          <p:cNvSpPr txBox="1"/>
          <p:nvPr/>
        </p:nvSpPr>
        <p:spPr>
          <a:xfrm>
            <a:off x="4851400" y="5105399"/>
            <a:ext cx="3683000" cy="4191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50800" tIns="50800" rIns="50800" bIns="50800" anchor="ctr">
            <a:spAutoFit/>
          </a:bodyPr>
          <a:lstStyle>
            <a:lvl1pPr>
              <a:defRPr sz="1900">
                <a:solidFill>
                  <a:srgbClr val="DC3F6D"/>
                </a:solidFill>
                <a:latin typeface="Geist Mono"/>
                <a:ea typeface="Geist Mono"/>
                <a:cs typeface="Geist Mono"/>
                <a:sym typeface="Geist Mono"/>
              </a:defRPr>
            </a:lvl1pPr>
          </a:lstStyle>
          <a:p>
            <a:pPr/>
            <a:r>
              <a:t>DATABASE + acf-json/</a:t>
            </a:r>
          </a:p>
        </p:txBody>
      </p:sp>
      <p:sp>
        <p:nvSpPr>
          <p:cNvPr id="549" name="Field groups"/>
          <p:cNvSpPr txBox="1"/>
          <p:nvPr/>
        </p:nvSpPr>
        <p:spPr>
          <a:xfrm>
            <a:off x="4851400" y="5562599"/>
            <a:ext cx="3683000" cy="5461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50800" tIns="50800" rIns="50800" bIns="50800" anchor="ctr">
            <a:spAutoFit/>
          </a:bodyPr>
          <a:lstStyle>
            <a:lvl1pPr>
              <a:defRPr sz="2800">
                <a:solidFill>
                  <a:srgbClr val="220D44"/>
                </a:solidFill>
                <a:latin typeface="Unbounded SemiBold"/>
                <a:ea typeface="Unbounded SemiBold"/>
                <a:cs typeface="Unbounded SemiBold"/>
                <a:sym typeface="Unbounded SemiBold"/>
              </a:defRPr>
            </a:lvl1pPr>
          </a:lstStyle>
          <a:p>
            <a:pPr/>
            <a:r>
              <a:t>Field groups</a:t>
            </a:r>
          </a:p>
        </p:txBody>
      </p:sp>
      <p:sp>
        <p:nvSpPr>
          <p:cNvPr id="550" name="Set up by hand in the admin"/>
          <p:cNvSpPr txBox="1"/>
          <p:nvPr/>
        </p:nvSpPr>
        <p:spPr>
          <a:xfrm>
            <a:off x="4851400" y="6172200"/>
            <a:ext cx="3683000" cy="8255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50800" tIns="50800" rIns="50800" bIns="50800" anchor="ctr">
            <a:spAutoFit/>
          </a:bodyPr>
          <a:lstStyle>
            <a:lvl1pPr>
              <a:defRPr sz="2300">
                <a:solidFill>
                  <a:srgbClr val="220D44"/>
                </a:solidFill>
                <a:latin typeface="Geist"/>
                <a:ea typeface="Geist"/>
                <a:cs typeface="Geist"/>
                <a:sym typeface="Geist"/>
              </a:defRPr>
            </a:lvl1pPr>
          </a:lstStyle>
          <a:p>
            <a:pPr/>
            <a:r>
              <a:t>Set up by hand in the admin</a:t>
            </a:r>
          </a:p>
        </p:txBody>
      </p:sp>
      <p:sp>
        <p:nvSpPr>
          <p:cNvPr id="551" name="→"/>
          <p:cNvSpPr txBox="1"/>
          <p:nvPr/>
        </p:nvSpPr>
        <p:spPr>
          <a:xfrm>
            <a:off x="8813800" y="5638800"/>
            <a:ext cx="508000" cy="6604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50800" tIns="50800" rIns="50800" bIns="50800" anchor="ctr">
            <a:spAutoFit/>
          </a:bodyPr>
          <a:lstStyle>
            <a:lvl1pPr>
              <a:defRPr i="1" sz="3400">
                <a:solidFill>
                  <a:srgbClr val="6033A6"/>
                </a:solidFill>
                <a:latin typeface="Geist"/>
                <a:ea typeface="Geist"/>
                <a:cs typeface="Geist"/>
                <a:sym typeface="Geist"/>
              </a:defRPr>
            </a:lvl1pPr>
          </a:lstStyle>
          <a:p>
            <a:pPr/>
            <a:r>
              <a:t>→</a:t>
            </a:r>
          </a:p>
        </p:txBody>
      </p:sp>
      <p:pic>
        <p:nvPicPr>
          <p:cNvPr id="552" name="dg-box.png" descr="dg-box.png"/>
          <p:cNvPicPr>
            <a:picLocks noChangeAspect="1"/>
          </p:cNvPicPr>
          <p:nvPr/>
        </p:nvPicPr>
        <p:blipFill>
          <a:blip r:embed="rId4">
            <a:extLst/>
          </a:blip>
          <a:stretch>
            <a:fillRect/>
          </a:stretch>
        </p:blipFill>
        <p:spPr>
          <a:xfrm>
            <a:off x="9372600" y="4914900"/>
            <a:ext cx="4191000" cy="2159000"/>
          </a:xfrm>
          <a:prstGeom prst="rect">
            <a:avLst/>
          </a:prstGeom>
          <a:ln w="12700">
            <a:miter lim="400000"/>
          </a:ln>
        </p:spPr>
      </p:pic>
      <p:sp>
        <p:nvSpPr>
          <p:cNvPr id="553" name="PLUGIN"/>
          <p:cNvSpPr txBox="1"/>
          <p:nvPr/>
        </p:nvSpPr>
        <p:spPr>
          <a:xfrm>
            <a:off x="9601200" y="5105399"/>
            <a:ext cx="3683000" cy="4191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50800" tIns="50800" rIns="50800" bIns="50800" anchor="ctr">
            <a:spAutoFit/>
          </a:bodyPr>
          <a:lstStyle>
            <a:lvl1pPr>
              <a:defRPr sz="1900">
                <a:solidFill>
                  <a:srgbClr val="DC3F6D"/>
                </a:solidFill>
                <a:latin typeface="Geist Mono"/>
                <a:ea typeface="Geist Mono"/>
                <a:cs typeface="Geist Mono"/>
                <a:sym typeface="Geist Mono"/>
              </a:defRPr>
            </a:lvl1pPr>
          </a:lstStyle>
          <a:p>
            <a:pPr/>
            <a:r>
              <a:t>PLUGIN</a:t>
            </a:r>
          </a:p>
        </p:txBody>
      </p:sp>
      <p:sp>
        <p:nvSpPr>
          <p:cNvPr id="554" name="ACF"/>
          <p:cNvSpPr txBox="1"/>
          <p:nvPr/>
        </p:nvSpPr>
        <p:spPr>
          <a:xfrm>
            <a:off x="9601200" y="5562599"/>
            <a:ext cx="3683000" cy="5461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50800" tIns="50800" rIns="50800" bIns="50800" anchor="ctr">
            <a:spAutoFit/>
          </a:bodyPr>
          <a:lstStyle>
            <a:lvl1pPr>
              <a:defRPr sz="2800">
                <a:solidFill>
                  <a:srgbClr val="220D44"/>
                </a:solidFill>
                <a:latin typeface="Unbounded SemiBold"/>
                <a:ea typeface="Unbounded SemiBold"/>
                <a:cs typeface="Unbounded SemiBold"/>
                <a:sym typeface="Unbounded SemiBold"/>
              </a:defRPr>
            </a:lvl1pPr>
          </a:lstStyle>
          <a:p>
            <a:pPr/>
            <a:r>
              <a:t>ACF</a:t>
            </a:r>
          </a:p>
        </p:txBody>
      </p:sp>
      <p:sp>
        <p:nvSpPr>
          <p:cNvPr id="555" name="Reads the groups, draws the forms"/>
          <p:cNvSpPr txBox="1"/>
          <p:nvPr/>
        </p:nvSpPr>
        <p:spPr>
          <a:xfrm>
            <a:off x="9601200" y="6172200"/>
            <a:ext cx="3683000" cy="8255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50800" tIns="50800" rIns="50800" bIns="50800" anchor="ctr">
            <a:spAutoFit/>
          </a:bodyPr>
          <a:lstStyle>
            <a:lvl1pPr>
              <a:defRPr sz="2300">
                <a:solidFill>
                  <a:srgbClr val="220D44"/>
                </a:solidFill>
                <a:latin typeface="Geist"/>
                <a:ea typeface="Geist"/>
                <a:cs typeface="Geist"/>
                <a:sym typeface="Geist"/>
              </a:defRPr>
            </a:lvl1pPr>
          </a:lstStyle>
          <a:p>
            <a:pPr/>
            <a:r>
              <a:t>Reads the groups, draws the forms</a:t>
            </a:r>
          </a:p>
        </p:txBody>
      </p:sp>
      <p:sp>
        <p:nvSpPr>
          <p:cNvPr id="556" name="→"/>
          <p:cNvSpPr txBox="1"/>
          <p:nvPr/>
        </p:nvSpPr>
        <p:spPr>
          <a:xfrm>
            <a:off x="13563600" y="5638800"/>
            <a:ext cx="508000" cy="6604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50800" tIns="50800" rIns="50800" bIns="50800" anchor="ctr">
            <a:spAutoFit/>
          </a:bodyPr>
          <a:lstStyle>
            <a:lvl1pPr>
              <a:defRPr i="1" sz="3400">
                <a:solidFill>
                  <a:srgbClr val="6033A6"/>
                </a:solidFill>
                <a:latin typeface="Geist"/>
                <a:ea typeface="Geist"/>
                <a:cs typeface="Geist"/>
                <a:sym typeface="Geist"/>
              </a:defRPr>
            </a:lvl1pPr>
          </a:lstStyle>
          <a:p>
            <a:pPr/>
            <a:r>
              <a:t>→</a:t>
            </a:r>
          </a:p>
        </p:txBody>
      </p:sp>
      <p:pic>
        <p:nvPicPr>
          <p:cNvPr id="557" name="dg-box.png" descr="dg-box.png"/>
          <p:cNvPicPr>
            <a:picLocks noChangeAspect="1"/>
          </p:cNvPicPr>
          <p:nvPr/>
        </p:nvPicPr>
        <p:blipFill>
          <a:blip r:embed="rId4">
            <a:extLst/>
          </a:blip>
          <a:stretch>
            <a:fillRect/>
          </a:stretch>
        </p:blipFill>
        <p:spPr>
          <a:xfrm>
            <a:off x="14122400" y="4914900"/>
            <a:ext cx="4191000" cy="2159000"/>
          </a:xfrm>
          <a:prstGeom prst="rect">
            <a:avLst/>
          </a:prstGeom>
          <a:ln w="12700">
            <a:miter lim="400000"/>
          </a:ln>
        </p:spPr>
      </p:pic>
      <p:sp>
        <p:nvSpPr>
          <p:cNvPr id="558" name="THEME"/>
          <p:cNvSpPr txBox="1"/>
          <p:nvPr/>
        </p:nvSpPr>
        <p:spPr>
          <a:xfrm>
            <a:off x="14351000" y="5105399"/>
            <a:ext cx="3683000" cy="4191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50800" tIns="50800" rIns="50800" bIns="50800" anchor="ctr">
            <a:spAutoFit/>
          </a:bodyPr>
          <a:lstStyle>
            <a:lvl1pPr>
              <a:defRPr sz="1900">
                <a:solidFill>
                  <a:srgbClr val="6033A6"/>
                </a:solidFill>
                <a:latin typeface="Geist Mono"/>
                <a:ea typeface="Geist Mono"/>
                <a:cs typeface="Geist Mono"/>
                <a:sym typeface="Geist Mono"/>
              </a:defRPr>
            </a:lvl1pPr>
          </a:lstStyle>
          <a:p>
            <a:pPr/>
            <a:r>
              <a:t>THEME</a:t>
            </a:r>
          </a:p>
        </p:txBody>
      </p:sp>
      <p:sp>
        <p:nvSpPr>
          <p:cNvPr id="559" name="PHP templates"/>
          <p:cNvSpPr txBox="1"/>
          <p:nvPr/>
        </p:nvSpPr>
        <p:spPr>
          <a:xfrm>
            <a:off x="14351000" y="5562599"/>
            <a:ext cx="3683000" cy="5461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50800" tIns="50800" rIns="50800" bIns="50800" anchor="ctr">
            <a:spAutoFit/>
          </a:bodyPr>
          <a:lstStyle>
            <a:lvl1pPr>
              <a:defRPr sz="2800">
                <a:solidFill>
                  <a:srgbClr val="220D44"/>
                </a:solidFill>
                <a:latin typeface="Unbounded SemiBold"/>
                <a:ea typeface="Unbounded SemiBold"/>
                <a:cs typeface="Unbounded SemiBold"/>
                <a:sym typeface="Unbounded SemiBold"/>
              </a:defRPr>
            </a:lvl1pPr>
          </a:lstStyle>
          <a:p>
            <a:pPr/>
            <a:r>
              <a:t>PHP templates</a:t>
            </a:r>
          </a:p>
        </p:txBody>
      </p:sp>
      <p:sp>
        <p:nvSpPr>
          <p:cNvPr id="560" name="Print each field with get_field()"/>
          <p:cNvSpPr txBox="1"/>
          <p:nvPr/>
        </p:nvSpPr>
        <p:spPr>
          <a:xfrm>
            <a:off x="14351000" y="6172199"/>
            <a:ext cx="3683000" cy="7874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50800" tIns="50800" rIns="50800" bIns="50800" anchor="ctr">
            <a:spAutoFit/>
          </a:bodyPr>
          <a:lstStyle/>
          <a:p>
            <a:pPr>
              <a:defRPr sz="2300">
                <a:solidFill>
                  <a:srgbClr val="220D44"/>
                </a:solidFill>
                <a:latin typeface="Geist"/>
                <a:ea typeface="Geist"/>
                <a:cs typeface="Geist"/>
                <a:sym typeface="Geist"/>
              </a:defRPr>
            </a:pPr>
            <a:r>
              <a:t>Print each field with </a:t>
            </a:r>
            <a:r>
              <a:rPr sz="2100">
                <a:solidFill>
                  <a:srgbClr val="6033A6"/>
                </a:solidFill>
                <a:latin typeface="Geist Mono"/>
                <a:ea typeface="Geist Mono"/>
                <a:cs typeface="Geist Mono"/>
                <a:sym typeface="Geist Mono"/>
              </a:rPr>
              <a:t>get_field()</a:t>
            </a:r>
          </a:p>
        </p:txBody>
      </p:sp>
      <p:sp>
        <p:nvSpPr>
          <p:cNvPr id="561" name="→"/>
          <p:cNvSpPr txBox="1"/>
          <p:nvPr/>
        </p:nvSpPr>
        <p:spPr>
          <a:xfrm>
            <a:off x="18313400" y="5638800"/>
            <a:ext cx="508000" cy="6604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50800" tIns="50800" rIns="50800" bIns="50800" anchor="ctr">
            <a:spAutoFit/>
          </a:bodyPr>
          <a:lstStyle>
            <a:lvl1pPr>
              <a:defRPr i="1" sz="3400">
                <a:solidFill>
                  <a:srgbClr val="6033A6"/>
                </a:solidFill>
                <a:latin typeface="Geist"/>
                <a:ea typeface="Geist"/>
                <a:cs typeface="Geist"/>
                <a:sym typeface="Geist"/>
              </a:defRPr>
            </a:lvl1pPr>
          </a:lstStyle>
          <a:p>
            <a:pPr/>
            <a:r>
              <a:t>→</a:t>
            </a:r>
          </a:p>
        </p:txBody>
      </p:sp>
      <p:pic>
        <p:nvPicPr>
          <p:cNvPr id="562" name="dg-box.png" descr="dg-box.png"/>
          <p:cNvPicPr>
            <a:picLocks noChangeAspect="1"/>
          </p:cNvPicPr>
          <p:nvPr/>
        </p:nvPicPr>
        <p:blipFill>
          <a:blip r:embed="rId4">
            <a:extLst/>
          </a:blip>
          <a:stretch>
            <a:fillRect/>
          </a:stretch>
        </p:blipFill>
        <p:spPr>
          <a:xfrm>
            <a:off x="18872200" y="4914900"/>
            <a:ext cx="4191000" cy="2159000"/>
          </a:xfrm>
          <a:prstGeom prst="rect">
            <a:avLst/>
          </a:prstGeom>
          <a:ln w="12700">
            <a:miter lim="400000"/>
          </a:ln>
        </p:spPr>
      </p:pic>
      <p:sp>
        <p:nvSpPr>
          <p:cNvPr id="563" name="DATABASE"/>
          <p:cNvSpPr txBox="1"/>
          <p:nvPr/>
        </p:nvSpPr>
        <p:spPr>
          <a:xfrm>
            <a:off x="19100800" y="5105399"/>
            <a:ext cx="3683000" cy="4191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50800" tIns="50800" rIns="50800" bIns="50800" anchor="ctr">
            <a:spAutoFit/>
          </a:bodyPr>
          <a:lstStyle>
            <a:lvl1pPr>
              <a:defRPr sz="1900">
                <a:solidFill>
                  <a:srgbClr val="DC3F6D"/>
                </a:solidFill>
                <a:latin typeface="Geist Mono"/>
                <a:ea typeface="Geist Mono"/>
                <a:cs typeface="Geist Mono"/>
                <a:sym typeface="Geist Mono"/>
              </a:defRPr>
            </a:lvl1pPr>
          </a:lstStyle>
          <a:p>
            <a:pPr/>
            <a:r>
              <a:t>DATABASE</a:t>
            </a:r>
          </a:p>
        </p:txBody>
      </p:sp>
      <p:sp>
        <p:nvSpPr>
          <p:cNvPr id="564" name="Field values"/>
          <p:cNvSpPr txBox="1"/>
          <p:nvPr/>
        </p:nvSpPr>
        <p:spPr>
          <a:xfrm>
            <a:off x="19100800" y="5562599"/>
            <a:ext cx="3683000" cy="5461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50800" tIns="50800" rIns="50800" bIns="50800" anchor="ctr">
            <a:spAutoFit/>
          </a:bodyPr>
          <a:lstStyle>
            <a:lvl1pPr>
              <a:defRPr sz="2800">
                <a:solidFill>
                  <a:srgbClr val="220D44"/>
                </a:solidFill>
                <a:latin typeface="Unbounded SemiBold"/>
                <a:ea typeface="Unbounded SemiBold"/>
                <a:cs typeface="Unbounded SemiBold"/>
                <a:sym typeface="Unbounded SemiBold"/>
              </a:defRPr>
            </a:lvl1pPr>
          </a:lstStyle>
          <a:p>
            <a:pPr/>
            <a:r>
              <a:t>Field values</a:t>
            </a:r>
          </a:p>
        </p:txBody>
      </p:sp>
      <p:sp>
        <p:nvSpPr>
          <p:cNvPr id="565" name="One wp_postmeta row per field"/>
          <p:cNvSpPr txBox="1"/>
          <p:nvPr/>
        </p:nvSpPr>
        <p:spPr>
          <a:xfrm>
            <a:off x="19100800" y="6172200"/>
            <a:ext cx="3683000" cy="8255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50800" tIns="50800" rIns="50800" bIns="50800" anchor="ctr">
            <a:spAutoFit/>
          </a:bodyPr>
          <a:lstStyle/>
          <a:p>
            <a:pPr>
              <a:defRPr sz="2300">
                <a:solidFill>
                  <a:srgbClr val="220D44"/>
                </a:solidFill>
                <a:latin typeface="Geist"/>
                <a:ea typeface="Geist"/>
                <a:cs typeface="Geist"/>
                <a:sym typeface="Geist"/>
              </a:defRPr>
            </a:pPr>
            <a:r>
              <a:t>One </a:t>
            </a:r>
            <a:r>
              <a:rPr sz="2100">
                <a:solidFill>
                  <a:srgbClr val="6033A6"/>
                </a:solidFill>
                <a:latin typeface="Geist Mono"/>
                <a:ea typeface="Geist Mono"/>
                <a:cs typeface="Geist Mono"/>
                <a:sym typeface="Geist Mono"/>
              </a:rPr>
              <a:t>wp_postmeta</a:t>
            </a:r>
            <a:r>
              <a:t> row per field</a:t>
            </a:r>
          </a:p>
        </p:txBody>
      </p:sp>
      <p:sp>
        <p:nvSpPr>
          <p:cNvPr id="566" name="With core blocks"/>
          <p:cNvSpPr txBox="1"/>
          <p:nvPr/>
        </p:nvSpPr>
        <p:spPr>
          <a:xfrm>
            <a:off x="1270000" y="8432800"/>
            <a:ext cx="3048000" cy="99441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50800" tIns="50800" rIns="50800" bIns="50800" anchor="ctr">
            <a:spAutoFit/>
          </a:bodyPr>
          <a:lstStyle>
            <a:lvl1pPr>
              <a:defRPr sz="3000">
                <a:solidFill>
                  <a:srgbClr val="6033A6"/>
                </a:solidFill>
                <a:latin typeface="Unbounded SemiBold"/>
                <a:ea typeface="Unbounded SemiBold"/>
                <a:cs typeface="Unbounded SemiBold"/>
                <a:sym typeface="Unbounded SemiBold"/>
              </a:defRPr>
            </a:lvl1pPr>
          </a:lstStyle>
          <a:p>
            <a:pPr/>
            <a:r>
              <a:t>With core blocks</a:t>
            </a:r>
          </a:p>
        </p:txBody>
      </p:sp>
      <p:pic>
        <p:nvPicPr>
          <p:cNvPr id="567" name="dg-box.png" descr="dg-box.png"/>
          <p:cNvPicPr>
            <a:picLocks noChangeAspect="1"/>
          </p:cNvPicPr>
          <p:nvPr/>
        </p:nvPicPr>
        <p:blipFill>
          <a:blip r:embed="rId4">
            <a:extLst/>
          </a:blip>
          <a:stretch>
            <a:fillRect/>
          </a:stretch>
        </p:blipFill>
        <p:spPr>
          <a:xfrm>
            <a:off x="4622800" y="7861300"/>
            <a:ext cx="4191000" cy="2159000"/>
          </a:xfrm>
          <a:prstGeom prst="rect">
            <a:avLst/>
          </a:prstGeom>
          <a:ln w="12700">
            <a:miter lim="400000"/>
          </a:ln>
        </p:spPr>
      </p:pic>
      <p:sp>
        <p:nvSpPr>
          <p:cNvPr id="568" name="WORDPRESS CORE"/>
          <p:cNvSpPr txBox="1"/>
          <p:nvPr/>
        </p:nvSpPr>
        <p:spPr>
          <a:xfrm>
            <a:off x="4851400" y="8051799"/>
            <a:ext cx="3683000" cy="4191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50800" tIns="50800" rIns="50800" bIns="50800" anchor="ctr">
            <a:spAutoFit/>
          </a:bodyPr>
          <a:lstStyle>
            <a:lvl1pPr>
              <a:defRPr sz="1900">
                <a:solidFill>
                  <a:srgbClr val="6033A6"/>
                </a:solidFill>
                <a:latin typeface="Geist Mono"/>
                <a:ea typeface="Geist Mono"/>
                <a:cs typeface="Geist Mono"/>
                <a:sym typeface="Geist Mono"/>
              </a:defRPr>
            </a:lvl1pPr>
          </a:lstStyle>
          <a:p>
            <a:pPr/>
            <a:r>
              <a:t>WORDPRESS CORE</a:t>
            </a:r>
          </a:p>
        </p:txBody>
      </p:sp>
      <p:sp>
        <p:nvSpPr>
          <p:cNvPr id="569" name="Blocks"/>
          <p:cNvSpPr txBox="1"/>
          <p:nvPr/>
        </p:nvSpPr>
        <p:spPr>
          <a:xfrm>
            <a:off x="4851400" y="8508999"/>
            <a:ext cx="3683000" cy="5461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50800" tIns="50800" rIns="50800" bIns="50800" anchor="ctr">
            <a:spAutoFit/>
          </a:bodyPr>
          <a:lstStyle>
            <a:lvl1pPr>
              <a:defRPr sz="2800">
                <a:solidFill>
                  <a:srgbClr val="220D44"/>
                </a:solidFill>
                <a:latin typeface="Unbounded SemiBold"/>
                <a:ea typeface="Unbounded SemiBold"/>
                <a:cs typeface="Unbounded SemiBold"/>
                <a:sym typeface="Unbounded SemiBold"/>
              </a:defRPr>
            </a:lvl1pPr>
          </a:lstStyle>
          <a:p>
            <a:pPr/>
            <a:r>
              <a:t>Blocks</a:t>
            </a:r>
          </a:p>
        </p:txBody>
      </p:sp>
      <p:sp>
        <p:nvSpPr>
          <p:cNvPr id="570" name="The options come with the block"/>
          <p:cNvSpPr txBox="1"/>
          <p:nvPr/>
        </p:nvSpPr>
        <p:spPr>
          <a:xfrm>
            <a:off x="4851400" y="9118600"/>
            <a:ext cx="3683000" cy="8255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50800" tIns="50800" rIns="50800" bIns="50800" anchor="ctr">
            <a:spAutoFit/>
          </a:bodyPr>
          <a:lstStyle>
            <a:lvl1pPr>
              <a:defRPr sz="2300">
                <a:solidFill>
                  <a:srgbClr val="220D44"/>
                </a:solidFill>
                <a:latin typeface="Geist"/>
                <a:ea typeface="Geist"/>
                <a:cs typeface="Geist"/>
                <a:sym typeface="Geist"/>
              </a:defRPr>
            </a:lvl1pPr>
          </a:lstStyle>
          <a:p>
            <a:pPr/>
            <a:r>
              <a:t>The options come with the block</a:t>
            </a:r>
          </a:p>
        </p:txBody>
      </p:sp>
      <p:sp>
        <p:nvSpPr>
          <p:cNvPr id="571" name="→"/>
          <p:cNvSpPr txBox="1"/>
          <p:nvPr/>
        </p:nvSpPr>
        <p:spPr>
          <a:xfrm>
            <a:off x="8813800" y="8585200"/>
            <a:ext cx="508000" cy="6604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50800" tIns="50800" rIns="50800" bIns="50800" anchor="ctr">
            <a:spAutoFit/>
          </a:bodyPr>
          <a:lstStyle>
            <a:lvl1pPr>
              <a:defRPr i="1" sz="3400">
                <a:solidFill>
                  <a:srgbClr val="6033A6"/>
                </a:solidFill>
                <a:latin typeface="Geist"/>
                <a:ea typeface="Geist"/>
                <a:cs typeface="Geist"/>
                <a:sym typeface="Geist"/>
              </a:defRPr>
            </a:lvl1pPr>
          </a:lstStyle>
          <a:p>
            <a:pPr/>
            <a:r>
              <a:t>→</a:t>
            </a:r>
          </a:p>
        </p:txBody>
      </p:sp>
      <p:pic>
        <p:nvPicPr>
          <p:cNvPr id="572" name="dg-box-ghost.png" descr="dg-box-ghost.png"/>
          <p:cNvPicPr>
            <a:picLocks noChangeAspect="1"/>
          </p:cNvPicPr>
          <p:nvPr/>
        </p:nvPicPr>
        <p:blipFill>
          <a:blip r:embed="rId5">
            <a:extLst/>
          </a:blip>
          <a:stretch>
            <a:fillRect/>
          </a:stretch>
        </p:blipFill>
        <p:spPr>
          <a:xfrm>
            <a:off x="9372600" y="7861300"/>
            <a:ext cx="4191000" cy="2159000"/>
          </a:xfrm>
          <a:prstGeom prst="rect">
            <a:avLst/>
          </a:prstGeom>
          <a:ln w="12700">
            <a:miter lim="400000"/>
          </a:ln>
        </p:spPr>
      </p:pic>
      <p:sp>
        <p:nvSpPr>
          <p:cNvPr id="573" name="No plugin"/>
          <p:cNvSpPr txBox="1"/>
          <p:nvPr/>
        </p:nvSpPr>
        <p:spPr>
          <a:xfrm>
            <a:off x="9601200" y="8508999"/>
            <a:ext cx="3683000" cy="5461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50800" tIns="50800" rIns="50800" bIns="50800" anchor="ctr">
            <a:spAutoFit/>
          </a:bodyPr>
          <a:lstStyle>
            <a:lvl1pPr>
              <a:defRPr sz="2800">
                <a:solidFill>
                  <a:srgbClr val="5D5377"/>
                </a:solidFill>
                <a:latin typeface="Unbounded SemiBold"/>
                <a:ea typeface="Unbounded SemiBold"/>
                <a:cs typeface="Unbounded SemiBold"/>
                <a:sym typeface="Unbounded SemiBold"/>
              </a:defRPr>
            </a:lvl1pPr>
          </a:lstStyle>
          <a:p>
            <a:pPr/>
            <a:r>
              <a:t>No plugin</a:t>
            </a:r>
          </a:p>
        </p:txBody>
      </p:sp>
      <p:sp>
        <p:nvSpPr>
          <p:cNvPr id="574" name="Nothing to install or update"/>
          <p:cNvSpPr txBox="1"/>
          <p:nvPr/>
        </p:nvSpPr>
        <p:spPr>
          <a:xfrm>
            <a:off x="9601200" y="9118600"/>
            <a:ext cx="3683000" cy="8255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50800" tIns="50800" rIns="50800" bIns="50800" anchor="ctr">
            <a:spAutoFit/>
          </a:bodyPr>
          <a:lstStyle>
            <a:lvl1pPr>
              <a:defRPr sz="2300">
                <a:solidFill>
                  <a:srgbClr val="5D5377"/>
                </a:solidFill>
                <a:latin typeface="Geist"/>
                <a:ea typeface="Geist"/>
                <a:cs typeface="Geist"/>
                <a:sym typeface="Geist"/>
              </a:defRPr>
            </a:lvl1pPr>
          </a:lstStyle>
          <a:p>
            <a:pPr/>
            <a:r>
              <a:t>Nothing to install or update</a:t>
            </a:r>
          </a:p>
        </p:txBody>
      </p:sp>
      <p:sp>
        <p:nvSpPr>
          <p:cNvPr id="575" name="→"/>
          <p:cNvSpPr txBox="1"/>
          <p:nvPr/>
        </p:nvSpPr>
        <p:spPr>
          <a:xfrm>
            <a:off x="13563600" y="8585200"/>
            <a:ext cx="508000" cy="6604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50800" tIns="50800" rIns="50800" bIns="50800" anchor="ctr">
            <a:spAutoFit/>
          </a:bodyPr>
          <a:lstStyle>
            <a:lvl1pPr>
              <a:defRPr i="1" sz="3400">
                <a:solidFill>
                  <a:srgbClr val="6033A6"/>
                </a:solidFill>
                <a:latin typeface="Geist"/>
                <a:ea typeface="Geist"/>
                <a:cs typeface="Geist"/>
                <a:sym typeface="Geist"/>
              </a:defRPr>
            </a:lvl1pPr>
          </a:lstStyle>
          <a:p>
            <a:pPr/>
            <a:r>
              <a:t>→</a:t>
            </a:r>
          </a:p>
        </p:txBody>
      </p:sp>
      <p:pic>
        <p:nvPicPr>
          <p:cNvPr id="576" name="dg-box.png" descr="dg-box.png"/>
          <p:cNvPicPr>
            <a:picLocks noChangeAspect="1"/>
          </p:cNvPicPr>
          <p:nvPr/>
        </p:nvPicPr>
        <p:blipFill>
          <a:blip r:embed="rId4">
            <a:extLst/>
          </a:blip>
          <a:stretch>
            <a:fillRect/>
          </a:stretch>
        </p:blipFill>
        <p:spPr>
          <a:xfrm>
            <a:off x="14122400" y="7861300"/>
            <a:ext cx="4191000" cy="2159000"/>
          </a:xfrm>
          <a:prstGeom prst="rect">
            <a:avLst/>
          </a:prstGeom>
          <a:ln w="12700">
            <a:miter lim="400000"/>
          </a:ln>
        </p:spPr>
      </p:pic>
      <p:sp>
        <p:nvSpPr>
          <p:cNvPr id="577" name="THEME"/>
          <p:cNvSpPr txBox="1"/>
          <p:nvPr/>
        </p:nvSpPr>
        <p:spPr>
          <a:xfrm>
            <a:off x="14351000" y="8051799"/>
            <a:ext cx="3683000" cy="4191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50800" tIns="50800" rIns="50800" bIns="50800" anchor="ctr">
            <a:spAutoFit/>
          </a:bodyPr>
          <a:lstStyle>
            <a:lvl1pPr>
              <a:defRPr sz="1900">
                <a:solidFill>
                  <a:srgbClr val="6033A6"/>
                </a:solidFill>
                <a:latin typeface="Geist Mono"/>
                <a:ea typeface="Geist Mono"/>
                <a:cs typeface="Geist Mono"/>
                <a:sym typeface="Geist Mono"/>
              </a:defRPr>
            </a:lvl1pPr>
          </a:lstStyle>
          <a:p>
            <a:pPr/>
            <a:r>
              <a:t>THEME</a:t>
            </a:r>
          </a:p>
        </p:txBody>
      </p:sp>
      <p:sp>
        <p:nvSpPr>
          <p:cNvPr id="578" name="theme.json"/>
          <p:cNvSpPr txBox="1"/>
          <p:nvPr/>
        </p:nvSpPr>
        <p:spPr>
          <a:xfrm>
            <a:off x="14351000" y="8509000"/>
            <a:ext cx="3683000" cy="5334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50800" tIns="50800" rIns="50800" bIns="50800" anchor="ctr">
            <a:spAutoFit/>
          </a:bodyPr>
          <a:lstStyle>
            <a:lvl1pPr>
              <a:defRPr sz="2600">
                <a:solidFill>
                  <a:srgbClr val="6033A6"/>
                </a:solidFill>
                <a:latin typeface="Geist Mono"/>
                <a:ea typeface="Geist Mono"/>
                <a:cs typeface="Geist Mono"/>
                <a:sym typeface="Geist Mono"/>
              </a:defRPr>
            </a:lvl1pPr>
          </a:lstStyle>
          <a:p>
            <a:pPr>
              <a:defRPr sz="2800">
                <a:solidFill>
                  <a:srgbClr val="220D44"/>
                </a:solidFill>
                <a:latin typeface="Unbounded SemiBold"/>
                <a:ea typeface="Unbounded SemiBold"/>
                <a:cs typeface="Unbounded SemiBold"/>
                <a:sym typeface="Unbounded SemiBold"/>
              </a:defRPr>
            </a:pPr>
            <a:r>
              <a:rPr sz="2600">
                <a:solidFill>
                  <a:srgbClr val="6033A6"/>
                </a:solidFill>
                <a:latin typeface="Geist Mono"/>
                <a:ea typeface="Geist Mono"/>
                <a:cs typeface="Geist Mono"/>
                <a:sym typeface="Geist Mono"/>
              </a:rPr>
              <a:t>theme.json</a:t>
            </a:r>
          </a:p>
        </p:txBody>
      </p:sp>
      <p:sp>
        <p:nvSpPr>
          <p:cNvPr id="579" name="Colours, sizes, spacing, styles"/>
          <p:cNvSpPr txBox="1"/>
          <p:nvPr/>
        </p:nvSpPr>
        <p:spPr>
          <a:xfrm>
            <a:off x="14351000" y="9118600"/>
            <a:ext cx="3683000" cy="8255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50800" tIns="50800" rIns="50800" bIns="50800" anchor="ctr">
            <a:spAutoFit/>
          </a:bodyPr>
          <a:lstStyle>
            <a:lvl1pPr>
              <a:defRPr sz="2300">
                <a:solidFill>
                  <a:srgbClr val="220D44"/>
                </a:solidFill>
                <a:latin typeface="Geist"/>
                <a:ea typeface="Geist"/>
                <a:cs typeface="Geist"/>
                <a:sym typeface="Geist"/>
              </a:defRPr>
            </a:lvl1pPr>
          </a:lstStyle>
          <a:p>
            <a:pPr/>
            <a:r>
              <a:t>Colours, sizes, spacing, styles</a:t>
            </a:r>
          </a:p>
        </p:txBody>
      </p:sp>
      <p:sp>
        <p:nvSpPr>
          <p:cNvPr id="580" name="→"/>
          <p:cNvSpPr txBox="1"/>
          <p:nvPr/>
        </p:nvSpPr>
        <p:spPr>
          <a:xfrm>
            <a:off x="18313400" y="8585200"/>
            <a:ext cx="508000" cy="6604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50800" tIns="50800" rIns="50800" bIns="50800" anchor="ctr">
            <a:spAutoFit/>
          </a:bodyPr>
          <a:lstStyle>
            <a:lvl1pPr>
              <a:defRPr i="1" sz="3400">
                <a:solidFill>
                  <a:srgbClr val="6033A6"/>
                </a:solidFill>
                <a:latin typeface="Geist"/>
                <a:ea typeface="Geist"/>
                <a:cs typeface="Geist"/>
                <a:sym typeface="Geist"/>
              </a:defRPr>
            </a:lvl1pPr>
          </a:lstStyle>
          <a:p>
            <a:pPr/>
            <a:r>
              <a:t>→</a:t>
            </a:r>
          </a:p>
        </p:txBody>
      </p:sp>
      <p:pic>
        <p:nvPicPr>
          <p:cNvPr id="581" name="dg-box.png" descr="dg-box.png"/>
          <p:cNvPicPr>
            <a:picLocks noChangeAspect="1"/>
          </p:cNvPicPr>
          <p:nvPr/>
        </p:nvPicPr>
        <p:blipFill>
          <a:blip r:embed="rId4">
            <a:extLst/>
          </a:blip>
          <a:stretch>
            <a:fillRect/>
          </a:stretch>
        </p:blipFill>
        <p:spPr>
          <a:xfrm>
            <a:off x="18872200" y="7861300"/>
            <a:ext cx="4191000" cy="2159000"/>
          </a:xfrm>
          <a:prstGeom prst="rect">
            <a:avLst/>
          </a:prstGeom>
          <a:ln w="12700">
            <a:miter lim="400000"/>
          </a:ln>
        </p:spPr>
      </p:pic>
      <p:sp>
        <p:nvSpPr>
          <p:cNvPr id="582" name="DATABASE"/>
          <p:cNvSpPr txBox="1"/>
          <p:nvPr/>
        </p:nvSpPr>
        <p:spPr>
          <a:xfrm>
            <a:off x="19100800" y="8051799"/>
            <a:ext cx="3683000" cy="4191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50800" tIns="50800" rIns="50800" bIns="50800" anchor="ctr">
            <a:spAutoFit/>
          </a:bodyPr>
          <a:lstStyle>
            <a:lvl1pPr>
              <a:defRPr sz="1900">
                <a:solidFill>
                  <a:srgbClr val="DC3F6D"/>
                </a:solidFill>
                <a:latin typeface="Geist Mono"/>
                <a:ea typeface="Geist Mono"/>
                <a:cs typeface="Geist Mono"/>
                <a:sym typeface="Geist Mono"/>
              </a:defRPr>
            </a:lvl1pPr>
          </a:lstStyle>
          <a:p>
            <a:pPr/>
            <a:r>
              <a:t>DATABASE</a:t>
            </a:r>
          </a:p>
        </p:txBody>
      </p:sp>
      <p:sp>
        <p:nvSpPr>
          <p:cNvPr id="583" name="Content"/>
          <p:cNvSpPr txBox="1"/>
          <p:nvPr/>
        </p:nvSpPr>
        <p:spPr>
          <a:xfrm>
            <a:off x="19100800" y="8508999"/>
            <a:ext cx="3683000" cy="5461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50800" tIns="50800" rIns="50800" bIns="50800" anchor="ctr">
            <a:spAutoFit/>
          </a:bodyPr>
          <a:lstStyle>
            <a:lvl1pPr>
              <a:defRPr sz="2800">
                <a:solidFill>
                  <a:srgbClr val="220D44"/>
                </a:solidFill>
                <a:latin typeface="Unbounded SemiBold"/>
                <a:ea typeface="Unbounded SemiBold"/>
                <a:cs typeface="Unbounded SemiBold"/>
                <a:sym typeface="Unbounded SemiBold"/>
              </a:defRPr>
            </a:lvl1pPr>
          </a:lstStyle>
          <a:p>
            <a:pPr/>
            <a:r>
              <a:t>Content</a:t>
            </a:r>
          </a:p>
        </p:txBody>
      </p:sp>
      <p:sp>
        <p:nvSpPr>
          <p:cNvPr id="584" name="Block markup in post_content"/>
          <p:cNvSpPr txBox="1"/>
          <p:nvPr/>
        </p:nvSpPr>
        <p:spPr>
          <a:xfrm>
            <a:off x="19100800" y="9118599"/>
            <a:ext cx="3683000" cy="7874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50800" tIns="50800" rIns="50800" bIns="50800" anchor="ctr">
            <a:spAutoFit/>
          </a:bodyPr>
          <a:lstStyle/>
          <a:p>
            <a:pPr>
              <a:defRPr sz="2300">
                <a:solidFill>
                  <a:srgbClr val="220D44"/>
                </a:solidFill>
                <a:latin typeface="Geist"/>
                <a:ea typeface="Geist"/>
                <a:cs typeface="Geist"/>
                <a:sym typeface="Geist"/>
              </a:defRPr>
            </a:pPr>
            <a:r>
              <a:t>Block markup in </a:t>
            </a:r>
            <a:r>
              <a:rPr sz="2100">
                <a:solidFill>
                  <a:srgbClr val="6033A6"/>
                </a:solidFill>
                <a:latin typeface="Geist Mono"/>
                <a:ea typeface="Geist Mono"/>
                <a:cs typeface="Geist Mono"/>
                <a:sym typeface="Geist Mono"/>
              </a:rPr>
              <a:t>post_content</a:t>
            </a:r>
          </a:p>
        </p:txBody>
      </p:sp>
      <p:pic>
        <p:nvPicPr>
          <p:cNvPr id="585" name="prog-25.png" descr="prog-25.png"/>
          <p:cNvPicPr>
            <a:picLocks noChangeAspect="1"/>
          </p:cNvPicPr>
          <p:nvPr/>
        </p:nvPicPr>
        <p:blipFill>
          <a:blip r:embed="rId6">
            <a:extLst/>
          </a:blip>
          <a:stretch>
            <a:fillRect/>
          </a:stretch>
        </p:blipFill>
        <p:spPr>
          <a:xfrm>
            <a:off x="17170400" y="12395200"/>
            <a:ext cx="5842000" cy="406400"/>
          </a:xfrm>
          <a:prstGeom prst="rect">
            <a:avLst/>
          </a:prstGeom>
          <a:ln w="12700">
            <a:miter lim="400000"/>
          </a:ln>
        </p:spPr>
      </p:pic>
    </p:spTree>
  </p:cSld>
  <p:clrMapOvr>
    <a:masterClrMapping/>
  </p:clrMapOvr>
  <p:transition xmlns:p14="http://schemas.microsoft.com/office/powerpoint/2010/main" spd="med" advClick="1"/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89" name="bg.png" descr="bg.png"/>
          <p:cNvPicPr>
            <a:picLocks noChangeAspect="1"/>
          </p:cNvPicPr>
          <p:nvPr/>
        </p:nvPicPr>
        <p:blipFill>
          <a:blip r:embed="rId3">
            <a:extLst/>
          </a:blip>
          <a:stretch>
            <a:fillRect/>
          </a:stretch>
        </p:blipFill>
        <p:spPr>
          <a:xfrm>
            <a:off x="0" y="0"/>
            <a:ext cx="24384000" cy="13716000"/>
          </a:xfrm>
          <a:prstGeom prst="rect">
            <a:avLst/>
          </a:prstGeom>
          <a:ln w="12700">
            <a:miter lim="400000"/>
          </a:ln>
        </p:spPr>
      </p:pic>
      <p:sp>
        <p:nvSpPr>
          <p:cNvPr id="590" name="From server to browser"/>
          <p:cNvSpPr txBox="1"/>
          <p:nvPr/>
        </p:nvSpPr>
        <p:spPr>
          <a:xfrm>
            <a:off x="1219200" y="2692399"/>
            <a:ext cx="22707600" cy="17145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50800" tIns="50800" rIns="50800" bIns="50800" anchor="ctr">
            <a:spAutoFit/>
          </a:bodyPr>
          <a:lstStyle/>
          <a:p>
            <a:pPr>
              <a:defRPr sz="7600">
                <a:solidFill>
                  <a:srgbClr val="220D44"/>
                </a:solidFill>
                <a:latin typeface="Unbounded ExtraBold"/>
                <a:ea typeface="Unbounded ExtraBold"/>
                <a:cs typeface="Unbounded ExtraBold"/>
                <a:sym typeface="Unbounded ExtraBold"/>
              </a:defRPr>
            </a:pPr>
            <a:r>
              <a:t>From server </a:t>
            </a:r>
            <a:r>
              <a:rPr i="1" sz="9800">
                <a:solidFill>
                  <a:srgbClr val="6033A6"/>
                </a:solidFill>
                <a:latin typeface="Instrument Serif"/>
                <a:ea typeface="Instrument Serif"/>
                <a:cs typeface="Instrument Serif"/>
                <a:sym typeface="Instrument Serif"/>
              </a:rPr>
              <a:t>to browser</a:t>
            </a:r>
          </a:p>
        </p:txBody>
      </p:sp>
      <p:sp>
        <p:nvSpPr>
          <p:cNvPr id="591" name="Going ACF-free"/>
          <p:cNvSpPr txBox="1"/>
          <p:nvPr/>
        </p:nvSpPr>
        <p:spPr>
          <a:xfrm>
            <a:off x="1320800" y="12344400"/>
            <a:ext cx="2451100" cy="4953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50800" tIns="50800" rIns="50800" bIns="50800" anchor="ctr">
            <a:spAutoFit/>
          </a:bodyPr>
          <a:lstStyle>
            <a:lvl1pPr>
              <a:defRPr sz="2400">
                <a:solidFill>
                  <a:srgbClr val="5D4E61"/>
                </a:solidFill>
                <a:latin typeface="Geist"/>
                <a:ea typeface="Geist"/>
                <a:cs typeface="Geist"/>
                <a:sym typeface="Geist"/>
              </a:defRPr>
            </a:lvl1pPr>
          </a:lstStyle>
          <a:p>
            <a:pPr/>
            <a:r>
              <a:t>Going ACF-free</a:t>
            </a:r>
          </a:p>
        </p:txBody>
      </p:sp>
      <p:sp>
        <p:nvSpPr>
          <p:cNvPr id="592" name="With ACF"/>
          <p:cNvSpPr txBox="1"/>
          <p:nvPr/>
        </p:nvSpPr>
        <p:spPr>
          <a:xfrm>
            <a:off x="1270000" y="5486400"/>
            <a:ext cx="3048000" cy="5715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50800" tIns="50800" rIns="50800" bIns="50800" anchor="ctr">
            <a:spAutoFit/>
          </a:bodyPr>
          <a:lstStyle>
            <a:lvl1pPr>
              <a:defRPr sz="3000">
                <a:solidFill>
                  <a:srgbClr val="6033A6"/>
                </a:solidFill>
                <a:latin typeface="Unbounded SemiBold"/>
                <a:ea typeface="Unbounded SemiBold"/>
                <a:cs typeface="Unbounded SemiBold"/>
                <a:sym typeface="Unbounded SemiBold"/>
              </a:defRPr>
            </a:lvl1pPr>
          </a:lstStyle>
          <a:p>
            <a:pPr/>
            <a:r>
              <a:t>With ACF</a:t>
            </a:r>
          </a:p>
        </p:txBody>
      </p:sp>
      <p:pic>
        <p:nvPicPr>
          <p:cNvPr id="593" name="dg-box.png" descr="dg-box.png"/>
          <p:cNvPicPr>
            <a:picLocks noChangeAspect="1"/>
          </p:cNvPicPr>
          <p:nvPr/>
        </p:nvPicPr>
        <p:blipFill>
          <a:blip r:embed="rId4">
            <a:extLst/>
          </a:blip>
          <a:stretch>
            <a:fillRect/>
          </a:stretch>
        </p:blipFill>
        <p:spPr>
          <a:xfrm>
            <a:off x="4622800" y="4914900"/>
            <a:ext cx="4191000" cy="2159000"/>
          </a:xfrm>
          <a:prstGeom prst="rect">
            <a:avLst/>
          </a:prstGeom>
          <a:ln w="12700">
            <a:miter lim="400000"/>
          </a:ln>
        </p:spPr>
      </p:pic>
      <p:sp>
        <p:nvSpPr>
          <p:cNvPr id="594" name="VISITOR"/>
          <p:cNvSpPr txBox="1"/>
          <p:nvPr/>
        </p:nvSpPr>
        <p:spPr>
          <a:xfrm>
            <a:off x="4851400" y="5105399"/>
            <a:ext cx="3683000" cy="4191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50800" tIns="50800" rIns="50800" bIns="50800" anchor="ctr">
            <a:spAutoFit/>
          </a:bodyPr>
          <a:lstStyle>
            <a:lvl1pPr>
              <a:defRPr sz="1900">
                <a:solidFill>
                  <a:srgbClr val="DC3F6D"/>
                </a:solidFill>
                <a:latin typeface="Geist Mono"/>
                <a:ea typeface="Geist Mono"/>
                <a:cs typeface="Geist Mono"/>
                <a:sym typeface="Geist Mono"/>
              </a:defRPr>
            </a:lvl1pPr>
          </a:lstStyle>
          <a:p>
            <a:pPr/>
            <a:r>
              <a:t>VISITOR</a:t>
            </a:r>
          </a:p>
        </p:txBody>
      </p:sp>
      <p:sp>
        <p:nvSpPr>
          <p:cNvPr id="595" name="Page request"/>
          <p:cNvSpPr txBox="1"/>
          <p:nvPr/>
        </p:nvSpPr>
        <p:spPr>
          <a:xfrm>
            <a:off x="4851400" y="5562599"/>
            <a:ext cx="3683000" cy="5461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50800" tIns="50800" rIns="50800" bIns="50800" anchor="ctr">
            <a:spAutoFit/>
          </a:bodyPr>
          <a:lstStyle>
            <a:lvl1pPr>
              <a:defRPr sz="2800">
                <a:solidFill>
                  <a:srgbClr val="220D44"/>
                </a:solidFill>
                <a:latin typeface="Unbounded SemiBold"/>
                <a:ea typeface="Unbounded SemiBold"/>
                <a:cs typeface="Unbounded SemiBold"/>
                <a:sym typeface="Unbounded SemiBold"/>
              </a:defRPr>
            </a:lvl1pPr>
          </a:lstStyle>
          <a:p>
            <a:pPr/>
            <a:r>
              <a:t>Page request</a:t>
            </a:r>
          </a:p>
        </p:txBody>
      </p:sp>
      <p:sp>
        <p:nvSpPr>
          <p:cNvPr id="596" name="Asks for a page"/>
          <p:cNvSpPr txBox="1"/>
          <p:nvPr/>
        </p:nvSpPr>
        <p:spPr>
          <a:xfrm>
            <a:off x="4851400" y="6343650"/>
            <a:ext cx="3683000" cy="4826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50800" tIns="50800" rIns="50800" bIns="50800" anchor="ctr">
            <a:spAutoFit/>
          </a:bodyPr>
          <a:lstStyle>
            <a:lvl1pPr>
              <a:defRPr sz="2300">
                <a:solidFill>
                  <a:srgbClr val="220D44"/>
                </a:solidFill>
                <a:latin typeface="Geist"/>
                <a:ea typeface="Geist"/>
                <a:cs typeface="Geist"/>
                <a:sym typeface="Geist"/>
              </a:defRPr>
            </a:lvl1pPr>
          </a:lstStyle>
          <a:p>
            <a:pPr/>
            <a:r>
              <a:t>Asks for a page</a:t>
            </a:r>
          </a:p>
        </p:txBody>
      </p:sp>
      <p:sp>
        <p:nvSpPr>
          <p:cNvPr id="597" name="→"/>
          <p:cNvSpPr txBox="1"/>
          <p:nvPr/>
        </p:nvSpPr>
        <p:spPr>
          <a:xfrm>
            <a:off x="8813800" y="5638800"/>
            <a:ext cx="508000" cy="6604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50800" tIns="50800" rIns="50800" bIns="50800" anchor="ctr">
            <a:spAutoFit/>
          </a:bodyPr>
          <a:lstStyle>
            <a:lvl1pPr>
              <a:defRPr i="1" sz="3400">
                <a:solidFill>
                  <a:srgbClr val="6033A6"/>
                </a:solidFill>
                <a:latin typeface="Geist"/>
                <a:ea typeface="Geist"/>
                <a:cs typeface="Geist"/>
                <a:sym typeface="Geist"/>
              </a:defRPr>
            </a:lvl1pPr>
          </a:lstStyle>
          <a:p>
            <a:pPr/>
            <a:r>
              <a:t>→</a:t>
            </a:r>
          </a:p>
        </p:txBody>
      </p:sp>
      <p:pic>
        <p:nvPicPr>
          <p:cNvPr id="598" name="dg-box.png" descr="dg-box.png"/>
          <p:cNvPicPr>
            <a:picLocks noChangeAspect="1"/>
          </p:cNvPicPr>
          <p:nvPr/>
        </p:nvPicPr>
        <p:blipFill>
          <a:blip r:embed="rId4">
            <a:extLst/>
          </a:blip>
          <a:stretch>
            <a:fillRect/>
          </a:stretch>
        </p:blipFill>
        <p:spPr>
          <a:xfrm>
            <a:off x="9372600" y="4914900"/>
            <a:ext cx="4191000" cy="2159000"/>
          </a:xfrm>
          <a:prstGeom prst="rect">
            <a:avLst/>
          </a:prstGeom>
          <a:ln w="12700">
            <a:miter lim="400000"/>
          </a:ln>
        </p:spPr>
      </p:pic>
      <p:sp>
        <p:nvSpPr>
          <p:cNvPr id="599" name="CACHE"/>
          <p:cNvSpPr txBox="1"/>
          <p:nvPr/>
        </p:nvSpPr>
        <p:spPr>
          <a:xfrm>
            <a:off x="9601200" y="5105399"/>
            <a:ext cx="3683000" cy="4191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50800" tIns="50800" rIns="50800" bIns="50800" anchor="ctr">
            <a:spAutoFit/>
          </a:bodyPr>
          <a:lstStyle>
            <a:lvl1pPr>
              <a:defRPr sz="1900">
                <a:solidFill>
                  <a:srgbClr val="DC3F6D"/>
                </a:solidFill>
                <a:latin typeface="Geist Mono"/>
                <a:ea typeface="Geist Mono"/>
                <a:cs typeface="Geist Mono"/>
                <a:sym typeface="Geist Mono"/>
              </a:defRPr>
            </a:lvl1pPr>
          </a:lstStyle>
          <a:p>
            <a:pPr/>
            <a:r>
              <a:t>CACHE</a:t>
            </a:r>
          </a:p>
        </p:txBody>
      </p:sp>
      <p:sp>
        <p:nvSpPr>
          <p:cNvPr id="600" name="Page cache"/>
          <p:cNvSpPr txBox="1"/>
          <p:nvPr/>
        </p:nvSpPr>
        <p:spPr>
          <a:xfrm>
            <a:off x="9601200" y="5562599"/>
            <a:ext cx="3683000" cy="5461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50800" tIns="50800" rIns="50800" bIns="50800" anchor="ctr">
            <a:spAutoFit/>
          </a:bodyPr>
          <a:lstStyle>
            <a:lvl1pPr>
              <a:defRPr sz="2800">
                <a:solidFill>
                  <a:srgbClr val="220D44"/>
                </a:solidFill>
                <a:latin typeface="Unbounded SemiBold"/>
                <a:ea typeface="Unbounded SemiBold"/>
                <a:cs typeface="Unbounded SemiBold"/>
                <a:sym typeface="Unbounded SemiBold"/>
              </a:defRPr>
            </a:lvl1pPr>
          </a:lstStyle>
          <a:p>
            <a:pPr/>
            <a:r>
              <a:t>Page cache</a:t>
            </a:r>
          </a:p>
        </p:txBody>
      </p:sp>
      <p:sp>
        <p:nvSpPr>
          <p:cNvPr id="601" name="A hit ends here"/>
          <p:cNvSpPr txBox="1"/>
          <p:nvPr/>
        </p:nvSpPr>
        <p:spPr>
          <a:xfrm>
            <a:off x="9601200" y="6343650"/>
            <a:ext cx="3683000" cy="4826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50800" tIns="50800" rIns="50800" bIns="50800" anchor="ctr">
            <a:spAutoFit/>
          </a:bodyPr>
          <a:lstStyle>
            <a:lvl1pPr>
              <a:defRPr sz="2300">
                <a:solidFill>
                  <a:srgbClr val="220D44"/>
                </a:solidFill>
                <a:latin typeface="Geist"/>
                <a:ea typeface="Geist"/>
                <a:cs typeface="Geist"/>
                <a:sym typeface="Geist"/>
              </a:defRPr>
            </a:lvl1pPr>
          </a:lstStyle>
          <a:p>
            <a:pPr/>
            <a:r>
              <a:t>A hit ends here</a:t>
            </a:r>
          </a:p>
        </p:txBody>
      </p:sp>
      <p:sp>
        <p:nvSpPr>
          <p:cNvPr id="602" name="→"/>
          <p:cNvSpPr txBox="1"/>
          <p:nvPr/>
        </p:nvSpPr>
        <p:spPr>
          <a:xfrm>
            <a:off x="13563600" y="5638800"/>
            <a:ext cx="508000" cy="6604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50800" tIns="50800" rIns="50800" bIns="50800" anchor="ctr">
            <a:spAutoFit/>
          </a:bodyPr>
          <a:lstStyle>
            <a:lvl1pPr>
              <a:defRPr i="1" sz="3400">
                <a:solidFill>
                  <a:srgbClr val="6033A6"/>
                </a:solidFill>
                <a:latin typeface="Geist"/>
                <a:ea typeface="Geist"/>
                <a:cs typeface="Geist"/>
                <a:sym typeface="Geist"/>
              </a:defRPr>
            </a:lvl1pPr>
          </a:lstStyle>
          <a:p>
            <a:pPr/>
            <a:r>
              <a:t>→</a:t>
            </a:r>
          </a:p>
        </p:txBody>
      </p:sp>
      <p:pic>
        <p:nvPicPr>
          <p:cNvPr id="603" name="dg-box.png" descr="dg-box.png"/>
          <p:cNvPicPr>
            <a:picLocks noChangeAspect="1"/>
          </p:cNvPicPr>
          <p:nvPr/>
        </p:nvPicPr>
        <p:blipFill>
          <a:blip r:embed="rId4">
            <a:extLst/>
          </a:blip>
          <a:stretch>
            <a:fillRect/>
          </a:stretch>
        </p:blipFill>
        <p:spPr>
          <a:xfrm>
            <a:off x="14122400" y="4914900"/>
            <a:ext cx="4191000" cy="2159000"/>
          </a:xfrm>
          <a:prstGeom prst="rect">
            <a:avLst/>
          </a:prstGeom>
          <a:ln w="12700">
            <a:miter lim="400000"/>
          </a:ln>
        </p:spPr>
      </p:pic>
      <p:sp>
        <p:nvSpPr>
          <p:cNvPr id="604" name="THEME"/>
          <p:cNvSpPr txBox="1"/>
          <p:nvPr/>
        </p:nvSpPr>
        <p:spPr>
          <a:xfrm>
            <a:off x="14351000" y="5105399"/>
            <a:ext cx="3683000" cy="4191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50800" tIns="50800" rIns="50800" bIns="50800" anchor="ctr">
            <a:spAutoFit/>
          </a:bodyPr>
          <a:lstStyle>
            <a:lvl1pPr>
              <a:defRPr sz="1900">
                <a:solidFill>
                  <a:srgbClr val="6033A6"/>
                </a:solidFill>
                <a:latin typeface="Geist Mono"/>
                <a:ea typeface="Geist Mono"/>
                <a:cs typeface="Geist Mono"/>
                <a:sym typeface="Geist Mono"/>
              </a:defRPr>
            </a:lvl1pPr>
          </a:lstStyle>
          <a:p>
            <a:pPr/>
            <a:r>
              <a:t>THEME</a:t>
            </a:r>
          </a:p>
        </p:txBody>
      </p:sp>
      <p:sp>
        <p:nvSpPr>
          <p:cNvPr id="605" name="PHP renders"/>
          <p:cNvSpPr txBox="1"/>
          <p:nvPr/>
        </p:nvSpPr>
        <p:spPr>
          <a:xfrm>
            <a:off x="14351000" y="5562599"/>
            <a:ext cx="3683000" cy="5461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50800" tIns="50800" rIns="50800" bIns="50800" anchor="ctr">
            <a:spAutoFit/>
          </a:bodyPr>
          <a:lstStyle>
            <a:lvl1pPr>
              <a:defRPr sz="2800">
                <a:solidFill>
                  <a:srgbClr val="220D44"/>
                </a:solidFill>
                <a:latin typeface="Unbounded SemiBold"/>
                <a:ea typeface="Unbounded SemiBold"/>
                <a:cs typeface="Unbounded SemiBold"/>
                <a:sym typeface="Unbounded SemiBold"/>
              </a:defRPr>
            </a:lvl1pPr>
          </a:lstStyle>
          <a:p>
            <a:pPr/>
            <a:r>
              <a:t>PHP renders</a:t>
            </a:r>
          </a:p>
        </p:txBody>
      </p:sp>
      <p:sp>
        <p:nvSpPr>
          <p:cNvPr id="606" name="Every block, on every cache miss"/>
          <p:cNvSpPr txBox="1"/>
          <p:nvPr/>
        </p:nvSpPr>
        <p:spPr>
          <a:xfrm>
            <a:off x="14351000" y="6153150"/>
            <a:ext cx="3683000" cy="8255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50800" tIns="50800" rIns="50800" bIns="50800" anchor="ctr">
            <a:spAutoFit/>
          </a:bodyPr>
          <a:lstStyle>
            <a:lvl1pPr>
              <a:defRPr sz="2300">
                <a:solidFill>
                  <a:srgbClr val="220D44"/>
                </a:solidFill>
                <a:latin typeface="Geist"/>
                <a:ea typeface="Geist"/>
                <a:cs typeface="Geist"/>
                <a:sym typeface="Geist"/>
              </a:defRPr>
            </a:lvl1pPr>
          </a:lstStyle>
          <a:p>
            <a:pPr/>
            <a:r>
              <a:t>Every block, on every cache miss</a:t>
            </a:r>
          </a:p>
        </p:txBody>
      </p:sp>
      <p:sp>
        <p:nvSpPr>
          <p:cNvPr id="607" name="→"/>
          <p:cNvSpPr txBox="1"/>
          <p:nvPr/>
        </p:nvSpPr>
        <p:spPr>
          <a:xfrm>
            <a:off x="18313400" y="5638800"/>
            <a:ext cx="508000" cy="6604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50800" tIns="50800" rIns="50800" bIns="50800" anchor="ctr">
            <a:spAutoFit/>
          </a:bodyPr>
          <a:lstStyle>
            <a:lvl1pPr>
              <a:defRPr i="1" sz="3400">
                <a:solidFill>
                  <a:srgbClr val="6033A6"/>
                </a:solidFill>
                <a:latin typeface="Geist"/>
                <a:ea typeface="Geist"/>
                <a:cs typeface="Geist"/>
                <a:sym typeface="Geist"/>
              </a:defRPr>
            </a:lvl1pPr>
          </a:lstStyle>
          <a:p>
            <a:pPr/>
            <a:r>
              <a:t>→</a:t>
            </a:r>
          </a:p>
        </p:txBody>
      </p:sp>
      <p:pic>
        <p:nvPicPr>
          <p:cNvPr id="608" name="dg-box.png" descr="dg-box.png"/>
          <p:cNvPicPr>
            <a:picLocks noChangeAspect="1"/>
          </p:cNvPicPr>
          <p:nvPr/>
        </p:nvPicPr>
        <p:blipFill>
          <a:blip r:embed="rId4">
            <a:extLst/>
          </a:blip>
          <a:stretch>
            <a:fillRect/>
          </a:stretch>
        </p:blipFill>
        <p:spPr>
          <a:xfrm>
            <a:off x="18872200" y="4914900"/>
            <a:ext cx="4191000" cy="2159000"/>
          </a:xfrm>
          <a:prstGeom prst="rect">
            <a:avLst/>
          </a:prstGeom>
          <a:ln w="12700">
            <a:miter lim="400000"/>
          </a:ln>
        </p:spPr>
      </p:pic>
      <p:sp>
        <p:nvSpPr>
          <p:cNvPr id="609" name="DATABASE"/>
          <p:cNvSpPr txBox="1"/>
          <p:nvPr/>
        </p:nvSpPr>
        <p:spPr>
          <a:xfrm>
            <a:off x="19100800" y="5105399"/>
            <a:ext cx="3683000" cy="4191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50800" tIns="50800" rIns="50800" bIns="50800" anchor="ctr">
            <a:spAutoFit/>
          </a:bodyPr>
          <a:lstStyle>
            <a:lvl1pPr>
              <a:defRPr sz="1900">
                <a:solidFill>
                  <a:srgbClr val="DC3F6D"/>
                </a:solidFill>
                <a:latin typeface="Geist Mono"/>
                <a:ea typeface="Geist Mono"/>
                <a:cs typeface="Geist Mono"/>
                <a:sym typeface="Geist Mono"/>
              </a:defRPr>
            </a:lvl1pPr>
          </a:lstStyle>
          <a:p>
            <a:pPr/>
            <a:r>
              <a:t>DATABASE</a:t>
            </a:r>
          </a:p>
        </p:txBody>
      </p:sp>
      <p:sp>
        <p:nvSpPr>
          <p:cNvPr id="610" name="Field values"/>
          <p:cNvSpPr txBox="1"/>
          <p:nvPr/>
        </p:nvSpPr>
        <p:spPr>
          <a:xfrm>
            <a:off x="19100800" y="5562599"/>
            <a:ext cx="3683000" cy="5461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50800" tIns="50800" rIns="50800" bIns="50800" anchor="ctr">
            <a:spAutoFit/>
          </a:bodyPr>
          <a:lstStyle>
            <a:lvl1pPr>
              <a:defRPr sz="2800">
                <a:solidFill>
                  <a:srgbClr val="220D44"/>
                </a:solidFill>
                <a:latin typeface="Unbounded SemiBold"/>
                <a:ea typeface="Unbounded SemiBold"/>
                <a:cs typeface="Unbounded SemiBold"/>
                <a:sym typeface="Unbounded SemiBold"/>
              </a:defRPr>
            </a:lvl1pPr>
          </a:lstStyle>
          <a:p>
            <a:pPr/>
            <a:r>
              <a:t>Field values</a:t>
            </a:r>
          </a:p>
        </p:txBody>
      </p:sp>
      <p:sp>
        <p:nvSpPr>
          <p:cNvPr id="611" name="Read one field at a time"/>
          <p:cNvSpPr txBox="1"/>
          <p:nvPr/>
        </p:nvSpPr>
        <p:spPr>
          <a:xfrm>
            <a:off x="19100800" y="6343650"/>
            <a:ext cx="3683000" cy="4826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50800" tIns="50800" rIns="50800" bIns="50800" anchor="ctr">
            <a:spAutoFit/>
          </a:bodyPr>
          <a:lstStyle>
            <a:lvl1pPr>
              <a:defRPr sz="2300">
                <a:solidFill>
                  <a:srgbClr val="220D44"/>
                </a:solidFill>
                <a:latin typeface="Geist"/>
                <a:ea typeface="Geist"/>
                <a:cs typeface="Geist"/>
                <a:sym typeface="Geist"/>
              </a:defRPr>
            </a:lvl1pPr>
          </a:lstStyle>
          <a:p>
            <a:pPr/>
            <a:r>
              <a:t>Read one field at a time</a:t>
            </a:r>
          </a:p>
        </p:txBody>
      </p:sp>
      <p:sp>
        <p:nvSpPr>
          <p:cNvPr id="612" name="With core blocks"/>
          <p:cNvSpPr txBox="1"/>
          <p:nvPr/>
        </p:nvSpPr>
        <p:spPr>
          <a:xfrm>
            <a:off x="1270000" y="8432800"/>
            <a:ext cx="3048000" cy="99441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50800" tIns="50800" rIns="50800" bIns="50800" anchor="ctr">
            <a:spAutoFit/>
          </a:bodyPr>
          <a:lstStyle>
            <a:lvl1pPr>
              <a:defRPr sz="3000">
                <a:solidFill>
                  <a:srgbClr val="6033A6"/>
                </a:solidFill>
                <a:latin typeface="Unbounded SemiBold"/>
                <a:ea typeface="Unbounded SemiBold"/>
                <a:cs typeface="Unbounded SemiBold"/>
                <a:sym typeface="Unbounded SemiBold"/>
              </a:defRPr>
            </a:lvl1pPr>
          </a:lstStyle>
          <a:p>
            <a:pPr/>
            <a:r>
              <a:t>With core blocks</a:t>
            </a:r>
          </a:p>
        </p:txBody>
      </p:sp>
      <p:pic>
        <p:nvPicPr>
          <p:cNvPr id="613" name="dg-box.png" descr="dg-box.png"/>
          <p:cNvPicPr>
            <a:picLocks noChangeAspect="1"/>
          </p:cNvPicPr>
          <p:nvPr/>
        </p:nvPicPr>
        <p:blipFill>
          <a:blip r:embed="rId4">
            <a:extLst/>
          </a:blip>
          <a:stretch>
            <a:fillRect/>
          </a:stretch>
        </p:blipFill>
        <p:spPr>
          <a:xfrm>
            <a:off x="4622800" y="7861300"/>
            <a:ext cx="4191000" cy="2159000"/>
          </a:xfrm>
          <a:prstGeom prst="rect">
            <a:avLst/>
          </a:prstGeom>
          <a:ln w="12700">
            <a:miter lim="400000"/>
          </a:ln>
        </p:spPr>
      </p:pic>
      <p:sp>
        <p:nvSpPr>
          <p:cNvPr id="614" name="VISITOR"/>
          <p:cNvSpPr txBox="1"/>
          <p:nvPr/>
        </p:nvSpPr>
        <p:spPr>
          <a:xfrm>
            <a:off x="4851400" y="8051799"/>
            <a:ext cx="3683000" cy="4191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50800" tIns="50800" rIns="50800" bIns="50800" anchor="ctr">
            <a:spAutoFit/>
          </a:bodyPr>
          <a:lstStyle>
            <a:lvl1pPr>
              <a:defRPr sz="1900">
                <a:solidFill>
                  <a:srgbClr val="6033A6"/>
                </a:solidFill>
                <a:latin typeface="Geist Mono"/>
                <a:ea typeface="Geist Mono"/>
                <a:cs typeface="Geist Mono"/>
                <a:sym typeface="Geist Mono"/>
              </a:defRPr>
            </a:lvl1pPr>
          </a:lstStyle>
          <a:p>
            <a:pPr/>
            <a:r>
              <a:t>VISITOR</a:t>
            </a:r>
          </a:p>
        </p:txBody>
      </p:sp>
      <p:sp>
        <p:nvSpPr>
          <p:cNvPr id="615" name="Page request"/>
          <p:cNvSpPr txBox="1"/>
          <p:nvPr/>
        </p:nvSpPr>
        <p:spPr>
          <a:xfrm>
            <a:off x="4851400" y="8508999"/>
            <a:ext cx="3683000" cy="5461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50800" tIns="50800" rIns="50800" bIns="50800" anchor="ctr">
            <a:spAutoFit/>
          </a:bodyPr>
          <a:lstStyle>
            <a:lvl1pPr>
              <a:defRPr sz="2800">
                <a:solidFill>
                  <a:srgbClr val="220D44"/>
                </a:solidFill>
                <a:latin typeface="Unbounded SemiBold"/>
                <a:ea typeface="Unbounded SemiBold"/>
                <a:cs typeface="Unbounded SemiBold"/>
                <a:sym typeface="Unbounded SemiBold"/>
              </a:defRPr>
            </a:lvl1pPr>
          </a:lstStyle>
          <a:p>
            <a:pPr/>
            <a:r>
              <a:t>Page request</a:t>
            </a:r>
          </a:p>
        </p:txBody>
      </p:sp>
      <p:sp>
        <p:nvSpPr>
          <p:cNvPr id="616" name="Asks for a page"/>
          <p:cNvSpPr txBox="1"/>
          <p:nvPr/>
        </p:nvSpPr>
        <p:spPr>
          <a:xfrm>
            <a:off x="4851400" y="9290050"/>
            <a:ext cx="3683000" cy="4826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50800" tIns="50800" rIns="50800" bIns="50800" anchor="ctr">
            <a:spAutoFit/>
          </a:bodyPr>
          <a:lstStyle>
            <a:lvl1pPr>
              <a:defRPr sz="2300">
                <a:solidFill>
                  <a:srgbClr val="220D44"/>
                </a:solidFill>
                <a:latin typeface="Geist"/>
                <a:ea typeface="Geist"/>
                <a:cs typeface="Geist"/>
                <a:sym typeface="Geist"/>
              </a:defRPr>
            </a:lvl1pPr>
          </a:lstStyle>
          <a:p>
            <a:pPr/>
            <a:r>
              <a:t>Asks for a page</a:t>
            </a:r>
          </a:p>
        </p:txBody>
      </p:sp>
      <p:sp>
        <p:nvSpPr>
          <p:cNvPr id="617" name="→"/>
          <p:cNvSpPr txBox="1"/>
          <p:nvPr/>
        </p:nvSpPr>
        <p:spPr>
          <a:xfrm>
            <a:off x="8813800" y="8585200"/>
            <a:ext cx="508000" cy="6604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50800" tIns="50800" rIns="50800" bIns="50800" anchor="ctr">
            <a:spAutoFit/>
          </a:bodyPr>
          <a:lstStyle>
            <a:lvl1pPr>
              <a:defRPr i="1" sz="3400">
                <a:solidFill>
                  <a:srgbClr val="6033A6"/>
                </a:solidFill>
                <a:latin typeface="Geist"/>
                <a:ea typeface="Geist"/>
                <a:cs typeface="Geist"/>
                <a:sym typeface="Geist"/>
              </a:defRPr>
            </a:lvl1pPr>
          </a:lstStyle>
          <a:p>
            <a:pPr/>
            <a:r>
              <a:t>→</a:t>
            </a:r>
          </a:p>
        </p:txBody>
      </p:sp>
      <p:pic>
        <p:nvPicPr>
          <p:cNvPr id="618" name="dg-box-ghost.png" descr="dg-box-ghost.png"/>
          <p:cNvPicPr>
            <a:picLocks noChangeAspect="1"/>
          </p:cNvPicPr>
          <p:nvPr/>
        </p:nvPicPr>
        <p:blipFill>
          <a:blip r:embed="rId5">
            <a:extLst/>
          </a:blip>
          <a:stretch>
            <a:fillRect/>
          </a:stretch>
        </p:blipFill>
        <p:spPr>
          <a:xfrm>
            <a:off x="18872200" y="7861300"/>
            <a:ext cx="4191000" cy="2159000"/>
          </a:xfrm>
          <a:prstGeom prst="rect">
            <a:avLst/>
          </a:prstGeom>
          <a:ln w="12700">
            <a:miter lim="400000"/>
          </a:ln>
        </p:spPr>
      </p:pic>
      <p:sp>
        <p:nvSpPr>
          <p:cNvPr id="619" name="→"/>
          <p:cNvSpPr txBox="1"/>
          <p:nvPr/>
        </p:nvSpPr>
        <p:spPr>
          <a:xfrm>
            <a:off x="13563600" y="8585200"/>
            <a:ext cx="508000" cy="6604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50800" tIns="50800" rIns="50800" bIns="50800" anchor="ctr">
            <a:spAutoFit/>
          </a:bodyPr>
          <a:lstStyle>
            <a:lvl1pPr>
              <a:defRPr i="1" sz="3400">
                <a:solidFill>
                  <a:srgbClr val="6033A6"/>
                </a:solidFill>
                <a:latin typeface="Geist"/>
                <a:ea typeface="Geist"/>
                <a:cs typeface="Geist"/>
                <a:sym typeface="Geist"/>
              </a:defRPr>
            </a:lvl1pPr>
          </a:lstStyle>
          <a:p>
            <a:pPr/>
            <a:r>
              <a:t>→</a:t>
            </a:r>
          </a:p>
        </p:txBody>
      </p:sp>
      <p:pic>
        <p:nvPicPr>
          <p:cNvPr id="620" name="dg-box.png" descr="dg-box.png"/>
          <p:cNvPicPr>
            <a:picLocks noChangeAspect="1"/>
          </p:cNvPicPr>
          <p:nvPr/>
        </p:nvPicPr>
        <p:blipFill>
          <a:blip r:embed="rId4">
            <a:extLst/>
          </a:blip>
          <a:stretch>
            <a:fillRect/>
          </a:stretch>
        </p:blipFill>
        <p:spPr>
          <a:xfrm>
            <a:off x="14122400" y="7861300"/>
            <a:ext cx="4191000" cy="2159000"/>
          </a:xfrm>
          <a:prstGeom prst="rect">
            <a:avLst/>
          </a:prstGeom>
          <a:ln w="12700">
            <a:miter lim="400000"/>
          </a:ln>
        </p:spPr>
      </p:pic>
      <p:sp>
        <p:nvSpPr>
          <p:cNvPr id="621" name="DATABASE"/>
          <p:cNvSpPr txBox="1"/>
          <p:nvPr/>
        </p:nvSpPr>
        <p:spPr>
          <a:xfrm>
            <a:off x="14351000" y="8051799"/>
            <a:ext cx="3683000" cy="4191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50800" tIns="50800" rIns="50800" bIns="50800" anchor="ctr">
            <a:spAutoFit/>
          </a:bodyPr>
          <a:lstStyle>
            <a:lvl1pPr>
              <a:defRPr sz="1900">
                <a:solidFill>
                  <a:srgbClr val="6033A6"/>
                </a:solidFill>
                <a:latin typeface="Geist Mono"/>
                <a:ea typeface="Geist Mono"/>
                <a:cs typeface="Geist Mono"/>
                <a:sym typeface="Geist Mono"/>
              </a:defRPr>
            </a:lvl1pPr>
          </a:lstStyle>
          <a:p>
            <a:pPr/>
            <a:r>
              <a:t>DATABASE</a:t>
            </a:r>
          </a:p>
        </p:txBody>
      </p:sp>
      <p:sp>
        <p:nvSpPr>
          <p:cNvPr id="622" name="Saved HTML"/>
          <p:cNvSpPr txBox="1"/>
          <p:nvPr/>
        </p:nvSpPr>
        <p:spPr>
          <a:xfrm>
            <a:off x="14351000" y="8502649"/>
            <a:ext cx="3683000" cy="5461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50800" tIns="50800" rIns="50800" bIns="50800" anchor="ctr">
            <a:spAutoFit/>
          </a:bodyPr>
          <a:lstStyle>
            <a:lvl1pPr>
              <a:defRPr sz="2800">
                <a:solidFill>
                  <a:srgbClr val="6033A6"/>
                </a:solidFill>
                <a:latin typeface="Unbounded SemiBold"/>
                <a:ea typeface="Unbounded SemiBold"/>
                <a:cs typeface="Unbounded SemiBold"/>
                <a:sym typeface="Unbounded SemiBold"/>
              </a:defRPr>
            </a:lvl1pPr>
          </a:lstStyle>
          <a:p>
            <a:pPr>
              <a:defRPr>
                <a:solidFill>
                  <a:srgbClr val="220D44"/>
                </a:solidFill>
              </a:defRPr>
            </a:pPr>
            <a:r>
              <a:rPr>
                <a:solidFill>
                  <a:srgbClr val="6033A6"/>
                </a:solidFill>
              </a:rPr>
              <a:t>Saved HTML</a:t>
            </a:r>
          </a:p>
        </p:txBody>
      </p:sp>
      <p:sp>
        <p:nvSpPr>
          <p:cNvPr id="623" name="Block markup is already in the page"/>
          <p:cNvSpPr txBox="1"/>
          <p:nvPr/>
        </p:nvSpPr>
        <p:spPr>
          <a:xfrm>
            <a:off x="14351000" y="9118600"/>
            <a:ext cx="3683000" cy="8255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50800" tIns="50800" rIns="50800" bIns="50800" anchor="ctr">
            <a:spAutoFit/>
          </a:bodyPr>
          <a:lstStyle>
            <a:lvl1pPr>
              <a:defRPr sz="2300">
                <a:solidFill>
                  <a:srgbClr val="220D44"/>
                </a:solidFill>
                <a:latin typeface="Geist"/>
                <a:ea typeface="Geist"/>
                <a:cs typeface="Geist"/>
                <a:sym typeface="Geist"/>
              </a:defRPr>
            </a:lvl1pPr>
          </a:lstStyle>
          <a:p>
            <a:pPr/>
            <a:r>
              <a:t>Block markup is already in the page</a:t>
            </a:r>
          </a:p>
        </p:txBody>
      </p:sp>
      <p:sp>
        <p:nvSpPr>
          <p:cNvPr id="624" name="→"/>
          <p:cNvSpPr txBox="1"/>
          <p:nvPr/>
        </p:nvSpPr>
        <p:spPr>
          <a:xfrm>
            <a:off x="18313400" y="8585200"/>
            <a:ext cx="508000" cy="6604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50800" tIns="50800" rIns="50800" bIns="50800" anchor="ctr">
            <a:spAutoFit/>
          </a:bodyPr>
          <a:lstStyle>
            <a:lvl1pPr>
              <a:defRPr i="1" sz="3400">
                <a:solidFill>
                  <a:srgbClr val="6033A6"/>
                </a:solidFill>
                <a:latin typeface="Geist"/>
                <a:ea typeface="Geist"/>
                <a:cs typeface="Geist"/>
                <a:sym typeface="Geist"/>
              </a:defRPr>
            </a:lvl1pPr>
          </a:lstStyle>
          <a:p>
            <a:pPr/>
            <a:r>
              <a:t>→</a:t>
            </a:r>
          </a:p>
        </p:txBody>
      </p:sp>
      <p:pic>
        <p:nvPicPr>
          <p:cNvPr id="625" name="dg-box.png" descr="dg-box.png"/>
          <p:cNvPicPr>
            <a:picLocks noChangeAspect="1"/>
          </p:cNvPicPr>
          <p:nvPr/>
        </p:nvPicPr>
        <p:blipFill>
          <a:blip r:embed="rId4">
            <a:extLst/>
          </a:blip>
          <a:stretch>
            <a:fillRect/>
          </a:stretch>
        </p:blipFill>
        <p:spPr>
          <a:xfrm>
            <a:off x="9372600" y="7861300"/>
            <a:ext cx="4191000" cy="2159000"/>
          </a:xfrm>
          <a:prstGeom prst="rect">
            <a:avLst/>
          </a:prstGeom>
          <a:ln w="12700">
            <a:miter lim="400000"/>
          </a:ln>
        </p:spPr>
      </p:pic>
      <p:sp>
        <p:nvSpPr>
          <p:cNvPr id="626" name="BROWSER"/>
          <p:cNvSpPr txBox="1"/>
          <p:nvPr/>
        </p:nvSpPr>
        <p:spPr>
          <a:xfrm>
            <a:off x="19100800" y="8051799"/>
            <a:ext cx="3683000" cy="4191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50800" tIns="50800" rIns="50800" bIns="50800" anchor="ctr">
            <a:spAutoFit/>
          </a:bodyPr>
          <a:lstStyle>
            <a:lvl1pPr>
              <a:defRPr sz="1900">
                <a:solidFill>
                  <a:srgbClr val="DC3F6D"/>
                </a:solidFill>
                <a:latin typeface="Geist Mono"/>
                <a:ea typeface="Geist Mono"/>
                <a:cs typeface="Geist Mono"/>
                <a:sym typeface="Geist Mono"/>
              </a:defRPr>
            </a:lvl1pPr>
          </a:lstStyle>
          <a:p>
            <a:pPr/>
            <a:r>
              <a:t>BROWSER</a:t>
            </a:r>
          </a:p>
        </p:txBody>
      </p:sp>
      <p:sp>
        <p:nvSpPr>
          <p:cNvPr id="627" name="REST API"/>
          <p:cNvSpPr txBox="1"/>
          <p:nvPr/>
        </p:nvSpPr>
        <p:spPr>
          <a:xfrm>
            <a:off x="19100800" y="8508999"/>
            <a:ext cx="3683000" cy="5461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50800" tIns="50800" rIns="50800" bIns="50800" anchor="ctr">
            <a:spAutoFit/>
          </a:bodyPr>
          <a:lstStyle>
            <a:lvl1pPr>
              <a:defRPr sz="2800">
                <a:solidFill>
                  <a:srgbClr val="220D44"/>
                </a:solidFill>
                <a:latin typeface="Unbounded SemiBold"/>
                <a:ea typeface="Unbounded SemiBold"/>
                <a:cs typeface="Unbounded SemiBold"/>
                <a:sym typeface="Unbounded SemiBold"/>
              </a:defRPr>
            </a:lvl1pPr>
          </a:lstStyle>
          <a:p>
            <a:pPr/>
            <a:r>
              <a:t>REST API</a:t>
            </a:r>
          </a:p>
        </p:txBody>
      </p:sp>
      <p:sp>
        <p:nvSpPr>
          <p:cNvPr id="628" name="Fetches only the live parts"/>
          <p:cNvSpPr txBox="1"/>
          <p:nvPr/>
        </p:nvSpPr>
        <p:spPr>
          <a:xfrm>
            <a:off x="19100800" y="9271000"/>
            <a:ext cx="3683000" cy="4826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50800" tIns="50800" rIns="50800" bIns="50800" anchor="ctr">
            <a:spAutoFit/>
          </a:bodyPr>
          <a:lstStyle>
            <a:lvl1pPr>
              <a:defRPr sz="2300">
                <a:solidFill>
                  <a:srgbClr val="220D44"/>
                </a:solidFill>
                <a:latin typeface="Geist"/>
                <a:ea typeface="Geist"/>
                <a:cs typeface="Geist"/>
                <a:sym typeface="Geist"/>
              </a:defRPr>
            </a:lvl1pPr>
          </a:lstStyle>
          <a:p>
            <a:pPr/>
            <a:r>
              <a:t>Fetches only the live parts</a:t>
            </a:r>
          </a:p>
        </p:txBody>
      </p:sp>
      <p:sp>
        <p:nvSpPr>
          <p:cNvPr id="629" name="CACHE"/>
          <p:cNvSpPr txBox="1"/>
          <p:nvPr/>
        </p:nvSpPr>
        <p:spPr>
          <a:xfrm>
            <a:off x="9601200" y="8051799"/>
            <a:ext cx="990600" cy="4191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50800" tIns="50800" rIns="50800" bIns="50800" anchor="ctr">
            <a:spAutoFit/>
          </a:bodyPr>
          <a:lstStyle>
            <a:lvl1pPr>
              <a:defRPr sz="1900">
                <a:solidFill>
                  <a:srgbClr val="DC3F6D"/>
                </a:solidFill>
                <a:latin typeface="Geist Mono"/>
                <a:ea typeface="Geist Mono"/>
                <a:cs typeface="Geist Mono"/>
                <a:sym typeface="Geist Mono"/>
              </a:defRPr>
            </a:lvl1pPr>
          </a:lstStyle>
          <a:p>
            <a:pPr/>
            <a:r>
              <a:t>CACHE</a:t>
            </a:r>
          </a:p>
        </p:txBody>
      </p:sp>
      <p:sp>
        <p:nvSpPr>
          <p:cNvPr id="630" name="Page cache"/>
          <p:cNvSpPr txBox="1"/>
          <p:nvPr/>
        </p:nvSpPr>
        <p:spPr>
          <a:xfrm>
            <a:off x="9601200" y="8508999"/>
            <a:ext cx="2921000" cy="5461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50800" tIns="50800" rIns="50800" bIns="50800" anchor="ctr">
            <a:spAutoFit/>
          </a:bodyPr>
          <a:lstStyle>
            <a:lvl1pPr>
              <a:defRPr sz="2800">
                <a:solidFill>
                  <a:srgbClr val="220D44"/>
                </a:solidFill>
                <a:latin typeface="Unbounded SemiBold"/>
                <a:ea typeface="Unbounded SemiBold"/>
                <a:cs typeface="Unbounded SemiBold"/>
                <a:sym typeface="Unbounded SemiBold"/>
              </a:defRPr>
            </a:lvl1pPr>
          </a:lstStyle>
          <a:p>
            <a:pPr/>
            <a:r>
              <a:t>Page cache</a:t>
            </a:r>
          </a:p>
        </p:txBody>
      </p:sp>
      <p:sp>
        <p:nvSpPr>
          <p:cNvPr id="631" name="A hit ends here"/>
          <p:cNvSpPr txBox="1"/>
          <p:nvPr/>
        </p:nvSpPr>
        <p:spPr>
          <a:xfrm>
            <a:off x="9601200" y="9296400"/>
            <a:ext cx="2413000" cy="4826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50800" tIns="50800" rIns="50800" bIns="50800" anchor="ctr">
            <a:spAutoFit/>
          </a:bodyPr>
          <a:lstStyle>
            <a:lvl1pPr>
              <a:defRPr sz="2300">
                <a:solidFill>
                  <a:srgbClr val="220D44"/>
                </a:solidFill>
                <a:latin typeface="Geist"/>
                <a:ea typeface="Geist"/>
                <a:cs typeface="Geist"/>
                <a:sym typeface="Geist"/>
              </a:defRPr>
            </a:lvl1pPr>
          </a:lstStyle>
          <a:p>
            <a:pPr/>
            <a:r>
              <a:t>A hit ends here</a:t>
            </a:r>
          </a:p>
        </p:txBody>
      </p:sp>
      <p:pic>
        <p:nvPicPr>
          <p:cNvPr id="632" name="prog-26.png" descr="prog-26.png"/>
          <p:cNvPicPr>
            <a:picLocks noChangeAspect="1"/>
          </p:cNvPicPr>
          <p:nvPr/>
        </p:nvPicPr>
        <p:blipFill>
          <a:blip r:embed="rId6">
            <a:extLst/>
          </a:blip>
          <a:stretch>
            <a:fillRect/>
          </a:stretch>
        </p:blipFill>
        <p:spPr>
          <a:xfrm>
            <a:off x="17170400" y="12395200"/>
            <a:ext cx="5842000" cy="406400"/>
          </a:xfrm>
          <a:prstGeom prst="rect">
            <a:avLst/>
          </a:prstGeom>
          <a:ln w="12700">
            <a:miter lim="400000"/>
          </a:ln>
        </p:spPr>
      </p:pic>
    </p:spTree>
  </p:cSld>
  <p:clrMapOvr>
    <a:masterClrMapping/>
  </p:clrMapOvr>
  <p:transition xmlns:p14="http://schemas.microsoft.com/office/powerpoint/2010/main" spd="med" advClick="1"/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36" name="bg.png" descr="bg.png"/>
          <p:cNvPicPr>
            <a:picLocks noChangeAspect="1"/>
          </p:cNvPicPr>
          <p:nvPr/>
        </p:nvPicPr>
        <p:blipFill>
          <a:blip r:embed="rId3">
            <a:extLst/>
          </a:blip>
          <a:stretch>
            <a:fillRect/>
          </a:stretch>
        </p:blipFill>
        <p:spPr>
          <a:xfrm>
            <a:off x="0" y="0"/>
            <a:ext cx="24384000" cy="13716000"/>
          </a:xfrm>
          <a:prstGeom prst="rect">
            <a:avLst/>
          </a:prstGeom>
          <a:ln w="12700">
            <a:miter lim="400000"/>
          </a:ln>
        </p:spPr>
      </p:pic>
      <p:sp>
        <p:nvSpPr>
          <p:cNvPr id="637" name="Going 100% core: the “cons”"/>
          <p:cNvSpPr txBox="1"/>
          <p:nvPr/>
        </p:nvSpPr>
        <p:spPr>
          <a:xfrm>
            <a:off x="1308100" y="2692399"/>
            <a:ext cx="22707600" cy="17145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50800" tIns="50800" rIns="50800" bIns="50800" anchor="ctr">
            <a:spAutoFit/>
          </a:bodyPr>
          <a:lstStyle/>
          <a:p>
            <a:pPr>
              <a:defRPr sz="7600">
                <a:solidFill>
                  <a:srgbClr val="220D44"/>
                </a:solidFill>
                <a:latin typeface="Unbounded ExtraBold"/>
                <a:ea typeface="Unbounded ExtraBold"/>
                <a:cs typeface="Unbounded ExtraBold"/>
                <a:sym typeface="Unbounded ExtraBold"/>
              </a:defRPr>
            </a:pPr>
            <a:r>
              <a:t>Going 100% core: </a:t>
            </a:r>
            <a:r>
              <a:rPr i="1" sz="9800">
                <a:solidFill>
                  <a:srgbClr val="6033A6"/>
                </a:solidFill>
                <a:latin typeface="Instrument Serif"/>
                <a:ea typeface="Instrument Serif"/>
                <a:cs typeface="Instrument Serif"/>
                <a:sym typeface="Instrument Serif"/>
              </a:rPr>
              <a:t>the “cons”</a:t>
            </a:r>
          </a:p>
        </p:txBody>
      </p:sp>
      <p:sp>
        <p:nvSpPr>
          <p:cNvPr id="638" name="—"/>
          <p:cNvSpPr txBox="1"/>
          <p:nvPr/>
        </p:nvSpPr>
        <p:spPr>
          <a:xfrm>
            <a:off x="1320800" y="4826000"/>
            <a:ext cx="558800" cy="7239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50800" tIns="50800" rIns="50800" bIns="50800" anchor="ctr">
            <a:spAutoFit/>
          </a:bodyPr>
          <a:lstStyle>
            <a:lvl1pPr>
              <a:defRPr i="1" sz="3800">
                <a:solidFill>
                  <a:srgbClr val="6033A6"/>
                </a:solidFill>
                <a:latin typeface="Geist"/>
                <a:ea typeface="Geist"/>
                <a:cs typeface="Geist"/>
                <a:sym typeface="Geist"/>
              </a:defRPr>
            </a:lvl1pPr>
          </a:lstStyle>
          <a:p>
            <a:pPr/>
            <a:r>
              <a:t>—</a:t>
            </a:r>
          </a:p>
        </p:txBody>
      </p:sp>
      <p:sp>
        <p:nvSpPr>
          <p:cNvPr id="639" name="A steep learning curve for the whole team."/>
          <p:cNvSpPr txBox="1"/>
          <p:nvPr/>
        </p:nvSpPr>
        <p:spPr>
          <a:xfrm>
            <a:off x="2032000" y="4826000"/>
            <a:ext cx="21336000" cy="7239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50800" tIns="50800" rIns="50800" bIns="50800" anchor="ctr">
            <a:spAutoFit/>
          </a:bodyPr>
          <a:lstStyle>
            <a:lvl1pPr>
              <a:defRPr sz="3800">
                <a:solidFill>
                  <a:srgbClr val="220D44"/>
                </a:solidFill>
                <a:latin typeface="Geist"/>
                <a:ea typeface="Geist"/>
                <a:cs typeface="Geist"/>
                <a:sym typeface="Geist"/>
              </a:defRPr>
            </a:lvl1pPr>
          </a:lstStyle>
          <a:p>
            <a:pPr/>
            <a:r>
              <a:t>A steep learning curve for the whole team.</a:t>
            </a:r>
          </a:p>
        </p:txBody>
      </p:sp>
      <p:sp>
        <p:nvSpPr>
          <p:cNvPr id="640" name="—"/>
          <p:cNvSpPr txBox="1"/>
          <p:nvPr/>
        </p:nvSpPr>
        <p:spPr>
          <a:xfrm>
            <a:off x="1320800" y="5880100"/>
            <a:ext cx="558800" cy="7239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50800" tIns="50800" rIns="50800" bIns="50800" anchor="ctr">
            <a:spAutoFit/>
          </a:bodyPr>
          <a:lstStyle>
            <a:lvl1pPr>
              <a:defRPr i="1" sz="3800">
                <a:solidFill>
                  <a:srgbClr val="6033A6"/>
                </a:solidFill>
                <a:latin typeface="Geist"/>
                <a:ea typeface="Geist"/>
                <a:cs typeface="Geist"/>
                <a:sym typeface="Geist"/>
              </a:defRPr>
            </a:lvl1pPr>
          </a:lstStyle>
          <a:p>
            <a:pPr/>
            <a:r>
              <a:t>—</a:t>
            </a:r>
          </a:p>
        </p:txBody>
      </p:sp>
      <p:sp>
        <p:nvSpPr>
          <p:cNvPr id="641" name="Less PHP, more JSON: theme.json, block.json."/>
          <p:cNvSpPr txBox="1"/>
          <p:nvPr/>
        </p:nvSpPr>
        <p:spPr>
          <a:xfrm>
            <a:off x="2032000" y="5880100"/>
            <a:ext cx="21336000" cy="7239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50800" tIns="50800" rIns="50800" bIns="50800" anchor="ctr">
            <a:spAutoFit/>
          </a:bodyPr>
          <a:lstStyle/>
          <a:p>
            <a:pPr>
              <a:defRPr sz="3800">
                <a:solidFill>
                  <a:srgbClr val="220D44"/>
                </a:solidFill>
                <a:latin typeface="Geist"/>
                <a:ea typeface="Geist"/>
                <a:cs typeface="Geist"/>
                <a:sym typeface="Geist"/>
              </a:defRPr>
            </a:pPr>
            <a:r>
              <a:t>Less PHP, more JSON: </a:t>
            </a:r>
            <a:r>
              <a:rPr>
                <a:solidFill>
                  <a:srgbClr val="6033A6"/>
                </a:solidFill>
                <a:latin typeface="Geist Mono"/>
                <a:ea typeface="Geist Mono"/>
                <a:cs typeface="Geist Mono"/>
                <a:sym typeface="Geist Mono"/>
              </a:rPr>
              <a:t>theme.json</a:t>
            </a:r>
            <a:r>
              <a:t>, </a:t>
            </a:r>
            <a:r>
              <a:rPr>
                <a:solidFill>
                  <a:srgbClr val="6033A6"/>
                </a:solidFill>
                <a:latin typeface="Geist Mono"/>
                <a:ea typeface="Geist Mono"/>
                <a:cs typeface="Geist Mono"/>
                <a:sym typeface="Geist Mono"/>
              </a:rPr>
              <a:t>block.json</a:t>
            </a:r>
            <a:r>
              <a:t>.</a:t>
            </a:r>
          </a:p>
        </p:txBody>
      </p:sp>
      <p:sp>
        <p:nvSpPr>
          <p:cNvPr id="642" name="—"/>
          <p:cNvSpPr txBox="1"/>
          <p:nvPr/>
        </p:nvSpPr>
        <p:spPr>
          <a:xfrm>
            <a:off x="1320800" y="6934200"/>
            <a:ext cx="558800" cy="7239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50800" tIns="50800" rIns="50800" bIns="50800" anchor="ctr">
            <a:spAutoFit/>
          </a:bodyPr>
          <a:lstStyle>
            <a:lvl1pPr>
              <a:defRPr i="1" sz="3800">
                <a:solidFill>
                  <a:srgbClr val="6033A6"/>
                </a:solidFill>
                <a:latin typeface="Geist"/>
                <a:ea typeface="Geist"/>
                <a:cs typeface="Geist"/>
                <a:sym typeface="Geist"/>
              </a:defRPr>
            </a:lvl1pPr>
          </a:lstStyle>
          <a:p>
            <a:pPr/>
            <a:r>
              <a:t>—</a:t>
            </a:r>
          </a:p>
        </p:txBody>
      </p:sp>
      <p:sp>
        <p:nvSpPr>
          <p:cNvPr id="643" name="Unlearning building every block from scratch."/>
          <p:cNvSpPr txBox="1"/>
          <p:nvPr/>
        </p:nvSpPr>
        <p:spPr>
          <a:xfrm>
            <a:off x="2032000" y="6934200"/>
            <a:ext cx="21336000" cy="7239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50800" tIns="50800" rIns="50800" bIns="50800" anchor="ctr">
            <a:spAutoFit/>
          </a:bodyPr>
          <a:lstStyle>
            <a:lvl1pPr>
              <a:defRPr sz="3800">
                <a:solidFill>
                  <a:srgbClr val="220D44"/>
                </a:solidFill>
                <a:latin typeface="Geist"/>
                <a:ea typeface="Geist"/>
                <a:cs typeface="Geist"/>
                <a:sym typeface="Geist"/>
              </a:defRPr>
            </a:lvl1pPr>
          </a:lstStyle>
          <a:p>
            <a:pPr/>
            <a:r>
              <a:t>Unlearning building every block from scratch.</a:t>
            </a:r>
          </a:p>
        </p:txBody>
      </p:sp>
      <p:sp>
        <p:nvSpPr>
          <p:cNvPr id="644" name="—"/>
          <p:cNvSpPr txBox="1"/>
          <p:nvPr/>
        </p:nvSpPr>
        <p:spPr>
          <a:xfrm>
            <a:off x="1320800" y="7988300"/>
            <a:ext cx="558800" cy="7239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50800" tIns="50800" rIns="50800" bIns="50800" anchor="ctr">
            <a:spAutoFit/>
          </a:bodyPr>
          <a:lstStyle>
            <a:lvl1pPr>
              <a:defRPr i="1" sz="3800">
                <a:solidFill>
                  <a:srgbClr val="6033A6"/>
                </a:solidFill>
                <a:latin typeface="Geist"/>
                <a:ea typeface="Geist"/>
                <a:cs typeface="Geist"/>
                <a:sym typeface="Geist"/>
              </a:defRPr>
            </a:lvl1pPr>
          </a:lstStyle>
          <a:p>
            <a:pPr/>
            <a:r>
              <a:t>—</a:t>
            </a:r>
          </a:p>
        </p:txBody>
      </p:sp>
      <p:sp>
        <p:nvSpPr>
          <p:cNvPr id="645" name="Heavy build tooling: React, npm, a build step."/>
          <p:cNvSpPr txBox="1"/>
          <p:nvPr/>
        </p:nvSpPr>
        <p:spPr>
          <a:xfrm>
            <a:off x="2032000" y="7988300"/>
            <a:ext cx="21336000" cy="7239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50800" tIns="50800" rIns="50800" bIns="50800" anchor="ctr">
            <a:spAutoFit/>
          </a:bodyPr>
          <a:lstStyle>
            <a:lvl1pPr>
              <a:defRPr sz="3800">
                <a:solidFill>
                  <a:srgbClr val="220D44"/>
                </a:solidFill>
                <a:latin typeface="Geist"/>
                <a:ea typeface="Geist"/>
                <a:cs typeface="Geist"/>
                <a:sym typeface="Geist"/>
              </a:defRPr>
            </a:lvl1pPr>
          </a:lstStyle>
          <a:p>
            <a:pPr/>
            <a:r>
              <a:t>Heavy build tooling: React, npm, a build step.</a:t>
            </a:r>
          </a:p>
        </p:txBody>
      </p:sp>
      <p:sp>
        <p:nvSpPr>
          <p:cNvPr id="646" name="—"/>
          <p:cNvSpPr txBox="1"/>
          <p:nvPr/>
        </p:nvSpPr>
        <p:spPr>
          <a:xfrm>
            <a:off x="1320800" y="9042400"/>
            <a:ext cx="558800" cy="7239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50800" tIns="50800" rIns="50800" bIns="50800" anchor="ctr">
            <a:spAutoFit/>
          </a:bodyPr>
          <a:lstStyle>
            <a:lvl1pPr>
              <a:defRPr i="1" sz="3800">
                <a:solidFill>
                  <a:srgbClr val="6033A6"/>
                </a:solidFill>
                <a:latin typeface="Geist"/>
                <a:ea typeface="Geist"/>
                <a:cs typeface="Geist"/>
                <a:sym typeface="Geist"/>
              </a:defRPr>
            </a:lvl1pPr>
          </a:lstStyle>
          <a:p>
            <a:pPr/>
            <a:r>
              <a:t>—</a:t>
            </a:r>
          </a:p>
        </p:txBody>
      </p:sp>
      <p:sp>
        <p:nvSpPr>
          <p:cNvPr id="647" name="Core moves fast, and the docs are scattered."/>
          <p:cNvSpPr txBox="1"/>
          <p:nvPr/>
        </p:nvSpPr>
        <p:spPr>
          <a:xfrm>
            <a:off x="2032000" y="9042400"/>
            <a:ext cx="21336000" cy="7239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50800" tIns="50800" rIns="50800" bIns="50800" anchor="ctr">
            <a:spAutoFit/>
          </a:bodyPr>
          <a:lstStyle>
            <a:lvl1pPr>
              <a:defRPr sz="3800">
                <a:solidFill>
                  <a:srgbClr val="220D44"/>
                </a:solidFill>
                <a:latin typeface="Geist"/>
                <a:ea typeface="Geist"/>
                <a:cs typeface="Geist"/>
                <a:sym typeface="Geist"/>
              </a:defRPr>
            </a:lvl1pPr>
          </a:lstStyle>
          <a:p>
            <a:pPr/>
            <a:r>
              <a:t>Core moves fast, and the docs are scattered.</a:t>
            </a:r>
          </a:p>
        </p:txBody>
      </p:sp>
      <p:sp>
        <p:nvSpPr>
          <p:cNvPr id="648" name="Going ACF-free"/>
          <p:cNvSpPr txBox="1"/>
          <p:nvPr/>
        </p:nvSpPr>
        <p:spPr>
          <a:xfrm>
            <a:off x="1320800" y="12344400"/>
            <a:ext cx="2451100" cy="4953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50800" tIns="50800" rIns="50800" bIns="50800" anchor="ctr">
            <a:spAutoFit/>
          </a:bodyPr>
          <a:lstStyle>
            <a:lvl1pPr>
              <a:defRPr sz="2400">
                <a:solidFill>
                  <a:srgbClr val="5D4E61"/>
                </a:solidFill>
                <a:latin typeface="Geist"/>
                <a:ea typeface="Geist"/>
                <a:cs typeface="Geist"/>
                <a:sym typeface="Geist"/>
              </a:defRPr>
            </a:lvl1pPr>
          </a:lstStyle>
          <a:p>
            <a:pPr/>
            <a:r>
              <a:t>Going ACF-free</a:t>
            </a:r>
          </a:p>
        </p:txBody>
      </p:sp>
      <p:pic>
        <p:nvPicPr>
          <p:cNvPr id="649" name="prog-27.png" descr="prog-27.png"/>
          <p:cNvPicPr>
            <a:picLocks noChangeAspect="1"/>
          </p:cNvPicPr>
          <p:nvPr/>
        </p:nvPicPr>
        <p:blipFill>
          <a:blip r:embed="rId4">
            <a:extLst/>
          </a:blip>
          <a:stretch>
            <a:fillRect/>
          </a:stretch>
        </p:blipFill>
        <p:spPr>
          <a:xfrm>
            <a:off x="17170400" y="12395200"/>
            <a:ext cx="5842000" cy="406400"/>
          </a:xfrm>
          <a:prstGeom prst="rect">
            <a:avLst/>
          </a:prstGeom>
          <a:ln w="12700">
            <a:miter lim="400000"/>
          </a:ln>
        </p:spPr>
      </p:pic>
    </p:spTree>
  </p:cSld>
  <p:clrMapOvr>
    <a:masterClrMapping/>
  </p:clrMapOvr>
  <p:transition xmlns:p14="http://schemas.microsoft.com/office/powerpoint/2010/main" spd="med" advClick="1"/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53" name="bg.png" descr="bg.png"/>
          <p:cNvPicPr>
            <a:picLocks noChangeAspect="1"/>
          </p:cNvPicPr>
          <p:nvPr/>
        </p:nvPicPr>
        <p:blipFill>
          <a:blip r:embed="rId3">
            <a:extLst/>
          </a:blip>
          <a:stretch>
            <a:fillRect/>
          </a:stretch>
        </p:blipFill>
        <p:spPr>
          <a:xfrm>
            <a:off x="0" y="0"/>
            <a:ext cx="24384000" cy="13716000"/>
          </a:xfrm>
          <a:prstGeom prst="rect">
            <a:avLst/>
          </a:prstGeom>
          <a:ln w="12700">
            <a:miter lim="400000"/>
          </a:ln>
        </p:spPr>
      </p:pic>
      <p:sp>
        <p:nvSpPr>
          <p:cNvPr id="654" name="The designer’s new job"/>
          <p:cNvSpPr txBox="1"/>
          <p:nvPr/>
        </p:nvSpPr>
        <p:spPr>
          <a:xfrm>
            <a:off x="1308100" y="2692399"/>
            <a:ext cx="22707600" cy="17145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50800" tIns="50800" rIns="50800" bIns="50800" anchor="ctr">
            <a:spAutoFit/>
          </a:bodyPr>
          <a:lstStyle/>
          <a:p>
            <a:pPr>
              <a:defRPr sz="7600">
                <a:solidFill>
                  <a:srgbClr val="220D44"/>
                </a:solidFill>
                <a:latin typeface="Unbounded ExtraBold"/>
                <a:ea typeface="Unbounded ExtraBold"/>
                <a:cs typeface="Unbounded ExtraBold"/>
                <a:sym typeface="Unbounded ExtraBold"/>
              </a:defRPr>
            </a:pPr>
            <a:r>
              <a:t>The designer’s </a:t>
            </a:r>
            <a:r>
              <a:rPr i="1" sz="9800">
                <a:solidFill>
                  <a:srgbClr val="6033A6"/>
                </a:solidFill>
                <a:latin typeface="Instrument Serif"/>
                <a:ea typeface="Instrument Serif"/>
                <a:cs typeface="Instrument Serif"/>
                <a:sym typeface="Instrument Serif"/>
              </a:rPr>
              <a:t>new job</a:t>
            </a:r>
          </a:p>
        </p:txBody>
      </p:sp>
      <p:sp>
        <p:nvSpPr>
          <p:cNvPr id="655" name="Going ACF-free"/>
          <p:cNvSpPr txBox="1"/>
          <p:nvPr/>
        </p:nvSpPr>
        <p:spPr>
          <a:xfrm>
            <a:off x="1320800" y="12344400"/>
            <a:ext cx="2451100" cy="4953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50800" tIns="50800" rIns="50800" bIns="50800" anchor="ctr">
            <a:spAutoFit/>
          </a:bodyPr>
          <a:lstStyle>
            <a:lvl1pPr>
              <a:defRPr sz="2400">
                <a:solidFill>
                  <a:srgbClr val="5D4E61"/>
                </a:solidFill>
                <a:latin typeface="Geist"/>
                <a:ea typeface="Geist"/>
                <a:cs typeface="Geist"/>
                <a:sym typeface="Geist"/>
              </a:defRPr>
            </a:lvl1pPr>
          </a:lstStyle>
          <a:p>
            <a:pPr/>
            <a:r>
              <a:t>Going ACF-free</a:t>
            </a:r>
          </a:p>
        </p:txBody>
      </p:sp>
      <p:pic>
        <p:nvPicPr>
          <p:cNvPr id="656" name="uncle-ben.gif" descr="uncle-ben.gif"/>
          <p:cNvPicPr>
            <a:picLocks noChangeAspect="0"/>
          </p:cNvPicPr>
          <p:nvPr/>
        </p:nvPicPr>
        <p:blipFill>
          <a:blip r:embed="rId4">
            <a:extLst/>
          </a:blip>
          <a:stretch>
            <a:fillRect/>
          </a:stretch>
        </p:blipFill>
        <p:spPr>
          <a:xfrm>
            <a:off x="1320800" y="5080000"/>
            <a:ext cx="10798098" cy="4445000"/>
          </a:xfrm>
          <a:prstGeom prst="rect">
            <a:avLst/>
          </a:prstGeom>
          <a:ln w="12700">
            <a:miter lim="400000"/>
          </a:ln>
        </p:spPr>
      </p:pic>
      <p:sp>
        <p:nvSpPr>
          <p:cNvPr id="657" name="We used to design the limits: fixed layouts the client could only fill in."/>
          <p:cNvSpPr txBox="1"/>
          <p:nvPr/>
        </p:nvSpPr>
        <p:spPr>
          <a:xfrm>
            <a:off x="12776200" y="5118099"/>
            <a:ext cx="8693886" cy="116332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50800" tIns="50800" rIns="50800" bIns="50800" anchor="ctr">
            <a:spAutoFit/>
          </a:bodyPr>
          <a:lstStyle>
            <a:lvl1pPr>
              <a:defRPr sz="3400">
                <a:solidFill>
                  <a:srgbClr val="220D44"/>
                </a:solidFill>
                <a:latin typeface="Geist"/>
                <a:ea typeface="Geist"/>
                <a:cs typeface="Geist"/>
                <a:sym typeface="Geist"/>
              </a:defRPr>
            </a:lvl1pPr>
          </a:lstStyle>
          <a:p>
            <a:pPr/>
            <a:r>
              <a:t>We used to design the limits: fixed layouts the client could only fill in.</a:t>
            </a:r>
          </a:p>
        </p:txBody>
      </p:sp>
      <p:sp>
        <p:nvSpPr>
          <p:cNvPr id="658" name="Core gives the client every block, in any order, next to anything."/>
          <p:cNvSpPr txBox="1"/>
          <p:nvPr/>
        </p:nvSpPr>
        <p:spPr>
          <a:xfrm>
            <a:off x="12776200" y="6705599"/>
            <a:ext cx="9237010" cy="116332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50800" tIns="50800" rIns="50800" bIns="50800" anchor="ctr">
            <a:spAutoFit/>
          </a:bodyPr>
          <a:lstStyle>
            <a:lvl1pPr>
              <a:defRPr sz="3400">
                <a:solidFill>
                  <a:srgbClr val="220D44"/>
                </a:solidFill>
                <a:latin typeface="Geist"/>
                <a:ea typeface="Geist"/>
                <a:cs typeface="Geist"/>
                <a:sym typeface="Geist"/>
              </a:defRPr>
            </a:lvl1pPr>
          </a:lstStyle>
          <a:p>
            <a:pPr/>
            <a:r>
              <a:t>Core gives the client every block, in any order, next to anything.</a:t>
            </a:r>
          </a:p>
        </p:txBody>
      </p:sp>
      <p:sp>
        <p:nvSpPr>
          <p:cNvPr id="659" name="Every block needs to look like the brand, in every combination."/>
          <p:cNvSpPr txBox="1"/>
          <p:nvPr/>
        </p:nvSpPr>
        <p:spPr>
          <a:xfrm>
            <a:off x="12776200" y="8293099"/>
            <a:ext cx="8371763" cy="116332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50800" tIns="50800" rIns="50800" bIns="50800" anchor="ctr">
            <a:spAutoFit/>
          </a:bodyPr>
          <a:lstStyle>
            <a:lvl1pPr>
              <a:defRPr sz="3400">
                <a:solidFill>
                  <a:srgbClr val="220D44"/>
                </a:solidFill>
                <a:latin typeface="Geist"/>
                <a:ea typeface="Geist"/>
                <a:cs typeface="Geist"/>
                <a:sym typeface="Geist"/>
              </a:defRPr>
            </a:lvl1pPr>
          </a:lstStyle>
          <a:p>
            <a:pPr/>
            <a:r>
              <a:t>Every block needs to look like the brand, in every combination.</a:t>
            </a:r>
          </a:p>
        </p:txBody>
      </p:sp>
      <p:pic>
        <p:nvPicPr>
          <p:cNvPr id="660" name="prog-28.png" descr="prog-28.png"/>
          <p:cNvPicPr>
            <a:picLocks noChangeAspect="1"/>
          </p:cNvPicPr>
          <p:nvPr/>
        </p:nvPicPr>
        <p:blipFill>
          <a:blip r:embed="rId5">
            <a:extLst/>
          </a:blip>
          <a:stretch>
            <a:fillRect/>
          </a:stretch>
        </p:blipFill>
        <p:spPr>
          <a:xfrm>
            <a:off x="17170400" y="12395200"/>
            <a:ext cx="5842000" cy="406400"/>
          </a:xfrm>
          <a:prstGeom prst="rect">
            <a:avLst/>
          </a:prstGeom>
          <a:ln w="12700">
            <a:miter lim="400000"/>
          </a:ln>
        </p:spPr>
      </p:pic>
    </p:spTree>
  </p:cSld>
  <p:clrMapOvr>
    <a:masterClrMapping/>
  </p:clrMapOvr>
  <p:transition xmlns:p14="http://schemas.microsoft.com/office/powerpoint/2010/main" spd="med" advClick="1"/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64" name="bg.png" descr="bg.png"/>
          <p:cNvPicPr>
            <a:picLocks noChangeAspect="1"/>
          </p:cNvPicPr>
          <p:nvPr/>
        </p:nvPicPr>
        <p:blipFill>
          <a:blip r:embed="rId2">
            <a:extLst/>
          </a:blip>
          <a:stretch>
            <a:fillRect/>
          </a:stretch>
        </p:blipFill>
        <p:spPr>
          <a:xfrm>
            <a:off x="0" y="0"/>
            <a:ext cx="24384000" cy="13716000"/>
          </a:xfrm>
          <a:prstGeom prst="rect">
            <a:avLst/>
          </a:prstGeom>
          <a:ln w="12700">
            <a:miter lim="400000"/>
          </a:ln>
        </p:spPr>
      </p:pic>
      <p:sp>
        <p:nvSpPr>
          <p:cNvPr id="665" name="The leap is high,"/>
          <p:cNvSpPr txBox="1"/>
          <p:nvPr/>
        </p:nvSpPr>
        <p:spPr>
          <a:xfrm>
            <a:off x="1295400" y="4381499"/>
            <a:ext cx="22707600" cy="15621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50800" tIns="50800" rIns="50800" bIns="50800" anchor="ctr">
            <a:spAutoFit/>
          </a:bodyPr>
          <a:lstStyle>
            <a:lvl1pPr>
              <a:defRPr sz="9200">
                <a:solidFill>
                  <a:srgbClr val="220D44"/>
                </a:solidFill>
                <a:latin typeface="Unbounded ExtraBold"/>
                <a:ea typeface="Unbounded ExtraBold"/>
                <a:cs typeface="Unbounded ExtraBold"/>
                <a:sym typeface="Unbounded ExtraBold"/>
              </a:defRPr>
            </a:lvl1pPr>
          </a:lstStyle>
          <a:p>
            <a:pPr/>
            <a:r>
              <a:t>The leap is high,</a:t>
            </a:r>
          </a:p>
        </p:txBody>
      </p:sp>
      <p:sp>
        <p:nvSpPr>
          <p:cNvPr id="666" name="and that is not your fault"/>
          <p:cNvSpPr txBox="1"/>
          <p:nvPr/>
        </p:nvSpPr>
        <p:spPr>
          <a:xfrm>
            <a:off x="1308100" y="5346699"/>
            <a:ext cx="22707600" cy="20574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50800" tIns="50800" rIns="50800" bIns="50800" anchor="ctr">
            <a:spAutoFit/>
          </a:bodyPr>
          <a:lstStyle>
            <a:lvl1pPr>
              <a:defRPr i="1" sz="11800">
                <a:solidFill>
                  <a:srgbClr val="6033A6"/>
                </a:solidFill>
                <a:latin typeface="Instrument Serif"/>
                <a:ea typeface="Instrument Serif"/>
                <a:cs typeface="Instrument Serif"/>
                <a:sym typeface="Instrument Serif"/>
              </a:defRPr>
            </a:lvl1pPr>
          </a:lstStyle>
          <a:p>
            <a:pPr/>
            <a:r>
              <a:t>and that is not your fault</a:t>
            </a:r>
          </a:p>
        </p:txBody>
      </p:sp>
      <p:sp>
        <p:nvSpPr>
          <p:cNvPr id="667" name="Since WordPress 5.0 in 2018, Gutenberg has added"/>
          <p:cNvSpPr txBox="1"/>
          <p:nvPr/>
        </p:nvSpPr>
        <p:spPr>
          <a:xfrm>
            <a:off x="1320800" y="7505699"/>
            <a:ext cx="20320000" cy="6985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50800" tIns="50800" rIns="50800" bIns="50800" anchor="ctr">
            <a:spAutoFit/>
          </a:bodyPr>
          <a:lstStyle>
            <a:lvl1pPr>
              <a:defRPr sz="3600">
                <a:solidFill>
                  <a:srgbClr val="4B3051"/>
                </a:solidFill>
                <a:latin typeface="Geist"/>
                <a:ea typeface="Geist"/>
                <a:cs typeface="Geist"/>
                <a:sym typeface="Geist"/>
              </a:defRPr>
            </a:lvl1pPr>
          </a:lstStyle>
          <a:p>
            <a:pPr/>
            <a:r>
              <a:t>Since WordPress 5.0 in 2018, Gutenberg has added</a:t>
            </a:r>
          </a:p>
        </p:txBody>
      </p:sp>
      <p:sp>
        <p:nvSpPr>
          <p:cNvPr id="668" name="many ways to build sites without dependencies. And it has been a ride."/>
          <p:cNvSpPr txBox="1"/>
          <p:nvPr/>
        </p:nvSpPr>
        <p:spPr>
          <a:xfrm>
            <a:off x="1320800" y="8127999"/>
            <a:ext cx="20320000" cy="6985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50800" tIns="50800" rIns="50800" bIns="50800" anchor="ctr">
            <a:spAutoFit/>
          </a:bodyPr>
          <a:lstStyle>
            <a:lvl1pPr>
              <a:defRPr sz="3600">
                <a:solidFill>
                  <a:srgbClr val="4B3051"/>
                </a:solidFill>
                <a:latin typeface="Geist"/>
                <a:ea typeface="Geist"/>
                <a:cs typeface="Geist"/>
                <a:sym typeface="Geist"/>
              </a:defRPr>
            </a:lvl1pPr>
          </a:lstStyle>
          <a:p>
            <a:pPr/>
            <a:r>
              <a:t>many ways to build sites without dependencies. And it has been a ride.</a:t>
            </a:r>
          </a:p>
        </p:txBody>
      </p:sp>
      <p:sp>
        <p:nvSpPr>
          <p:cNvPr id="669" name="Going ACF-free"/>
          <p:cNvSpPr txBox="1"/>
          <p:nvPr/>
        </p:nvSpPr>
        <p:spPr>
          <a:xfrm>
            <a:off x="1320800" y="12344400"/>
            <a:ext cx="2451100" cy="4953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50800" tIns="50800" rIns="50800" bIns="50800" anchor="ctr">
            <a:spAutoFit/>
          </a:bodyPr>
          <a:lstStyle>
            <a:lvl1pPr>
              <a:defRPr sz="2400">
                <a:solidFill>
                  <a:srgbClr val="5D4E61"/>
                </a:solidFill>
                <a:latin typeface="Geist"/>
                <a:ea typeface="Geist"/>
                <a:cs typeface="Geist"/>
                <a:sym typeface="Geist"/>
              </a:defRPr>
            </a:lvl1pPr>
          </a:lstStyle>
          <a:p>
            <a:pPr/>
            <a:r>
              <a:t>Going ACF-free</a:t>
            </a:r>
          </a:p>
        </p:txBody>
      </p:sp>
      <p:pic>
        <p:nvPicPr>
          <p:cNvPr id="670" name="prog-29.png" descr="prog-29.png"/>
          <p:cNvPicPr>
            <a:picLocks noChangeAspect="1"/>
          </p:cNvPicPr>
          <p:nvPr/>
        </p:nvPicPr>
        <p:blipFill>
          <a:blip r:embed="rId3">
            <a:extLst/>
          </a:blip>
          <a:stretch>
            <a:fillRect/>
          </a:stretch>
        </p:blipFill>
        <p:spPr>
          <a:xfrm>
            <a:off x="17170400" y="12395200"/>
            <a:ext cx="5842000" cy="406400"/>
          </a:xfrm>
          <a:prstGeom prst="rect">
            <a:avLst/>
          </a:prstGeom>
          <a:ln w="12700">
            <a:miter lim="400000"/>
          </a:ln>
        </p:spPr>
      </p:pic>
    </p:spTree>
  </p:cSld>
  <p:clrMapOvr>
    <a:masterClrMapping/>
  </p:clrMapOvr>
  <p:transition xmlns:p14="http://schemas.microsoft.com/office/powerpoint/2010/main" spd="med" advClick="1"/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72" name="bg.png" descr="bg.png"/>
          <p:cNvPicPr>
            <a:picLocks noChangeAspect="1"/>
          </p:cNvPicPr>
          <p:nvPr/>
        </p:nvPicPr>
        <p:blipFill>
          <a:blip r:embed="rId3">
            <a:extLst/>
          </a:blip>
          <a:stretch>
            <a:fillRect/>
          </a:stretch>
        </p:blipFill>
        <p:spPr>
          <a:xfrm>
            <a:off x="0" y="0"/>
            <a:ext cx="24384000" cy="13716000"/>
          </a:xfrm>
          <a:prstGeom prst="rect">
            <a:avLst/>
          </a:prstGeom>
          <a:ln w="12700">
            <a:miter lim="400000"/>
          </a:ln>
        </p:spPr>
      </p:pic>
      <p:sp>
        <p:nvSpPr>
          <p:cNvPr id="673" name="Ways to build a block"/>
          <p:cNvSpPr txBox="1"/>
          <p:nvPr/>
        </p:nvSpPr>
        <p:spPr>
          <a:xfrm>
            <a:off x="1308100" y="2768599"/>
            <a:ext cx="22707600" cy="17145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50800" tIns="50800" rIns="50800" bIns="50800" anchor="ctr">
            <a:spAutoFit/>
          </a:bodyPr>
          <a:lstStyle/>
          <a:p>
            <a:pPr>
              <a:defRPr sz="7600">
                <a:solidFill>
                  <a:srgbClr val="220D44"/>
                </a:solidFill>
                <a:latin typeface="Unbounded ExtraBold"/>
                <a:ea typeface="Unbounded ExtraBold"/>
                <a:cs typeface="Unbounded ExtraBold"/>
                <a:sym typeface="Unbounded ExtraBold"/>
              </a:defRPr>
            </a:pPr>
            <a:r>
              <a:t>Ways to build </a:t>
            </a:r>
            <a:r>
              <a:rPr i="1" sz="9800">
                <a:solidFill>
                  <a:srgbClr val="6033A6"/>
                </a:solidFill>
                <a:latin typeface="Instrument Serif"/>
                <a:ea typeface="Instrument Serif"/>
                <a:cs typeface="Instrument Serif"/>
                <a:sym typeface="Instrument Serif"/>
              </a:rPr>
              <a:t>a block</a:t>
            </a:r>
          </a:p>
        </p:txBody>
      </p:sp>
      <p:sp>
        <p:nvSpPr>
          <p:cNvPr id="674" name="—"/>
          <p:cNvSpPr txBox="1"/>
          <p:nvPr/>
        </p:nvSpPr>
        <p:spPr>
          <a:xfrm>
            <a:off x="1320800" y="4902200"/>
            <a:ext cx="812800" cy="5969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50800" tIns="50800" rIns="50800" bIns="50800" anchor="ctr">
            <a:spAutoFit/>
          </a:bodyPr>
          <a:lstStyle>
            <a:lvl1pPr>
              <a:defRPr i="1" sz="3000">
                <a:solidFill>
                  <a:srgbClr val="6033A6"/>
                </a:solidFill>
                <a:latin typeface="Geist"/>
                <a:ea typeface="Geist"/>
                <a:cs typeface="Geist"/>
                <a:sym typeface="Geist"/>
              </a:defRPr>
            </a:lvl1pPr>
          </a:lstStyle>
          <a:p>
            <a:pPr/>
            <a:r>
              <a:t>—</a:t>
            </a:r>
          </a:p>
        </p:txBody>
      </p:sp>
      <p:sp>
        <p:nvSpPr>
          <p:cNvPr id="675" name="Core blocks, as shipped"/>
          <p:cNvSpPr txBox="1"/>
          <p:nvPr/>
        </p:nvSpPr>
        <p:spPr>
          <a:xfrm>
            <a:off x="1905000" y="4902200"/>
            <a:ext cx="6413500" cy="5969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50800" tIns="50800" rIns="50800" bIns="50800" anchor="ctr">
            <a:spAutoFit/>
          </a:bodyPr>
          <a:lstStyle>
            <a:lvl1pPr>
              <a:defRPr sz="3000">
                <a:solidFill>
                  <a:srgbClr val="3D2644"/>
                </a:solidFill>
                <a:latin typeface="Geist"/>
                <a:ea typeface="Geist"/>
                <a:cs typeface="Geist"/>
                <a:sym typeface="Geist"/>
              </a:defRPr>
            </a:lvl1pPr>
          </a:lstStyle>
          <a:p>
            <a:pPr/>
            <a:r>
              <a:t>Core blocks, as shipped</a:t>
            </a:r>
          </a:p>
        </p:txBody>
      </p:sp>
      <p:sp>
        <p:nvSpPr>
          <p:cNvPr id="676" name="—"/>
          <p:cNvSpPr txBox="1"/>
          <p:nvPr/>
        </p:nvSpPr>
        <p:spPr>
          <a:xfrm>
            <a:off x="1320800" y="5753100"/>
            <a:ext cx="812800" cy="5969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50800" tIns="50800" rIns="50800" bIns="50800" anchor="ctr">
            <a:spAutoFit/>
          </a:bodyPr>
          <a:lstStyle>
            <a:lvl1pPr>
              <a:defRPr i="1" sz="3000">
                <a:solidFill>
                  <a:srgbClr val="6033A6"/>
                </a:solidFill>
                <a:latin typeface="Geist"/>
                <a:ea typeface="Geist"/>
                <a:cs typeface="Geist"/>
                <a:sym typeface="Geist"/>
              </a:defRPr>
            </a:lvl1pPr>
          </a:lstStyle>
          <a:p>
            <a:pPr/>
            <a:r>
              <a:t>—</a:t>
            </a:r>
          </a:p>
        </p:txBody>
      </p:sp>
      <p:sp>
        <p:nvSpPr>
          <p:cNvPr id="677" name="Core block variations"/>
          <p:cNvSpPr txBox="1"/>
          <p:nvPr/>
        </p:nvSpPr>
        <p:spPr>
          <a:xfrm>
            <a:off x="1905000" y="5753100"/>
            <a:ext cx="6413500" cy="5969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50800" tIns="50800" rIns="50800" bIns="50800" anchor="ctr">
            <a:spAutoFit/>
          </a:bodyPr>
          <a:lstStyle>
            <a:lvl1pPr>
              <a:defRPr sz="3000">
                <a:solidFill>
                  <a:srgbClr val="3D2644"/>
                </a:solidFill>
                <a:latin typeface="Geist"/>
                <a:ea typeface="Geist"/>
                <a:cs typeface="Geist"/>
                <a:sym typeface="Geist"/>
              </a:defRPr>
            </a:lvl1pPr>
          </a:lstStyle>
          <a:p>
            <a:pPr/>
            <a:r>
              <a:t>Core block variations</a:t>
            </a:r>
          </a:p>
        </p:txBody>
      </p:sp>
      <p:sp>
        <p:nvSpPr>
          <p:cNvPr id="678" name="—"/>
          <p:cNvSpPr txBox="1"/>
          <p:nvPr/>
        </p:nvSpPr>
        <p:spPr>
          <a:xfrm>
            <a:off x="1320800" y="6604000"/>
            <a:ext cx="812800" cy="5969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50800" tIns="50800" rIns="50800" bIns="50800" anchor="ctr">
            <a:spAutoFit/>
          </a:bodyPr>
          <a:lstStyle>
            <a:lvl1pPr>
              <a:defRPr i="1" sz="3000">
                <a:solidFill>
                  <a:srgbClr val="6033A6"/>
                </a:solidFill>
                <a:latin typeface="Geist"/>
                <a:ea typeface="Geist"/>
                <a:cs typeface="Geist"/>
                <a:sym typeface="Geist"/>
              </a:defRPr>
            </a:lvl1pPr>
          </a:lstStyle>
          <a:p>
            <a:pPr/>
            <a:r>
              <a:t>—</a:t>
            </a:r>
          </a:p>
        </p:txBody>
      </p:sp>
      <p:sp>
        <p:nvSpPr>
          <p:cNvPr id="679" name="Block patterns"/>
          <p:cNvSpPr txBox="1"/>
          <p:nvPr/>
        </p:nvSpPr>
        <p:spPr>
          <a:xfrm>
            <a:off x="1905000" y="6604000"/>
            <a:ext cx="6413500" cy="5969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50800" tIns="50800" rIns="50800" bIns="50800" anchor="ctr">
            <a:spAutoFit/>
          </a:bodyPr>
          <a:lstStyle>
            <a:lvl1pPr>
              <a:defRPr sz="3000">
                <a:solidFill>
                  <a:srgbClr val="3D2644"/>
                </a:solidFill>
                <a:latin typeface="Geist"/>
                <a:ea typeface="Geist"/>
                <a:cs typeface="Geist"/>
                <a:sym typeface="Geist"/>
              </a:defRPr>
            </a:lvl1pPr>
          </a:lstStyle>
          <a:p>
            <a:pPr/>
            <a:r>
              <a:t>Block patterns</a:t>
            </a:r>
          </a:p>
        </p:txBody>
      </p:sp>
      <p:sp>
        <p:nvSpPr>
          <p:cNvPr id="680" name="—"/>
          <p:cNvSpPr txBox="1"/>
          <p:nvPr/>
        </p:nvSpPr>
        <p:spPr>
          <a:xfrm>
            <a:off x="1320800" y="7454900"/>
            <a:ext cx="812800" cy="5969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50800" tIns="50800" rIns="50800" bIns="50800" anchor="ctr">
            <a:spAutoFit/>
          </a:bodyPr>
          <a:lstStyle>
            <a:lvl1pPr>
              <a:defRPr i="1" sz="3000">
                <a:solidFill>
                  <a:srgbClr val="6033A6"/>
                </a:solidFill>
                <a:latin typeface="Geist"/>
                <a:ea typeface="Geist"/>
                <a:cs typeface="Geist"/>
                <a:sym typeface="Geist"/>
              </a:defRPr>
            </a:lvl1pPr>
          </a:lstStyle>
          <a:p>
            <a:pPr/>
            <a:r>
              <a:t>—</a:t>
            </a:r>
          </a:p>
        </p:txBody>
      </p:sp>
      <p:sp>
        <p:nvSpPr>
          <p:cNvPr id="681" name="Block styles"/>
          <p:cNvSpPr txBox="1"/>
          <p:nvPr/>
        </p:nvSpPr>
        <p:spPr>
          <a:xfrm>
            <a:off x="1905000" y="7454900"/>
            <a:ext cx="6413500" cy="5969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50800" tIns="50800" rIns="50800" bIns="50800" anchor="ctr">
            <a:spAutoFit/>
          </a:bodyPr>
          <a:lstStyle>
            <a:lvl1pPr>
              <a:defRPr sz="3000">
                <a:solidFill>
                  <a:srgbClr val="3D2644"/>
                </a:solidFill>
                <a:latin typeface="Geist"/>
                <a:ea typeface="Geist"/>
                <a:cs typeface="Geist"/>
                <a:sym typeface="Geist"/>
              </a:defRPr>
            </a:lvl1pPr>
          </a:lstStyle>
          <a:p>
            <a:pPr/>
            <a:r>
              <a:t>Block styles</a:t>
            </a:r>
          </a:p>
        </p:txBody>
      </p:sp>
      <p:sp>
        <p:nvSpPr>
          <p:cNvPr id="682" name="—"/>
          <p:cNvSpPr txBox="1"/>
          <p:nvPr/>
        </p:nvSpPr>
        <p:spPr>
          <a:xfrm>
            <a:off x="1320800" y="8305800"/>
            <a:ext cx="812800" cy="5969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50800" tIns="50800" rIns="50800" bIns="50800" anchor="ctr">
            <a:spAutoFit/>
          </a:bodyPr>
          <a:lstStyle>
            <a:lvl1pPr>
              <a:defRPr i="1" sz="3000">
                <a:solidFill>
                  <a:srgbClr val="6033A6"/>
                </a:solidFill>
                <a:latin typeface="Geist"/>
                <a:ea typeface="Geist"/>
                <a:cs typeface="Geist"/>
                <a:sym typeface="Geist"/>
              </a:defRPr>
            </a:lvl1pPr>
          </a:lstStyle>
          <a:p>
            <a:pPr/>
            <a:r>
              <a:t>—</a:t>
            </a:r>
          </a:p>
        </p:txBody>
      </p:sp>
      <p:sp>
        <p:nvSpPr>
          <p:cNvPr id="683" name="Filtering a core block in PHP"/>
          <p:cNvSpPr txBox="1"/>
          <p:nvPr/>
        </p:nvSpPr>
        <p:spPr>
          <a:xfrm>
            <a:off x="1905000" y="8305800"/>
            <a:ext cx="6413500" cy="5969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50800" tIns="50800" rIns="50800" bIns="50800" anchor="ctr">
            <a:spAutoFit/>
          </a:bodyPr>
          <a:lstStyle>
            <a:lvl1pPr>
              <a:defRPr sz="3000">
                <a:solidFill>
                  <a:srgbClr val="3D2644"/>
                </a:solidFill>
                <a:latin typeface="Geist"/>
                <a:ea typeface="Geist"/>
                <a:cs typeface="Geist"/>
                <a:sym typeface="Geist"/>
              </a:defRPr>
            </a:lvl1pPr>
          </a:lstStyle>
          <a:p>
            <a:pPr/>
            <a:r>
              <a:t>Filtering a core block in PHP</a:t>
            </a:r>
          </a:p>
        </p:txBody>
      </p:sp>
      <p:sp>
        <p:nvSpPr>
          <p:cNvPr id="684" name="—"/>
          <p:cNvSpPr txBox="1"/>
          <p:nvPr/>
        </p:nvSpPr>
        <p:spPr>
          <a:xfrm>
            <a:off x="1320800" y="9156700"/>
            <a:ext cx="812800" cy="5969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50800" tIns="50800" rIns="50800" bIns="50800" anchor="ctr">
            <a:spAutoFit/>
          </a:bodyPr>
          <a:lstStyle>
            <a:lvl1pPr>
              <a:defRPr i="1" sz="3000">
                <a:solidFill>
                  <a:srgbClr val="6033A6"/>
                </a:solidFill>
                <a:latin typeface="Geist"/>
                <a:ea typeface="Geist"/>
                <a:cs typeface="Geist"/>
                <a:sym typeface="Geist"/>
              </a:defRPr>
            </a:lvl1pPr>
          </a:lstStyle>
          <a:p>
            <a:pPr/>
            <a:r>
              <a:t>—</a:t>
            </a:r>
          </a:p>
        </p:txBody>
      </p:sp>
      <p:sp>
        <p:nvSpPr>
          <p:cNvPr id="685" name="Filtering a core block in JS"/>
          <p:cNvSpPr txBox="1"/>
          <p:nvPr/>
        </p:nvSpPr>
        <p:spPr>
          <a:xfrm>
            <a:off x="1905000" y="9156700"/>
            <a:ext cx="6413500" cy="5969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50800" tIns="50800" rIns="50800" bIns="50800" anchor="ctr">
            <a:spAutoFit/>
          </a:bodyPr>
          <a:lstStyle>
            <a:lvl1pPr>
              <a:defRPr sz="3000">
                <a:solidFill>
                  <a:srgbClr val="3D2644"/>
                </a:solidFill>
                <a:latin typeface="Geist"/>
                <a:ea typeface="Geist"/>
                <a:cs typeface="Geist"/>
                <a:sym typeface="Geist"/>
              </a:defRPr>
            </a:lvl1pPr>
          </a:lstStyle>
          <a:p>
            <a:pPr/>
            <a:r>
              <a:t>Filtering a core block in JS</a:t>
            </a:r>
          </a:p>
        </p:txBody>
      </p:sp>
      <p:sp>
        <p:nvSpPr>
          <p:cNvPr id="686" name="—"/>
          <p:cNvSpPr txBox="1"/>
          <p:nvPr/>
        </p:nvSpPr>
        <p:spPr>
          <a:xfrm>
            <a:off x="8597900" y="4902200"/>
            <a:ext cx="812800" cy="5969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50800" tIns="50800" rIns="50800" bIns="50800" anchor="ctr">
            <a:spAutoFit/>
          </a:bodyPr>
          <a:lstStyle>
            <a:lvl1pPr>
              <a:defRPr i="1" sz="3000">
                <a:solidFill>
                  <a:srgbClr val="6033A6"/>
                </a:solidFill>
                <a:latin typeface="Geist"/>
                <a:ea typeface="Geist"/>
                <a:cs typeface="Geist"/>
                <a:sym typeface="Geist"/>
              </a:defRPr>
            </a:lvl1pPr>
          </a:lstStyle>
          <a:p>
            <a:pPr/>
            <a:r>
              <a:t>—</a:t>
            </a:r>
          </a:p>
        </p:txBody>
      </p:sp>
      <p:sp>
        <p:nvSpPr>
          <p:cNvPr id="687" name="register_block_type in PHP"/>
          <p:cNvSpPr txBox="1"/>
          <p:nvPr/>
        </p:nvSpPr>
        <p:spPr>
          <a:xfrm>
            <a:off x="9182100" y="4902200"/>
            <a:ext cx="6413500" cy="5969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50800" tIns="50800" rIns="50800" bIns="50800" anchor="ctr">
            <a:spAutoFit/>
          </a:bodyPr>
          <a:lstStyle/>
          <a:p>
            <a:pPr>
              <a:defRPr sz="3000">
                <a:solidFill>
                  <a:srgbClr val="3D2644"/>
                </a:solidFill>
                <a:latin typeface="Geist"/>
                <a:ea typeface="Geist"/>
                <a:cs typeface="Geist"/>
                <a:sym typeface="Geist"/>
              </a:defRPr>
            </a:pPr>
            <a:r>
              <a:rPr sz="2700">
                <a:solidFill>
                  <a:srgbClr val="6033A6"/>
                </a:solidFill>
                <a:latin typeface="Geist Mono"/>
                <a:ea typeface="Geist Mono"/>
                <a:cs typeface="Geist Mono"/>
                <a:sym typeface="Geist Mono"/>
              </a:rPr>
              <a:t>register_block_type</a:t>
            </a:r>
            <a:r>
              <a:t> in PHP</a:t>
            </a:r>
          </a:p>
        </p:txBody>
      </p:sp>
      <p:sp>
        <p:nvSpPr>
          <p:cNvPr id="688" name="—"/>
          <p:cNvSpPr txBox="1"/>
          <p:nvPr/>
        </p:nvSpPr>
        <p:spPr>
          <a:xfrm>
            <a:off x="8597900" y="5753100"/>
            <a:ext cx="812800" cy="5969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50800" tIns="50800" rIns="50800" bIns="50800" anchor="ctr">
            <a:spAutoFit/>
          </a:bodyPr>
          <a:lstStyle>
            <a:lvl1pPr>
              <a:defRPr i="1" sz="3000">
                <a:solidFill>
                  <a:srgbClr val="6033A6"/>
                </a:solidFill>
                <a:latin typeface="Geist"/>
                <a:ea typeface="Geist"/>
                <a:cs typeface="Geist"/>
                <a:sym typeface="Geist"/>
              </a:defRPr>
            </a:lvl1pPr>
          </a:lstStyle>
          <a:p>
            <a:pPr/>
            <a:r>
              <a:t>—</a:t>
            </a:r>
          </a:p>
        </p:txBody>
      </p:sp>
      <p:sp>
        <p:nvSpPr>
          <p:cNvPr id="689" name="registerBlockType in JS"/>
          <p:cNvSpPr txBox="1"/>
          <p:nvPr/>
        </p:nvSpPr>
        <p:spPr>
          <a:xfrm>
            <a:off x="9182100" y="5753100"/>
            <a:ext cx="6413500" cy="5969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50800" tIns="50800" rIns="50800" bIns="50800" anchor="ctr">
            <a:spAutoFit/>
          </a:bodyPr>
          <a:lstStyle/>
          <a:p>
            <a:pPr>
              <a:defRPr sz="3000">
                <a:solidFill>
                  <a:srgbClr val="3D2644"/>
                </a:solidFill>
                <a:latin typeface="Geist"/>
                <a:ea typeface="Geist"/>
                <a:cs typeface="Geist"/>
                <a:sym typeface="Geist"/>
              </a:defRPr>
            </a:pPr>
            <a:r>
              <a:rPr sz="2700">
                <a:solidFill>
                  <a:srgbClr val="6033A6"/>
                </a:solidFill>
                <a:latin typeface="Geist Mono"/>
                <a:ea typeface="Geist Mono"/>
                <a:cs typeface="Geist Mono"/>
                <a:sym typeface="Geist Mono"/>
              </a:rPr>
              <a:t>registerBlockType</a:t>
            </a:r>
            <a:r>
              <a:t> in JS</a:t>
            </a:r>
          </a:p>
        </p:txBody>
      </p:sp>
      <p:sp>
        <p:nvSpPr>
          <p:cNvPr id="690" name="—"/>
          <p:cNvSpPr txBox="1"/>
          <p:nvPr/>
        </p:nvSpPr>
        <p:spPr>
          <a:xfrm>
            <a:off x="8597900" y="6604000"/>
            <a:ext cx="812800" cy="5969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50800" tIns="50800" rIns="50800" bIns="50800" anchor="ctr">
            <a:spAutoFit/>
          </a:bodyPr>
          <a:lstStyle>
            <a:lvl1pPr>
              <a:defRPr i="1" sz="3000">
                <a:solidFill>
                  <a:srgbClr val="6033A6"/>
                </a:solidFill>
                <a:latin typeface="Geist"/>
                <a:ea typeface="Geist"/>
                <a:cs typeface="Geist"/>
                <a:sym typeface="Geist"/>
              </a:defRPr>
            </a:lvl1pPr>
          </a:lstStyle>
          <a:p>
            <a:pPr/>
            <a:r>
              <a:t>—</a:t>
            </a:r>
          </a:p>
        </p:txBody>
      </p:sp>
      <p:sp>
        <p:nvSpPr>
          <p:cNvPr id="691" name="block.json metadata"/>
          <p:cNvSpPr txBox="1"/>
          <p:nvPr/>
        </p:nvSpPr>
        <p:spPr>
          <a:xfrm>
            <a:off x="9182100" y="6604000"/>
            <a:ext cx="6413500" cy="5969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50800" tIns="50800" rIns="50800" bIns="50800" anchor="ctr">
            <a:spAutoFit/>
          </a:bodyPr>
          <a:lstStyle/>
          <a:p>
            <a:pPr>
              <a:defRPr sz="3000">
                <a:solidFill>
                  <a:srgbClr val="3D2644"/>
                </a:solidFill>
                <a:latin typeface="Geist"/>
                <a:ea typeface="Geist"/>
                <a:cs typeface="Geist"/>
                <a:sym typeface="Geist"/>
              </a:defRPr>
            </a:pPr>
            <a:r>
              <a:rPr sz="2700">
                <a:solidFill>
                  <a:srgbClr val="6033A6"/>
                </a:solidFill>
                <a:latin typeface="Geist Mono"/>
                <a:ea typeface="Geist Mono"/>
                <a:cs typeface="Geist Mono"/>
                <a:sym typeface="Geist Mono"/>
              </a:rPr>
              <a:t>block.json</a:t>
            </a:r>
            <a:r>
              <a:t> metadata</a:t>
            </a:r>
          </a:p>
        </p:txBody>
      </p:sp>
      <p:sp>
        <p:nvSpPr>
          <p:cNvPr id="692" name="—"/>
          <p:cNvSpPr txBox="1"/>
          <p:nvPr/>
        </p:nvSpPr>
        <p:spPr>
          <a:xfrm>
            <a:off x="8597900" y="7454900"/>
            <a:ext cx="812800" cy="5969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50800" tIns="50800" rIns="50800" bIns="50800" anchor="ctr">
            <a:spAutoFit/>
          </a:bodyPr>
          <a:lstStyle>
            <a:lvl1pPr>
              <a:defRPr i="1" sz="3000">
                <a:solidFill>
                  <a:srgbClr val="6033A6"/>
                </a:solidFill>
                <a:latin typeface="Geist"/>
                <a:ea typeface="Geist"/>
                <a:cs typeface="Geist"/>
                <a:sym typeface="Geist"/>
              </a:defRPr>
            </a:lvl1pPr>
          </a:lstStyle>
          <a:p>
            <a:pPr/>
            <a:r>
              <a:t>—</a:t>
            </a:r>
          </a:p>
        </p:txBody>
      </p:sp>
      <p:sp>
        <p:nvSpPr>
          <p:cNvPr id="693" name="Dynamic block with render.php"/>
          <p:cNvSpPr txBox="1"/>
          <p:nvPr/>
        </p:nvSpPr>
        <p:spPr>
          <a:xfrm>
            <a:off x="9182100" y="7454900"/>
            <a:ext cx="6413500" cy="5969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50800" tIns="50800" rIns="50800" bIns="50800" anchor="ctr">
            <a:spAutoFit/>
          </a:bodyPr>
          <a:lstStyle/>
          <a:p>
            <a:pPr>
              <a:defRPr sz="3000">
                <a:solidFill>
                  <a:srgbClr val="3D2644"/>
                </a:solidFill>
                <a:latin typeface="Geist"/>
                <a:ea typeface="Geist"/>
                <a:cs typeface="Geist"/>
                <a:sym typeface="Geist"/>
              </a:defRPr>
            </a:pPr>
            <a:r>
              <a:t>Dynamic block with </a:t>
            </a:r>
            <a:r>
              <a:rPr sz="2700">
                <a:solidFill>
                  <a:srgbClr val="6033A6"/>
                </a:solidFill>
                <a:latin typeface="Geist Mono"/>
                <a:ea typeface="Geist Mono"/>
                <a:cs typeface="Geist Mono"/>
                <a:sym typeface="Geist Mono"/>
              </a:rPr>
              <a:t>render.php</a:t>
            </a:r>
          </a:p>
        </p:txBody>
      </p:sp>
      <p:sp>
        <p:nvSpPr>
          <p:cNvPr id="694" name="—"/>
          <p:cNvSpPr txBox="1"/>
          <p:nvPr/>
        </p:nvSpPr>
        <p:spPr>
          <a:xfrm>
            <a:off x="8597900" y="8305800"/>
            <a:ext cx="812800" cy="5969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50800" tIns="50800" rIns="50800" bIns="50800" anchor="ctr">
            <a:spAutoFit/>
          </a:bodyPr>
          <a:lstStyle>
            <a:lvl1pPr>
              <a:defRPr i="1" sz="3000">
                <a:solidFill>
                  <a:srgbClr val="6033A6"/>
                </a:solidFill>
                <a:latin typeface="Geist"/>
                <a:ea typeface="Geist"/>
                <a:cs typeface="Geist"/>
                <a:sym typeface="Geist"/>
              </a:defRPr>
            </a:lvl1pPr>
          </a:lstStyle>
          <a:p>
            <a:pPr/>
            <a:r>
              <a:t>—</a:t>
            </a:r>
          </a:p>
        </p:txBody>
      </p:sp>
      <p:sp>
        <p:nvSpPr>
          <p:cNvPr id="695" name="Custom React block"/>
          <p:cNvSpPr txBox="1"/>
          <p:nvPr/>
        </p:nvSpPr>
        <p:spPr>
          <a:xfrm>
            <a:off x="9182100" y="8305800"/>
            <a:ext cx="6413500" cy="5969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50800" tIns="50800" rIns="50800" bIns="50800" anchor="ctr">
            <a:spAutoFit/>
          </a:bodyPr>
          <a:lstStyle>
            <a:lvl1pPr>
              <a:defRPr sz="3000">
                <a:solidFill>
                  <a:srgbClr val="3D2644"/>
                </a:solidFill>
                <a:latin typeface="Geist"/>
                <a:ea typeface="Geist"/>
                <a:cs typeface="Geist"/>
                <a:sym typeface="Geist"/>
              </a:defRPr>
            </a:lvl1pPr>
          </a:lstStyle>
          <a:p>
            <a:pPr/>
            <a:r>
              <a:t>Custom React block</a:t>
            </a:r>
          </a:p>
        </p:txBody>
      </p:sp>
      <p:sp>
        <p:nvSpPr>
          <p:cNvPr id="696" name="—"/>
          <p:cNvSpPr txBox="1"/>
          <p:nvPr/>
        </p:nvSpPr>
        <p:spPr>
          <a:xfrm>
            <a:off x="8597900" y="9156700"/>
            <a:ext cx="812800" cy="5969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50800" tIns="50800" rIns="50800" bIns="50800" anchor="ctr">
            <a:spAutoFit/>
          </a:bodyPr>
          <a:lstStyle>
            <a:lvl1pPr>
              <a:defRPr i="1" sz="3000">
                <a:solidFill>
                  <a:srgbClr val="6033A6"/>
                </a:solidFill>
                <a:latin typeface="Geist"/>
                <a:ea typeface="Geist"/>
                <a:cs typeface="Geist"/>
                <a:sym typeface="Geist"/>
              </a:defRPr>
            </a:lvl1pPr>
          </a:lstStyle>
          <a:p>
            <a:pPr/>
            <a:r>
              <a:t>—</a:t>
            </a:r>
          </a:p>
        </p:txBody>
      </p:sp>
      <p:sp>
        <p:nvSpPr>
          <p:cNvPr id="697" name="Custom block with InnerBlocks"/>
          <p:cNvSpPr txBox="1"/>
          <p:nvPr/>
        </p:nvSpPr>
        <p:spPr>
          <a:xfrm>
            <a:off x="9182100" y="9156700"/>
            <a:ext cx="6413500" cy="5969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50800" tIns="50800" rIns="50800" bIns="50800" anchor="ctr">
            <a:spAutoFit/>
          </a:bodyPr>
          <a:lstStyle/>
          <a:p>
            <a:pPr>
              <a:defRPr sz="3000">
                <a:solidFill>
                  <a:srgbClr val="3D2644"/>
                </a:solidFill>
                <a:latin typeface="Geist"/>
                <a:ea typeface="Geist"/>
                <a:cs typeface="Geist"/>
                <a:sym typeface="Geist"/>
              </a:defRPr>
            </a:pPr>
            <a:r>
              <a:t>Custom block with </a:t>
            </a:r>
            <a:r>
              <a:rPr sz="2700">
                <a:solidFill>
                  <a:srgbClr val="6033A6"/>
                </a:solidFill>
                <a:latin typeface="Geist Mono"/>
                <a:ea typeface="Geist Mono"/>
                <a:cs typeface="Geist Mono"/>
                <a:sym typeface="Geist Mono"/>
              </a:rPr>
              <a:t>InnerBlocks</a:t>
            </a:r>
          </a:p>
        </p:txBody>
      </p:sp>
      <p:sp>
        <p:nvSpPr>
          <p:cNvPr id="698" name="—"/>
          <p:cNvSpPr txBox="1"/>
          <p:nvPr/>
        </p:nvSpPr>
        <p:spPr>
          <a:xfrm>
            <a:off x="16395700" y="4902200"/>
            <a:ext cx="812800" cy="5969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50800" tIns="50800" rIns="50800" bIns="50800" anchor="ctr">
            <a:spAutoFit/>
          </a:bodyPr>
          <a:lstStyle>
            <a:lvl1pPr>
              <a:defRPr i="1" sz="3000">
                <a:solidFill>
                  <a:srgbClr val="6033A6"/>
                </a:solidFill>
                <a:latin typeface="Geist"/>
                <a:ea typeface="Geist"/>
                <a:cs typeface="Geist"/>
                <a:sym typeface="Geist"/>
              </a:defRPr>
            </a:lvl1pPr>
          </a:lstStyle>
          <a:p>
            <a:pPr/>
            <a:r>
              <a:t>—</a:t>
            </a:r>
          </a:p>
        </p:txBody>
      </p:sp>
      <p:sp>
        <p:nvSpPr>
          <p:cNvPr id="699" name="acf_register_block_type"/>
          <p:cNvSpPr txBox="1"/>
          <p:nvPr/>
        </p:nvSpPr>
        <p:spPr>
          <a:xfrm>
            <a:off x="16979900" y="4902199"/>
            <a:ext cx="6413500" cy="5461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50800" tIns="50800" rIns="50800" bIns="50800" anchor="ctr">
            <a:spAutoFit/>
          </a:bodyPr>
          <a:lstStyle>
            <a:lvl1pPr>
              <a:defRPr sz="2700">
                <a:solidFill>
                  <a:srgbClr val="6033A6"/>
                </a:solidFill>
                <a:latin typeface="Geist Mono"/>
                <a:ea typeface="Geist Mono"/>
                <a:cs typeface="Geist Mono"/>
                <a:sym typeface="Geist Mono"/>
              </a:defRPr>
            </a:lvl1pPr>
          </a:lstStyle>
          <a:p>
            <a:pPr>
              <a:defRPr sz="3000">
                <a:solidFill>
                  <a:srgbClr val="3D2644"/>
                </a:solidFill>
                <a:latin typeface="Geist"/>
                <a:ea typeface="Geist"/>
                <a:cs typeface="Geist"/>
                <a:sym typeface="Geist"/>
              </a:defRPr>
            </a:pPr>
            <a:r>
              <a:rPr sz="2700">
                <a:solidFill>
                  <a:srgbClr val="6033A6"/>
                </a:solidFill>
                <a:latin typeface="Geist Mono"/>
                <a:ea typeface="Geist Mono"/>
                <a:cs typeface="Geist Mono"/>
                <a:sym typeface="Geist Mono"/>
              </a:rPr>
              <a:t>acf_register_block_type</a:t>
            </a:r>
          </a:p>
        </p:txBody>
      </p:sp>
      <p:sp>
        <p:nvSpPr>
          <p:cNvPr id="700" name="—"/>
          <p:cNvSpPr txBox="1"/>
          <p:nvPr/>
        </p:nvSpPr>
        <p:spPr>
          <a:xfrm>
            <a:off x="16395700" y="5753100"/>
            <a:ext cx="812800" cy="5969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50800" tIns="50800" rIns="50800" bIns="50800" anchor="ctr">
            <a:spAutoFit/>
          </a:bodyPr>
          <a:lstStyle>
            <a:lvl1pPr>
              <a:defRPr i="1" sz="3000">
                <a:solidFill>
                  <a:srgbClr val="6033A6"/>
                </a:solidFill>
                <a:latin typeface="Geist"/>
                <a:ea typeface="Geist"/>
                <a:cs typeface="Geist"/>
                <a:sym typeface="Geist"/>
              </a:defRPr>
            </a:lvl1pPr>
          </a:lstStyle>
          <a:p>
            <a:pPr/>
            <a:r>
              <a:t>—</a:t>
            </a:r>
          </a:p>
        </p:txBody>
      </p:sp>
      <p:sp>
        <p:nvSpPr>
          <p:cNvPr id="701" name="ACF blocks via block.json"/>
          <p:cNvSpPr txBox="1"/>
          <p:nvPr/>
        </p:nvSpPr>
        <p:spPr>
          <a:xfrm>
            <a:off x="16979900" y="5753100"/>
            <a:ext cx="6413500" cy="5969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50800" tIns="50800" rIns="50800" bIns="50800" anchor="ctr">
            <a:spAutoFit/>
          </a:bodyPr>
          <a:lstStyle/>
          <a:p>
            <a:pPr>
              <a:defRPr sz="3000">
                <a:solidFill>
                  <a:srgbClr val="3D2644"/>
                </a:solidFill>
                <a:latin typeface="Geist"/>
                <a:ea typeface="Geist"/>
                <a:cs typeface="Geist"/>
                <a:sym typeface="Geist"/>
              </a:defRPr>
            </a:pPr>
            <a:r>
              <a:t>ACF blocks via </a:t>
            </a:r>
            <a:r>
              <a:rPr sz="2700">
                <a:solidFill>
                  <a:srgbClr val="6033A6"/>
                </a:solidFill>
                <a:latin typeface="Geist Mono"/>
                <a:ea typeface="Geist Mono"/>
                <a:cs typeface="Geist Mono"/>
                <a:sym typeface="Geist Mono"/>
              </a:rPr>
              <a:t>block.json</a:t>
            </a:r>
          </a:p>
        </p:txBody>
      </p:sp>
      <p:sp>
        <p:nvSpPr>
          <p:cNvPr id="702" name="—"/>
          <p:cNvSpPr txBox="1"/>
          <p:nvPr/>
        </p:nvSpPr>
        <p:spPr>
          <a:xfrm>
            <a:off x="16395700" y="6604000"/>
            <a:ext cx="812800" cy="5969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50800" tIns="50800" rIns="50800" bIns="50800" anchor="ctr">
            <a:spAutoFit/>
          </a:bodyPr>
          <a:lstStyle>
            <a:lvl1pPr>
              <a:defRPr i="1" sz="3000">
                <a:solidFill>
                  <a:srgbClr val="6033A6"/>
                </a:solidFill>
                <a:latin typeface="Geist"/>
                <a:ea typeface="Geist"/>
                <a:cs typeface="Geist"/>
                <a:sym typeface="Geist"/>
              </a:defRPr>
            </a:lvl1pPr>
          </a:lstStyle>
          <a:p>
            <a:pPr/>
            <a:r>
              <a:t>—</a:t>
            </a:r>
          </a:p>
        </p:txBody>
      </p:sp>
      <p:sp>
        <p:nvSpPr>
          <p:cNvPr id="703" name="Hybrid ACF and native"/>
          <p:cNvSpPr txBox="1"/>
          <p:nvPr/>
        </p:nvSpPr>
        <p:spPr>
          <a:xfrm>
            <a:off x="16979900" y="6604000"/>
            <a:ext cx="6413500" cy="5969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50800" tIns="50800" rIns="50800" bIns="50800" anchor="ctr">
            <a:spAutoFit/>
          </a:bodyPr>
          <a:lstStyle>
            <a:lvl1pPr>
              <a:defRPr sz="3000">
                <a:solidFill>
                  <a:srgbClr val="3D2644"/>
                </a:solidFill>
                <a:latin typeface="Geist"/>
                <a:ea typeface="Geist"/>
                <a:cs typeface="Geist"/>
                <a:sym typeface="Geist"/>
              </a:defRPr>
            </a:lvl1pPr>
          </a:lstStyle>
          <a:p>
            <a:pPr/>
            <a:r>
              <a:t>Hybrid ACF and native</a:t>
            </a:r>
          </a:p>
        </p:txBody>
      </p:sp>
      <p:sp>
        <p:nvSpPr>
          <p:cNvPr id="704" name="—"/>
          <p:cNvSpPr txBox="1"/>
          <p:nvPr/>
        </p:nvSpPr>
        <p:spPr>
          <a:xfrm>
            <a:off x="16395700" y="7454900"/>
            <a:ext cx="812800" cy="5969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50800" tIns="50800" rIns="50800" bIns="50800" anchor="ctr">
            <a:spAutoFit/>
          </a:bodyPr>
          <a:lstStyle>
            <a:lvl1pPr>
              <a:defRPr i="1" sz="3000">
                <a:solidFill>
                  <a:srgbClr val="6033A6"/>
                </a:solidFill>
                <a:latin typeface="Geist"/>
                <a:ea typeface="Geist"/>
                <a:cs typeface="Geist"/>
                <a:sym typeface="Geist"/>
              </a:defRPr>
            </a:lvl1pPr>
          </a:lstStyle>
          <a:p>
            <a:pPr/>
            <a:r>
              <a:t>—</a:t>
            </a:r>
          </a:p>
        </p:txBody>
      </p:sp>
      <p:sp>
        <p:nvSpPr>
          <p:cNvPr id="705" name="Classic theme, core blocks"/>
          <p:cNvSpPr txBox="1"/>
          <p:nvPr/>
        </p:nvSpPr>
        <p:spPr>
          <a:xfrm>
            <a:off x="16979900" y="7454900"/>
            <a:ext cx="6413500" cy="5969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50800" tIns="50800" rIns="50800" bIns="50800" anchor="ctr">
            <a:spAutoFit/>
          </a:bodyPr>
          <a:lstStyle>
            <a:lvl1pPr>
              <a:defRPr sz="3000">
                <a:solidFill>
                  <a:srgbClr val="3D2644"/>
                </a:solidFill>
                <a:latin typeface="Geist"/>
                <a:ea typeface="Geist"/>
                <a:cs typeface="Geist"/>
                <a:sym typeface="Geist"/>
              </a:defRPr>
            </a:lvl1pPr>
          </a:lstStyle>
          <a:p>
            <a:pPr/>
            <a:r>
              <a:t>Classic theme, core blocks</a:t>
            </a:r>
          </a:p>
        </p:txBody>
      </p:sp>
      <p:sp>
        <p:nvSpPr>
          <p:cNvPr id="706" name="—"/>
          <p:cNvSpPr txBox="1"/>
          <p:nvPr/>
        </p:nvSpPr>
        <p:spPr>
          <a:xfrm>
            <a:off x="16395700" y="8305800"/>
            <a:ext cx="812800" cy="5969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50800" tIns="50800" rIns="50800" bIns="50800" anchor="ctr">
            <a:spAutoFit/>
          </a:bodyPr>
          <a:lstStyle>
            <a:lvl1pPr>
              <a:defRPr i="1" sz="3000">
                <a:solidFill>
                  <a:srgbClr val="6033A6"/>
                </a:solidFill>
                <a:latin typeface="Geist"/>
                <a:ea typeface="Geist"/>
                <a:cs typeface="Geist"/>
                <a:sym typeface="Geist"/>
              </a:defRPr>
            </a:lvl1pPr>
          </a:lstStyle>
          <a:p>
            <a:pPr/>
            <a:r>
              <a:t>—</a:t>
            </a:r>
          </a:p>
        </p:txBody>
      </p:sp>
      <p:sp>
        <p:nvSpPr>
          <p:cNvPr id="707" name="Block theme, full site editing"/>
          <p:cNvSpPr txBox="1"/>
          <p:nvPr/>
        </p:nvSpPr>
        <p:spPr>
          <a:xfrm>
            <a:off x="16979900" y="8305800"/>
            <a:ext cx="6413500" cy="5969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50800" tIns="50800" rIns="50800" bIns="50800" anchor="ctr">
            <a:spAutoFit/>
          </a:bodyPr>
          <a:lstStyle>
            <a:lvl1pPr>
              <a:defRPr sz="3000">
                <a:solidFill>
                  <a:srgbClr val="3D2644"/>
                </a:solidFill>
                <a:latin typeface="Geist"/>
                <a:ea typeface="Geist"/>
                <a:cs typeface="Geist"/>
                <a:sym typeface="Geist"/>
              </a:defRPr>
            </a:lvl1pPr>
          </a:lstStyle>
          <a:p>
            <a:pPr/>
            <a:r>
              <a:t>Block theme, full site editing</a:t>
            </a:r>
          </a:p>
        </p:txBody>
      </p:sp>
      <p:sp>
        <p:nvSpPr>
          <p:cNvPr id="708" name="—"/>
          <p:cNvSpPr txBox="1"/>
          <p:nvPr/>
        </p:nvSpPr>
        <p:spPr>
          <a:xfrm>
            <a:off x="16395700" y="9156700"/>
            <a:ext cx="812800" cy="5969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50800" tIns="50800" rIns="50800" bIns="50800" anchor="ctr">
            <a:spAutoFit/>
          </a:bodyPr>
          <a:lstStyle>
            <a:lvl1pPr>
              <a:defRPr i="1" sz="3000">
                <a:solidFill>
                  <a:srgbClr val="6033A6"/>
                </a:solidFill>
                <a:latin typeface="Geist"/>
                <a:ea typeface="Geist"/>
                <a:cs typeface="Geist"/>
                <a:sym typeface="Geist"/>
              </a:defRPr>
            </a:lvl1pPr>
          </a:lstStyle>
          <a:p>
            <a:pPr/>
            <a:r>
              <a:t>—</a:t>
            </a:r>
          </a:p>
        </p:txBody>
      </p:sp>
      <p:sp>
        <p:nvSpPr>
          <p:cNvPr id="709" name="Block Bindings"/>
          <p:cNvSpPr txBox="1"/>
          <p:nvPr/>
        </p:nvSpPr>
        <p:spPr>
          <a:xfrm>
            <a:off x="16979900" y="9156700"/>
            <a:ext cx="6413500" cy="5969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50800" tIns="50800" rIns="50800" bIns="50800" anchor="ctr">
            <a:spAutoFit/>
          </a:bodyPr>
          <a:lstStyle>
            <a:lvl1pPr>
              <a:defRPr sz="3000">
                <a:solidFill>
                  <a:srgbClr val="3D2644"/>
                </a:solidFill>
                <a:latin typeface="Geist"/>
                <a:ea typeface="Geist"/>
                <a:cs typeface="Geist"/>
                <a:sym typeface="Geist"/>
              </a:defRPr>
            </a:lvl1pPr>
          </a:lstStyle>
          <a:p>
            <a:pPr/>
            <a:r>
              <a:t>Block Bindings</a:t>
            </a:r>
          </a:p>
        </p:txBody>
      </p:sp>
      <p:sp>
        <p:nvSpPr>
          <p:cNvPr id="710" name="Going ACF-free"/>
          <p:cNvSpPr txBox="1"/>
          <p:nvPr/>
        </p:nvSpPr>
        <p:spPr>
          <a:xfrm>
            <a:off x="1320800" y="12344400"/>
            <a:ext cx="2451100" cy="4953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50800" tIns="50800" rIns="50800" bIns="50800" anchor="ctr">
            <a:spAutoFit/>
          </a:bodyPr>
          <a:lstStyle>
            <a:lvl1pPr>
              <a:defRPr sz="2400">
                <a:solidFill>
                  <a:srgbClr val="5D4E61"/>
                </a:solidFill>
                <a:latin typeface="Geist"/>
                <a:ea typeface="Geist"/>
                <a:cs typeface="Geist"/>
                <a:sym typeface="Geist"/>
              </a:defRPr>
            </a:lvl1pPr>
          </a:lstStyle>
          <a:p>
            <a:pPr/>
            <a:r>
              <a:t>Going ACF-free</a:t>
            </a:r>
          </a:p>
        </p:txBody>
      </p:sp>
      <p:sp>
        <p:nvSpPr>
          <p:cNvPr id="711" name="—"/>
          <p:cNvSpPr txBox="1"/>
          <p:nvPr/>
        </p:nvSpPr>
        <p:spPr>
          <a:xfrm>
            <a:off x="1320800" y="10007600"/>
            <a:ext cx="812800" cy="5969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50800" tIns="50800" rIns="50800" bIns="50800" anchor="ctr">
            <a:spAutoFit/>
          </a:bodyPr>
          <a:lstStyle>
            <a:lvl1pPr>
              <a:defRPr i="1" sz="3000">
                <a:solidFill>
                  <a:srgbClr val="6033A6"/>
                </a:solidFill>
                <a:latin typeface="Geist"/>
                <a:ea typeface="Geist"/>
                <a:cs typeface="Geist"/>
                <a:sym typeface="Geist"/>
              </a:defRPr>
            </a:lvl1pPr>
          </a:lstStyle>
          <a:p>
            <a:pPr/>
            <a:r>
              <a:t>—</a:t>
            </a:r>
          </a:p>
        </p:txBody>
      </p:sp>
      <p:sp>
        <p:nvSpPr>
          <p:cNvPr id="712" name="Synced patterns"/>
          <p:cNvSpPr txBox="1"/>
          <p:nvPr/>
        </p:nvSpPr>
        <p:spPr>
          <a:xfrm>
            <a:off x="1905000" y="10007600"/>
            <a:ext cx="6413500" cy="5969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50800" tIns="50800" rIns="50800" bIns="50800" anchor="ctr">
            <a:spAutoFit/>
          </a:bodyPr>
          <a:lstStyle>
            <a:lvl1pPr>
              <a:defRPr sz="3000">
                <a:solidFill>
                  <a:srgbClr val="3D2644"/>
                </a:solidFill>
                <a:latin typeface="Geist"/>
                <a:ea typeface="Geist"/>
                <a:cs typeface="Geist"/>
                <a:sym typeface="Geist"/>
              </a:defRPr>
            </a:lvl1pPr>
          </a:lstStyle>
          <a:p>
            <a:pPr/>
            <a:r>
              <a:t>Synced patterns</a:t>
            </a:r>
          </a:p>
        </p:txBody>
      </p:sp>
      <p:sp>
        <p:nvSpPr>
          <p:cNvPr id="713" name="—"/>
          <p:cNvSpPr txBox="1"/>
          <p:nvPr/>
        </p:nvSpPr>
        <p:spPr>
          <a:xfrm>
            <a:off x="8597900" y="10007600"/>
            <a:ext cx="812800" cy="5969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50800" tIns="50800" rIns="50800" bIns="50800" anchor="ctr">
            <a:spAutoFit/>
          </a:bodyPr>
          <a:lstStyle>
            <a:lvl1pPr>
              <a:defRPr i="1" sz="3000">
                <a:solidFill>
                  <a:srgbClr val="6033A6"/>
                </a:solidFill>
                <a:latin typeface="Geist"/>
                <a:ea typeface="Geist"/>
                <a:cs typeface="Geist"/>
                <a:sym typeface="Geist"/>
              </a:defRPr>
            </a:lvl1pPr>
          </a:lstStyle>
          <a:p>
            <a:pPr/>
            <a:r>
              <a:t>—</a:t>
            </a:r>
          </a:p>
        </p:txBody>
      </p:sp>
      <p:sp>
        <p:nvSpPr>
          <p:cNvPr id="714" name="Interactive block, Interactivity API"/>
          <p:cNvSpPr txBox="1"/>
          <p:nvPr/>
        </p:nvSpPr>
        <p:spPr>
          <a:xfrm>
            <a:off x="9182100" y="10007600"/>
            <a:ext cx="6413500" cy="5969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50800" tIns="50800" rIns="50800" bIns="50800" anchor="ctr">
            <a:spAutoFit/>
          </a:bodyPr>
          <a:lstStyle>
            <a:lvl1pPr>
              <a:defRPr sz="3000">
                <a:solidFill>
                  <a:srgbClr val="3D2644"/>
                </a:solidFill>
                <a:latin typeface="Geist"/>
                <a:ea typeface="Geist"/>
                <a:cs typeface="Geist"/>
                <a:sym typeface="Geist"/>
              </a:defRPr>
            </a:lvl1pPr>
          </a:lstStyle>
          <a:p>
            <a:pPr/>
            <a:r>
              <a:t>Interactive block, Interactivity API</a:t>
            </a:r>
          </a:p>
        </p:txBody>
      </p:sp>
      <p:sp>
        <p:nvSpPr>
          <p:cNvPr id="715" name="—"/>
          <p:cNvSpPr txBox="1"/>
          <p:nvPr/>
        </p:nvSpPr>
        <p:spPr>
          <a:xfrm>
            <a:off x="16395700" y="10007600"/>
            <a:ext cx="812800" cy="5969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50800" tIns="50800" rIns="50800" bIns="50800" anchor="ctr">
            <a:spAutoFit/>
          </a:bodyPr>
          <a:lstStyle>
            <a:lvl1pPr>
              <a:defRPr i="1" sz="3000">
                <a:solidFill>
                  <a:srgbClr val="6033A6"/>
                </a:solidFill>
                <a:latin typeface="Geist"/>
                <a:ea typeface="Geist"/>
                <a:cs typeface="Geist"/>
                <a:sym typeface="Geist"/>
              </a:defRPr>
            </a:lvl1pPr>
          </a:lstStyle>
          <a:p>
            <a:pPr/>
            <a:r>
              <a:t>—</a:t>
            </a:r>
          </a:p>
        </p:txBody>
      </p:sp>
      <p:sp>
        <p:nvSpPr>
          <p:cNvPr id="716" name="3rd party page builders"/>
          <p:cNvSpPr txBox="1"/>
          <p:nvPr/>
        </p:nvSpPr>
        <p:spPr>
          <a:xfrm>
            <a:off x="16979900" y="10007600"/>
            <a:ext cx="6413500" cy="5969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50800" tIns="50800" rIns="50800" bIns="50800" anchor="ctr">
            <a:spAutoFit/>
          </a:bodyPr>
          <a:lstStyle>
            <a:lvl1pPr>
              <a:defRPr sz="3000">
                <a:solidFill>
                  <a:srgbClr val="3D2644"/>
                </a:solidFill>
                <a:latin typeface="Geist"/>
                <a:ea typeface="Geist"/>
                <a:cs typeface="Geist"/>
                <a:sym typeface="Geist"/>
              </a:defRPr>
            </a:lvl1pPr>
          </a:lstStyle>
          <a:p>
            <a:pPr/>
            <a:r>
              <a:t>3rd party page builders</a:t>
            </a:r>
          </a:p>
        </p:txBody>
      </p:sp>
      <p:pic>
        <p:nvPicPr>
          <p:cNvPr id="717" name="prog-30.png" descr="prog-30.png"/>
          <p:cNvPicPr>
            <a:picLocks noChangeAspect="1"/>
          </p:cNvPicPr>
          <p:nvPr/>
        </p:nvPicPr>
        <p:blipFill>
          <a:blip r:embed="rId4">
            <a:extLst/>
          </a:blip>
          <a:stretch>
            <a:fillRect/>
          </a:stretch>
        </p:blipFill>
        <p:spPr>
          <a:xfrm>
            <a:off x="17170400" y="12395200"/>
            <a:ext cx="5842000" cy="406400"/>
          </a:xfrm>
          <a:prstGeom prst="rect">
            <a:avLst/>
          </a:prstGeom>
          <a:ln w="12700">
            <a:miter lim="400000"/>
          </a:ln>
        </p:spPr>
      </p:pic>
    </p:spTree>
  </p:cSld>
  <p:clrMapOvr>
    <a:masterClrMapping/>
  </p:clrMapOvr>
  <p:transition xmlns:p14="http://schemas.microsoft.com/office/powerpoint/2010/main" spd="med" advClick="1"/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21" name="bg.png" descr="bg.png"/>
          <p:cNvPicPr>
            <a:picLocks noChangeAspect="1"/>
          </p:cNvPicPr>
          <p:nvPr/>
        </p:nvPicPr>
        <p:blipFill>
          <a:blip r:embed="rId3">
            <a:extLst/>
          </a:blip>
          <a:stretch>
            <a:fillRect/>
          </a:stretch>
        </p:blipFill>
        <p:spPr>
          <a:xfrm>
            <a:off x="0" y="0"/>
            <a:ext cx="24384000" cy="13716000"/>
          </a:xfrm>
          <a:prstGeom prst="rect">
            <a:avLst/>
          </a:prstGeom>
          <a:ln w="12700">
            <a:miter lim="400000"/>
          </a:ln>
        </p:spPr>
      </p:pic>
      <p:sp>
        <p:nvSpPr>
          <p:cNvPr id="722" name="From core to custom, prioritized"/>
          <p:cNvSpPr txBox="1"/>
          <p:nvPr/>
        </p:nvSpPr>
        <p:spPr>
          <a:xfrm>
            <a:off x="1308100" y="2692399"/>
            <a:ext cx="22707600" cy="17145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50800" tIns="50800" rIns="50800" bIns="50800" anchor="ctr">
            <a:spAutoFit/>
          </a:bodyPr>
          <a:lstStyle/>
          <a:p>
            <a:pPr>
              <a:defRPr sz="7600">
                <a:solidFill>
                  <a:srgbClr val="220D44"/>
                </a:solidFill>
                <a:latin typeface="Unbounded ExtraBold"/>
                <a:ea typeface="Unbounded ExtraBold"/>
                <a:cs typeface="Unbounded ExtraBold"/>
                <a:sym typeface="Unbounded ExtraBold"/>
              </a:defRPr>
            </a:pPr>
            <a:r>
              <a:t>From core </a:t>
            </a:r>
            <a:r>
              <a:rPr i="1" sz="9800">
                <a:solidFill>
                  <a:srgbClr val="6033A6"/>
                </a:solidFill>
                <a:latin typeface="Instrument Serif"/>
                <a:ea typeface="Instrument Serif"/>
                <a:cs typeface="Instrument Serif"/>
                <a:sym typeface="Instrument Serif"/>
              </a:rPr>
              <a:t>to custom, prioritized</a:t>
            </a:r>
          </a:p>
        </p:txBody>
      </p:sp>
      <p:sp>
        <p:nvSpPr>
          <p:cNvPr id="723" name="1. Core blocks"/>
          <p:cNvSpPr txBox="1"/>
          <p:nvPr/>
        </p:nvSpPr>
        <p:spPr>
          <a:xfrm>
            <a:off x="1295400" y="4813299"/>
            <a:ext cx="10744200" cy="7620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50800" tIns="50800" rIns="50800" bIns="50800" anchor="ctr">
            <a:spAutoFit/>
          </a:bodyPr>
          <a:lstStyle>
            <a:lvl1pPr>
              <a:defRPr sz="4200">
                <a:solidFill>
                  <a:srgbClr val="6033A6"/>
                </a:solidFill>
                <a:latin typeface="Unbounded SemiBold"/>
                <a:ea typeface="Unbounded SemiBold"/>
                <a:cs typeface="Unbounded SemiBold"/>
                <a:sym typeface="Unbounded SemiBold"/>
              </a:defRPr>
            </a:lvl1pPr>
          </a:lstStyle>
          <a:p>
            <a:pPr/>
            <a:r>
              <a:t>1. Core blocks</a:t>
            </a:r>
          </a:p>
        </p:txBody>
      </p:sp>
      <p:sp>
        <p:nvSpPr>
          <p:cNvPr id="724" name="WordPress 7.1 ships 115 of them, including accordion, tabs and details."/>
          <p:cNvSpPr txBox="1"/>
          <p:nvPr/>
        </p:nvSpPr>
        <p:spPr>
          <a:xfrm>
            <a:off x="1320800" y="5638799"/>
            <a:ext cx="10364867" cy="116332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50800" tIns="50800" rIns="50800" bIns="50800" anchor="ctr">
            <a:spAutoFit/>
          </a:bodyPr>
          <a:lstStyle>
            <a:lvl1pPr>
              <a:defRPr sz="3400">
                <a:solidFill>
                  <a:srgbClr val="3D2644"/>
                </a:solidFill>
                <a:latin typeface="Geist"/>
                <a:ea typeface="Geist"/>
                <a:cs typeface="Geist"/>
                <a:sym typeface="Geist"/>
              </a:defRPr>
            </a:lvl1pPr>
          </a:lstStyle>
          <a:p>
            <a:pPr/>
            <a:r>
              <a:t>WordPress 7.1 ships 115 of them, including accordion, tabs and details.</a:t>
            </a:r>
          </a:p>
        </p:txBody>
      </p:sp>
      <p:sp>
        <p:nvSpPr>
          <p:cNvPr id="725" name="2. Patterns"/>
          <p:cNvSpPr txBox="1"/>
          <p:nvPr/>
        </p:nvSpPr>
        <p:spPr>
          <a:xfrm>
            <a:off x="12801600" y="4813299"/>
            <a:ext cx="10744200" cy="7620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50800" tIns="50800" rIns="50800" bIns="50800" anchor="ctr">
            <a:spAutoFit/>
          </a:bodyPr>
          <a:lstStyle>
            <a:lvl1pPr>
              <a:defRPr sz="4200">
                <a:solidFill>
                  <a:srgbClr val="6033A6"/>
                </a:solidFill>
                <a:latin typeface="Unbounded SemiBold"/>
                <a:ea typeface="Unbounded SemiBold"/>
                <a:cs typeface="Unbounded SemiBold"/>
                <a:sym typeface="Unbounded SemiBold"/>
              </a:defRPr>
            </a:lvl1pPr>
          </a:lstStyle>
          <a:p>
            <a:pPr/>
            <a:r>
              <a:t>2. Patterns</a:t>
            </a:r>
          </a:p>
        </p:txBody>
      </p:sp>
      <p:sp>
        <p:nvSpPr>
          <p:cNvPr id="726" name="Core blocks arranged into a layout that editors insert and edit freely."/>
          <p:cNvSpPr txBox="1"/>
          <p:nvPr/>
        </p:nvSpPr>
        <p:spPr>
          <a:xfrm>
            <a:off x="12827000" y="5638799"/>
            <a:ext cx="10101144" cy="116332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50800" tIns="50800" rIns="50800" bIns="50800" anchor="ctr">
            <a:spAutoFit/>
          </a:bodyPr>
          <a:lstStyle>
            <a:lvl1pPr>
              <a:defRPr sz="3400">
                <a:solidFill>
                  <a:srgbClr val="3D2644"/>
                </a:solidFill>
                <a:latin typeface="Geist"/>
                <a:ea typeface="Geist"/>
                <a:cs typeface="Geist"/>
                <a:sym typeface="Geist"/>
              </a:defRPr>
            </a:lvl1pPr>
          </a:lstStyle>
          <a:p>
            <a:pPr/>
            <a:r>
              <a:t>Core blocks arranged into a layout that editors insert and edit freely.</a:t>
            </a:r>
          </a:p>
        </p:txBody>
      </p:sp>
      <p:sp>
        <p:nvSpPr>
          <p:cNvPr id="727" name="3. Variations and styles"/>
          <p:cNvSpPr txBox="1"/>
          <p:nvPr/>
        </p:nvSpPr>
        <p:spPr>
          <a:xfrm>
            <a:off x="1295400" y="7734299"/>
            <a:ext cx="10744200" cy="7620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50800" tIns="50800" rIns="50800" bIns="50800" anchor="ctr">
            <a:spAutoFit/>
          </a:bodyPr>
          <a:lstStyle>
            <a:lvl1pPr>
              <a:defRPr sz="4200">
                <a:solidFill>
                  <a:srgbClr val="6033A6"/>
                </a:solidFill>
                <a:latin typeface="Unbounded SemiBold"/>
                <a:ea typeface="Unbounded SemiBold"/>
                <a:cs typeface="Unbounded SemiBold"/>
                <a:sym typeface="Unbounded SemiBold"/>
              </a:defRPr>
            </a:lvl1pPr>
          </a:lstStyle>
          <a:p>
            <a:pPr/>
            <a:r>
              <a:t>3. Variations and styles</a:t>
            </a:r>
          </a:p>
        </p:txBody>
      </p:sp>
      <p:sp>
        <p:nvSpPr>
          <p:cNvPr id="728" name="A core block with your own defaults or look, in a few lines of code."/>
          <p:cNvSpPr txBox="1"/>
          <p:nvPr/>
        </p:nvSpPr>
        <p:spPr>
          <a:xfrm>
            <a:off x="1320800" y="8559799"/>
            <a:ext cx="10101144" cy="116332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50800" tIns="50800" rIns="50800" bIns="50800" anchor="ctr">
            <a:spAutoFit/>
          </a:bodyPr>
          <a:lstStyle>
            <a:lvl1pPr>
              <a:defRPr sz="3400">
                <a:solidFill>
                  <a:srgbClr val="3D2644"/>
                </a:solidFill>
                <a:latin typeface="Geist"/>
                <a:ea typeface="Geist"/>
                <a:cs typeface="Geist"/>
                <a:sym typeface="Geist"/>
              </a:defRPr>
            </a:lvl1pPr>
          </a:lstStyle>
          <a:p>
            <a:pPr/>
            <a:r>
              <a:t>A core block with your own defaults or look, in a few lines of code.</a:t>
            </a:r>
          </a:p>
        </p:txBody>
      </p:sp>
      <p:sp>
        <p:nvSpPr>
          <p:cNvPr id="729" name="4. Custom blocks"/>
          <p:cNvSpPr txBox="1"/>
          <p:nvPr/>
        </p:nvSpPr>
        <p:spPr>
          <a:xfrm>
            <a:off x="12801600" y="7734299"/>
            <a:ext cx="10744200" cy="7620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50800" tIns="50800" rIns="50800" bIns="50800" anchor="ctr">
            <a:spAutoFit/>
          </a:bodyPr>
          <a:lstStyle>
            <a:lvl1pPr>
              <a:defRPr sz="4200">
                <a:solidFill>
                  <a:srgbClr val="6033A6"/>
                </a:solidFill>
                <a:latin typeface="Unbounded SemiBold"/>
                <a:ea typeface="Unbounded SemiBold"/>
                <a:cs typeface="Unbounded SemiBold"/>
                <a:sym typeface="Unbounded SemiBold"/>
              </a:defRPr>
            </a:lvl1pPr>
          </a:lstStyle>
          <a:p>
            <a:pPr/>
            <a:r>
              <a:t>4. Custom blocks</a:t>
            </a:r>
          </a:p>
        </p:txBody>
      </p:sp>
      <p:sp>
        <p:nvSpPr>
          <p:cNvPr id="730" name="block.json and render.php when nothing in core fits, with InnerBlocks inside."/>
          <p:cNvSpPr txBox="1"/>
          <p:nvPr/>
        </p:nvSpPr>
        <p:spPr>
          <a:xfrm>
            <a:off x="12827000" y="8559799"/>
            <a:ext cx="10744200" cy="116332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50800" tIns="50800" rIns="50800" bIns="50800" anchor="ctr">
            <a:spAutoFit/>
          </a:bodyPr>
          <a:lstStyle/>
          <a:p>
            <a:pPr>
              <a:defRPr sz="3400">
                <a:solidFill>
                  <a:srgbClr val="3D2644"/>
                </a:solidFill>
                <a:latin typeface="Geist"/>
                <a:ea typeface="Geist"/>
                <a:cs typeface="Geist"/>
                <a:sym typeface="Geist"/>
              </a:defRPr>
            </a:pPr>
            <a:r>
              <a:rPr sz="3100">
                <a:solidFill>
                  <a:srgbClr val="6033A6"/>
                </a:solidFill>
                <a:latin typeface="Geist Mono"/>
                <a:ea typeface="Geist Mono"/>
                <a:cs typeface="Geist Mono"/>
                <a:sym typeface="Geist Mono"/>
              </a:rPr>
              <a:t>block.json</a:t>
            </a:r>
            <a:r>
              <a:t> and </a:t>
            </a:r>
            <a:r>
              <a:rPr sz="3100">
                <a:solidFill>
                  <a:srgbClr val="6033A6"/>
                </a:solidFill>
                <a:latin typeface="Geist Mono"/>
                <a:ea typeface="Geist Mono"/>
                <a:cs typeface="Geist Mono"/>
                <a:sym typeface="Geist Mono"/>
              </a:rPr>
              <a:t>render.php</a:t>
            </a:r>
            <a:r>
              <a:t> when nothing in core fits, with </a:t>
            </a:r>
            <a:r>
              <a:rPr sz="3100">
                <a:solidFill>
                  <a:srgbClr val="6033A6"/>
                </a:solidFill>
                <a:latin typeface="Geist Mono"/>
                <a:ea typeface="Geist Mono"/>
                <a:cs typeface="Geist Mono"/>
                <a:sym typeface="Geist Mono"/>
              </a:rPr>
              <a:t>InnerBlocks</a:t>
            </a:r>
            <a:r>
              <a:t> inside.</a:t>
            </a:r>
          </a:p>
        </p:txBody>
      </p:sp>
      <p:sp>
        <p:nvSpPr>
          <p:cNvPr id="731" name="Going ACF-free"/>
          <p:cNvSpPr txBox="1"/>
          <p:nvPr/>
        </p:nvSpPr>
        <p:spPr>
          <a:xfrm>
            <a:off x="1320800" y="12344400"/>
            <a:ext cx="2451100" cy="4953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50800" tIns="50800" rIns="50800" bIns="50800" anchor="ctr">
            <a:spAutoFit/>
          </a:bodyPr>
          <a:lstStyle>
            <a:lvl1pPr>
              <a:defRPr sz="2400">
                <a:solidFill>
                  <a:srgbClr val="5D4E61"/>
                </a:solidFill>
                <a:latin typeface="Geist"/>
                <a:ea typeface="Geist"/>
                <a:cs typeface="Geist"/>
                <a:sym typeface="Geist"/>
              </a:defRPr>
            </a:lvl1pPr>
          </a:lstStyle>
          <a:p>
            <a:pPr/>
            <a:r>
              <a:t>Going ACF-free</a:t>
            </a:r>
          </a:p>
        </p:txBody>
      </p:sp>
      <p:pic>
        <p:nvPicPr>
          <p:cNvPr id="732" name="prog-31.png" descr="prog-31.png"/>
          <p:cNvPicPr>
            <a:picLocks noChangeAspect="1"/>
          </p:cNvPicPr>
          <p:nvPr/>
        </p:nvPicPr>
        <p:blipFill>
          <a:blip r:embed="rId4">
            <a:extLst/>
          </a:blip>
          <a:stretch>
            <a:fillRect/>
          </a:stretch>
        </p:blipFill>
        <p:spPr>
          <a:xfrm>
            <a:off x="17170400" y="12395200"/>
            <a:ext cx="5842000" cy="406400"/>
          </a:xfrm>
          <a:prstGeom prst="rect">
            <a:avLst/>
          </a:prstGeom>
          <a:ln w="12700">
            <a:miter lim="400000"/>
          </a:ln>
        </p:spPr>
      </p:pic>
    </p:spTree>
  </p:cSld>
  <p:clrMapOvr>
    <a:masterClrMapping/>
  </p:clrMapOvr>
  <p:transition xmlns:p14="http://schemas.microsoft.com/office/powerpoint/2010/main" spd="med" advClick="1"/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36" name="bg.png" descr="bg.png"/>
          <p:cNvPicPr>
            <a:picLocks noChangeAspect="1"/>
          </p:cNvPicPr>
          <p:nvPr/>
        </p:nvPicPr>
        <p:blipFill>
          <a:blip r:embed="rId3">
            <a:extLst/>
          </a:blip>
          <a:stretch>
            <a:fillRect/>
          </a:stretch>
        </p:blipFill>
        <p:spPr>
          <a:xfrm>
            <a:off x="0" y="0"/>
            <a:ext cx="24384000" cy="13716000"/>
          </a:xfrm>
          <a:prstGeom prst="rect">
            <a:avLst/>
          </a:prstGeom>
          <a:ln w="12700">
            <a:miter lim="400000"/>
          </a:ln>
        </p:spPr>
      </p:pic>
      <p:sp>
        <p:nvSpPr>
          <p:cNvPr id="737" name="Block example: Media and text"/>
          <p:cNvSpPr txBox="1"/>
          <p:nvPr/>
        </p:nvSpPr>
        <p:spPr>
          <a:xfrm>
            <a:off x="1308100" y="2298700"/>
            <a:ext cx="22707600" cy="13081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50800" tIns="50800" rIns="50800" bIns="50800" anchor="ctr">
            <a:spAutoFit/>
          </a:bodyPr>
          <a:lstStyle>
            <a:lvl1pPr>
              <a:defRPr sz="7600">
                <a:solidFill>
                  <a:srgbClr val="220D44"/>
                </a:solidFill>
                <a:latin typeface="Unbounded ExtraBold"/>
                <a:ea typeface="Unbounded ExtraBold"/>
                <a:cs typeface="Unbounded ExtraBold"/>
                <a:sym typeface="Unbounded ExtraBold"/>
              </a:defRPr>
            </a:lvl1pPr>
          </a:lstStyle>
          <a:p>
            <a:pPr/>
            <a:r>
              <a:t>Block example: Media and text</a:t>
            </a:r>
          </a:p>
        </p:txBody>
      </p:sp>
      <p:sp>
        <p:nvSpPr>
          <p:cNvPr id="738" name="With ACF"/>
          <p:cNvSpPr txBox="1"/>
          <p:nvPr/>
        </p:nvSpPr>
        <p:spPr>
          <a:xfrm>
            <a:off x="1308100" y="4330700"/>
            <a:ext cx="11023600" cy="8001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50800" tIns="50800" rIns="50800" bIns="50800" anchor="ctr">
            <a:spAutoFit/>
          </a:bodyPr>
          <a:lstStyle>
            <a:lvl1pPr>
              <a:defRPr sz="4200">
                <a:solidFill>
                  <a:srgbClr val="6033A6"/>
                </a:solidFill>
                <a:latin typeface="Instrument Serif"/>
                <a:ea typeface="Instrument Serif"/>
                <a:cs typeface="Instrument Serif"/>
                <a:sym typeface="Instrument Serif"/>
              </a:defRPr>
            </a:lvl1pPr>
          </a:lstStyle>
          <a:p>
            <a:pPr/>
            <a:r>
              <a:t>With ACF</a:t>
            </a:r>
          </a:p>
        </p:txBody>
      </p:sp>
      <p:sp>
        <p:nvSpPr>
          <p:cNvPr id="739" name="With the core Media &amp; Text block"/>
          <p:cNvSpPr txBox="1"/>
          <p:nvPr/>
        </p:nvSpPr>
        <p:spPr>
          <a:xfrm>
            <a:off x="12382500" y="4330700"/>
            <a:ext cx="11023600" cy="8001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50800" tIns="50800" rIns="50800" bIns="50800" anchor="ctr">
            <a:spAutoFit/>
          </a:bodyPr>
          <a:lstStyle>
            <a:lvl1pPr>
              <a:defRPr sz="4200">
                <a:solidFill>
                  <a:srgbClr val="6033A6"/>
                </a:solidFill>
                <a:latin typeface="Instrument Serif"/>
                <a:ea typeface="Instrument Serif"/>
                <a:cs typeface="Instrument Serif"/>
                <a:sym typeface="Instrument Serif"/>
              </a:defRPr>
            </a:lvl1pPr>
          </a:lstStyle>
          <a:p>
            <a:pPr/>
            <a:r>
              <a:t>With the core Media &amp; Text block</a:t>
            </a:r>
          </a:p>
        </p:txBody>
      </p:sp>
      <p:sp>
        <p:nvSpPr>
          <p:cNvPr id="740" name="Going ACF-free"/>
          <p:cNvSpPr txBox="1"/>
          <p:nvPr/>
        </p:nvSpPr>
        <p:spPr>
          <a:xfrm>
            <a:off x="1320800" y="12344400"/>
            <a:ext cx="2451100" cy="4953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50800" tIns="50800" rIns="50800" bIns="50800" anchor="ctr">
            <a:spAutoFit/>
          </a:bodyPr>
          <a:lstStyle>
            <a:lvl1pPr>
              <a:defRPr sz="2400">
                <a:solidFill>
                  <a:srgbClr val="5D4E61"/>
                </a:solidFill>
                <a:latin typeface="Geist"/>
                <a:ea typeface="Geist"/>
                <a:cs typeface="Geist"/>
                <a:sym typeface="Geist"/>
              </a:defRPr>
            </a:lvl1pPr>
          </a:lstStyle>
          <a:p>
            <a:pPr/>
            <a:r>
              <a:t>Going ACF-free</a:t>
            </a:r>
          </a:p>
        </p:txBody>
      </p:sp>
      <p:pic>
        <p:nvPicPr>
          <p:cNvPr id="741" name="panel-852x536.png" descr="panel-852x536.png"/>
          <p:cNvPicPr>
            <a:picLocks noChangeAspect="1"/>
          </p:cNvPicPr>
          <p:nvPr/>
        </p:nvPicPr>
        <p:blipFill>
          <a:blip r:embed="rId4">
            <a:extLst/>
          </a:blip>
          <a:stretch>
            <a:fillRect/>
          </a:stretch>
        </p:blipFill>
        <p:spPr>
          <a:xfrm>
            <a:off x="1371600" y="5245100"/>
            <a:ext cx="10820400" cy="6807200"/>
          </a:xfrm>
          <a:prstGeom prst="rect">
            <a:avLst/>
          </a:prstGeom>
          <a:ln w="12700">
            <a:miter lim="400000"/>
          </a:ln>
        </p:spPr>
      </p:pic>
      <p:sp>
        <p:nvSpPr>
          <p:cNvPr id="742" name="$title   = get_field( 'title' ); $content = get_field( 'content' ); $image   = get_field( 'image' ); $link    = get_field( 'link' ); ?&gt; &lt;section class=“block block-content-image&quot;&gt;   &lt;h2&gt;&lt;?php echo esc_html( $title ); ?&gt;&lt;/h2&gt;   &lt;?php echo wp_kses_post( $c"/>
          <p:cNvSpPr txBox="1"/>
          <p:nvPr/>
        </p:nvSpPr>
        <p:spPr>
          <a:xfrm>
            <a:off x="1612900" y="5640069"/>
            <a:ext cx="11023600" cy="63627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50800" tIns="50800" rIns="50800" bIns="50800" anchor="ctr">
            <a:spAutoFit/>
          </a:bodyPr>
          <a:lstStyle/>
          <a:p>
            <a:pPr>
              <a:defRPr sz="2600">
                <a:solidFill>
                  <a:srgbClr val="EEE6FF"/>
                </a:solidFill>
                <a:latin typeface="Geist Mono"/>
                <a:ea typeface="Geist Mono"/>
                <a:cs typeface="Geist Mono"/>
                <a:sym typeface="Geist Mono"/>
              </a:defRPr>
            </a:pPr>
            <a:r>
              <a:t>$title   </a:t>
            </a:r>
            <a:r>
              <a:rPr>
                <a:solidFill>
                  <a:srgbClr val="C4B7E9"/>
                </a:solidFill>
              </a:rPr>
              <a:t>=</a:t>
            </a:r>
            <a:r>
              <a:t> </a:t>
            </a:r>
            <a:r>
              <a:rPr>
                <a:solidFill>
                  <a:srgbClr val="D2B0FF"/>
                </a:solidFill>
              </a:rPr>
              <a:t>get_field</a:t>
            </a:r>
            <a:r>
              <a:rPr>
                <a:solidFill>
                  <a:srgbClr val="C4B7E9"/>
                </a:solidFill>
              </a:rPr>
              <a:t>(</a:t>
            </a:r>
            <a:r>
              <a:t> </a:t>
            </a:r>
            <a:r>
              <a:rPr>
                <a:solidFill>
                  <a:srgbClr val="FFC3E7"/>
                </a:solidFill>
              </a:rPr>
              <a:t>'title'</a:t>
            </a:r>
            <a:r>
              <a:t> </a:t>
            </a:r>
            <a:r>
              <a:rPr>
                <a:solidFill>
                  <a:srgbClr val="C4B7E9"/>
                </a:solidFill>
              </a:rPr>
              <a:t>);</a:t>
            </a:r>
            <a:br/>
            <a:r>
              <a:t>$content </a:t>
            </a:r>
            <a:r>
              <a:rPr>
                <a:solidFill>
                  <a:srgbClr val="C4B7E9"/>
                </a:solidFill>
              </a:rPr>
              <a:t>=</a:t>
            </a:r>
            <a:r>
              <a:t> </a:t>
            </a:r>
            <a:r>
              <a:rPr>
                <a:solidFill>
                  <a:srgbClr val="D2B0FF"/>
                </a:solidFill>
              </a:rPr>
              <a:t>get_field</a:t>
            </a:r>
            <a:r>
              <a:rPr>
                <a:solidFill>
                  <a:srgbClr val="C4B7E9"/>
                </a:solidFill>
              </a:rPr>
              <a:t>(</a:t>
            </a:r>
            <a:r>
              <a:t> </a:t>
            </a:r>
            <a:r>
              <a:rPr>
                <a:solidFill>
                  <a:srgbClr val="FFC3E7"/>
                </a:solidFill>
              </a:rPr>
              <a:t>'content'</a:t>
            </a:r>
            <a:r>
              <a:t> </a:t>
            </a:r>
            <a:r>
              <a:rPr>
                <a:solidFill>
                  <a:srgbClr val="C4B7E9"/>
                </a:solidFill>
              </a:rPr>
              <a:t>);</a:t>
            </a:r>
            <a:br/>
            <a:r>
              <a:t>$image   </a:t>
            </a:r>
            <a:r>
              <a:rPr>
                <a:solidFill>
                  <a:srgbClr val="C4B7E9"/>
                </a:solidFill>
              </a:rPr>
              <a:t>=</a:t>
            </a:r>
            <a:r>
              <a:t> </a:t>
            </a:r>
            <a:r>
              <a:rPr>
                <a:solidFill>
                  <a:srgbClr val="D2B0FF"/>
                </a:solidFill>
              </a:rPr>
              <a:t>get_field</a:t>
            </a:r>
            <a:r>
              <a:rPr>
                <a:solidFill>
                  <a:srgbClr val="C4B7E9"/>
                </a:solidFill>
              </a:rPr>
              <a:t>(</a:t>
            </a:r>
            <a:r>
              <a:t> </a:t>
            </a:r>
            <a:r>
              <a:rPr>
                <a:solidFill>
                  <a:srgbClr val="FFC3E7"/>
                </a:solidFill>
              </a:rPr>
              <a:t>'image'</a:t>
            </a:r>
            <a:r>
              <a:t> </a:t>
            </a:r>
            <a:r>
              <a:rPr>
                <a:solidFill>
                  <a:srgbClr val="C4B7E9"/>
                </a:solidFill>
              </a:rPr>
              <a:t>);</a:t>
            </a:r>
            <a:br/>
            <a:r>
              <a:t>$link    </a:t>
            </a:r>
            <a:r>
              <a:rPr>
                <a:solidFill>
                  <a:srgbClr val="C4B7E9"/>
                </a:solidFill>
              </a:rPr>
              <a:t>=</a:t>
            </a:r>
            <a:r>
              <a:t> </a:t>
            </a:r>
            <a:r>
              <a:rPr>
                <a:solidFill>
                  <a:srgbClr val="D2B0FF"/>
                </a:solidFill>
              </a:rPr>
              <a:t>get_field</a:t>
            </a:r>
            <a:r>
              <a:rPr>
                <a:solidFill>
                  <a:srgbClr val="C4B7E9"/>
                </a:solidFill>
              </a:rPr>
              <a:t>(</a:t>
            </a:r>
            <a:r>
              <a:t> </a:t>
            </a:r>
            <a:r>
              <a:rPr>
                <a:solidFill>
                  <a:srgbClr val="FFC3E7"/>
                </a:solidFill>
              </a:rPr>
              <a:t>'link'</a:t>
            </a:r>
            <a:r>
              <a:t> </a:t>
            </a:r>
            <a:r>
              <a:rPr>
                <a:solidFill>
                  <a:srgbClr val="C4B7E9"/>
                </a:solidFill>
              </a:rPr>
              <a:t>);</a:t>
            </a:r>
            <a:br/>
            <a:r>
              <a:t>?</a:t>
            </a:r>
            <a:r>
              <a:rPr>
                <a:solidFill>
                  <a:srgbClr val="C4B7E9"/>
                </a:solidFill>
              </a:rPr>
              <a:t>&gt;</a:t>
            </a:r>
            <a:br/>
            <a:r>
              <a:rPr>
                <a:solidFill>
                  <a:srgbClr val="C4B7E9"/>
                </a:solidFill>
              </a:rPr>
              <a:t>&lt;</a:t>
            </a:r>
            <a:r>
              <a:t>section class</a:t>
            </a:r>
            <a:r>
              <a:rPr>
                <a:solidFill>
                  <a:srgbClr val="C4B7E9"/>
                </a:solidFill>
              </a:rPr>
              <a:t>=</a:t>
            </a:r>
            <a:r>
              <a:rPr>
                <a:solidFill>
                  <a:srgbClr val="FFC3E7"/>
                </a:solidFill>
              </a:rPr>
              <a:t>“block block-content-image"</a:t>
            </a:r>
            <a:r>
              <a:rPr>
                <a:solidFill>
                  <a:srgbClr val="C4B7E9"/>
                </a:solidFill>
              </a:rPr>
              <a:t>&gt;</a:t>
            </a:r>
            <a:br/>
            <a:r>
              <a:t>  </a:t>
            </a:r>
            <a:r>
              <a:rPr>
                <a:solidFill>
                  <a:srgbClr val="C4B7E9"/>
                </a:solidFill>
              </a:rPr>
              <a:t>&lt;</a:t>
            </a:r>
            <a:r>
              <a:t>h2</a:t>
            </a:r>
            <a:r>
              <a:rPr>
                <a:solidFill>
                  <a:srgbClr val="C4B7E9"/>
                </a:solidFill>
              </a:rPr>
              <a:t>&gt;&lt;</a:t>
            </a:r>
            <a:r>
              <a:t>?php </a:t>
            </a:r>
            <a:r>
              <a:rPr>
                <a:solidFill>
                  <a:srgbClr val="FF97E2"/>
                </a:solidFill>
              </a:rPr>
              <a:t>echo</a:t>
            </a:r>
            <a:r>
              <a:t> </a:t>
            </a:r>
            <a:r>
              <a:rPr>
                <a:solidFill>
                  <a:srgbClr val="FF97E2"/>
                </a:solidFill>
              </a:rPr>
              <a:t>esc_html</a:t>
            </a:r>
            <a:r>
              <a:rPr>
                <a:solidFill>
                  <a:srgbClr val="C4B7E9"/>
                </a:solidFill>
              </a:rPr>
              <a:t>(</a:t>
            </a:r>
            <a:r>
              <a:t> $title </a:t>
            </a:r>
            <a:r>
              <a:rPr>
                <a:solidFill>
                  <a:srgbClr val="C4B7E9"/>
                </a:solidFill>
              </a:rPr>
              <a:t>);</a:t>
            </a:r>
            <a:r>
              <a:t> ?</a:t>
            </a:r>
            <a:r>
              <a:rPr>
                <a:solidFill>
                  <a:srgbClr val="C4B7E9"/>
                </a:solidFill>
              </a:rPr>
              <a:t>&gt;&lt;</a:t>
            </a:r>
            <a:r>
              <a:t>/h2</a:t>
            </a:r>
            <a:r>
              <a:rPr>
                <a:solidFill>
                  <a:srgbClr val="C4B7E9"/>
                </a:solidFill>
              </a:rPr>
              <a:t>&gt;</a:t>
            </a:r>
            <a:br/>
            <a:r>
              <a:t>  </a:t>
            </a:r>
            <a:r>
              <a:rPr>
                <a:solidFill>
                  <a:srgbClr val="C4B7E9"/>
                </a:solidFill>
              </a:rPr>
              <a:t>&lt;</a:t>
            </a:r>
            <a:r>
              <a:t>?php </a:t>
            </a:r>
            <a:r>
              <a:rPr>
                <a:solidFill>
                  <a:srgbClr val="FF97E2"/>
                </a:solidFill>
              </a:rPr>
              <a:t>echo</a:t>
            </a:r>
            <a:r>
              <a:t> </a:t>
            </a:r>
            <a:r>
              <a:rPr>
                <a:solidFill>
                  <a:srgbClr val="D2B0FF"/>
                </a:solidFill>
              </a:rPr>
              <a:t>wp_kses_post</a:t>
            </a:r>
            <a:r>
              <a:rPr>
                <a:solidFill>
                  <a:srgbClr val="C4B7E9"/>
                </a:solidFill>
              </a:rPr>
              <a:t>(</a:t>
            </a:r>
            <a:r>
              <a:t> $content </a:t>
            </a:r>
            <a:r>
              <a:rPr>
                <a:solidFill>
                  <a:srgbClr val="C4B7E9"/>
                </a:solidFill>
              </a:rPr>
              <a:t>);</a:t>
            </a:r>
            <a:r>
              <a:t> ?</a:t>
            </a:r>
            <a:r>
              <a:rPr>
                <a:solidFill>
                  <a:srgbClr val="C4B7E9"/>
                </a:solidFill>
              </a:rPr>
              <a:t>&gt;</a:t>
            </a:r>
            <a:br/>
            <a:r>
              <a:t>  &lt;p&gt;</a:t>
            </a:r>
            <a:br/>
            <a:r>
              <a:t>    </a:t>
            </a:r>
            <a:r>
              <a:rPr>
                <a:solidFill>
                  <a:srgbClr val="C4B7E9"/>
                </a:solidFill>
              </a:rPr>
              <a:t>&lt;</a:t>
            </a:r>
            <a:r>
              <a:t>a href</a:t>
            </a:r>
            <a:r>
              <a:rPr>
                <a:solidFill>
                  <a:srgbClr val="C4B7E9"/>
                </a:solidFill>
              </a:rPr>
              <a:t>=</a:t>
            </a:r>
            <a:r>
              <a:rPr>
                <a:solidFill>
                  <a:srgbClr val="FFC3E7"/>
                </a:solidFill>
              </a:rPr>
              <a:t>"&lt;?php echo esc_url( $link['url'] ); ?&gt;”</a:t>
            </a:r>
            <a:r>
              <a:rPr>
                <a:solidFill>
                  <a:srgbClr val="C4B7E9"/>
                </a:solidFill>
              </a:rPr>
              <a:t>&gt;</a:t>
            </a:r>
            <a:br>
              <a:rPr>
                <a:solidFill>
                  <a:srgbClr val="C4B7E9"/>
                </a:solidFill>
              </a:rPr>
            </a:br>
            <a:r>
              <a:rPr>
                <a:solidFill>
                  <a:srgbClr val="C4B7E9"/>
                </a:solidFill>
              </a:rPr>
              <a:t>      &lt;</a:t>
            </a:r>
            <a:r>
              <a:t>?php </a:t>
            </a:r>
            <a:r>
              <a:rPr>
                <a:solidFill>
                  <a:srgbClr val="FF97E2"/>
                </a:solidFill>
              </a:rPr>
              <a:t>echo</a:t>
            </a:r>
            <a:r>
              <a:t> </a:t>
            </a:r>
            <a:r>
              <a:rPr>
                <a:solidFill>
                  <a:srgbClr val="FF97E2"/>
                </a:solidFill>
              </a:rPr>
              <a:t>esc_html</a:t>
            </a:r>
            <a:r>
              <a:rPr>
                <a:solidFill>
                  <a:srgbClr val="C4B7E9"/>
                </a:solidFill>
              </a:rPr>
              <a:t>(</a:t>
            </a:r>
            <a:r>
              <a:t> $link</a:t>
            </a:r>
            <a:r>
              <a:rPr>
                <a:solidFill>
                  <a:srgbClr val="C4B7E9"/>
                </a:solidFill>
              </a:rPr>
              <a:t>[</a:t>
            </a:r>
            <a:r>
              <a:rPr>
                <a:solidFill>
                  <a:srgbClr val="FFC3E7"/>
                </a:solidFill>
              </a:rPr>
              <a:t>'title'</a:t>
            </a:r>
            <a:r>
              <a:rPr>
                <a:solidFill>
                  <a:srgbClr val="C4B7E9"/>
                </a:solidFill>
              </a:rPr>
              <a:t>]</a:t>
            </a:r>
            <a:r>
              <a:t> </a:t>
            </a:r>
            <a:r>
              <a:rPr>
                <a:solidFill>
                  <a:srgbClr val="C4B7E9"/>
                </a:solidFill>
              </a:rPr>
              <a:t>);</a:t>
            </a:r>
            <a:r>
              <a:t> ?</a:t>
            </a:r>
            <a:r>
              <a:rPr>
                <a:solidFill>
                  <a:srgbClr val="C4B7E9"/>
                </a:solidFill>
              </a:rPr>
              <a:t>&gt;</a:t>
            </a:r>
            <a:br>
              <a:rPr>
                <a:solidFill>
                  <a:srgbClr val="C4B7E9"/>
                </a:solidFill>
              </a:rPr>
            </a:br>
            <a:r>
              <a:rPr>
                <a:solidFill>
                  <a:srgbClr val="C4B7E9"/>
                </a:solidFill>
              </a:rPr>
              <a:t>    &lt;</a:t>
            </a:r>
            <a:r>
              <a:t>/a</a:t>
            </a:r>
            <a:r>
              <a:rPr>
                <a:solidFill>
                  <a:srgbClr val="C4B7E9"/>
                </a:solidFill>
              </a:rPr>
              <a:t>&gt;</a:t>
            </a:r>
            <a:br>
              <a:rPr>
                <a:solidFill>
                  <a:srgbClr val="C4B7E9"/>
                </a:solidFill>
              </a:rPr>
            </a:br>
            <a:r>
              <a:rPr>
                <a:solidFill>
                  <a:srgbClr val="C4B7E9"/>
                </a:solidFill>
              </a:rPr>
              <a:t>  &lt;/p&gt;</a:t>
            </a:r>
            <a:br/>
            <a:r>
              <a:t>  </a:t>
            </a:r>
            <a:r>
              <a:rPr>
                <a:solidFill>
                  <a:srgbClr val="C4B7E9"/>
                </a:solidFill>
              </a:rPr>
              <a:t>&lt;</a:t>
            </a:r>
            <a:r>
              <a:t>?php </a:t>
            </a:r>
            <a:r>
              <a:rPr>
                <a:solidFill>
                  <a:srgbClr val="D2B0FF"/>
                </a:solidFill>
              </a:rPr>
              <a:t>native_lazyload_tag</a:t>
            </a:r>
            <a:r>
              <a:rPr>
                <a:solidFill>
                  <a:srgbClr val="C4B7E9"/>
                </a:solidFill>
              </a:rPr>
              <a:t>(</a:t>
            </a:r>
            <a:r>
              <a:t> $image </a:t>
            </a:r>
            <a:r>
              <a:rPr>
                <a:solidFill>
                  <a:srgbClr val="C4B7E9"/>
                </a:solidFill>
              </a:rPr>
              <a:t>);</a:t>
            </a:r>
            <a:r>
              <a:t> ?</a:t>
            </a:r>
            <a:r>
              <a:rPr>
                <a:solidFill>
                  <a:srgbClr val="C4B7E9"/>
                </a:solidFill>
              </a:rPr>
              <a:t>&gt;</a:t>
            </a:r>
            <a:br/>
            <a:r>
              <a:rPr>
                <a:solidFill>
                  <a:srgbClr val="C4B7E9"/>
                </a:solidFill>
              </a:rPr>
              <a:t>&lt;</a:t>
            </a:r>
            <a:r>
              <a:t>/section</a:t>
            </a:r>
            <a:r>
              <a:rPr>
                <a:solidFill>
                  <a:srgbClr val="C4B7E9"/>
                </a:solidFill>
              </a:rPr>
              <a:t>&gt;</a:t>
            </a:r>
            <a:br>
              <a:rPr>
                <a:solidFill>
                  <a:srgbClr val="C4B7E9"/>
                </a:solidFill>
              </a:rPr>
            </a:br>
          </a:p>
        </p:txBody>
      </p:sp>
      <p:pic>
        <p:nvPicPr>
          <p:cNvPr id="743" name="media-text-inserter.png" descr="media-text-inserter.png"/>
          <p:cNvPicPr>
            <a:picLocks noChangeAspect="1"/>
          </p:cNvPicPr>
          <p:nvPr/>
        </p:nvPicPr>
        <p:blipFill>
          <a:blip r:embed="rId5">
            <a:extLst/>
          </a:blip>
          <a:stretch>
            <a:fillRect/>
          </a:stretch>
        </p:blipFill>
        <p:spPr>
          <a:xfrm>
            <a:off x="12395200" y="5245100"/>
            <a:ext cx="10620458" cy="6807200"/>
          </a:xfrm>
          <a:prstGeom prst="rect">
            <a:avLst/>
          </a:prstGeom>
          <a:ln w="12700">
            <a:miter lim="400000"/>
          </a:ln>
        </p:spPr>
      </p:pic>
      <p:pic>
        <p:nvPicPr>
          <p:cNvPr id="744" name="prog-32.png" descr="prog-32.png"/>
          <p:cNvPicPr>
            <a:picLocks noChangeAspect="1"/>
          </p:cNvPicPr>
          <p:nvPr/>
        </p:nvPicPr>
        <p:blipFill>
          <a:blip r:embed="rId6">
            <a:extLst/>
          </a:blip>
          <a:stretch>
            <a:fillRect/>
          </a:stretch>
        </p:blipFill>
        <p:spPr>
          <a:xfrm>
            <a:off x="17170400" y="12395200"/>
            <a:ext cx="5842000" cy="406400"/>
          </a:xfrm>
          <a:prstGeom prst="rect">
            <a:avLst/>
          </a:prstGeom>
          <a:ln w="12700">
            <a:miter lim="400000"/>
          </a:ln>
        </p:spPr>
      </p:pic>
    </p:spTree>
  </p:cSld>
  <p:clrMapOvr>
    <a:masterClrMapping/>
  </p:clrMapOvr>
  <p:transition xmlns:p14="http://schemas.microsoft.com/office/powerpoint/2010/main" spd="med" advClick="1"/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48" name="bg.png" descr="bg.png"/>
          <p:cNvPicPr>
            <a:picLocks noChangeAspect="1"/>
          </p:cNvPicPr>
          <p:nvPr/>
        </p:nvPicPr>
        <p:blipFill>
          <a:blip r:embed="rId3">
            <a:extLst/>
          </a:blip>
          <a:stretch>
            <a:fillRect/>
          </a:stretch>
        </p:blipFill>
        <p:spPr>
          <a:xfrm>
            <a:off x="0" y="0"/>
            <a:ext cx="24384000" cy="13716000"/>
          </a:xfrm>
          <a:prstGeom prst="rect">
            <a:avLst/>
          </a:prstGeom>
          <a:ln w="12700">
            <a:miter lim="400000"/>
          </a:ln>
        </p:spPr>
      </p:pic>
      <p:sp>
        <p:nvSpPr>
          <p:cNvPr id="749" name="Most of the time"/>
          <p:cNvSpPr txBox="1"/>
          <p:nvPr/>
        </p:nvSpPr>
        <p:spPr>
          <a:xfrm>
            <a:off x="1308100" y="3378199"/>
            <a:ext cx="22707600" cy="15621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50800" tIns="50800" rIns="50800" bIns="50800" anchor="ctr">
            <a:spAutoFit/>
          </a:bodyPr>
          <a:lstStyle>
            <a:lvl1pPr>
              <a:defRPr sz="9200">
                <a:solidFill>
                  <a:srgbClr val="220D44"/>
                </a:solidFill>
                <a:latin typeface="Unbounded ExtraBold"/>
                <a:ea typeface="Unbounded ExtraBold"/>
                <a:cs typeface="Unbounded ExtraBold"/>
                <a:sym typeface="Unbounded ExtraBold"/>
              </a:defRPr>
            </a:lvl1pPr>
          </a:lstStyle>
          <a:p>
            <a:pPr/>
            <a:r>
              <a:t>Most of the time</a:t>
            </a:r>
          </a:p>
        </p:txBody>
      </p:sp>
      <p:sp>
        <p:nvSpPr>
          <p:cNvPr id="750" name="you don’t need to code a block"/>
          <p:cNvSpPr txBox="1"/>
          <p:nvPr/>
        </p:nvSpPr>
        <p:spPr>
          <a:xfrm>
            <a:off x="1308100" y="4584699"/>
            <a:ext cx="22707600" cy="20574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50800" tIns="50800" rIns="50800" bIns="50800" anchor="ctr">
            <a:spAutoFit/>
          </a:bodyPr>
          <a:lstStyle>
            <a:lvl1pPr>
              <a:defRPr i="1" sz="11800">
                <a:solidFill>
                  <a:srgbClr val="6033A6"/>
                </a:solidFill>
                <a:latin typeface="Instrument Serif"/>
                <a:ea typeface="Instrument Serif"/>
                <a:cs typeface="Instrument Serif"/>
                <a:sym typeface="Instrument Serif"/>
              </a:defRPr>
            </a:lvl1pPr>
          </a:lstStyle>
          <a:p>
            <a:pPr/>
            <a:r>
              <a:t>you don’t need to code a block</a:t>
            </a:r>
          </a:p>
        </p:txBody>
      </p:sp>
      <p:sp>
        <p:nvSpPr>
          <p:cNvPr id="751" name="WordPress 7.1 ships 115 core blocks,"/>
          <p:cNvSpPr txBox="1"/>
          <p:nvPr/>
        </p:nvSpPr>
        <p:spPr>
          <a:xfrm>
            <a:off x="1320800" y="7091027"/>
            <a:ext cx="19050000" cy="6985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50800" tIns="50800" rIns="50800" bIns="50800" anchor="ctr">
            <a:spAutoFit/>
          </a:bodyPr>
          <a:lstStyle>
            <a:lvl1pPr>
              <a:defRPr sz="3600">
                <a:solidFill>
                  <a:srgbClr val="4B3051"/>
                </a:solidFill>
                <a:latin typeface="Geist"/>
                <a:ea typeface="Geist"/>
                <a:cs typeface="Geist"/>
                <a:sym typeface="Geist"/>
              </a:defRPr>
            </a:lvl1pPr>
          </a:lstStyle>
          <a:p>
            <a:pPr/>
            <a:r>
              <a:t>WordPress 7.1 ships 115 core blocks,</a:t>
            </a:r>
          </a:p>
        </p:txBody>
      </p:sp>
      <p:sp>
        <p:nvSpPr>
          <p:cNvPr id="752" name="and most layouts are a core block, a pattern or a block style,"/>
          <p:cNvSpPr txBox="1"/>
          <p:nvPr/>
        </p:nvSpPr>
        <p:spPr>
          <a:xfrm>
            <a:off x="1320800" y="7751427"/>
            <a:ext cx="19050000" cy="6985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50800" tIns="50800" rIns="50800" bIns="50800" anchor="ctr">
            <a:spAutoFit/>
          </a:bodyPr>
          <a:lstStyle>
            <a:lvl1pPr>
              <a:defRPr sz="3600">
                <a:solidFill>
                  <a:srgbClr val="4B3051"/>
                </a:solidFill>
                <a:latin typeface="Geist"/>
                <a:ea typeface="Geist"/>
                <a:cs typeface="Geist"/>
                <a:sym typeface="Geist"/>
              </a:defRPr>
            </a:lvl1pPr>
          </a:lstStyle>
          <a:p>
            <a:pPr/>
            <a:r>
              <a:t>and most layouts are a core block, a pattern or a block style,</a:t>
            </a:r>
          </a:p>
        </p:txBody>
      </p:sp>
      <p:sp>
        <p:nvSpPr>
          <p:cNvPr id="753" name="Going ACF-free"/>
          <p:cNvSpPr txBox="1"/>
          <p:nvPr/>
        </p:nvSpPr>
        <p:spPr>
          <a:xfrm>
            <a:off x="1320800" y="12344400"/>
            <a:ext cx="2451100" cy="4953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50800" tIns="50800" rIns="50800" bIns="50800" anchor="ctr">
            <a:spAutoFit/>
          </a:bodyPr>
          <a:lstStyle>
            <a:lvl1pPr>
              <a:defRPr sz="2400">
                <a:solidFill>
                  <a:srgbClr val="5D4E61"/>
                </a:solidFill>
                <a:latin typeface="Geist"/>
                <a:ea typeface="Geist"/>
                <a:cs typeface="Geist"/>
                <a:sym typeface="Geist"/>
              </a:defRPr>
            </a:lvl1pPr>
          </a:lstStyle>
          <a:p>
            <a:pPr/>
            <a:r>
              <a:t>Going ACF-free</a:t>
            </a:r>
          </a:p>
        </p:txBody>
      </p:sp>
      <p:sp>
        <p:nvSpPr>
          <p:cNvPr id="754" name="set up in the editor and in theme.json."/>
          <p:cNvSpPr txBox="1"/>
          <p:nvPr/>
        </p:nvSpPr>
        <p:spPr>
          <a:xfrm>
            <a:off x="1320800" y="8386427"/>
            <a:ext cx="19050000" cy="6985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50800" tIns="50800" rIns="50800" bIns="50800" anchor="ctr">
            <a:spAutoFit/>
          </a:bodyPr>
          <a:lstStyle/>
          <a:p>
            <a:pPr>
              <a:defRPr sz="3600">
                <a:solidFill>
                  <a:srgbClr val="4B3051"/>
                </a:solidFill>
                <a:latin typeface="Geist"/>
                <a:ea typeface="Geist"/>
                <a:cs typeface="Geist"/>
                <a:sym typeface="Geist"/>
              </a:defRPr>
            </a:pPr>
            <a:r>
              <a:t>set up in the editor and in </a:t>
            </a:r>
            <a:r>
              <a:rPr sz="3300">
                <a:solidFill>
                  <a:srgbClr val="6033A6"/>
                </a:solidFill>
                <a:latin typeface="Geist Mono"/>
                <a:ea typeface="Geist Mono"/>
                <a:cs typeface="Geist Mono"/>
                <a:sym typeface="Geist Mono"/>
              </a:rPr>
              <a:t>theme.json</a:t>
            </a:r>
            <a:r>
              <a:t>.</a:t>
            </a:r>
          </a:p>
        </p:txBody>
      </p:sp>
      <p:pic>
        <p:nvPicPr>
          <p:cNvPr id="755" name="prog-33.png" descr="prog-33.png"/>
          <p:cNvPicPr>
            <a:picLocks noChangeAspect="1"/>
          </p:cNvPicPr>
          <p:nvPr/>
        </p:nvPicPr>
        <p:blipFill>
          <a:blip r:embed="rId4">
            <a:extLst/>
          </a:blip>
          <a:stretch>
            <a:fillRect/>
          </a:stretch>
        </p:blipFill>
        <p:spPr>
          <a:xfrm>
            <a:off x="17170400" y="12395200"/>
            <a:ext cx="5842000" cy="406400"/>
          </a:xfrm>
          <a:prstGeom prst="rect">
            <a:avLst/>
          </a:prstGeom>
          <a:ln w="12700">
            <a:miter lim="400000"/>
          </a:ln>
        </p:spPr>
      </p:pic>
    </p:spTree>
  </p:cSld>
  <p:clrMapOvr>
    <a:masterClrMapping/>
  </p:clrMapOvr>
  <p:transition xmlns:p14="http://schemas.microsoft.com/office/powerpoint/2010/main" spd="med" advClick="1"/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59" name="bg.png" descr="bg.png"/>
          <p:cNvPicPr>
            <a:picLocks noChangeAspect="1"/>
          </p:cNvPicPr>
          <p:nvPr/>
        </p:nvPicPr>
        <p:blipFill>
          <a:blip r:embed="rId3">
            <a:extLst/>
          </a:blip>
          <a:stretch>
            <a:fillRect/>
          </a:stretch>
        </p:blipFill>
        <p:spPr>
          <a:xfrm>
            <a:off x="0" y="0"/>
            <a:ext cx="24384000" cy="13716000"/>
          </a:xfrm>
          <a:prstGeom prst="rect">
            <a:avLst/>
          </a:prstGeom>
          <a:ln w="12700">
            <a:miter lim="400000"/>
          </a:ln>
        </p:spPr>
      </p:pic>
      <p:sp>
        <p:nvSpPr>
          <p:cNvPr id="760" name="When you do code: the Dude House Way"/>
          <p:cNvSpPr txBox="1"/>
          <p:nvPr/>
        </p:nvSpPr>
        <p:spPr>
          <a:xfrm>
            <a:off x="1308100" y="2692399"/>
            <a:ext cx="22707600" cy="17145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50800" tIns="50800" rIns="50800" bIns="50800" anchor="ctr">
            <a:spAutoFit/>
          </a:bodyPr>
          <a:lstStyle/>
          <a:p>
            <a:pPr>
              <a:defRPr sz="7600">
                <a:solidFill>
                  <a:srgbClr val="220D44"/>
                </a:solidFill>
                <a:latin typeface="Unbounded ExtraBold"/>
                <a:ea typeface="Unbounded ExtraBold"/>
                <a:cs typeface="Unbounded ExtraBold"/>
                <a:sym typeface="Unbounded ExtraBold"/>
              </a:defRPr>
            </a:pPr>
            <a:r>
              <a:t>When you do code: </a:t>
            </a:r>
            <a:r>
              <a:rPr i="1" sz="9800">
                <a:solidFill>
                  <a:srgbClr val="6033A6"/>
                </a:solidFill>
                <a:latin typeface="Instrument Serif"/>
                <a:ea typeface="Instrument Serif"/>
                <a:cs typeface="Instrument Serif"/>
                <a:sym typeface="Instrument Serif"/>
              </a:rPr>
              <a:t>the Dude House Way</a:t>
            </a:r>
          </a:p>
        </p:txBody>
      </p:sp>
      <p:sp>
        <p:nvSpPr>
          <p:cNvPr id="761" name="Going ACF-free"/>
          <p:cNvSpPr txBox="1"/>
          <p:nvPr/>
        </p:nvSpPr>
        <p:spPr>
          <a:xfrm>
            <a:off x="1320800" y="12344400"/>
            <a:ext cx="2451100" cy="4953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50800" tIns="50800" rIns="50800" bIns="50800" anchor="ctr">
            <a:spAutoFit/>
          </a:bodyPr>
          <a:lstStyle>
            <a:lvl1pPr>
              <a:defRPr sz="2400">
                <a:solidFill>
                  <a:srgbClr val="5D4E61"/>
                </a:solidFill>
                <a:latin typeface="Geist"/>
                <a:ea typeface="Geist"/>
                <a:cs typeface="Geist"/>
                <a:sym typeface="Geist"/>
              </a:defRPr>
            </a:lvl1pPr>
          </a:lstStyle>
          <a:p>
            <a:pPr/>
            <a:r>
              <a:t>Going ACF-free</a:t>
            </a:r>
          </a:p>
        </p:txBody>
      </p:sp>
      <p:sp>
        <p:nvSpPr>
          <p:cNvPr id="762" name="1"/>
          <p:cNvSpPr txBox="1"/>
          <p:nvPr/>
        </p:nvSpPr>
        <p:spPr>
          <a:xfrm>
            <a:off x="1320800" y="5003800"/>
            <a:ext cx="372086" cy="7366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wrap="none" lIns="50800" tIns="50800" rIns="50800" bIns="50800" anchor="ctr">
            <a:spAutoFit/>
          </a:bodyPr>
          <a:lstStyle>
            <a:lvl1pPr>
              <a:defRPr sz="4000">
                <a:solidFill>
                  <a:srgbClr val="6033A6"/>
                </a:solidFill>
                <a:latin typeface="Unbounded SemiBold"/>
                <a:ea typeface="Unbounded SemiBold"/>
                <a:cs typeface="Unbounded SemiBold"/>
                <a:sym typeface="Unbounded SemiBold"/>
              </a:defRPr>
            </a:lvl1pPr>
          </a:lstStyle>
          <a:p>
            <a:pPr/>
            <a:r>
              <a:t>1</a:t>
            </a:r>
          </a:p>
        </p:txBody>
      </p:sp>
      <p:sp>
        <p:nvSpPr>
          <p:cNvPr id="763" name="Lock theme.json first: palette, type scale, spacing…"/>
          <p:cNvSpPr txBox="1"/>
          <p:nvPr/>
        </p:nvSpPr>
        <p:spPr>
          <a:xfrm>
            <a:off x="2159000" y="5079999"/>
            <a:ext cx="10922000" cy="6223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50800" tIns="50800" rIns="50800" bIns="50800" anchor="ctr">
            <a:spAutoFit/>
          </a:bodyPr>
          <a:lstStyle/>
          <a:p>
            <a:pPr>
              <a:defRPr sz="3200">
                <a:solidFill>
                  <a:srgbClr val="220D44"/>
                </a:solidFill>
                <a:latin typeface="Geist"/>
                <a:ea typeface="Geist"/>
                <a:cs typeface="Geist"/>
                <a:sym typeface="Geist"/>
              </a:defRPr>
            </a:pPr>
            <a:r>
              <a:t>Lock </a:t>
            </a:r>
            <a:r>
              <a:rPr sz="2900">
                <a:solidFill>
                  <a:srgbClr val="6033A6"/>
                </a:solidFill>
                <a:latin typeface="Geist Mono"/>
                <a:ea typeface="Geist Mono"/>
                <a:cs typeface="Geist Mono"/>
                <a:sym typeface="Geist Mono"/>
              </a:rPr>
              <a:t>theme.json</a:t>
            </a:r>
            <a:r>
              <a:t> first: palette, type scale, spacing…</a:t>
            </a:r>
          </a:p>
        </p:txBody>
      </p:sp>
      <p:sp>
        <p:nvSpPr>
          <p:cNvPr id="764" name="2"/>
          <p:cNvSpPr txBox="1"/>
          <p:nvPr/>
        </p:nvSpPr>
        <p:spPr>
          <a:xfrm>
            <a:off x="1320800" y="6019800"/>
            <a:ext cx="532487" cy="7366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wrap="none" lIns="50800" tIns="50800" rIns="50800" bIns="50800" anchor="ctr">
            <a:spAutoFit/>
          </a:bodyPr>
          <a:lstStyle>
            <a:lvl1pPr>
              <a:defRPr sz="4000">
                <a:solidFill>
                  <a:srgbClr val="6033A6"/>
                </a:solidFill>
                <a:latin typeface="Unbounded SemiBold"/>
                <a:ea typeface="Unbounded SemiBold"/>
                <a:cs typeface="Unbounded SemiBold"/>
                <a:sym typeface="Unbounded SemiBold"/>
              </a:defRPr>
            </a:lvl1pPr>
          </a:lstStyle>
          <a:p>
            <a:pPr/>
            <a:r>
              <a:t>2</a:t>
            </a:r>
          </a:p>
        </p:txBody>
      </p:sp>
      <p:sp>
        <p:nvSpPr>
          <p:cNvPr id="765" name="Core blocks, curated per post type."/>
          <p:cNvSpPr txBox="1"/>
          <p:nvPr/>
        </p:nvSpPr>
        <p:spPr>
          <a:xfrm>
            <a:off x="2159000" y="6095999"/>
            <a:ext cx="10922000" cy="6223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50800" tIns="50800" rIns="50800" bIns="50800" anchor="ctr">
            <a:spAutoFit/>
          </a:bodyPr>
          <a:lstStyle>
            <a:lvl1pPr>
              <a:defRPr sz="3200">
                <a:solidFill>
                  <a:srgbClr val="220D44"/>
                </a:solidFill>
                <a:latin typeface="Geist"/>
                <a:ea typeface="Geist"/>
                <a:cs typeface="Geist"/>
                <a:sym typeface="Geist"/>
              </a:defRPr>
            </a:lvl1pPr>
          </a:lstStyle>
          <a:p>
            <a:pPr/>
            <a:r>
              <a:t>Core blocks, curated per post type.</a:t>
            </a:r>
          </a:p>
        </p:txBody>
      </p:sp>
      <p:sp>
        <p:nvSpPr>
          <p:cNvPr id="766" name="3"/>
          <p:cNvSpPr txBox="1"/>
          <p:nvPr/>
        </p:nvSpPr>
        <p:spPr>
          <a:xfrm>
            <a:off x="1320800" y="7035800"/>
            <a:ext cx="535992" cy="7366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wrap="none" lIns="50800" tIns="50800" rIns="50800" bIns="50800" anchor="ctr">
            <a:spAutoFit/>
          </a:bodyPr>
          <a:lstStyle>
            <a:lvl1pPr>
              <a:defRPr sz="4000">
                <a:solidFill>
                  <a:srgbClr val="6033A6"/>
                </a:solidFill>
                <a:latin typeface="Unbounded SemiBold"/>
                <a:ea typeface="Unbounded SemiBold"/>
                <a:cs typeface="Unbounded SemiBold"/>
                <a:sym typeface="Unbounded SemiBold"/>
              </a:defRPr>
            </a:lvl1pPr>
          </a:lstStyle>
          <a:p>
            <a:pPr/>
            <a:r>
              <a:t>3</a:t>
            </a:r>
          </a:p>
        </p:txBody>
      </p:sp>
      <p:sp>
        <p:nvSpPr>
          <p:cNvPr id="767" name="Style core blocks and their variations in theme.json"/>
          <p:cNvSpPr txBox="1"/>
          <p:nvPr/>
        </p:nvSpPr>
        <p:spPr>
          <a:xfrm>
            <a:off x="2159000" y="7111999"/>
            <a:ext cx="10922000" cy="6223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50800" tIns="50800" rIns="50800" bIns="50800" anchor="ctr">
            <a:spAutoFit/>
          </a:bodyPr>
          <a:lstStyle/>
          <a:p>
            <a:pPr>
              <a:defRPr sz="3200">
                <a:solidFill>
                  <a:srgbClr val="220D44"/>
                </a:solidFill>
                <a:latin typeface="Geist"/>
                <a:ea typeface="Geist"/>
                <a:cs typeface="Geist"/>
                <a:sym typeface="Geist"/>
              </a:defRPr>
            </a:pPr>
            <a:r>
              <a:t>Style core blocks and their variations in </a:t>
            </a:r>
            <a:r>
              <a:rPr sz="2900">
                <a:solidFill>
                  <a:srgbClr val="6033A6"/>
                </a:solidFill>
                <a:latin typeface="Geist Mono"/>
                <a:ea typeface="Geist Mono"/>
                <a:cs typeface="Geist Mono"/>
                <a:sym typeface="Geist Mono"/>
              </a:rPr>
              <a:t>theme.json</a:t>
            </a:r>
          </a:p>
        </p:txBody>
      </p:sp>
      <p:sp>
        <p:nvSpPr>
          <p:cNvPr id="768" name="4"/>
          <p:cNvSpPr txBox="1"/>
          <p:nvPr/>
        </p:nvSpPr>
        <p:spPr>
          <a:xfrm>
            <a:off x="1320800" y="8051800"/>
            <a:ext cx="544171" cy="7366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wrap="none" lIns="50800" tIns="50800" rIns="50800" bIns="50800" anchor="ctr">
            <a:spAutoFit/>
          </a:bodyPr>
          <a:lstStyle>
            <a:lvl1pPr>
              <a:defRPr sz="4000">
                <a:solidFill>
                  <a:srgbClr val="6033A6"/>
                </a:solidFill>
                <a:latin typeface="Unbounded SemiBold"/>
                <a:ea typeface="Unbounded SemiBold"/>
                <a:cs typeface="Unbounded SemiBold"/>
                <a:sym typeface="Unbounded SemiBold"/>
              </a:defRPr>
            </a:lvl1pPr>
          </a:lstStyle>
          <a:p>
            <a:pPr/>
            <a:r>
              <a:t>4</a:t>
            </a:r>
          </a:p>
        </p:txBody>
      </p:sp>
      <p:sp>
        <p:nvSpPr>
          <p:cNvPr id="769" name="Layouts as patterns, built from core blocks."/>
          <p:cNvSpPr txBox="1"/>
          <p:nvPr/>
        </p:nvSpPr>
        <p:spPr>
          <a:xfrm>
            <a:off x="2159000" y="8127999"/>
            <a:ext cx="10922000" cy="6223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50800" tIns="50800" rIns="50800" bIns="50800" anchor="ctr">
            <a:spAutoFit/>
          </a:bodyPr>
          <a:lstStyle>
            <a:lvl1pPr>
              <a:defRPr sz="3200">
                <a:solidFill>
                  <a:srgbClr val="220D44"/>
                </a:solidFill>
                <a:latin typeface="Geist"/>
                <a:ea typeface="Geist"/>
                <a:cs typeface="Geist"/>
                <a:sym typeface="Geist"/>
              </a:defRPr>
            </a:lvl1pPr>
          </a:lstStyle>
          <a:p>
            <a:pPr/>
            <a:r>
              <a:t>Layouts as patterns, built from core blocks.</a:t>
            </a:r>
          </a:p>
        </p:txBody>
      </p:sp>
      <p:sp>
        <p:nvSpPr>
          <p:cNvPr id="770" name="5"/>
          <p:cNvSpPr txBox="1"/>
          <p:nvPr/>
        </p:nvSpPr>
        <p:spPr>
          <a:xfrm>
            <a:off x="1320800" y="9067800"/>
            <a:ext cx="520117" cy="7366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wrap="none" lIns="50800" tIns="50800" rIns="50800" bIns="50800" anchor="ctr">
            <a:spAutoFit/>
          </a:bodyPr>
          <a:lstStyle>
            <a:lvl1pPr>
              <a:defRPr sz="4000">
                <a:solidFill>
                  <a:srgbClr val="6033A6"/>
                </a:solidFill>
                <a:latin typeface="Unbounded SemiBold"/>
                <a:ea typeface="Unbounded SemiBold"/>
                <a:cs typeface="Unbounded SemiBold"/>
                <a:sym typeface="Unbounded SemiBold"/>
              </a:defRPr>
            </a:lvl1pPr>
          </a:lstStyle>
          <a:p>
            <a:pPr/>
            <a:r>
              <a:t>5</a:t>
            </a:r>
          </a:p>
        </p:txBody>
      </p:sp>
      <p:sp>
        <p:nvSpPr>
          <p:cNvPr id="771" name="Public data from the WP REST API, rendered in the browser."/>
          <p:cNvSpPr txBox="1"/>
          <p:nvPr/>
        </p:nvSpPr>
        <p:spPr>
          <a:xfrm>
            <a:off x="2159000" y="9143999"/>
            <a:ext cx="11367790" cy="6223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50800" tIns="50800" rIns="50800" bIns="50800" anchor="ctr">
            <a:spAutoFit/>
          </a:bodyPr>
          <a:lstStyle>
            <a:lvl1pPr>
              <a:defRPr sz="3200">
                <a:solidFill>
                  <a:srgbClr val="220D44"/>
                </a:solidFill>
                <a:latin typeface="Geist"/>
                <a:ea typeface="Geist"/>
                <a:cs typeface="Geist"/>
                <a:sym typeface="Geist"/>
              </a:defRPr>
            </a:lvl1pPr>
          </a:lstStyle>
          <a:p>
            <a:pPr/>
            <a:r>
              <a:t>Public data from the WP REST API, rendered in the browser.</a:t>
            </a:r>
          </a:p>
        </p:txBody>
      </p:sp>
      <p:sp>
        <p:nvSpPr>
          <p:cNvPr id="772" name="6"/>
          <p:cNvSpPr txBox="1"/>
          <p:nvPr/>
        </p:nvSpPr>
        <p:spPr>
          <a:xfrm>
            <a:off x="1320800" y="10083800"/>
            <a:ext cx="545517" cy="7366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wrap="none" lIns="50800" tIns="50800" rIns="50800" bIns="50800" anchor="ctr">
            <a:spAutoFit/>
          </a:bodyPr>
          <a:lstStyle>
            <a:lvl1pPr>
              <a:defRPr sz="4000">
                <a:solidFill>
                  <a:srgbClr val="6033A6"/>
                </a:solidFill>
                <a:latin typeface="Unbounded SemiBold"/>
                <a:ea typeface="Unbounded SemiBold"/>
                <a:cs typeface="Unbounded SemiBold"/>
                <a:sym typeface="Unbounded SemiBold"/>
              </a:defRPr>
            </a:lvl1pPr>
          </a:lstStyle>
          <a:p>
            <a:pPr/>
            <a:r>
              <a:t>6</a:t>
            </a:r>
          </a:p>
        </p:txBody>
      </p:sp>
      <p:sp>
        <p:nvSpPr>
          <p:cNvPr id="773" name="Interactivity API for filters and paging."/>
          <p:cNvSpPr txBox="1"/>
          <p:nvPr/>
        </p:nvSpPr>
        <p:spPr>
          <a:xfrm>
            <a:off x="2159000" y="10159999"/>
            <a:ext cx="12372534" cy="6223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50800" tIns="50800" rIns="50800" bIns="50800" anchor="ctr">
            <a:spAutoFit/>
          </a:bodyPr>
          <a:lstStyle>
            <a:lvl1pPr>
              <a:defRPr sz="3200">
                <a:solidFill>
                  <a:srgbClr val="220D44"/>
                </a:solidFill>
                <a:latin typeface="Geist"/>
                <a:ea typeface="Geist"/>
                <a:cs typeface="Geist"/>
                <a:sym typeface="Geist"/>
              </a:defRPr>
            </a:lvl1pPr>
          </a:lstStyle>
          <a:p>
            <a:pPr/>
            <a:r>
              <a:t>Interactivity API for filters and paging.</a:t>
            </a:r>
          </a:p>
        </p:txBody>
      </p:sp>
      <p:pic>
        <p:nvPicPr>
          <p:cNvPr id="774" name="panel-662x376.png" descr="panel-662x376.png"/>
          <p:cNvPicPr>
            <a:picLocks noChangeAspect="1"/>
          </p:cNvPicPr>
          <p:nvPr/>
        </p:nvPicPr>
        <p:blipFill>
          <a:blip r:embed="rId4">
            <a:extLst/>
          </a:blip>
          <a:stretch>
            <a:fillRect/>
          </a:stretch>
        </p:blipFill>
        <p:spPr>
          <a:xfrm>
            <a:off x="14605000" y="5080000"/>
            <a:ext cx="8407400" cy="4775200"/>
          </a:xfrm>
          <a:prstGeom prst="rect">
            <a:avLst/>
          </a:prstGeom>
          <a:ln w="12700">
            <a:miter lim="400000"/>
          </a:ln>
        </p:spPr>
      </p:pic>
      <p:sp>
        <p:nvSpPr>
          <p:cNvPr id="775" name="blocks/events/ ├── block.json ├── build/ └── src/     ├── index.js     ├── edit.js     ├── view.js     └── style.scss"/>
          <p:cNvSpPr txBox="1"/>
          <p:nvPr/>
        </p:nvSpPr>
        <p:spPr>
          <a:xfrm>
            <a:off x="14909800" y="5334000"/>
            <a:ext cx="7899400" cy="468376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50800" tIns="50800" rIns="50800" bIns="50800" anchor="ctr">
            <a:spAutoFit/>
          </a:bodyPr>
          <a:lstStyle/>
          <a:p>
            <a:pPr>
              <a:defRPr sz="2600">
                <a:solidFill>
                  <a:srgbClr val="EEE6FF"/>
                </a:solidFill>
                <a:latin typeface="Geist Mono"/>
                <a:ea typeface="Geist Mono"/>
                <a:cs typeface="Geist Mono"/>
                <a:sym typeface="Geist Mono"/>
              </a:defRPr>
            </a:pPr>
            <a:r>
              <a:t>blocks/events/</a:t>
            </a:r>
            <a:br>
              <a:rPr sz="3400"/>
            </a:br>
            <a:r>
              <a:t>├── block</a:t>
            </a:r>
            <a:r>
              <a:rPr>
                <a:solidFill>
                  <a:srgbClr val="C4B7E9"/>
                </a:solidFill>
              </a:rPr>
              <a:t>.</a:t>
            </a:r>
            <a:r>
              <a:t>json</a:t>
            </a:r>
            <a:br>
              <a:rPr sz="3400"/>
            </a:br>
            <a:r>
              <a:t>├── build/</a:t>
            </a:r>
            <a:br>
              <a:rPr sz="3400"/>
            </a:br>
            <a:r>
              <a:t>└── src/</a:t>
            </a:r>
            <a:br>
              <a:rPr sz="3400"/>
            </a:br>
            <a:r>
              <a:t>    ├── index</a:t>
            </a:r>
            <a:r>
              <a:rPr>
                <a:solidFill>
                  <a:srgbClr val="C4B7E9"/>
                </a:solidFill>
              </a:rPr>
              <a:t>.</a:t>
            </a:r>
            <a:r>
              <a:t>js</a:t>
            </a:r>
            <a:br>
              <a:rPr sz="3400"/>
            </a:br>
            <a:r>
              <a:t>    ├── edit</a:t>
            </a:r>
            <a:r>
              <a:rPr>
                <a:solidFill>
                  <a:srgbClr val="C4B7E9"/>
                </a:solidFill>
              </a:rPr>
              <a:t>.</a:t>
            </a:r>
            <a:r>
              <a:t>js</a:t>
            </a:r>
            <a:br>
              <a:rPr sz="3400"/>
            </a:br>
            <a:r>
              <a:t>    ├── view</a:t>
            </a:r>
            <a:r>
              <a:rPr>
                <a:solidFill>
                  <a:srgbClr val="C4B7E9"/>
                </a:solidFill>
              </a:rPr>
              <a:t>.</a:t>
            </a:r>
            <a:r>
              <a:t>js</a:t>
            </a:r>
            <a:br>
              <a:rPr sz="3400"/>
            </a:br>
            <a:r>
              <a:t>    └── style</a:t>
            </a:r>
            <a:r>
              <a:rPr>
                <a:solidFill>
                  <a:srgbClr val="C4B7E9"/>
                </a:solidFill>
              </a:rPr>
              <a:t>.</a:t>
            </a:r>
            <a:r>
              <a:t>scss</a:t>
            </a:r>
            <a:br>
              <a:rPr sz="3400"/>
            </a:br>
          </a:p>
        </p:txBody>
      </p:sp>
      <p:sp>
        <p:nvSpPr>
          <p:cNvPr id="776" name="7"/>
          <p:cNvSpPr txBox="1"/>
          <p:nvPr/>
        </p:nvSpPr>
        <p:spPr>
          <a:xfrm>
            <a:off x="1320800" y="11099800"/>
            <a:ext cx="490450" cy="7366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wrap="none" lIns="50800" tIns="50800" rIns="50800" bIns="50800" anchor="ctr">
            <a:spAutoFit/>
          </a:bodyPr>
          <a:lstStyle>
            <a:lvl1pPr>
              <a:defRPr sz="4000">
                <a:solidFill>
                  <a:srgbClr val="6033A6"/>
                </a:solidFill>
                <a:latin typeface="Unbounded SemiBold"/>
                <a:ea typeface="Unbounded SemiBold"/>
                <a:cs typeface="Unbounded SemiBold"/>
                <a:sym typeface="Unbounded SemiBold"/>
              </a:defRPr>
            </a:lvl1pPr>
          </a:lstStyle>
          <a:p>
            <a:pPr/>
            <a:r>
              <a:t>7</a:t>
            </a:r>
          </a:p>
        </p:txBody>
      </p:sp>
      <p:sp>
        <p:nvSpPr>
          <p:cNvPr id="777" name="Custom blocks only as the last resort."/>
          <p:cNvSpPr txBox="1"/>
          <p:nvPr/>
        </p:nvSpPr>
        <p:spPr>
          <a:xfrm>
            <a:off x="2159000" y="11175999"/>
            <a:ext cx="10922000" cy="6223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50800" tIns="50800" rIns="50800" bIns="50800" anchor="ctr">
            <a:spAutoFit/>
          </a:bodyPr>
          <a:lstStyle>
            <a:lvl1pPr>
              <a:defRPr sz="3200">
                <a:solidFill>
                  <a:srgbClr val="220D44"/>
                </a:solidFill>
                <a:latin typeface="Geist"/>
                <a:ea typeface="Geist"/>
                <a:cs typeface="Geist"/>
                <a:sym typeface="Geist"/>
              </a:defRPr>
            </a:lvl1pPr>
          </a:lstStyle>
          <a:p>
            <a:pPr/>
            <a:r>
              <a:t>Custom blocks only as the last resort.</a:t>
            </a:r>
          </a:p>
        </p:txBody>
      </p:sp>
      <p:pic>
        <p:nvPicPr>
          <p:cNvPr id="778" name="prog-34.png" descr="prog-34.png"/>
          <p:cNvPicPr>
            <a:picLocks noChangeAspect="1"/>
          </p:cNvPicPr>
          <p:nvPr/>
        </p:nvPicPr>
        <p:blipFill>
          <a:blip r:embed="rId5">
            <a:extLst/>
          </a:blip>
          <a:stretch>
            <a:fillRect/>
          </a:stretch>
        </p:blipFill>
        <p:spPr>
          <a:xfrm>
            <a:off x="17170400" y="12395200"/>
            <a:ext cx="5842000" cy="406400"/>
          </a:xfrm>
          <a:prstGeom prst="rect">
            <a:avLst/>
          </a:prstGeom>
          <a:ln w="12700">
            <a:miter lim="400000"/>
          </a:ln>
        </p:spPr>
      </p:pic>
    </p:spTree>
  </p:cSld>
  <p:clrMapOvr>
    <a:masterClrMapping/>
  </p:clrMapOvr>
  <p:transition xmlns:p14="http://schemas.microsoft.com/office/powerpoint/2010/main" spd="med" advClick="1"/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82" name="bg.png" descr="bg.png"/>
          <p:cNvPicPr>
            <a:picLocks noChangeAspect="1"/>
          </p:cNvPicPr>
          <p:nvPr/>
        </p:nvPicPr>
        <p:blipFill>
          <a:blip r:embed="rId3">
            <a:extLst/>
          </a:blip>
          <a:stretch>
            <a:fillRect/>
          </a:stretch>
        </p:blipFill>
        <p:spPr>
          <a:xfrm>
            <a:off x="0" y="0"/>
            <a:ext cx="24384000" cy="13716000"/>
          </a:xfrm>
          <a:prstGeom prst="rect">
            <a:avLst/>
          </a:prstGeom>
          <a:ln w="12700">
            <a:miter lim="400000"/>
          </a:ln>
        </p:spPr>
      </p:pic>
      <p:sp>
        <p:nvSpPr>
          <p:cNvPr id="783" name="Site Editing/Block theme: our first build"/>
          <p:cNvSpPr txBox="1"/>
          <p:nvPr/>
        </p:nvSpPr>
        <p:spPr>
          <a:xfrm>
            <a:off x="1308100" y="2692399"/>
            <a:ext cx="22707600" cy="17145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50800" tIns="50800" rIns="50800" bIns="50800" anchor="ctr">
            <a:spAutoFit/>
          </a:bodyPr>
          <a:lstStyle/>
          <a:p>
            <a:pPr>
              <a:defRPr sz="7600">
                <a:solidFill>
                  <a:srgbClr val="220D44"/>
                </a:solidFill>
                <a:latin typeface="Unbounded ExtraBold"/>
                <a:ea typeface="Unbounded ExtraBold"/>
                <a:cs typeface="Unbounded ExtraBold"/>
                <a:sym typeface="Unbounded ExtraBold"/>
              </a:defRPr>
            </a:pPr>
            <a:r>
              <a:t>Site Editing/Block theme: </a:t>
            </a:r>
            <a:r>
              <a:rPr i="1" sz="9800">
                <a:solidFill>
                  <a:srgbClr val="6033A6"/>
                </a:solidFill>
                <a:latin typeface="Instrument Serif"/>
                <a:ea typeface="Instrument Serif"/>
                <a:cs typeface="Instrument Serif"/>
                <a:sym typeface="Instrument Serif"/>
              </a:rPr>
              <a:t>our first build</a:t>
            </a:r>
          </a:p>
        </p:txBody>
      </p:sp>
      <p:sp>
        <p:nvSpPr>
          <p:cNvPr id="784" name="Templates and parts"/>
          <p:cNvSpPr txBox="1"/>
          <p:nvPr/>
        </p:nvSpPr>
        <p:spPr>
          <a:xfrm>
            <a:off x="1295400" y="4813299"/>
            <a:ext cx="10744200" cy="7620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50800" tIns="50800" rIns="50800" bIns="50800" anchor="ctr">
            <a:spAutoFit/>
          </a:bodyPr>
          <a:lstStyle>
            <a:lvl1pPr>
              <a:defRPr sz="4200">
                <a:solidFill>
                  <a:srgbClr val="6033A6"/>
                </a:solidFill>
                <a:latin typeface="Unbounded SemiBold"/>
                <a:ea typeface="Unbounded SemiBold"/>
                <a:cs typeface="Unbounded SemiBold"/>
                <a:sym typeface="Unbounded SemiBold"/>
              </a:defRPr>
            </a:lvl1pPr>
          </a:lstStyle>
          <a:p>
            <a:pPr/>
            <a:r>
              <a:t>Templates and parts</a:t>
            </a:r>
          </a:p>
        </p:txBody>
      </p:sp>
      <p:sp>
        <p:nvSpPr>
          <p:cNvPr id="785" name="Page templates, header and footer as HTML files, declared in theme.json."/>
          <p:cNvSpPr txBox="1"/>
          <p:nvPr/>
        </p:nvSpPr>
        <p:spPr>
          <a:xfrm>
            <a:off x="1320800" y="5638799"/>
            <a:ext cx="10101144" cy="116332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50800" tIns="50800" rIns="50800" bIns="50800" anchor="ctr">
            <a:spAutoFit/>
          </a:bodyPr>
          <a:lstStyle/>
          <a:p>
            <a:pPr>
              <a:defRPr sz="3400">
                <a:solidFill>
                  <a:srgbClr val="3D2644"/>
                </a:solidFill>
                <a:latin typeface="Geist"/>
                <a:ea typeface="Geist"/>
                <a:cs typeface="Geist"/>
                <a:sym typeface="Geist"/>
              </a:defRPr>
            </a:pPr>
            <a:r>
              <a:t>Page templates, header and footer as HTML files, declared in </a:t>
            </a:r>
            <a:r>
              <a:rPr sz="3100">
                <a:solidFill>
                  <a:srgbClr val="6033A6"/>
                </a:solidFill>
                <a:latin typeface="Geist Mono"/>
                <a:ea typeface="Geist Mono"/>
                <a:cs typeface="Geist Mono"/>
                <a:sym typeface="Geist Mono"/>
              </a:rPr>
              <a:t>theme.json</a:t>
            </a:r>
            <a:r>
              <a:t>.</a:t>
            </a:r>
          </a:p>
        </p:txBody>
      </p:sp>
      <p:sp>
        <p:nvSpPr>
          <p:cNvPr id="786" name="Patterns in files"/>
          <p:cNvSpPr txBox="1"/>
          <p:nvPr/>
        </p:nvSpPr>
        <p:spPr>
          <a:xfrm>
            <a:off x="12801600" y="4813299"/>
            <a:ext cx="10744200" cy="7620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50800" tIns="50800" rIns="50800" bIns="50800" anchor="ctr">
            <a:spAutoFit/>
          </a:bodyPr>
          <a:lstStyle>
            <a:lvl1pPr>
              <a:defRPr sz="4200">
                <a:solidFill>
                  <a:srgbClr val="6033A6"/>
                </a:solidFill>
                <a:latin typeface="Unbounded SemiBold"/>
                <a:ea typeface="Unbounded SemiBold"/>
                <a:cs typeface="Unbounded SemiBold"/>
                <a:sym typeface="Unbounded SemiBold"/>
              </a:defRPr>
            </a:lvl1pPr>
          </a:lstStyle>
          <a:p>
            <a:pPr/>
            <a:r>
              <a:t>Patterns in files</a:t>
            </a:r>
          </a:p>
        </p:txBody>
      </p:sp>
      <p:sp>
        <p:nvSpPr>
          <p:cNvPr id="787" name="Reusable sections as pattern files, versioned in git with the theme."/>
          <p:cNvSpPr txBox="1"/>
          <p:nvPr/>
        </p:nvSpPr>
        <p:spPr>
          <a:xfrm>
            <a:off x="12827000" y="5638799"/>
            <a:ext cx="9105825" cy="116332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50800" tIns="50800" rIns="50800" bIns="50800" anchor="ctr">
            <a:spAutoFit/>
          </a:bodyPr>
          <a:lstStyle>
            <a:lvl1pPr>
              <a:defRPr sz="3400">
                <a:solidFill>
                  <a:srgbClr val="3D2644"/>
                </a:solidFill>
                <a:latin typeface="Geist"/>
                <a:ea typeface="Geist"/>
                <a:cs typeface="Geist"/>
                <a:sym typeface="Geist"/>
              </a:defRPr>
            </a:lvl1pPr>
          </a:lstStyle>
          <a:p>
            <a:pPr/>
            <a:r>
              <a:t>Reusable sections as pattern files, versioned in git with the theme.</a:t>
            </a:r>
          </a:p>
        </p:txBody>
      </p:sp>
      <p:sp>
        <p:nvSpPr>
          <p:cNvPr id="788" name="The catch"/>
          <p:cNvSpPr txBox="1"/>
          <p:nvPr/>
        </p:nvSpPr>
        <p:spPr>
          <a:xfrm>
            <a:off x="1295400" y="7734299"/>
            <a:ext cx="10744200" cy="7620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50800" tIns="50800" rIns="50800" bIns="50800" anchor="ctr">
            <a:spAutoFit/>
          </a:bodyPr>
          <a:lstStyle>
            <a:lvl1pPr>
              <a:defRPr sz="4200">
                <a:solidFill>
                  <a:srgbClr val="6033A6"/>
                </a:solidFill>
                <a:latin typeface="Unbounded SemiBold"/>
                <a:ea typeface="Unbounded SemiBold"/>
                <a:cs typeface="Unbounded SemiBold"/>
                <a:sym typeface="Unbounded SemiBold"/>
              </a:defRPr>
            </a:lvl1pPr>
          </a:lstStyle>
          <a:p>
            <a:pPr/>
            <a:r>
              <a:t>The catch</a:t>
            </a:r>
          </a:p>
        </p:txBody>
      </p:sp>
      <p:sp>
        <p:nvSpPr>
          <p:cNvPr id="789" name="Site Editor changes are saved to the database and quietly override the files."/>
          <p:cNvSpPr txBox="1"/>
          <p:nvPr/>
        </p:nvSpPr>
        <p:spPr>
          <a:xfrm>
            <a:off x="1320800" y="8559799"/>
            <a:ext cx="10101144" cy="116332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50800" tIns="50800" rIns="50800" bIns="50800" anchor="ctr">
            <a:spAutoFit/>
          </a:bodyPr>
          <a:lstStyle>
            <a:lvl1pPr>
              <a:defRPr sz="3400">
                <a:solidFill>
                  <a:srgbClr val="3D2644"/>
                </a:solidFill>
                <a:latin typeface="Geist"/>
                <a:ea typeface="Geist"/>
                <a:cs typeface="Geist"/>
                <a:sym typeface="Geist"/>
              </a:defRPr>
            </a:lvl1pPr>
          </a:lstStyle>
          <a:p>
            <a:pPr/>
            <a:r>
              <a:t>Site Editor changes are saved to the database and quietly override the files.</a:t>
            </a:r>
          </a:p>
        </p:txBody>
      </p:sp>
      <p:sp>
        <p:nvSpPr>
          <p:cNvPr id="790" name="Where core ran out"/>
          <p:cNvSpPr txBox="1"/>
          <p:nvPr/>
        </p:nvSpPr>
        <p:spPr>
          <a:xfrm>
            <a:off x="12801600" y="7734299"/>
            <a:ext cx="10744200" cy="7620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50800" tIns="50800" rIns="50800" bIns="50800" anchor="ctr">
            <a:spAutoFit/>
          </a:bodyPr>
          <a:lstStyle>
            <a:lvl1pPr>
              <a:defRPr sz="4200">
                <a:solidFill>
                  <a:srgbClr val="6033A6"/>
                </a:solidFill>
                <a:latin typeface="Unbounded SemiBold"/>
                <a:ea typeface="Unbounded SemiBold"/>
                <a:cs typeface="Unbounded SemiBold"/>
                <a:sym typeface="Unbounded SemiBold"/>
              </a:defRPr>
            </a:lvl1pPr>
          </a:lstStyle>
          <a:p>
            <a:pPr/>
            <a:r>
              <a:t>Where core ran out</a:t>
            </a:r>
          </a:p>
        </p:txBody>
      </p:sp>
      <p:sp>
        <p:nvSpPr>
          <p:cNvPr id="791" name="Core Navigation as a sidebar menu needed custom JavaScript."/>
          <p:cNvSpPr txBox="1"/>
          <p:nvPr/>
        </p:nvSpPr>
        <p:spPr>
          <a:xfrm>
            <a:off x="12827000" y="8559799"/>
            <a:ext cx="9387418" cy="116332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50800" tIns="50800" rIns="50800" bIns="50800" anchor="ctr">
            <a:spAutoFit/>
          </a:bodyPr>
          <a:lstStyle>
            <a:lvl1pPr>
              <a:defRPr sz="3400">
                <a:solidFill>
                  <a:srgbClr val="3D2644"/>
                </a:solidFill>
                <a:latin typeface="Geist"/>
                <a:ea typeface="Geist"/>
                <a:cs typeface="Geist"/>
                <a:sym typeface="Geist"/>
              </a:defRPr>
            </a:lvl1pPr>
          </a:lstStyle>
          <a:p>
            <a:pPr/>
            <a:r>
              <a:t>Core Navigation as a sidebar menu needed custom JavaScript.</a:t>
            </a:r>
          </a:p>
        </p:txBody>
      </p:sp>
      <p:sp>
        <p:nvSpPr>
          <p:cNvPr id="792" name="Going ACF-free"/>
          <p:cNvSpPr txBox="1"/>
          <p:nvPr/>
        </p:nvSpPr>
        <p:spPr>
          <a:xfrm>
            <a:off x="1320800" y="12344400"/>
            <a:ext cx="2451100" cy="4953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50800" tIns="50800" rIns="50800" bIns="50800" anchor="ctr">
            <a:spAutoFit/>
          </a:bodyPr>
          <a:lstStyle>
            <a:lvl1pPr>
              <a:defRPr sz="2400">
                <a:solidFill>
                  <a:srgbClr val="5D4E61"/>
                </a:solidFill>
                <a:latin typeface="Geist"/>
                <a:ea typeface="Geist"/>
                <a:cs typeface="Geist"/>
                <a:sym typeface="Geist"/>
              </a:defRPr>
            </a:lvl1pPr>
          </a:lstStyle>
          <a:p>
            <a:pPr/>
            <a:r>
              <a:t>Going ACF-free</a:t>
            </a:r>
          </a:p>
        </p:txBody>
      </p:sp>
      <p:pic>
        <p:nvPicPr>
          <p:cNvPr id="793" name="prog-35.png" descr="prog-35.png"/>
          <p:cNvPicPr>
            <a:picLocks noChangeAspect="1"/>
          </p:cNvPicPr>
          <p:nvPr/>
        </p:nvPicPr>
        <p:blipFill>
          <a:blip r:embed="rId4">
            <a:extLst/>
          </a:blip>
          <a:stretch>
            <a:fillRect/>
          </a:stretch>
        </p:blipFill>
        <p:spPr>
          <a:xfrm>
            <a:off x="17170400" y="12395200"/>
            <a:ext cx="5842000" cy="406400"/>
          </a:xfrm>
          <a:prstGeom prst="rect">
            <a:avLst/>
          </a:prstGeom>
          <a:ln w="12700">
            <a:miter lim="400000"/>
          </a:ln>
        </p:spPr>
      </p:pic>
    </p:spTree>
  </p:cSld>
  <p:clrMapOvr>
    <a:masterClrMapping/>
  </p:clrMapOvr>
  <p:transition xmlns:p14="http://schemas.microsoft.com/office/powerpoint/2010/main" spd="med" advClick="1"/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97" name="bg.png" descr="bg.png"/>
          <p:cNvPicPr>
            <a:picLocks noChangeAspect="1"/>
          </p:cNvPicPr>
          <p:nvPr/>
        </p:nvPicPr>
        <p:blipFill>
          <a:blip r:embed="rId3">
            <a:extLst/>
          </a:blip>
          <a:stretch>
            <a:fillRect/>
          </a:stretch>
        </p:blipFill>
        <p:spPr>
          <a:xfrm>
            <a:off x="0" y="0"/>
            <a:ext cx="24384000" cy="13716000"/>
          </a:xfrm>
          <a:prstGeom prst="rect">
            <a:avLst/>
          </a:prstGeom>
          <a:ln w="12700">
            <a:miter lim="400000"/>
          </a:ln>
        </p:spPr>
      </p:pic>
      <p:sp>
        <p:nvSpPr>
          <p:cNvPr id="798" name="Fields outside blocks, without ACF"/>
          <p:cNvSpPr txBox="1"/>
          <p:nvPr/>
        </p:nvSpPr>
        <p:spPr>
          <a:xfrm>
            <a:off x="1308100" y="2692399"/>
            <a:ext cx="22707600" cy="17145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50800" tIns="50800" rIns="50800" bIns="50800" anchor="ctr">
            <a:spAutoFit/>
          </a:bodyPr>
          <a:lstStyle/>
          <a:p>
            <a:pPr>
              <a:defRPr sz="7600">
                <a:solidFill>
                  <a:srgbClr val="220D44"/>
                </a:solidFill>
                <a:latin typeface="Unbounded ExtraBold"/>
                <a:ea typeface="Unbounded ExtraBold"/>
                <a:cs typeface="Unbounded ExtraBold"/>
                <a:sym typeface="Unbounded ExtraBold"/>
              </a:defRPr>
            </a:pPr>
            <a:r>
              <a:t>Fields outside blocks, </a:t>
            </a:r>
            <a:r>
              <a:rPr i="1" sz="9800">
                <a:solidFill>
                  <a:srgbClr val="6033A6"/>
                </a:solidFill>
                <a:latin typeface="Instrument Serif"/>
                <a:ea typeface="Instrument Serif"/>
                <a:cs typeface="Instrument Serif"/>
                <a:sym typeface="Instrument Serif"/>
              </a:rPr>
              <a:t>without ACF</a:t>
            </a:r>
          </a:p>
        </p:txBody>
      </p:sp>
      <p:sp>
        <p:nvSpPr>
          <p:cNvPr id="799" name="Custom post type"/>
          <p:cNvSpPr txBox="1"/>
          <p:nvPr/>
        </p:nvSpPr>
        <p:spPr>
          <a:xfrm>
            <a:off x="1295400" y="4813299"/>
            <a:ext cx="10744200" cy="7620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50800" tIns="50800" rIns="50800" bIns="50800" anchor="ctr">
            <a:spAutoFit/>
          </a:bodyPr>
          <a:lstStyle>
            <a:lvl1pPr>
              <a:defRPr sz="4200">
                <a:solidFill>
                  <a:srgbClr val="6033A6"/>
                </a:solidFill>
                <a:latin typeface="Unbounded SemiBold"/>
                <a:ea typeface="Unbounded SemiBold"/>
                <a:cs typeface="Unbounded SemiBold"/>
                <a:sym typeface="Unbounded SemiBold"/>
              </a:defRPr>
            </a:lvl1pPr>
          </a:lstStyle>
          <a:p>
            <a:pPr/>
            <a:r>
              <a:t>Custom post type</a:t>
            </a:r>
          </a:p>
        </p:txBody>
      </p:sp>
      <p:sp>
        <p:nvSpPr>
          <p:cNvPr id="800" name="register_post_type(), in the theme. CPTs never needed plugins or dependencies. As a dev, please do not use CPT UI or similar."/>
          <p:cNvSpPr txBox="1"/>
          <p:nvPr/>
        </p:nvSpPr>
        <p:spPr>
          <a:xfrm>
            <a:off x="1320800" y="5650229"/>
            <a:ext cx="10358498" cy="166624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50800" tIns="50800" rIns="50800" bIns="50800" anchor="ctr">
            <a:spAutoFit/>
          </a:bodyPr>
          <a:lstStyle/>
          <a:p>
            <a:pPr>
              <a:defRPr sz="3400">
                <a:solidFill>
                  <a:srgbClr val="220D44"/>
                </a:solidFill>
                <a:latin typeface="Geist"/>
                <a:ea typeface="Geist"/>
                <a:cs typeface="Geist"/>
                <a:sym typeface="Geist"/>
              </a:defRPr>
            </a:pPr>
            <a:r>
              <a:rPr sz="3100">
                <a:solidFill>
                  <a:srgbClr val="6033A6"/>
                </a:solidFill>
                <a:latin typeface="Geist Mono"/>
                <a:ea typeface="Geist Mono"/>
                <a:cs typeface="Geist Mono"/>
                <a:sym typeface="Geist Mono"/>
              </a:rPr>
              <a:t>register_post_type()</a:t>
            </a:r>
            <a:r>
              <a:t>, in the theme. CPTs never needed plugins or dependencies. As a dev, please do not use CPT UI or similar.</a:t>
            </a:r>
          </a:p>
        </p:txBody>
      </p:sp>
      <p:sp>
        <p:nvSpPr>
          <p:cNvPr id="801" name="Fields"/>
          <p:cNvSpPr txBox="1"/>
          <p:nvPr/>
        </p:nvSpPr>
        <p:spPr>
          <a:xfrm>
            <a:off x="12801600" y="4813299"/>
            <a:ext cx="10744200" cy="7620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50800" tIns="50800" rIns="50800" bIns="50800" anchor="ctr">
            <a:spAutoFit/>
          </a:bodyPr>
          <a:lstStyle>
            <a:lvl1pPr>
              <a:defRPr sz="4200">
                <a:solidFill>
                  <a:srgbClr val="6033A6"/>
                </a:solidFill>
                <a:latin typeface="Unbounded SemiBold"/>
                <a:ea typeface="Unbounded SemiBold"/>
                <a:cs typeface="Unbounded SemiBold"/>
                <a:sym typeface="Unbounded SemiBold"/>
              </a:defRPr>
            </a:lvl1pPr>
          </a:lstStyle>
          <a:p>
            <a:pPr/>
            <a:r>
              <a:t>Fields</a:t>
            </a:r>
          </a:p>
        </p:txBody>
      </p:sp>
      <p:sp>
        <p:nvSpPr>
          <p:cNvPr id="802" name="register_post_meta() with the Block Bindings API to connect a core block to a field."/>
          <p:cNvSpPr txBox="1"/>
          <p:nvPr/>
        </p:nvSpPr>
        <p:spPr>
          <a:xfrm>
            <a:off x="12827000" y="5650230"/>
            <a:ext cx="10101144" cy="116332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50800" tIns="50800" rIns="50800" bIns="50800" anchor="ctr">
            <a:spAutoFit/>
          </a:bodyPr>
          <a:lstStyle/>
          <a:p>
            <a:pPr>
              <a:defRPr sz="3400">
                <a:solidFill>
                  <a:srgbClr val="220D44"/>
                </a:solidFill>
                <a:latin typeface="Geist"/>
                <a:ea typeface="Geist"/>
                <a:cs typeface="Geist"/>
                <a:sym typeface="Geist"/>
              </a:defRPr>
            </a:pPr>
            <a:r>
              <a:rPr sz="3100">
                <a:solidFill>
                  <a:srgbClr val="6033A6"/>
                </a:solidFill>
                <a:latin typeface="Geist Mono"/>
                <a:ea typeface="Geist Mono"/>
                <a:cs typeface="Geist Mono"/>
                <a:sym typeface="Geist Mono"/>
              </a:rPr>
              <a:t>register_post_meta()</a:t>
            </a:r>
            <a:r>
              <a:t> with the Block Bindings API to connect a core block to a field.</a:t>
            </a:r>
          </a:p>
        </p:txBody>
      </p:sp>
      <p:sp>
        <p:nvSpPr>
          <p:cNvPr id="803" name="Custom plugin, API or MCP"/>
          <p:cNvSpPr txBox="1"/>
          <p:nvPr/>
        </p:nvSpPr>
        <p:spPr>
          <a:xfrm>
            <a:off x="1295400" y="7734299"/>
            <a:ext cx="10744200" cy="7620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50800" tIns="50800" rIns="50800" bIns="50800" anchor="ctr">
            <a:spAutoFit/>
          </a:bodyPr>
          <a:lstStyle>
            <a:lvl1pPr>
              <a:defRPr sz="4200">
                <a:solidFill>
                  <a:srgbClr val="6033A6"/>
                </a:solidFill>
                <a:latin typeface="Unbounded SemiBold"/>
                <a:ea typeface="Unbounded SemiBold"/>
                <a:cs typeface="Unbounded SemiBold"/>
                <a:sym typeface="Unbounded SemiBold"/>
              </a:defRPr>
            </a:lvl1pPr>
          </a:lstStyle>
          <a:p>
            <a:pPr/>
            <a:r>
              <a:t>Custom plugin, API or MCP</a:t>
            </a:r>
          </a:p>
        </p:txBody>
      </p:sp>
      <p:sp>
        <p:nvSpPr>
          <p:cNvPr id="804" name="Replacing a dependency with a better one? It's often worth it."/>
          <p:cNvSpPr txBox="1"/>
          <p:nvPr/>
        </p:nvSpPr>
        <p:spPr>
          <a:xfrm>
            <a:off x="1320800" y="8559799"/>
            <a:ext cx="8919861" cy="116332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50800" tIns="50800" rIns="50800" bIns="50800" anchor="ctr">
            <a:spAutoFit/>
          </a:bodyPr>
          <a:lstStyle>
            <a:lvl1pPr>
              <a:defRPr sz="3400">
                <a:solidFill>
                  <a:srgbClr val="220D44"/>
                </a:solidFill>
                <a:latin typeface="Geist"/>
                <a:ea typeface="Geist"/>
                <a:cs typeface="Geist"/>
                <a:sym typeface="Geist"/>
              </a:defRPr>
            </a:lvl1pPr>
          </a:lstStyle>
          <a:p>
            <a:pPr/>
            <a:r>
              <a:t>Replacing a dependency with a better one? It's often worth it.</a:t>
            </a:r>
          </a:p>
        </p:txBody>
      </p:sp>
      <p:sp>
        <p:nvSpPr>
          <p:cNvPr id="805" name="Full Site Editing / Block theme"/>
          <p:cNvSpPr txBox="1"/>
          <p:nvPr/>
        </p:nvSpPr>
        <p:spPr>
          <a:xfrm>
            <a:off x="12801600" y="7734299"/>
            <a:ext cx="10744200" cy="7620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50800" tIns="50800" rIns="50800" bIns="50800" anchor="ctr">
            <a:spAutoFit/>
          </a:bodyPr>
          <a:lstStyle>
            <a:lvl1pPr>
              <a:defRPr sz="4200">
                <a:solidFill>
                  <a:srgbClr val="6033A6"/>
                </a:solidFill>
                <a:latin typeface="Unbounded SemiBold"/>
                <a:ea typeface="Unbounded SemiBold"/>
                <a:cs typeface="Unbounded SemiBold"/>
                <a:sym typeface="Unbounded SemiBold"/>
              </a:defRPr>
            </a:lvl1pPr>
          </a:lstStyle>
          <a:p>
            <a:pPr/>
            <a:r>
              <a:t>Full Site Editing / Block theme</a:t>
            </a:r>
          </a:p>
        </p:txBody>
      </p:sp>
      <p:sp>
        <p:nvSpPr>
          <p:cNvPr id="806" name="Works great, especially for static marketing sites."/>
          <p:cNvSpPr txBox="1"/>
          <p:nvPr/>
        </p:nvSpPr>
        <p:spPr>
          <a:xfrm>
            <a:off x="12827000" y="8559799"/>
            <a:ext cx="8226586" cy="116332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50800" tIns="50800" rIns="50800" bIns="50800" anchor="ctr">
            <a:spAutoFit/>
          </a:bodyPr>
          <a:lstStyle>
            <a:lvl1pPr>
              <a:defRPr sz="3400">
                <a:solidFill>
                  <a:srgbClr val="220D44"/>
                </a:solidFill>
                <a:latin typeface="Geist"/>
                <a:ea typeface="Geist"/>
                <a:cs typeface="Geist"/>
                <a:sym typeface="Geist"/>
              </a:defRPr>
            </a:lvl1pPr>
          </a:lstStyle>
          <a:p>
            <a:pPr/>
            <a:r>
              <a:t>Works great, especially for static marketing sites.</a:t>
            </a:r>
          </a:p>
        </p:txBody>
      </p:sp>
      <p:sp>
        <p:nvSpPr>
          <p:cNvPr id="807" name="Going ACF-free"/>
          <p:cNvSpPr txBox="1"/>
          <p:nvPr/>
        </p:nvSpPr>
        <p:spPr>
          <a:xfrm>
            <a:off x="1320800" y="12344400"/>
            <a:ext cx="2451100" cy="4953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50800" tIns="50800" rIns="50800" bIns="50800" anchor="ctr">
            <a:spAutoFit/>
          </a:bodyPr>
          <a:lstStyle>
            <a:lvl1pPr>
              <a:defRPr sz="2400">
                <a:solidFill>
                  <a:srgbClr val="5D4E61"/>
                </a:solidFill>
                <a:latin typeface="Geist"/>
                <a:ea typeface="Geist"/>
                <a:cs typeface="Geist"/>
                <a:sym typeface="Geist"/>
              </a:defRPr>
            </a:lvl1pPr>
          </a:lstStyle>
          <a:p>
            <a:pPr/>
            <a:r>
              <a:t>Going ACF-free</a:t>
            </a:r>
          </a:p>
        </p:txBody>
      </p:sp>
      <p:pic>
        <p:nvPicPr>
          <p:cNvPr id="808" name="prog-36.png" descr="prog-36.png"/>
          <p:cNvPicPr>
            <a:picLocks noChangeAspect="1"/>
          </p:cNvPicPr>
          <p:nvPr/>
        </p:nvPicPr>
        <p:blipFill>
          <a:blip r:embed="rId4">
            <a:extLst/>
          </a:blip>
          <a:stretch>
            <a:fillRect/>
          </a:stretch>
        </p:blipFill>
        <p:spPr>
          <a:xfrm>
            <a:off x="17170400" y="12395200"/>
            <a:ext cx="5842000" cy="406400"/>
          </a:xfrm>
          <a:prstGeom prst="rect">
            <a:avLst/>
          </a:prstGeom>
          <a:ln w="12700">
            <a:miter lim="400000"/>
          </a:ln>
        </p:spPr>
      </p:pic>
    </p:spTree>
  </p:cSld>
  <p:clrMapOvr>
    <a:masterClrMapping/>
  </p:clrMapOvr>
  <p:transition xmlns:p14="http://schemas.microsoft.com/office/powerpoint/2010/main" spd="med" advClick="1"/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12" name="bg.png" descr="bg.png"/>
          <p:cNvPicPr>
            <a:picLocks noChangeAspect="1"/>
          </p:cNvPicPr>
          <p:nvPr/>
        </p:nvPicPr>
        <p:blipFill>
          <a:blip r:embed="rId3">
            <a:extLst/>
          </a:blip>
          <a:stretch>
            <a:fillRect/>
          </a:stretch>
        </p:blipFill>
        <p:spPr>
          <a:xfrm>
            <a:off x="0" y="0"/>
            <a:ext cx="24384000" cy="13716000"/>
          </a:xfrm>
          <a:prstGeom prst="rect">
            <a:avLst/>
          </a:prstGeom>
          <a:ln w="12700">
            <a:miter lim="400000"/>
          </a:ln>
        </p:spPr>
      </p:pic>
      <p:sp>
        <p:nvSpPr>
          <p:cNvPr id="813" name="This is a lot,"/>
          <p:cNvSpPr txBox="1"/>
          <p:nvPr/>
        </p:nvSpPr>
        <p:spPr>
          <a:xfrm>
            <a:off x="1271868" y="5245099"/>
            <a:ext cx="22707601" cy="15621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50800" tIns="50800" rIns="50800" bIns="50800" anchor="ctr">
            <a:spAutoFit/>
          </a:bodyPr>
          <a:lstStyle>
            <a:lvl1pPr>
              <a:defRPr sz="9200">
                <a:solidFill>
                  <a:srgbClr val="220D44"/>
                </a:solidFill>
                <a:latin typeface="Unbounded ExtraBold"/>
                <a:ea typeface="Unbounded ExtraBold"/>
                <a:cs typeface="Unbounded ExtraBold"/>
                <a:sym typeface="Unbounded ExtraBold"/>
              </a:defRPr>
            </a:lvl1pPr>
          </a:lstStyle>
          <a:p>
            <a:pPr/>
            <a:r>
              <a:t>This is a lot,</a:t>
            </a:r>
          </a:p>
        </p:txBody>
      </p:sp>
      <p:sp>
        <p:nvSpPr>
          <p:cNvPr id="814" name="where to start, going 100% ACF-free?"/>
          <p:cNvSpPr txBox="1"/>
          <p:nvPr/>
        </p:nvSpPr>
        <p:spPr>
          <a:xfrm>
            <a:off x="1271868" y="6413499"/>
            <a:ext cx="22707601" cy="20574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50800" tIns="50800" rIns="50800" bIns="50800" anchor="ctr">
            <a:spAutoFit/>
          </a:bodyPr>
          <a:lstStyle>
            <a:lvl1pPr>
              <a:defRPr i="1" sz="11800">
                <a:solidFill>
                  <a:srgbClr val="6033A6"/>
                </a:solidFill>
                <a:latin typeface="Instrument Serif"/>
                <a:ea typeface="Instrument Serif"/>
                <a:cs typeface="Instrument Serif"/>
                <a:sym typeface="Instrument Serif"/>
              </a:defRPr>
            </a:lvl1pPr>
          </a:lstStyle>
          <a:p>
            <a:pPr/>
            <a:r>
              <a:t>where to start, going 100% ACF-free?</a:t>
            </a:r>
          </a:p>
        </p:txBody>
      </p:sp>
      <p:sp>
        <p:nvSpPr>
          <p:cNvPr id="815" name="Going ACF-free"/>
          <p:cNvSpPr txBox="1"/>
          <p:nvPr/>
        </p:nvSpPr>
        <p:spPr>
          <a:xfrm>
            <a:off x="1320800" y="12344400"/>
            <a:ext cx="2451100" cy="4953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50800" tIns="50800" rIns="50800" bIns="50800" anchor="ctr">
            <a:spAutoFit/>
          </a:bodyPr>
          <a:lstStyle>
            <a:lvl1pPr>
              <a:defRPr sz="2400">
                <a:solidFill>
                  <a:srgbClr val="5D4E61"/>
                </a:solidFill>
                <a:latin typeface="Geist"/>
                <a:ea typeface="Geist"/>
                <a:cs typeface="Geist"/>
                <a:sym typeface="Geist"/>
              </a:defRPr>
            </a:lvl1pPr>
          </a:lstStyle>
          <a:p>
            <a:pPr/>
            <a:r>
              <a:t>Going ACF-free</a:t>
            </a:r>
          </a:p>
        </p:txBody>
      </p:sp>
      <p:pic>
        <p:nvPicPr>
          <p:cNvPr id="816" name="prog-37.png" descr="prog-37.png"/>
          <p:cNvPicPr>
            <a:picLocks noChangeAspect="1"/>
          </p:cNvPicPr>
          <p:nvPr/>
        </p:nvPicPr>
        <p:blipFill>
          <a:blip r:embed="rId4">
            <a:extLst/>
          </a:blip>
          <a:stretch>
            <a:fillRect/>
          </a:stretch>
        </p:blipFill>
        <p:spPr>
          <a:xfrm>
            <a:off x="17170400" y="12395200"/>
            <a:ext cx="5842000" cy="406400"/>
          </a:xfrm>
          <a:prstGeom prst="rect">
            <a:avLst/>
          </a:prstGeom>
          <a:ln w="12700">
            <a:miter lim="400000"/>
          </a:ln>
        </p:spPr>
      </p:pic>
    </p:spTree>
  </p:cSld>
  <p:clrMapOvr>
    <a:masterClrMapping/>
  </p:clrMapOvr>
  <p:transition xmlns:p14="http://schemas.microsoft.com/office/powerpoint/2010/main" spd="med" advClick="1"/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20" name="bg.png" descr="bg.png"/>
          <p:cNvPicPr>
            <a:picLocks noChangeAspect="1"/>
          </p:cNvPicPr>
          <p:nvPr/>
        </p:nvPicPr>
        <p:blipFill>
          <a:blip r:embed="rId3">
            <a:extLst/>
          </a:blip>
          <a:stretch>
            <a:fillRect/>
          </a:stretch>
        </p:blipFill>
        <p:spPr>
          <a:xfrm>
            <a:off x="0" y="0"/>
            <a:ext cx="24384000" cy="13716000"/>
          </a:xfrm>
          <a:prstGeom prst="rect">
            <a:avLst/>
          </a:prstGeom>
          <a:ln w="12700">
            <a:miter lim="400000"/>
          </a:ln>
        </p:spPr>
      </p:pic>
      <p:sp>
        <p:nvSpPr>
          <p:cNvPr id="821" name="It has always been a pattern"/>
          <p:cNvSpPr txBox="1"/>
          <p:nvPr/>
        </p:nvSpPr>
        <p:spPr>
          <a:xfrm>
            <a:off x="1308100" y="2692399"/>
            <a:ext cx="22707600" cy="17145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50800" tIns="50800" rIns="50800" bIns="50800" anchor="ctr">
            <a:spAutoFit/>
          </a:bodyPr>
          <a:lstStyle/>
          <a:p>
            <a:pPr>
              <a:defRPr sz="7600">
                <a:solidFill>
                  <a:srgbClr val="220D44"/>
                </a:solidFill>
                <a:latin typeface="Unbounded ExtraBold"/>
                <a:ea typeface="Unbounded ExtraBold"/>
                <a:cs typeface="Unbounded ExtraBold"/>
                <a:sym typeface="Unbounded ExtraBold"/>
              </a:defRPr>
            </a:pPr>
            <a:r>
              <a:t>It has always been </a:t>
            </a:r>
            <a:r>
              <a:rPr i="1" sz="9800">
                <a:solidFill>
                  <a:srgbClr val="6033A6"/>
                </a:solidFill>
                <a:latin typeface="Instrument Serif"/>
                <a:ea typeface="Instrument Serif"/>
                <a:cs typeface="Instrument Serif"/>
                <a:sym typeface="Instrument Serif"/>
              </a:rPr>
              <a:t>a pattern</a:t>
            </a:r>
          </a:p>
        </p:txBody>
      </p:sp>
      <p:sp>
        <p:nvSpPr>
          <p:cNvPr id="822" name="Most blocks could be patterns"/>
          <p:cNvSpPr txBox="1"/>
          <p:nvPr/>
        </p:nvSpPr>
        <p:spPr>
          <a:xfrm>
            <a:off x="1295400" y="4813299"/>
            <a:ext cx="10744200" cy="7620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50800" tIns="50800" rIns="50800" bIns="50800" anchor="ctr">
            <a:spAutoFit/>
          </a:bodyPr>
          <a:lstStyle>
            <a:lvl1pPr>
              <a:defRPr sz="4200">
                <a:solidFill>
                  <a:srgbClr val="6033A6"/>
                </a:solidFill>
                <a:latin typeface="Unbounded SemiBold"/>
                <a:ea typeface="Unbounded SemiBold"/>
                <a:cs typeface="Unbounded SemiBold"/>
                <a:sym typeface="Unbounded SemiBold"/>
              </a:defRPr>
            </a:lvl1pPr>
          </a:lstStyle>
          <a:p>
            <a:pPr/>
            <a:r>
              <a:t>Most blocks could be patterns</a:t>
            </a:r>
          </a:p>
        </p:txBody>
      </p:sp>
      <p:sp>
        <p:nvSpPr>
          <p:cNvPr id="823" name="If an element only consists of static text, images and buttons, it can be a pattern."/>
          <p:cNvSpPr txBox="1"/>
          <p:nvPr/>
        </p:nvSpPr>
        <p:spPr>
          <a:xfrm>
            <a:off x="1320800" y="5638799"/>
            <a:ext cx="10364867" cy="116332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50800" tIns="50800" rIns="50800" bIns="50800" anchor="ctr">
            <a:spAutoFit/>
          </a:bodyPr>
          <a:lstStyle>
            <a:lvl1pPr>
              <a:defRPr sz="3400">
                <a:solidFill>
                  <a:srgbClr val="3D2644"/>
                </a:solidFill>
                <a:latin typeface="Geist"/>
                <a:ea typeface="Geist"/>
                <a:cs typeface="Geist"/>
                <a:sym typeface="Geist"/>
              </a:defRPr>
            </a:lvl1pPr>
          </a:lstStyle>
          <a:p>
            <a:pPr/>
            <a:r>
              <a:t>If an element only consists of static text, images and buttons, it can be a pattern.</a:t>
            </a:r>
          </a:p>
        </p:txBody>
      </p:sp>
      <p:sp>
        <p:nvSpPr>
          <p:cNvPr id="824" name="Nothing to build"/>
          <p:cNvSpPr txBox="1"/>
          <p:nvPr/>
        </p:nvSpPr>
        <p:spPr>
          <a:xfrm>
            <a:off x="12801600" y="4813299"/>
            <a:ext cx="10744200" cy="7620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50800" tIns="50800" rIns="50800" bIns="50800" anchor="ctr">
            <a:spAutoFit/>
          </a:bodyPr>
          <a:lstStyle>
            <a:lvl1pPr>
              <a:defRPr sz="4200">
                <a:solidFill>
                  <a:srgbClr val="6033A6"/>
                </a:solidFill>
                <a:latin typeface="Unbounded SemiBold"/>
                <a:ea typeface="Unbounded SemiBold"/>
                <a:cs typeface="Unbounded SemiBold"/>
                <a:sym typeface="Unbounded SemiBold"/>
              </a:defRPr>
            </a:lvl1pPr>
          </a:lstStyle>
          <a:p>
            <a:pPr/>
            <a:r>
              <a:t>Nothing to build</a:t>
            </a:r>
          </a:p>
        </p:txBody>
      </p:sp>
      <p:sp>
        <p:nvSpPr>
          <p:cNvPr id="825" name="Arrange core blocks once, then save them as a pattern."/>
          <p:cNvSpPr txBox="1"/>
          <p:nvPr/>
        </p:nvSpPr>
        <p:spPr>
          <a:xfrm>
            <a:off x="12827000" y="5638799"/>
            <a:ext cx="8649041" cy="116332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50800" tIns="50800" rIns="50800" bIns="50800" anchor="ctr">
            <a:spAutoFit/>
          </a:bodyPr>
          <a:lstStyle>
            <a:lvl1pPr>
              <a:defRPr sz="3400">
                <a:solidFill>
                  <a:srgbClr val="3D2644"/>
                </a:solidFill>
                <a:latin typeface="Geist"/>
                <a:ea typeface="Geist"/>
                <a:cs typeface="Geist"/>
                <a:sym typeface="Geist"/>
              </a:defRPr>
            </a:lvl1pPr>
          </a:lstStyle>
          <a:p>
            <a:pPr/>
            <a:r>
              <a:t>Arrange core blocks once, then save them as a pattern.</a:t>
            </a:r>
          </a:p>
        </p:txBody>
      </p:sp>
      <p:sp>
        <p:nvSpPr>
          <p:cNvPr id="826" name="Change once, everywhere"/>
          <p:cNvSpPr txBox="1"/>
          <p:nvPr/>
        </p:nvSpPr>
        <p:spPr>
          <a:xfrm>
            <a:off x="1295400" y="7734299"/>
            <a:ext cx="10744200" cy="7620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50800" tIns="50800" rIns="50800" bIns="50800" anchor="ctr">
            <a:spAutoFit/>
          </a:bodyPr>
          <a:lstStyle>
            <a:lvl1pPr>
              <a:defRPr sz="4200">
                <a:solidFill>
                  <a:srgbClr val="6033A6"/>
                </a:solidFill>
                <a:latin typeface="Unbounded SemiBold"/>
                <a:ea typeface="Unbounded SemiBold"/>
                <a:cs typeface="Unbounded SemiBold"/>
                <a:sym typeface="Unbounded SemiBold"/>
              </a:defRPr>
            </a:lvl1pPr>
          </a:lstStyle>
          <a:p>
            <a:pPr/>
            <a:r>
              <a:t>Change once, everywhere</a:t>
            </a:r>
          </a:p>
        </p:txBody>
      </p:sp>
      <p:sp>
        <p:nvSpPr>
          <p:cNvPr id="827" name="Edit a synced pattern and every page that uses it updates."/>
          <p:cNvSpPr txBox="1"/>
          <p:nvPr/>
        </p:nvSpPr>
        <p:spPr>
          <a:xfrm>
            <a:off x="1320800" y="8559799"/>
            <a:ext cx="7958798" cy="116332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50800" tIns="50800" rIns="50800" bIns="50800" anchor="ctr">
            <a:spAutoFit/>
          </a:bodyPr>
          <a:lstStyle>
            <a:lvl1pPr>
              <a:defRPr sz="3400">
                <a:solidFill>
                  <a:srgbClr val="3D2644"/>
                </a:solidFill>
                <a:latin typeface="Geist"/>
                <a:ea typeface="Geist"/>
                <a:cs typeface="Geist"/>
                <a:sym typeface="Geist"/>
              </a:defRPr>
            </a:lvl1pPr>
          </a:lstStyle>
          <a:p>
            <a:pPr/>
            <a:r>
              <a:t>Edit a synced pattern and every page that uses it updates.</a:t>
            </a:r>
          </a:p>
        </p:txBody>
      </p:sp>
      <p:sp>
        <p:nvSpPr>
          <p:cNvPr id="828" name="In core since 2020"/>
          <p:cNvSpPr txBox="1"/>
          <p:nvPr/>
        </p:nvSpPr>
        <p:spPr>
          <a:xfrm>
            <a:off x="12801600" y="7734299"/>
            <a:ext cx="10744200" cy="7620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50800" tIns="50800" rIns="50800" bIns="50800" anchor="ctr">
            <a:spAutoFit/>
          </a:bodyPr>
          <a:lstStyle>
            <a:lvl1pPr>
              <a:defRPr sz="4200">
                <a:solidFill>
                  <a:srgbClr val="6033A6"/>
                </a:solidFill>
                <a:latin typeface="Unbounded SemiBold"/>
                <a:ea typeface="Unbounded SemiBold"/>
                <a:cs typeface="Unbounded SemiBold"/>
                <a:sym typeface="Unbounded SemiBold"/>
              </a:defRPr>
            </a:lvl1pPr>
          </a:lstStyle>
          <a:p>
            <a:pPr/>
            <a:r>
              <a:t>In core since 2020</a:t>
            </a:r>
          </a:p>
        </p:txBody>
      </p:sp>
      <p:sp>
        <p:nvSpPr>
          <p:cNvPr id="829" name="Patterns since WordPress 5.5, synced patterns since 6.3."/>
          <p:cNvSpPr txBox="1"/>
          <p:nvPr/>
        </p:nvSpPr>
        <p:spPr>
          <a:xfrm>
            <a:off x="12827000" y="8559799"/>
            <a:ext cx="7263118" cy="116332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50800" tIns="50800" rIns="50800" bIns="50800" anchor="ctr">
            <a:spAutoFit/>
          </a:bodyPr>
          <a:lstStyle>
            <a:lvl1pPr>
              <a:defRPr sz="3400">
                <a:solidFill>
                  <a:srgbClr val="3D2644"/>
                </a:solidFill>
                <a:latin typeface="Geist"/>
                <a:ea typeface="Geist"/>
                <a:cs typeface="Geist"/>
                <a:sym typeface="Geist"/>
              </a:defRPr>
            </a:lvl1pPr>
          </a:lstStyle>
          <a:p>
            <a:pPr/>
            <a:r>
              <a:t>Patterns since WordPress 5.5, synced patterns since 6.3.</a:t>
            </a:r>
          </a:p>
        </p:txBody>
      </p:sp>
      <p:sp>
        <p:nvSpPr>
          <p:cNvPr id="830" name="Going ACF-free"/>
          <p:cNvSpPr txBox="1"/>
          <p:nvPr/>
        </p:nvSpPr>
        <p:spPr>
          <a:xfrm>
            <a:off x="1320800" y="12344400"/>
            <a:ext cx="2451100" cy="4953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50800" tIns="50800" rIns="50800" bIns="50800" anchor="ctr">
            <a:spAutoFit/>
          </a:bodyPr>
          <a:lstStyle>
            <a:lvl1pPr>
              <a:defRPr sz="2400">
                <a:solidFill>
                  <a:srgbClr val="5D4E61"/>
                </a:solidFill>
                <a:latin typeface="Geist"/>
                <a:ea typeface="Geist"/>
                <a:cs typeface="Geist"/>
                <a:sym typeface="Geist"/>
              </a:defRPr>
            </a:lvl1pPr>
          </a:lstStyle>
          <a:p>
            <a:pPr/>
            <a:r>
              <a:t>Going ACF-free</a:t>
            </a:r>
          </a:p>
        </p:txBody>
      </p:sp>
      <p:pic>
        <p:nvPicPr>
          <p:cNvPr id="831" name="prog-38.png" descr="prog-38.png"/>
          <p:cNvPicPr>
            <a:picLocks noChangeAspect="1"/>
          </p:cNvPicPr>
          <p:nvPr/>
        </p:nvPicPr>
        <p:blipFill>
          <a:blip r:embed="rId4">
            <a:extLst/>
          </a:blip>
          <a:stretch>
            <a:fillRect/>
          </a:stretch>
        </p:blipFill>
        <p:spPr>
          <a:xfrm>
            <a:off x="17170400" y="12395200"/>
            <a:ext cx="5842000" cy="406400"/>
          </a:xfrm>
          <a:prstGeom prst="rect">
            <a:avLst/>
          </a:prstGeom>
          <a:ln w="12700">
            <a:miter lim="400000"/>
          </a:ln>
        </p:spPr>
      </p:pic>
    </p:spTree>
  </p:cSld>
  <p:clrMapOvr>
    <a:masterClrMapping/>
  </p:clrMapOvr>
  <p:transition xmlns:p14="http://schemas.microsoft.com/office/powerpoint/2010/main" spd="med" advClick="1"/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35" name="bg.png" descr="bg.png"/>
          <p:cNvPicPr>
            <a:picLocks noChangeAspect="1"/>
          </p:cNvPicPr>
          <p:nvPr/>
        </p:nvPicPr>
        <p:blipFill>
          <a:blip r:embed="rId3">
            <a:extLst/>
          </a:blip>
          <a:stretch>
            <a:fillRect/>
          </a:stretch>
        </p:blipFill>
        <p:spPr>
          <a:xfrm>
            <a:off x="0" y="0"/>
            <a:ext cx="24384000" cy="13716000"/>
          </a:xfrm>
          <a:prstGeom prst="rect">
            <a:avLst/>
          </a:prstGeom>
          <a:ln w="12700">
            <a:miter lim="400000"/>
          </a:ln>
        </p:spPr>
      </p:pic>
      <p:sp>
        <p:nvSpPr>
          <p:cNvPr id="836" name="Start every page from a pattern"/>
          <p:cNvSpPr txBox="1"/>
          <p:nvPr/>
        </p:nvSpPr>
        <p:spPr>
          <a:xfrm>
            <a:off x="1308100" y="2692399"/>
            <a:ext cx="22707600" cy="17145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50800" tIns="50800" rIns="50800" bIns="50800" anchor="ctr">
            <a:spAutoFit/>
          </a:bodyPr>
          <a:lstStyle/>
          <a:p>
            <a:pPr>
              <a:defRPr sz="7600">
                <a:solidFill>
                  <a:srgbClr val="220D44"/>
                </a:solidFill>
                <a:latin typeface="Unbounded ExtraBold"/>
                <a:ea typeface="Unbounded ExtraBold"/>
                <a:cs typeface="Unbounded ExtraBold"/>
                <a:sym typeface="Unbounded ExtraBold"/>
              </a:defRPr>
            </a:pPr>
            <a:r>
              <a:t>Start every page </a:t>
            </a:r>
            <a:r>
              <a:rPr i="1" sz="9800">
                <a:solidFill>
                  <a:srgbClr val="6033A6"/>
                </a:solidFill>
                <a:latin typeface="Instrument Serif"/>
                <a:ea typeface="Instrument Serif"/>
                <a:cs typeface="Instrument Serif"/>
                <a:sym typeface="Instrument Serif"/>
              </a:rPr>
              <a:t>from a pattern</a:t>
            </a:r>
          </a:p>
        </p:txBody>
      </p:sp>
      <p:sp>
        <p:nvSpPr>
          <p:cNvPr id="837" name="Going ACF-free"/>
          <p:cNvSpPr txBox="1"/>
          <p:nvPr/>
        </p:nvSpPr>
        <p:spPr>
          <a:xfrm>
            <a:off x="1320800" y="12344400"/>
            <a:ext cx="2451100" cy="4953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50800" tIns="50800" rIns="50800" bIns="50800" anchor="ctr">
            <a:spAutoFit/>
          </a:bodyPr>
          <a:lstStyle>
            <a:lvl1pPr>
              <a:defRPr sz="2400">
                <a:solidFill>
                  <a:srgbClr val="5D4E61"/>
                </a:solidFill>
                <a:latin typeface="Geist"/>
                <a:ea typeface="Geist"/>
                <a:cs typeface="Geist"/>
                <a:sym typeface="Geist"/>
              </a:defRPr>
            </a:lvl1pPr>
          </a:lstStyle>
          <a:p>
            <a:pPr/>
            <a:r>
              <a:t>Going ACF-free</a:t>
            </a:r>
          </a:p>
        </p:txBody>
      </p:sp>
      <p:sp>
        <p:nvSpPr>
          <p:cNvPr id="838" name="With patterns in theme files"/>
          <p:cNvSpPr txBox="1"/>
          <p:nvPr/>
        </p:nvSpPr>
        <p:spPr>
          <a:xfrm>
            <a:off x="1270000" y="4660900"/>
            <a:ext cx="10414000" cy="8001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50800" tIns="50800" rIns="50800" bIns="50800" anchor="ctr">
            <a:spAutoFit/>
          </a:bodyPr>
          <a:lstStyle>
            <a:lvl1pPr>
              <a:defRPr sz="4200">
                <a:solidFill>
                  <a:srgbClr val="6033A6"/>
                </a:solidFill>
                <a:latin typeface="Instrument Serif"/>
                <a:ea typeface="Instrument Serif"/>
                <a:cs typeface="Instrument Serif"/>
                <a:sym typeface="Instrument Serif"/>
              </a:defRPr>
            </a:lvl1pPr>
          </a:lstStyle>
          <a:p>
            <a:pPr/>
            <a:r>
              <a:t>With patterns in theme files</a:t>
            </a:r>
          </a:p>
        </p:txBody>
      </p:sp>
      <p:sp>
        <p:nvSpPr>
          <p:cNvPr id="839" name="With patterns saved in the editor"/>
          <p:cNvSpPr txBox="1"/>
          <p:nvPr/>
        </p:nvSpPr>
        <p:spPr>
          <a:xfrm>
            <a:off x="12547600" y="4660900"/>
            <a:ext cx="10414000" cy="8001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50800" tIns="50800" rIns="50800" bIns="50800" anchor="ctr">
            <a:spAutoFit/>
          </a:bodyPr>
          <a:lstStyle>
            <a:lvl1pPr>
              <a:defRPr sz="4200">
                <a:solidFill>
                  <a:srgbClr val="6033A6"/>
                </a:solidFill>
                <a:latin typeface="Instrument Serif"/>
                <a:ea typeface="Instrument Serif"/>
                <a:cs typeface="Instrument Serif"/>
                <a:sym typeface="Instrument Serif"/>
              </a:defRPr>
            </a:lvl1pPr>
          </a:lstStyle>
          <a:p>
            <a:pPr/>
            <a:r>
              <a:t>With patterns saved in the editor</a:t>
            </a:r>
          </a:p>
        </p:txBody>
      </p:sp>
      <p:pic>
        <p:nvPicPr>
          <p:cNvPr id="840" name="panel-852x256.png" descr="panel-852x256.png"/>
          <p:cNvPicPr>
            <a:picLocks noChangeAspect="1"/>
          </p:cNvPicPr>
          <p:nvPr/>
        </p:nvPicPr>
        <p:blipFill>
          <a:blip r:embed="rId4">
            <a:extLst/>
          </a:blip>
          <a:stretch>
            <a:fillRect/>
          </a:stretch>
        </p:blipFill>
        <p:spPr>
          <a:xfrm>
            <a:off x="1371600" y="5588000"/>
            <a:ext cx="10820400" cy="3251200"/>
          </a:xfrm>
          <a:prstGeom prst="rect">
            <a:avLst/>
          </a:prstGeom>
          <a:ln w="12700">
            <a:miter lim="400000"/>
          </a:ln>
        </p:spPr>
      </p:pic>
      <p:sp>
        <p:nvSpPr>
          <p:cNvPr id="841" name="register_block_pattern( ‘mytheme/landing', [   'title'      =&gt; 'Landing page',   'blockTypes' =&gt; [ 'core/post-content' ],   'content'    =&gt; $markup, ] );"/>
          <p:cNvSpPr txBox="1"/>
          <p:nvPr/>
        </p:nvSpPr>
        <p:spPr>
          <a:xfrm>
            <a:off x="1676400" y="5842000"/>
            <a:ext cx="10312400" cy="3175000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50800" tIns="50800" rIns="50800" bIns="50800" anchor="ctr">
            <a:spAutoFit/>
          </a:bodyPr>
          <a:lstStyle/>
          <a:p>
            <a:pPr>
              <a:defRPr sz="2600">
                <a:solidFill>
                  <a:srgbClr val="EEE6FF"/>
                </a:solidFill>
                <a:latin typeface="Geist Mono"/>
                <a:ea typeface="Geist Mono"/>
                <a:cs typeface="Geist Mono"/>
                <a:sym typeface="Geist Mono"/>
              </a:defRPr>
            </a:pPr>
            <a:r>
              <a:rPr>
                <a:solidFill>
                  <a:srgbClr val="D2B0FF"/>
                </a:solidFill>
              </a:rPr>
              <a:t>register_block_pattern</a:t>
            </a:r>
            <a:r>
              <a:rPr>
                <a:solidFill>
                  <a:srgbClr val="C4B7E9"/>
                </a:solidFill>
              </a:rPr>
              <a:t>(</a:t>
            </a:r>
            <a:r>
              <a:t> </a:t>
            </a:r>
            <a:r>
              <a:rPr>
                <a:solidFill>
                  <a:srgbClr val="FFC3E7"/>
                </a:solidFill>
              </a:rPr>
              <a:t>‘mytheme/landing'</a:t>
            </a:r>
            <a:r>
              <a:rPr>
                <a:solidFill>
                  <a:srgbClr val="C4B7E9"/>
                </a:solidFill>
              </a:rPr>
              <a:t>,</a:t>
            </a:r>
            <a:r>
              <a:t> </a:t>
            </a:r>
            <a:r>
              <a:rPr>
                <a:solidFill>
                  <a:srgbClr val="C4B7E9"/>
                </a:solidFill>
              </a:rPr>
              <a:t>[</a:t>
            </a:r>
            <a:br>
              <a:rPr sz="3400"/>
            </a:br>
            <a:r>
              <a:t>  </a:t>
            </a:r>
            <a:r>
              <a:rPr>
                <a:solidFill>
                  <a:srgbClr val="FFC3E7"/>
                </a:solidFill>
              </a:rPr>
              <a:t>'title'</a:t>
            </a:r>
            <a:r>
              <a:t>      </a:t>
            </a:r>
            <a:r>
              <a:rPr>
                <a:solidFill>
                  <a:srgbClr val="FF97E2"/>
                </a:solidFill>
              </a:rPr>
              <a:t>=&gt;</a:t>
            </a:r>
            <a:r>
              <a:t> </a:t>
            </a:r>
            <a:r>
              <a:rPr>
                <a:solidFill>
                  <a:srgbClr val="FFC3E7"/>
                </a:solidFill>
              </a:rPr>
              <a:t>'Landing page'</a:t>
            </a:r>
            <a:r>
              <a:rPr>
                <a:solidFill>
                  <a:srgbClr val="C4B7E9"/>
                </a:solidFill>
              </a:rPr>
              <a:t>,</a:t>
            </a:r>
            <a:br>
              <a:rPr sz="3400"/>
            </a:br>
            <a:r>
              <a:t>  </a:t>
            </a:r>
            <a:r>
              <a:rPr>
                <a:solidFill>
                  <a:srgbClr val="FFC3E7"/>
                </a:solidFill>
              </a:rPr>
              <a:t>'blockTypes'</a:t>
            </a:r>
            <a:r>
              <a:t> </a:t>
            </a:r>
            <a:r>
              <a:rPr>
                <a:solidFill>
                  <a:srgbClr val="FF97E2"/>
                </a:solidFill>
              </a:rPr>
              <a:t>=&gt;</a:t>
            </a:r>
            <a:r>
              <a:t> </a:t>
            </a:r>
            <a:r>
              <a:rPr>
                <a:solidFill>
                  <a:srgbClr val="C4B7E9"/>
                </a:solidFill>
              </a:rPr>
              <a:t>[</a:t>
            </a:r>
            <a:r>
              <a:t> </a:t>
            </a:r>
            <a:r>
              <a:rPr>
                <a:solidFill>
                  <a:srgbClr val="FFC3E7"/>
                </a:solidFill>
              </a:rPr>
              <a:t>'core/post-content'</a:t>
            </a:r>
            <a:r>
              <a:t> </a:t>
            </a:r>
            <a:r>
              <a:rPr>
                <a:solidFill>
                  <a:srgbClr val="C4B7E9"/>
                </a:solidFill>
              </a:rPr>
              <a:t>],</a:t>
            </a:r>
            <a:br>
              <a:rPr sz="3400"/>
            </a:br>
            <a:r>
              <a:t>  </a:t>
            </a:r>
            <a:r>
              <a:rPr>
                <a:solidFill>
                  <a:srgbClr val="FFC3E7"/>
                </a:solidFill>
              </a:rPr>
              <a:t>'content'</a:t>
            </a:r>
            <a:r>
              <a:t>    </a:t>
            </a:r>
            <a:r>
              <a:rPr>
                <a:solidFill>
                  <a:srgbClr val="FF97E2"/>
                </a:solidFill>
              </a:rPr>
              <a:t>=&gt;</a:t>
            </a:r>
            <a:r>
              <a:t> $markup</a:t>
            </a:r>
            <a:r>
              <a:rPr>
                <a:solidFill>
                  <a:srgbClr val="C4B7E9"/>
                </a:solidFill>
              </a:rPr>
              <a:t>,</a:t>
            </a:r>
            <a:br>
              <a:rPr sz="3400"/>
            </a:br>
            <a:r>
              <a:rPr>
                <a:solidFill>
                  <a:srgbClr val="C4B7E9"/>
                </a:solidFill>
              </a:rPr>
              <a:t>]</a:t>
            </a:r>
            <a:r>
              <a:t> </a:t>
            </a:r>
            <a:r>
              <a:rPr>
                <a:solidFill>
                  <a:srgbClr val="C4B7E9"/>
                </a:solidFill>
              </a:rPr>
              <a:t>);</a:t>
            </a:r>
            <a:br>
              <a:rPr sz="3400"/>
            </a:br>
          </a:p>
        </p:txBody>
      </p:sp>
      <p:pic>
        <p:nvPicPr>
          <p:cNvPr id="842" name="panel-820x336.png" descr="panel-820x336.png"/>
          <p:cNvPicPr>
            <a:picLocks noChangeAspect="1"/>
          </p:cNvPicPr>
          <p:nvPr/>
        </p:nvPicPr>
        <p:blipFill>
          <a:blip r:embed="rId5">
            <a:extLst/>
          </a:blip>
          <a:stretch>
            <a:fillRect/>
          </a:stretch>
        </p:blipFill>
        <p:spPr>
          <a:xfrm>
            <a:off x="12598400" y="5588000"/>
            <a:ext cx="10414000" cy="4267200"/>
          </a:xfrm>
          <a:prstGeom prst="rect">
            <a:avLst/>
          </a:prstGeom>
          <a:ln w="12700">
            <a:miter lim="400000"/>
          </a:ln>
        </p:spPr>
      </p:pic>
      <p:sp>
        <p:nvSpPr>
          <p:cNvPr id="843" name="dispatch( 'core/editor' ).setIsInserterOpened( {   tab: 'patterns',   category: {     name: 'allPatterns',     label: _x( 'All', 'patterns' ),   }, } );"/>
          <p:cNvSpPr txBox="1"/>
          <p:nvPr/>
        </p:nvSpPr>
        <p:spPr>
          <a:xfrm>
            <a:off x="12903200" y="5841999"/>
            <a:ext cx="9906000" cy="418084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50800" tIns="50800" rIns="50800" bIns="50800" anchor="ctr">
            <a:spAutoFit/>
          </a:bodyPr>
          <a:lstStyle/>
          <a:p>
            <a:pPr>
              <a:defRPr sz="2600">
                <a:solidFill>
                  <a:srgbClr val="EEE6FF"/>
                </a:solidFill>
                <a:latin typeface="Geist Mono"/>
                <a:ea typeface="Geist Mono"/>
                <a:cs typeface="Geist Mono"/>
                <a:sym typeface="Geist Mono"/>
              </a:defRPr>
            </a:pPr>
            <a:r>
              <a:rPr>
                <a:solidFill>
                  <a:srgbClr val="D2B0FF"/>
                </a:solidFill>
              </a:rPr>
              <a:t>dispatch</a:t>
            </a:r>
            <a:r>
              <a:rPr>
                <a:solidFill>
                  <a:srgbClr val="C4B7E9"/>
                </a:solidFill>
              </a:rPr>
              <a:t>(</a:t>
            </a:r>
            <a:r>
              <a:t> </a:t>
            </a:r>
            <a:r>
              <a:rPr>
                <a:solidFill>
                  <a:srgbClr val="FFC3E7"/>
                </a:solidFill>
              </a:rPr>
              <a:t>'core/editor'</a:t>
            </a:r>
            <a:r>
              <a:t> </a:t>
            </a:r>
            <a:r>
              <a:rPr>
                <a:solidFill>
                  <a:srgbClr val="C4B7E9"/>
                </a:solidFill>
              </a:rPr>
              <a:t>).</a:t>
            </a:r>
            <a:r>
              <a:rPr>
                <a:solidFill>
                  <a:srgbClr val="D2B0FF"/>
                </a:solidFill>
              </a:rPr>
              <a:t>setIsInserterOpened</a:t>
            </a:r>
            <a:r>
              <a:rPr>
                <a:solidFill>
                  <a:srgbClr val="C4B7E9"/>
                </a:solidFill>
              </a:rPr>
              <a:t>(</a:t>
            </a:r>
            <a:r>
              <a:t> </a:t>
            </a:r>
            <a:r>
              <a:rPr>
                <a:solidFill>
                  <a:srgbClr val="C4B7E9"/>
                </a:solidFill>
              </a:rPr>
              <a:t>{</a:t>
            </a:r>
            <a:br>
              <a:rPr sz="3400"/>
            </a:br>
            <a:r>
              <a:t>  tab</a:t>
            </a:r>
            <a:r>
              <a:rPr>
                <a:solidFill>
                  <a:srgbClr val="C4B7E9"/>
                </a:solidFill>
              </a:rPr>
              <a:t>:</a:t>
            </a:r>
            <a:r>
              <a:t> </a:t>
            </a:r>
            <a:r>
              <a:rPr>
                <a:solidFill>
                  <a:srgbClr val="FFC3E7"/>
                </a:solidFill>
              </a:rPr>
              <a:t>'patterns'</a:t>
            </a:r>
            <a:r>
              <a:rPr>
                <a:solidFill>
                  <a:srgbClr val="C4B7E9"/>
                </a:solidFill>
              </a:rPr>
              <a:t>,</a:t>
            </a:r>
            <a:br>
              <a:rPr sz="3400"/>
            </a:br>
            <a:r>
              <a:t>  category</a:t>
            </a:r>
            <a:r>
              <a:rPr>
                <a:solidFill>
                  <a:srgbClr val="C4B7E9"/>
                </a:solidFill>
              </a:rPr>
              <a:t>:</a:t>
            </a:r>
            <a:r>
              <a:t> </a:t>
            </a:r>
            <a:r>
              <a:rPr>
                <a:solidFill>
                  <a:srgbClr val="C4B7E9"/>
                </a:solidFill>
              </a:rPr>
              <a:t>{</a:t>
            </a:r>
            <a:br>
              <a:rPr sz="3400"/>
            </a:br>
            <a:r>
              <a:t>    name</a:t>
            </a:r>
            <a:r>
              <a:rPr>
                <a:solidFill>
                  <a:srgbClr val="C4B7E9"/>
                </a:solidFill>
              </a:rPr>
              <a:t>:</a:t>
            </a:r>
            <a:r>
              <a:t> </a:t>
            </a:r>
            <a:r>
              <a:rPr>
                <a:solidFill>
                  <a:srgbClr val="FFC3E7"/>
                </a:solidFill>
              </a:rPr>
              <a:t>'allPatterns'</a:t>
            </a:r>
            <a:r>
              <a:rPr>
                <a:solidFill>
                  <a:srgbClr val="C4B7E9"/>
                </a:solidFill>
              </a:rPr>
              <a:t>,</a:t>
            </a:r>
            <a:br>
              <a:rPr sz="3400"/>
            </a:br>
            <a:r>
              <a:t>    label</a:t>
            </a:r>
            <a:r>
              <a:rPr>
                <a:solidFill>
                  <a:srgbClr val="C4B7E9"/>
                </a:solidFill>
              </a:rPr>
              <a:t>:</a:t>
            </a:r>
            <a:r>
              <a:t> </a:t>
            </a:r>
            <a:r>
              <a:rPr>
                <a:solidFill>
                  <a:srgbClr val="D2B0FF"/>
                </a:solidFill>
              </a:rPr>
              <a:t>_x</a:t>
            </a:r>
            <a:r>
              <a:rPr>
                <a:solidFill>
                  <a:srgbClr val="C4B7E9"/>
                </a:solidFill>
              </a:rPr>
              <a:t>(</a:t>
            </a:r>
            <a:r>
              <a:t> </a:t>
            </a:r>
            <a:r>
              <a:rPr>
                <a:solidFill>
                  <a:srgbClr val="FFC3E7"/>
                </a:solidFill>
              </a:rPr>
              <a:t>'All'</a:t>
            </a:r>
            <a:r>
              <a:rPr>
                <a:solidFill>
                  <a:srgbClr val="C4B7E9"/>
                </a:solidFill>
              </a:rPr>
              <a:t>,</a:t>
            </a:r>
            <a:r>
              <a:t> </a:t>
            </a:r>
            <a:r>
              <a:rPr>
                <a:solidFill>
                  <a:srgbClr val="FFC3E7"/>
                </a:solidFill>
              </a:rPr>
              <a:t>'patterns'</a:t>
            </a:r>
            <a:r>
              <a:t> </a:t>
            </a:r>
            <a:r>
              <a:rPr>
                <a:solidFill>
                  <a:srgbClr val="C4B7E9"/>
                </a:solidFill>
              </a:rPr>
              <a:t>),</a:t>
            </a:r>
            <a:br>
              <a:rPr sz="3400"/>
            </a:br>
            <a:r>
              <a:t>  </a:t>
            </a:r>
            <a:r>
              <a:rPr>
                <a:solidFill>
                  <a:srgbClr val="C4B7E9"/>
                </a:solidFill>
              </a:rPr>
              <a:t>},</a:t>
            </a:r>
            <a:br>
              <a:rPr sz="3400"/>
            </a:br>
            <a:r>
              <a:rPr>
                <a:solidFill>
                  <a:srgbClr val="C4B7E9"/>
                </a:solidFill>
              </a:rPr>
              <a:t>}</a:t>
            </a:r>
            <a:r>
              <a:t> </a:t>
            </a:r>
            <a:r>
              <a:rPr>
                <a:solidFill>
                  <a:srgbClr val="C4B7E9"/>
                </a:solidFill>
              </a:rPr>
              <a:t>);</a:t>
            </a:r>
            <a:br>
              <a:rPr sz="3400"/>
            </a:br>
          </a:p>
        </p:txBody>
      </p:sp>
      <p:sp>
        <p:nvSpPr>
          <p:cNvPr id="844" name="On a new empty page, the editor opens straight on the pattern library."/>
          <p:cNvSpPr txBox="1"/>
          <p:nvPr/>
        </p:nvSpPr>
        <p:spPr>
          <a:xfrm>
            <a:off x="1270000" y="10883899"/>
            <a:ext cx="21590000" cy="6223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50800" tIns="50800" rIns="50800" bIns="50800" anchor="ctr">
            <a:spAutoFit/>
          </a:bodyPr>
          <a:lstStyle>
            <a:lvl1pPr>
              <a:defRPr sz="3200">
                <a:solidFill>
                  <a:srgbClr val="220D44"/>
                </a:solidFill>
                <a:latin typeface="Geist"/>
                <a:ea typeface="Geist"/>
                <a:cs typeface="Geist"/>
                <a:sym typeface="Geist"/>
              </a:defRPr>
            </a:lvl1pPr>
          </a:lstStyle>
          <a:p>
            <a:pPr/>
            <a:r>
              <a:t>On a new empty page, the editor opens straight on the pattern library.</a:t>
            </a:r>
          </a:p>
        </p:txBody>
      </p:sp>
      <p:pic>
        <p:nvPicPr>
          <p:cNvPr id="845" name="prog-39.png" descr="prog-39.png"/>
          <p:cNvPicPr>
            <a:picLocks noChangeAspect="1"/>
          </p:cNvPicPr>
          <p:nvPr/>
        </p:nvPicPr>
        <p:blipFill>
          <a:blip r:embed="rId6">
            <a:extLst/>
          </a:blip>
          <a:stretch>
            <a:fillRect/>
          </a:stretch>
        </p:blipFill>
        <p:spPr>
          <a:xfrm>
            <a:off x="17170400" y="12395200"/>
            <a:ext cx="5842000" cy="406400"/>
          </a:xfrm>
          <a:prstGeom prst="rect">
            <a:avLst/>
          </a:prstGeom>
          <a:ln w="12700">
            <a:miter lim="400000"/>
          </a:ln>
        </p:spPr>
      </p:pic>
    </p:spTree>
  </p:cSld>
  <p:clrMapOvr>
    <a:masterClrMapping/>
  </p:clrMapOvr>
  <p:transition xmlns:p14="http://schemas.microsoft.com/office/powerpoint/2010/main" spd="med" advClick="1"/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49" name="bg.png" descr="bg.png"/>
          <p:cNvPicPr>
            <a:picLocks noChangeAspect="1"/>
          </p:cNvPicPr>
          <p:nvPr/>
        </p:nvPicPr>
        <p:blipFill>
          <a:blip r:embed="rId3">
            <a:extLst/>
          </a:blip>
          <a:stretch>
            <a:fillRect/>
          </a:stretch>
        </p:blipFill>
        <p:spPr>
          <a:xfrm>
            <a:off x="0" y="0"/>
            <a:ext cx="24384000" cy="13716000"/>
          </a:xfrm>
          <a:prstGeom prst="rect">
            <a:avLst/>
          </a:prstGeom>
          <a:ln w="12700">
            <a:miter lim="400000"/>
          </a:ln>
        </p:spPr>
      </p:pic>
      <p:sp>
        <p:nvSpPr>
          <p:cNvPr id="850" name="What does it look like?"/>
          <p:cNvSpPr txBox="1"/>
          <p:nvPr/>
        </p:nvSpPr>
        <p:spPr>
          <a:xfrm>
            <a:off x="1257300" y="1524000"/>
            <a:ext cx="5969000" cy="3886200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50800" tIns="50800" rIns="50800" bIns="50800" anchor="ctr">
            <a:spAutoFit/>
          </a:bodyPr>
          <a:lstStyle/>
          <a:p>
            <a:pPr>
              <a:defRPr sz="7600">
                <a:solidFill>
                  <a:srgbClr val="220D44"/>
                </a:solidFill>
                <a:latin typeface="Unbounded ExtraBold"/>
                <a:ea typeface="Unbounded ExtraBold"/>
                <a:cs typeface="Unbounded ExtraBold"/>
                <a:sym typeface="Unbounded ExtraBold"/>
              </a:defRPr>
            </a:pPr>
            <a:r>
              <a:t>What does it </a:t>
            </a:r>
            <a:r>
              <a:rPr i="1" sz="9800">
                <a:solidFill>
                  <a:srgbClr val="6033A6"/>
                </a:solidFill>
                <a:latin typeface="Instrument Serif"/>
                <a:ea typeface="Instrument Serif"/>
                <a:cs typeface="Instrument Serif"/>
                <a:sym typeface="Instrument Serif"/>
              </a:rPr>
              <a:t>look like?</a:t>
            </a:r>
          </a:p>
        </p:txBody>
      </p:sp>
      <p:sp>
        <p:nvSpPr>
          <p:cNvPr id="851" name="Going ACF-free"/>
          <p:cNvSpPr txBox="1"/>
          <p:nvPr/>
        </p:nvSpPr>
        <p:spPr>
          <a:xfrm>
            <a:off x="1320800" y="12344400"/>
            <a:ext cx="2451100" cy="4953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50800" tIns="50800" rIns="50800" bIns="50800" anchor="ctr">
            <a:spAutoFit/>
          </a:bodyPr>
          <a:lstStyle>
            <a:lvl1pPr>
              <a:defRPr sz="2400">
                <a:solidFill>
                  <a:srgbClr val="5D4E61"/>
                </a:solidFill>
                <a:latin typeface="Geist"/>
                <a:ea typeface="Geist"/>
                <a:cs typeface="Geist"/>
                <a:sym typeface="Geist"/>
              </a:defRPr>
            </a:lvl1pPr>
          </a:lstStyle>
          <a:p>
            <a:pPr/>
            <a:r>
              <a:t>Going ACF-free</a:t>
            </a:r>
          </a:p>
        </p:txBody>
      </p:sp>
      <p:pic>
        <p:nvPicPr>
          <p:cNvPr id="852" name="patterns-onboarding.png" descr="patterns-onboarding.png"/>
          <p:cNvPicPr>
            <a:picLocks noChangeAspect="1"/>
          </p:cNvPicPr>
          <p:nvPr/>
        </p:nvPicPr>
        <p:blipFill>
          <a:blip r:embed="rId4">
            <a:extLst/>
          </a:blip>
          <a:stretch>
            <a:fillRect/>
          </a:stretch>
        </p:blipFill>
        <p:spPr>
          <a:xfrm>
            <a:off x="7467600" y="1397000"/>
            <a:ext cx="15600089" cy="10312400"/>
          </a:xfrm>
          <a:prstGeom prst="rect">
            <a:avLst/>
          </a:prstGeom>
          <a:ln w="12700">
            <a:miter lim="400000"/>
          </a:ln>
        </p:spPr>
      </p:pic>
      <p:pic>
        <p:nvPicPr>
          <p:cNvPr id="853" name="prog-40.png" descr="prog-40.png"/>
          <p:cNvPicPr>
            <a:picLocks noChangeAspect="1"/>
          </p:cNvPicPr>
          <p:nvPr/>
        </p:nvPicPr>
        <p:blipFill>
          <a:blip r:embed="rId5">
            <a:extLst/>
          </a:blip>
          <a:stretch>
            <a:fillRect/>
          </a:stretch>
        </p:blipFill>
        <p:spPr>
          <a:xfrm>
            <a:off x="17170400" y="12395200"/>
            <a:ext cx="5842000" cy="406400"/>
          </a:xfrm>
          <a:prstGeom prst="rect">
            <a:avLst/>
          </a:prstGeom>
          <a:ln w="12700">
            <a:miter lim="400000"/>
          </a:ln>
        </p:spPr>
      </p:pic>
    </p:spTree>
  </p:cSld>
  <p:clrMapOvr>
    <a:masterClrMapping/>
  </p:clrMapOvr>
  <p:transition xmlns:p14="http://schemas.microsoft.com/office/powerpoint/2010/main" spd="med" advClick="1"/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57" name="bg.png" descr="bg.png"/>
          <p:cNvPicPr>
            <a:picLocks noChangeAspect="1"/>
          </p:cNvPicPr>
          <p:nvPr/>
        </p:nvPicPr>
        <p:blipFill>
          <a:blip r:embed="rId3">
            <a:extLst/>
          </a:blip>
          <a:stretch>
            <a:fillRect/>
          </a:stretch>
        </p:blipFill>
        <p:spPr>
          <a:xfrm>
            <a:off x="0" y="0"/>
            <a:ext cx="24384000" cy="13716000"/>
          </a:xfrm>
          <a:prstGeom prst="rect">
            <a:avLst/>
          </a:prstGeom>
          <a:ln w="12700">
            <a:miter lim="400000"/>
          </a:ln>
        </p:spPr>
      </p:pic>
      <p:sp>
        <p:nvSpPr>
          <p:cNvPr id="858" name="Learning this with your AI"/>
          <p:cNvSpPr txBox="1"/>
          <p:nvPr/>
        </p:nvSpPr>
        <p:spPr>
          <a:xfrm>
            <a:off x="1308100" y="2692399"/>
            <a:ext cx="22707600" cy="17145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50800" tIns="50800" rIns="50800" bIns="50800" anchor="ctr">
            <a:spAutoFit/>
          </a:bodyPr>
          <a:lstStyle/>
          <a:p>
            <a:pPr>
              <a:defRPr sz="7600">
                <a:solidFill>
                  <a:srgbClr val="220D44"/>
                </a:solidFill>
                <a:latin typeface="Unbounded ExtraBold"/>
                <a:ea typeface="Unbounded ExtraBold"/>
                <a:cs typeface="Unbounded ExtraBold"/>
                <a:sym typeface="Unbounded ExtraBold"/>
              </a:defRPr>
            </a:pPr>
            <a:r>
              <a:t>Learning this </a:t>
            </a:r>
            <a:r>
              <a:rPr i="1" sz="9800">
                <a:solidFill>
                  <a:srgbClr val="6033A6"/>
                </a:solidFill>
                <a:latin typeface="Instrument Serif"/>
                <a:ea typeface="Instrument Serif"/>
                <a:cs typeface="Instrument Serif"/>
                <a:sym typeface="Instrument Serif"/>
              </a:rPr>
              <a:t>with your AI</a:t>
            </a:r>
          </a:p>
        </p:txBody>
      </p:sp>
      <p:sp>
        <p:nvSpPr>
          <p:cNvPr id="859" name="—"/>
          <p:cNvSpPr txBox="1"/>
          <p:nvPr/>
        </p:nvSpPr>
        <p:spPr>
          <a:xfrm>
            <a:off x="1320800" y="5207000"/>
            <a:ext cx="990600" cy="7239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50800" tIns="50800" rIns="50800" bIns="50800" anchor="ctr">
            <a:spAutoFit/>
          </a:bodyPr>
          <a:lstStyle>
            <a:lvl1pPr>
              <a:defRPr i="1" sz="3800">
                <a:solidFill>
                  <a:srgbClr val="6033A6"/>
                </a:solidFill>
                <a:latin typeface="Geist"/>
                <a:ea typeface="Geist"/>
                <a:cs typeface="Geist"/>
                <a:sym typeface="Geist"/>
              </a:defRPr>
            </a:lvl1pPr>
          </a:lstStyle>
          <a:p>
            <a:pPr/>
            <a:r>
              <a:t>—</a:t>
            </a:r>
          </a:p>
        </p:txBody>
      </p:sp>
      <p:sp>
        <p:nvSpPr>
          <p:cNvPr id="860" name="There are many ways to build a block and the docs are scattered, so AI gets it wrong too."/>
          <p:cNvSpPr txBox="1"/>
          <p:nvPr/>
        </p:nvSpPr>
        <p:spPr>
          <a:xfrm>
            <a:off x="2082800" y="5207000"/>
            <a:ext cx="21031200" cy="7239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50800" tIns="50800" rIns="50800" bIns="50800" anchor="ctr">
            <a:spAutoFit/>
          </a:bodyPr>
          <a:lstStyle>
            <a:lvl1pPr>
              <a:defRPr sz="3800">
                <a:solidFill>
                  <a:srgbClr val="3D2644"/>
                </a:solidFill>
                <a:latin typeface="Geist"/>
                <a:ea typeface="Geist"/>
                <a:cs typeface="Geist"/>
                <a:sym typeface="Geist"/>
              </a:defRPr>
            </a:lvl1pPr>
          </a:lstStyle>
          <a:p>
            <a:pPr/>
            <a:r>
              <a:t>There are many ways to build a block and the docs are scattered, so AI gets it wrong too.</a:t>
            </a:r>
          </a:p>
        </p:txBody>
      </p:sp>
      <p:sp>
        <p:nvSpPr>
          <p:cNvPr id="861" name="—"/>
          <p:cNvSpPr txBox="1"/>
          <p:nvPr/>
        </p:nvSpPr>
        <p:spPr>
          <a:xfrm>
            <a:off x="1320800" y="6489700"/>
            <a:ext cx="990600" cy="7239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50800" tIns="50800" rIns="50800" bIns="50800" anchor="ctr">
            <a:spAutoFit/>
          </a:bodyPr>
          <a:lstStyle>
            <a:lvl1pPr>
              <a:defRPr i="1" sz="3800">
                <a:solidFill>
                  <a:srgbClr val="6033A6"/>
                </a:solidFill>
                <a:latin typeface="Geist"/>
                <a:ea typeface="Geist"/>
                <a:cs typeface="Geist"/>
                <a:sym typeface="Geist"/>
              </a:defRPr>
            </a:lvl1pPr>
          </a:lstStyle>
          <a:p>
            <a:pPr/>
            <a:r>
              <a:t>—</a:t>
            </a:r>
          </a:p>
        </p:txBody>
      </p:sp>
      <p:sp>
        <p:nvSpPr>
          <p:cNvPr id="862" name="AI makes mistakes. It often writes a React.js block, because that is what the official Block Editor Handbook “Build your first block” tutorial with @wordpress/create-block teaches."/>
          <p:cNvSpPr txBox="1"/>
          <p:nvPr/>
        </p:nvSpPr>
        <p:spPr>
          <a:xfrm>
            <a:off x="2082800" y="6489699"/>
            <a:ext cx="21031200" cy="128397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50800" tIns="50800" rIns="50800" bIns="50800" anchor="ctr">
            <a:spAutoFit/>
          </a:bodyPr>
          <a:lstStyle/>
          <a:p>
            <a:pPr>
              <a:defRPr sz="3800">
                <a:solidFill>
                  <a:srgbClr val="3D2644"/>
                </a:solidFill>
                <a:latin typeface="Geist"/>
                <a:ea typeface="Geist"/>
                <a:cs typeface="Geist"/>
                <a:sym typeface="Geist"/>
              </a:defRPr>
            </a:pPr>
            <a:r>
              <a:t>AI makes mistakes. It often writes a React.js block, because that is what the official Block Editor Handbook “Build your first block” tutorial with </a:t>
            </a:r>
            <a:r>
              <a:rPr sz="3400">
                <a:solidFill>
                  <a:srgbClr val="6033A6"/>
                </a:solidFill>
                <a:latin typeface="Geist Mono"/>
                <a:ea typeface="Geist Mono"/>
                <a:cs typeface="Geist Mono"/>
                <a:sym typeface="Geist Mono"/>
              </a:rPr>
              <a:t>@wordpress/create-block</a:t>
            </a:r>
            <a:r>
              <a:t> teaches.</a:t>
            </a:r>
          </a:p>
        </p:txBody>
      </p:sp>
      <p:sp>
        <p:nvSpPr>
          <p:cNvPr id="863" name="—"/>
          <p:cNvSpPr txBox="1"/>
          <p:nvPr/>
        </p:nvSpPr>
        <p:spPr>
          <a:xfrm>
            <a:off x="1320800" y="8331200"/>
            <a:ext cx="990600" cy="7239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50800" tIns="50800" rIns="50800" bIns="50800" anchor="ctr">
            <a:spAutoFit/>
          </a:bodyPr>
          <a:lstStyle>
            <a:lvl1pPr>
              <a:defRPr i="1" sz="3800">
                <a:solidFill>
                  <a:srgbClr val="6033A6"/>
                </a:solidFill>
                <a:latin typeface="Geist"/>
                <a:ea typeface="Geist"/>
                <a:cs typeface="Geist"/>
                <a:sym typeface="Geist"/>
              </a:defRPr>
            </a:lvl1pPr>
          </a:lstStyle>
          <a:p>
            <a:pPr/>
            <a:r>
              <a:t>—</a:t>
            </a:r>
          </a:p>
        </p:txBody>
      </p:sp>
      <p:sp>
        <p:nvSpPr>
          <p:cNvPr id="864" name="Tell it the order: core blocks, patterns, styles, and a custom block last."/>
          <p:cNvSpPr txBox="1"/>
          <p:nvPr/>
        </p:nvSpPr>
        <p:spPr>
          <a:xfrm>
            <a:off x="2082800" y="8331200"/>
            <a:ext cx="21031200" cy="7239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50800" tIns="50800" rIns="50800" bIns="50800" anchor="ctr">
            <a:spAutoFit/>
          </a:bodyPr>
          <a:lstStyle>
            <a:lvl1pPr>
              <a:defRPr sz="3800">
                <a:solidFill>
                  <a:srgbClr val="3D2644"/>
                </a:solidFill>
                <a:latin typeface="Geist"/>
                <a:ea typeface="Geist"/>
                <a:cs typeface="Geist"/>
                <a:sym typeface="Geist"/>
              </a:defRPr>
            </a:lvl1pPr>
          </a:lstStyle>
          <a:p>
            <a:pPr/>
            <a:r>
              <a:t>Tell it the order: core blocks, patterns, styles, and a custom block last.</a:t>
            </a:r>
          </a:p>
        </p:txBody>
      </p:sp>
      <p:sp>
        <p:nvSpPr>
          <p:cNvPr id="865" name="—"/>
          <p:cNvSpPr txBox="1"/>
          <p:nvPr/>
        </p:nvSpPr>
        <p:spPr>
          <a:xfrm>
            <a:off x="1320800" y="9613900"/>
            <a:ext cx="990600" cy="7239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50800" tIns="50800" rIns="50800" bIns="50800" anchor="ctr">
            <a:spAutoFit/>
          </a:bodyPr>
          <a:lstStyle>
            <a:lvl1pPr>
              <a:defRPr i="1" sz="3800">
                <a:solidFill>
                  <a:srgbClr val="6033A6"/>
                </a:solidFill>
                <a:latin typeface="Geist"/>
                <a:ea typeface="Geist"/>
                <a:cs typeface="Geist"/>
                <a:sym typeface="Geist"/>
              </a:defRPr>
            </a:lvl1pPr>
          </a:lstStyle>
          <a:p>
            <a:pPr/>
            <a:r>
              <a:t>—</a:t>
            </a:r>
          </a:p>
        </p:txBody>
      </p:sp>
      <p:sp>
        <p:nvSpPr>
          <p:cNvPr id="866" name="Make it show the handbook page it used, learn, review, check the code before you ship it."/>
          <p:cNvSpPr txBox="1"/>
          <p:nvPr/>
        </p:nvSpPr>
        <p:spPr>
          <a:xfrm>
            <a:off x="2082800" y="9613900"/>
            <a:ext cx="21031200" cy="7239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50800" tIns="50800" rIns="50800" bIns="50800" anchor="ctr">
            <a:spAutoFit/>
          </a:bodyPr>
          <a:lstStyle>
            <a:lvl1pPr>
              <a:defRPr sz="3800">
                <a:solidFill>
                  <a:srgbClr val="3D2644"/>
                </a:solidFill>
                <a:latin typeface="Geist"/>
                <a:ea typeface="Geist"/>
                <a:cs typeface="Geist"/>
                <a:sym typeface="Geist"/>
              </a:defRPr>
            </a:lvl1pPr>
          </a:lstStyle>
          <a:p>
            <a:pPr/>
            <a:r>
              <a:t>Make it show the handbook page it used, learn, review, check the code before you ship it.</a:t>
            </a:r>
          </a:p>
        </p:txBody>
      </p:sp>
      <p:sp>
        <p:nvSpPr>
          <p:cNvPr id="867" name="Going ACF-free"/>
          <p:cNvSpPr txBox="1"/>
          <p:nvPr/>
        </p:nvSpPr>
        <p:spPr>
          <a:xfrm>
            <a:off x="1320800" y="12344400"/>
            <a:ext cx="2451100" cy="4953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50800" tIns="50800" rIns="50800" bIns="50800" anchor="ctr">
            <a:spAutoFit/>
          </a:bodyPr>
          <a:lstStyle>
            <a:lvl1pPr>
              <a:defRPr sz="2400">
                <a:solidFill>
                  <a:srgbClr val="5D4E61"/>
                </a:solidFill>
                <a:latin typeface="Geist"/>
                <a:ea typeface="Geist"/>
                <a:cs typeface="Geist"/>
                <a:sym typeface="Geist"/>
              </a:defRPr>
            </a:lvl1pPr>
          </a:lstStyle>
          <a:p>
            <a:pPr/>
            <a:r>
              <a:t>Going ACF-free</a:t>
            </a:r>
          </a:p>
        </p:txBody>
      </p:sp>
      <p:pic>
        <p:nvPicPr>
          <p:cNvPr id="868" name="pasted-movie.png" descr="pasted-movie.png"/>
          <p:cNvPicPr>
            <a:picLocks noChangeAspect="1"/>
          </p:cNvPicPr>
          <p:nvPr/>
        </p:nvPicPr>
        <p:blipFill>
          <a:blip r:embed="rId4">
            <a:extLst/>
          </a:blip>
          <a:stretch>
            <a:fillRect/>
          </a:stretch>
        </p:blipFill>
        <p:spPr>
          <a:xfrm rot="19080428">
            <a:off x="19871380" y="-1938493"/>
            <a:ext cx="5306588" cy="5306587"/>
          </a:xfrm>
          <a:prstGeom prst="rect">
            <a:avLst/>
          </a:prstGeom>
          <a:ln w="12700">
            <a:miter lim="400000"/>
          </a:ln>
        </p:spPr>
      </p:pic>
      <p:pic>
        <p:nvPicPr>
          <p:cNvPr id="869" name="prog-41.png" descr="prog-41.png"/>
          <p:cNvPicPr>
            <a:picLocks noChangeAspect="1"/>
          </p:cNvPicPr>
          <p:nvPr/>
        </p:nvPicPr>
        <p:blipFill>
          <a:blip r:embed="rId5">
            <a:extLst/>
          </a:blip>
          <a:stretch>
            <a:fillRect/>
          </a:stretch>
        </p:blipFill>
        <p:spPr>
          <a:xfrm>
            <a:off x="17170400" y="12395200"/>
            <a:ext cx="5842000" cy="406400"/>
          </a:xfrm>
          <a:prstGeom prst="rect">
            <a:avLst/>
          </a:prstGeom>
          <a:ln w="12700">
            <a:miter lim="400000"/>
          </a:ln>
        </p:spPr>
      </p:pic>
    </p:spTree>
  </p:cSld>
  <p:clrMapOvr>
    <a:masterClrMapping/>
  </p:clrMapOvr>
  <p:transition xmlns:p14="http://schemas.microsoft.com/office/powerpoint/2010/main" spd="med" advClick="1"/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73" name="bg.png" descr="bg.png"/>
          <p:cNvPicPr>
            <a:picLocks noChangeAspect="1"/>
          </p:cNvPicPr>
          <p:nvPr/>
        </p:nvPicPr>
        <p:blipFill>
          <a:blip r:embed="rId3">
            <a:extLst/>
          </a:blip>
          <a:stretch>
            <a:fillRect/>
          </a:stretch>
        </p:blipFill>
        <p:spPr>
          <a:xfrm>
            <a:off x="0" y="0"/>
            <a:ext cx="24384000" cy="13716000"/>
          </a:xfrm>
          <a:prstGeom prst="rect">
            <a:avLst/>
          </a:prstGeom>
          <a:ln w="12700">
            <a:miter lim="400000"/>
          </a:ln>
        </p:spPr>
      </p:pic>
      <p:sp>
        <p:nvSpPr>
          <p:cNvPr id="874" name="When ACF still makes sense"/>
          <p:cNvSpPr txBox="1"/>
          <p:nvPr/>
        </p:nvSpPr>
        <p:spPr>
          <a:xfrm>
            <a:off x="1308100" y="2692399"/>
            <a:ext cx="22707600" cy="17145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50800" tIns="50800" rIns="50800" bIns="50800" anchor="ctr">
            <a:spAutoFit/>
          </a:bodyPr>
          <a:lstStyle/>
          <a:p>
            <a:pPr>
              <a:defRPr sz="7600">
                <a:solidFill>
                  <a:srgbClr val="220D44"/>
                </a:solidFill>
                <a:latin typeface="Unbounded ExtraBold"/>
                <a:ea typeface="Unbounded ExtraBold"/>
                <a:cs typeface="Unbounded ExtraBold"/>
                <a:sym typeface="Unbounded ExtraBold"/>
              </a:defRPr>
            </a:pPr>
            <a:r>
              <a:t>When ACF still </a:t>
            </a:r>
            <a:r>
              <a:rPr i="1" sz="9800">
                <a:solidFill>
                  <a:srgbClr val="6033A6"/>
                </a:solidFill>
                <a:latin typeface="Instrument Serif"/>
                <a:ea typeface="Instrument Serif"/>
                <a:cs typeface="Instrument Serif"/>
                <a:sym typeface="Instrument Serif"/>
              </a:rPr>
              <a:t>makes sense</a:t>
            </a:r>
          </a:p>
        </p:txBody>
      </p:sp>
      <p:sp>
        <p:nvSpPr>
          <p:cNvPr id="875" name="Settings pages"/>
          <p:cNvSpPr txBox="1"/>
          <p:nvPr/>
        </p:nvSpPr>
        <p:spPr>
          <a:xfrm>
            <a:off x="1295400" y="5079999"/>
            <a:ext cx="6731000" cy="7620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50800" tIns="50800" rIns="50800" bIns="50800" anchor="ctr">
            <a:spAutoFit/>
          </a:bodyPr>
          <a:lstStyle>
            <a:lvl1pPr>
              <a:defRPr sz="4200">
                <a:solidFill>
                  <a:srgbClr val="6033A6"/>
                </a:solidFill>
                <a:latin typeface="Unbounded SemiBold"/>
                <a:ea typeface="Unbounded SemiBold"/>
                <a:cs typeface="Unbounded SemiBold"/>
                <a:sym typeface="Unbounded SemiBold"/>
              </a:defRPr>
            </a:lvl1pPr>
          </a:lstStyle>
          <a:p>
            <a:pPr/>
            <a:r>
              <a:t>Settings pages</a:t>
            </a:r>
          </a:p>
        </p:txBody>
      </p:sp>
      <p:sp>
        <p:nvSpPr>
          <p:cNvPr id="876" name="With ACF, a page for site-wide settings takes a few lines. Without it, you code the whole page."/>
          <p:cNvSpPr txBox="1"/>
          <p:nvPr/>
        </p:nvSpPr>
        <p:spPr>
          <a:xfrm>
            <a:off x="1295400" y="5943600"/>
            <a:ext cx="6731000" cy="216916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50800" tIns="50800" rIns="50800" bIns="50800" anchor="ctr">
            <a:spAutoFit/>
          </a:bodyPr>
          <a:lstStyle>
            <a:lvl1pPr>
              <a:defRPr sz="3400">
                <a:solidFill>
                  <a:srgbClr val="3D2644"/>
                </a:solidFill>
                <a:latin typeface="Geist"/>
                <a:ea typeface="Geist"/>
                <a:cs typeface="Geist"/>
                <a:sym typeface="Geist"/>
              </a:defRPr>
            </a:lvl1pPr>
          </a:lstStyle>
          <a:p>
            <a:pPr/>
            <a:r>
              <a:t>With ACF, a page for site-wide settings takes a few lines. Without it, you code the whole page.</a:t>
            </a:r>
          </a:p>
        </p:txBody>
      </p:sp>
      <p:sp>
        <p:nvSpPr>
          <p:cNvPr id="877" name="Relations"/>
          <p:cNvSpPr txBox="1"/>
          <p:nvPr/>
        </p:nvSpPr>
        <p:spPr>
          <a:xfrm>
            <a:off x="8610600" y="5079999"/>
            <a:ext cx="6731000" cy="7620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50800" tIns="50800" rIns="50800" bIns="50800" anchor="ctr">
            <a:spAutoFit/>
          </a:bodyPr>
          <a:lstStyle>
            <a:lvl1pPr>
              <a:defRPr sz="4200">
                <a:solidFill>
                  <a:srgbClr val="6033A6"/>
                </a:solidFill>
                <a:latin typeface="Unbounded SemiBold"/>
                <a:ea typeface="Unbounded SemiBold"/>
                <a:cs typeface="Unbounded SemiBold"/>
                <a:sym typeface="Unbounded SemiBold"/>
              </a:defRPr>
            </a:lvl1pPr>
          </a:lstStyle>
          <a:p>
            <a:pPr/>
            <a:r>
              <a:t>Relations</a:t>
            </a:r>
          </a:p>
        </p:txBody>
      </p:sp>
      <p:sp>
        <p:nvSpPr>
          <p:cNvPr id="878" name="Linking posts together: ACF has a ready-made picker. With core it means coding it by hand."/>
          <p:cNvSpPr txBox="1"/>
          <p:nvPr/>
        </p:nvSpPr>
        <p:spPr>
          <a:xfrm>
            <a:off x="8610600" y="5943599"/>
            <a:ext cx="6731000" cy="166624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50800" tIns="50800" rIns="50800" bIns="50800" anchor="ctr">
            <a:spAutoFit/>
          </a:bodyPr>
          <a:lstStyle>
            <a:lvl1pPr>
              <a:defRPr sz="3400">
                <a:solidFill>
                  <a:srgbClr val="3D2644"/>
                </a:solidFill>
                <a:latin typeface="Geist"/>
                <a:ea typeface="Geist"/>
                <a:cs typeface="Geist"/>
                <a:sym typeface="Geist"/>
              </a:defRPr>
            </a:lvl1pPr>
          </a:lstStyle>
          <a:p>
            <a:pPr/>
            <a:r>
              <a:t>Linking posts together: ACF has a ready-made picker. With core it means coding it by hand.</a:t>
            </a:r>
          </a:p>
        </p:txBody>
      </p:sp>
      <p:sp>
        <p:nvSpPr>
          <p:cNvPr id="879" name="Advanced fields"/>
          <p:cNvSpPr txBox="1"/>
          <p:nvPr/>
        </p:nvSpPr>
        <p:spPr>
          <a:xfrm>
            <a:off x="15925800" y="5079999"/>
            <a:ext cx="6731000" cy="7620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50800" tIns="50800" rIns="50800" bIns="50800" anchor="ctr">
            <a:spAutoFit/>
          </a:bodyPr>
          <a:lstStyle>
            <a:lvl1pPr>
              <a:defRPr sz="4200">
                <a:solidFill>
                  <a:srgbClr val="6033A6"/>
                </a:solidFill>
                <a:latin typeface="Unbounded SemiBold"/>
                <a:ea typeface="Unbounded SemiBold"/>
                <a:cs typeface="Unbounded SemiBold"/>
                <a:sym typeface="Unbounded SemiBold"/>
              </a:defRPr>
            </a:lvl1pPr>
          </a:lstStyle>
          <a:p>
            <a:pPr/>
            <a:r>
              <a:t>Advanced fields</a:t>
            </a:r>
          </a:p>
        </p:txBody>
      </p:sp>
      <p:sp>
        <p:nvSpPr>
          <p:cNvPr id="880" name="Literally what the plugin was made for. If you need a field fast, ACF provides that for you."/>
          <p:cNvSpPr txBox="1"/>
          <p:nvPr/>
        </p:nvSpPr>
        <p:spPr>
          <a:xfrm>
            <a:off x="15925800" y="5943599"/>
            <a:ext cx="6731000" cy="166624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50800" tIns="50800" rIns="50800" bIns="50800" anchor="ctr">
            <a:spAutoFit/>
          </a:bodyPr>
          <a:lstStyle>
            <a:lvl1pPr>
              <a:defRPr sz="3400">
                <a:solidFill>
                  <a:srgbClr val="3D2644"/>
                </a:solidFill>
                <a:latin typeface="Geist"/>
                <a:ea typeface="Geist"/>
                <a:cs typeface="Geist"/>
                <a:sym typeface="Geist"/>
              </a:defRPr>
            </a:lvl1pPr>
          </a:lstStyle>
          <a:p>
            <a:pPr/>
            <a:r>
              <a:t>Literally what the plugin was made for. If you need a field fast, ACF provides that for you.</a:t>
            </a:r>
          </a:p>
        </p:txBody>
      </p:sp>
      <p:sp>
        <p:nvSpPr>
          <p:cNvPr id="881" name="Going ACF-free"/>
          <p:cNvSpPr txBox="1"/>
          <p:nvPr/>
        </p:nvSpPr>
        <p:spPr>
          <a:xfrm>
            <a:off x="1320800" y="12344400"/>
            <a:ext cx="2451100" cy="4953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50800" tIns="50800" rIns="50800" bIns="50800" anchor="ctr">
            <a:spAutoFit/>
          </a:bodyPr>
          <a:lstStyle>
            <a:lvl1pPr>
              <a:defRPr sz="2400">
                <a:solidFill>
                  <a:srgbClr val="5D4E61"/>
                </a:solidFill>
                <a:latin typeface="Geist"/>
                <a:ea typeface="Geist"/>
                <a:cs typeface="Geist"/>
                <a:sym typeface="Geist"/>
              </a:defRPr>
            </a:lvl1pPr>
          </a:lstStyle>
          <a:p>
            <a:pPr/>
            <a:r>
              <a:t>Going ACF-free</a:t>
            </a:r>
          </a:p>
        </p:txBody>
      </p:sp>
      <p:pic>
        <p:nvPicPr>
          <p:cNvPr id="882" name="prog-42.png" descr="prog-42.png"/>
          <p:cNvPicPr>
            <a:picLocks noChangeAspect="1"/>
          </p:cNvPicPr>
          <p:nvPr/>
        </p:nvPicPr>
        <p:blipFill>
          <a:blip r:embed="rId4">
            <a:extLst/>
          </a:blip>
          <a:stretch>
            <a:fillRect/>
          </a:stretch>
        </p:blipFill>
        <p:spPr>
          <a:xfrm>
            <a:off x="17170400" y="12395200"/>
            <a:ext cx="5842000" cy="406400"/>
          </a:xfrm>
          <a:prstGeom prst="rect">
            <a:avLst/>
          </a:prstGeom>
          <a:ln w="12700">
            <a:miter lim="400000"/>
          </a:ln>
        </p:spPr>
      </p:pic>
    </p:spTree>
  </p:cSld>
  <p:clrMapOvr>
    <a:masterClrMapping/>
  </p:clrMapOvr>
  <p:transition xmlns:p14="http://schemas.microsoft.com/office/powerpoint/2010/main" spd="med" advClick="1"/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86" name="bg.png" descr="bg.png"/>
          <p:cNvPicPr>
            <a:picLocks noChangeAspect="1"/>
          </p:cNvPicPr>
          <p:nvPr/>
        </p:nvPicPr>
        <p:blipFill>
          <a:blip r:embed="rId2">
            <a:extLst/>
          </a:blip>
          <a:stretch>
            <a:fillRect/>
          </a:stretch>
        </p:blipFill>
        <p:spPr>
          <a:xfrm>
            <a:off x="0" y="0"/>
            <a:ext cx="24384000" cy="13716000"/>
          </a:xfrm>
          <a:prstGeom prst="rect">
            <a:avLst/>
          </a:prstGeom>
          <a:ln w="12700">
            <a:miter lim="400000"/>
          </a:ln>
        </p:spPr>
      </p:pic>
      <p:sp>
        <p:nvSpPr>
          <p:cNvPr id="887" name="Further reading"/>
          <p:cNvSpPr txBox="1"/>
          <p:nvPr/>
        </p:nvSpPr>
        <p:spPr>
          <a:xfrm>
            <a:off x="1308100" y="2692399"/>
            <a:ext cx="22707600" cy="17145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50800" tIns="50800" rIns="50800" bIns="50800" anchor="ctr">
            <a:spAutoFit/>
          </a:bodyPr>
          <a:lstStyle/>
          <a:p>
            <a:pPr>
              <a:defRPr sz="7600">
                <a:solidFill>
                  <a:srgbClr val="220D44"/>
                </a:solidFill>
                <a:latin typeface="Unbounded ExtraBold"/>
                <a:ea typeface="Unbounded ExtraBold"/>
                <a:cs typeface="Unbounded ExtraBold"/>
                <a:sym typeface="Unbounded ExtraBold"/>
              </a:defRPr>
            </a:pPr>
            <a:r>
              <a:t>Further </a:t>
            </a:r>
            <a:r>
              <a:rPr i="1" sz="9800">
                <a:solidFill>
                  <a:srgbClr val="6033A6"/>
                </a:solidFill>
                <a:latin typeface="Instrument Serif"/>
                <a:ea typeface="Instrument Serif"/>
                <a:cs typeface="Instrument Serif"/>
                <a:sym typeface="Instrument Serif"/>
              </a:rPr>
              <a:t>reading</a:t>
            </a:r>
          </a:p>
        </p:txBody>
      </p:sp>
      <p:sp>
        <p:nvSpPr>
          <p:cNvPr id="888" name="Going ACF-free"/>
          <p:cNvSpPr txBox="1"/>
          <p:nvPr/>
        </p:nvSpPr>
        <p:spPr>
          <a:xfrm>
            <a:off x="1320800" y="12344400"/>
            <a:ext cx="2451100" cy="4953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50800" tIns="50800" rIns="50800" bIns="50800" anchor="ctr">
            <a:spAutoFit/>
          </a:bodyPr>
          <a:lstStyle>
            <a:lvl1pPr>
              <a:defRPr sz="2400">
                <a:solidFill>
                  <a:srgbClr val="5D4E61"/>
                </a:solidFill>
                <a:latin typeface="Geist"/>
                <a:ea typeface="Geist"/>
                <a:cs typeface="Geist"/>
                <a:sym typeface="Geist"/>
              </a:defRPr>
            </a:lvl1pPr>
          </a:lstStyle>
          <a:p>
            <a:pPr/>
            <a:r>
              <a:t>Going ACF-free</a:t>
            </a:r>
          </a:p>
        </p:txBody>
      </p:sp>
      <p:sp>
        <p:nvSpPr>
          <p:cNvPr id="889" name="fullsiteediting.com"/>
          <p:cNvSpPr txBox="1"/>
          <p:nvPr/>
        </p:nvSpPr>
        <p:spPr>
          <a:xfrm>
            <a:off x="1270000" y="4508500"/>
            <a:ext cx="10922000" cy="5969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50800" tIns="50800" rIns="50800" bIns="50800" anchor="ctr">
            <a:spAutoFit/>
          </a:bodyPr>
          <a:lstStyle>
            <a:lvl1pPr>
              <a:defRPr sz="3000">
                <a:solidFill>
                  <a:srgbClr val="6033A6"/>
                </a:solidFill>
                <a:latin typeface="Geist Mono"/>
                <a:ea typeface="Geist Mono"/>
                <a:cs typeface="Geist Mono"/>
                <a:sym typeface="Geist Mono"/>
              </a:defRPr>
            </a:lvl1pPr>
          </a:lstStyle>
          <a:p>
            <a:pPr/>
            <a:r>
              <a:t>fullsiteediting.com</a:t>
            </a:r>
          </a:p>
        </p:txBody>
      </p:sp>
      <p:sp>
        <p:nvSpPr>
          <p:cNvPr id="890" name="Carolina Nymark’s lessons on blocks and block themes."/>
          <p:cNvSpPr txBox="1"/>
          <p:nvPr/>
        </p:nvSpPr>
        <p:spPr>
          <a:xfrm>
            <a:off x="1270000" y="5206999"/>
            <a:ext cx="10922000" cy="6223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50800" tIns="50800" rIns="50800" bIns="50800" anchor="ctr">
            <a:spAutoFit/>
          </a:bodyPr>
          <a:lstStyle>
            <a:lvl1pPr>
              <a:defRPr sz="3200">
                <a:solidFill>
                  <a:srgbClr val="220D44"/>
                </a:solidFill>
                <a:latin typeface="Geist"/>
                <a:ea typeface="Geist"/>
                <a:cs typeface="Geist"/>
                <a:sym typeface="Geist"/>
              </a:defRPr>
            </a:lvl1pPr>
          </a:lstStyle>
          <a:p>
            <a:pPr/>
            <a:r>
              <a:t>Carolina Nymark’s lessons on blocks and block themes.</a:t>
            </a:r>
          </a:p>
        </p:txBody>
      </p:sp>
      <p:sp>
        <p:nvSpPr>
          <p:cNvPr id="891" name="gutenberg.10up.com"/>
          <p:cNvSpPr txBox="1"/>
          <p:nvPr/>
        </p:nvSpPr>
        <p:spPr>
          <a:xfrm>
            <a:off x="12750800" y="4508500"/>
            <a:ext cx="10922000" cy="5969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50800" tIns="50800" rIns="50800" bIns="50800" anchor="ctr">
            <a:spAutoFit/>
          </a:bodyPr>
          <a:lstStyle>
            <a:lvl1pPr>
              <a:defRPr sz="3000">
                <a:solidFill>
                  <a:srgbClr val="6033A6"/>
                </a:solidFill>
                <a:latin typeface="Geist Mono"/>
                <a:ea typeface="Geist Mono"/>
                <a:cs typeface="Geist Mono"/>
                <a:sym typeface="Geist Mono"/>
              </a:defRPr>
            </a:lvl1pPr>
          </a:lstStyle>
          <a:p>
            <a:pPr/>
            <a:r>
              <a:t>gutenberg.10up.com</a:t>
            </a:r>
          </a:p>
        </p:txBody>
      </p:sp>
      <p:sp>
        <p:nvSpPr>
          <p:cNvPr id="892" name="10up’s Block Editor Best Practices."/>
          <p:cNvSpPr txBox="1"/>
          <p:nvPr/>
        </p:nvSpPr>
        <p:spPr>
          <a:xfrm>
            <a:off x="12750800" y="5206999"/>
            <a:ext cx="10922000" cy="6223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50800" tIns="50800" rIns="50800" bIns="50800" anchor="ctr">
            <a:spAutoFit/>
          </a:bodyPr>
          <a:lstStyle>
            <a:lvl1pPr>
              <a:defRPr sz="3200">
                <a:solidFill>
                  <a:srgbClr val="220D44"/>
                </a:solidFill>
                <a:latin typeface="Geist"/>
                <a:ea typeface="Geist"/>
                <a:cs typeface="Geist"/>
                <a:sym typeface="Geist"/>
              </a:defRPr>
            </a:lvl1pPr>
          </a:lstStyle>
          <a:p>
            <a:pPr/>
            <a:r>
              <a:t>10up’s Block Editor Best Practices.</a:t>
            </a:r>
          </a:p>
        </p:txBody>
      </p:sp>
      <p:sp>
        <p:nvSpPr>
          <p:cNvPr id="893" name="developer.wordpress.org/news"/>
          <p:cNvSpPr txBox="1"/>
          <p:nvPr/>
        </p:nvSpPr>
        <p:spPr>
          <a:xfrm>
            <a:off x="1270000" y="6731000"/>
            <a:ext cx="10922000" cy="5969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50800" tIns="50800" rIns="50800" bIns="50800" anchor="ctr">
            <a:spAutoFit/>
          </a:bodyPr>
          <a:lstStyle>
            <a:lvl1pPr>
              <a:defRPr sz="3000">
                <a:solidFill>
                  <a:srgbClr val="6033A6"/>
                </a:solidFill>
                <a:latin typeface="Geist Mono"/>
                <a:ea typeface="Geist Mono"/>
                <a:cs typeface="Geist Mono"/>
                <a:sym typeface="Geist Mono"/>
              </a:defRPr>
            </a:lvl1pPr>
          </a:lstStyle>
          <a:p>
            <a:pPr/>
            <a:r>
              <a:t>developer.wordpress.org/news</a:t>
            </a:r>
          </a:p>
        </p:txBody>
      </p:sp>
      <p:sp>
        <p:nvSpPr>
          <p:cNvPr id="894" name="The WordPress Developer Blog."/>
          <p:cNvSpPr txBox="1"/>
          <p:nvPr/>
        </p:nvSpPr>
        <p:spPr>
          <a:xfrm>
            <a:off x="1270000" y="7429499"/>
            <a:ext cx="10922000" cy="6223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50800" tIns="50800" rIns="50800" bIns="50800" anchor="ctr">
            <a:spAutoFit/>
          </a:bodyPr>
          <a:lstStyle>
            <a:lvl1pPr>
              <a:defRPr sz="3200">
                <a:solidFill>
                  <a:srgbClr val="220D44"/>
                </a:solidFill>
                <a:latin typeface="Geist"/>
                <a:ea typeface="Geist"/>
                <a:cs typeface="Geist"/>
                <a:sym typeface="Geist"/>
              </a:defRPr>
            </a:lvl1pPr>
          </a:lstStyle>
          <a:p>
            <a:pPr/>
            <a:r>
              <a:t>The WordPress Developer Blog.</a:t>
            </a:r>
          </a:p>
        </p:txBody>
      </p:sp>
      <p:sp>
        <p:nvSpPr>
          <p:cNvPr id="895" name="developer.wordpress.org/block-editor"/>
          <p:cNvSpPr txBox="1"/>
          <p:nvPr/>
        </p:nvSpPr>
        <p:spPr>
          <a:xfrm>
            <a:off x="12750800" y="6731000"/>
            <a:ext cx="10922000" cy="5969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50800" tIns="50800" rIns="50800" bIns="50800" anchor="ctr">
            <a:spAutoFit/>
          </a:bodyPr>
          <a:lstStyle>
            <a:lvl1pPr>
              <a:defRPr sz="3000">
                <a:solidFill>
                  <a:srgbClr val="6033A6"/>
                </a:solidFill>
                <a:latin typeface="Geist Mono"/>
                <a:ea typeface="Geist Mono"/>
                <a:cs typeface="Geist Mono"/>
                <a:sym typeface="Geist Mono"/>
              </a:defRPr>
            </a:lvl1pPr>
          </a:lstStyle>
          <a:p>
            <a:pPr/>
            <a:r>
              <a:t>developer.wordpress.org/block-editor</a:t>
            </a:r>
          </a:p>
        </p:txBody>
      </p:sp>
      <p:sp>
        <p:nvSpPr>
          <p:cNvPr id="896" name="The Block Editor Handbook."/>
          <p:cNvSpPr txBox="1"/>
          <p:nvPr/>
        </p:nvSpPr>
        <p:spPr>
          <a:xfrm>
            <a:off x="12750800" y="7429499"/>
            <a:ext cx="10922000" cy="6223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50800" tIns="50800" rIns="50800" bIns="50800" anchor="ctr">
            <a:spAutoFit/>
          </a:bodyPr>
          <a:lstStyle>
            <a:lvl1pPr>
              <a:defRPr sz="3200">
                <a:solidFill>
                  <a:srgbClr val="220D44"/>
                </a:solidFill>
                <a:latin typeface="Geist"/>
                <a:ea typeface="Geist"/>
                <a:cs typeface="Geist"/>
                <a:sym typeface="Geist"/>
              </a:defRPr>
            </a:lvl1pPr>
          </a:lstStyle>
          <a:p>
            <a:pPr/>
            <a:r>
              <a:t>The Block Editor Handbook.</a:t>
            </a:r>
          </a:p>
        </p:txBody>
      </p:sp>
      <p:sp>
        <p:nvSpPr>
          <p:cNvPr id="897" name="learn.wordpress.org"/>
          <p:cNvSpPr txBox="1"/>
          <p:nvPr/>
        </p:nvSpPr>
        <p:spPr>
          <a:xfrm>
            <a:off x="1270000" y="8953500"/>
            <a:ext cx="10922000" cy="5969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50800" tIns="50800" rIns="50800" bIns="50800" anchor="ctr">
            <a:spAutoFit/>
          </a:bodyPr>
          <a:lstStyle>
            <a:lvl1pPr>
              <a:defRPr sz="3000">
                <a:solidFill>
                  <a:srgbClr val="6033A6"/>
                </a:solidFill>
                <a:latin typeface="Geist Mono"/>
                <a:ea typeface="Geist Mono"/>
                <a:cs typeface="Geist Mono"/>
                <a:sym typeface="Geist Mono"/>
              </a:defRPr>
            </a:lvl1pPr>
          </a:lstStyle>
          <a:p>
            <a:pPr/>
            <a:r>
              <a:t>learn.wordpress.org</a:t>
            </a:r>
          </a:p>
        </p:txBody>
      </p:sp>
      <p:sp>
        <p:nvSpPr>
          <p:cNvPr id="898" name="Free courses and lessons."/>
          <p:cNvSpPr txBox="1"/>
          <p:nvPr/>
        </p:nvSpPr>
        <p:spPr>
          <a:xfrm>
            <a:off x="1270000" y="9651999"/>
            <a:ext cx="10922000" cy="6223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50800" tIns="50800" rIns="50800" bIns="50800" anchor="ctr">
            <a:spAutoFit/>
          </a:bodyPr>
          <a:lstStyle>
            <a:lvl1pPr>
              <a:defRPr sz="3200">
                <a:solidFill>
                  <a:srgbClr val="220D44"/>
                </a:solidFill>
                <a:latin typeface="Geist"/>
                <a:ea typeface="Geist"/>
                <a:cs typeface="Geist"/>
                <a:sym typeface="Geist"/>
              </a:defRPr>
            </a:lvl1pPr>
          </a:lstStyle>
          <a:p>
            <a:pPr/>
            <a:r>
              <a:t>Free courses and lessons.</a:t>
            </a:r>
          </a:p>
        </p:txBody>
      </p:sp>
      <p:sp>
        <p:nvSpPr>
          <p:cNvPr id="899" name="github.com/digitoimistodude/air-light"/>
          <p:cNvSpPr txBox="1"/>
          <p:nvPr/>
        </p:nvSpPr>
        <p:spPr>
          <a:xfrm>
            <a:off x="12750800" y="8953500"/>
            <a:ext cx="10922000" cy="5969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50800" tIns="50800" rIns="50800" bIns="50800" anchor="ctr">
            <a:spAutoFit/>
          </a:bodyPr>
          <a:lstStyle>
            <a:lvl1pPr>
              <a:defRPr sz="3000">
                <a:solidFill>
                  <a:srgbClr val="6033A6"/>
                </a:solidFill>
                <a:latin typeface="Geist Mono"/>
                <a:ea typeface="Geist Mono"/>
                <a:cs typeface="Geist Mono"/>
                <a:sym typeface="Geist Mono"/>
              </a:defRPr>
            </a:lvl1pPr>
          </a:lstStyle>
          <a:p>
            <a:pPr/>
            <a:r>
              <a:t>github.com/digitoimistodude/air-light</a:t>
            </a:r>
          </a:p>
        </p:txBody>
      </p:sp>
      <p:sp>
        <p:nvSpPr>
          <p:cNvPr id="900" name="Our ACF-free WordPress starter theme for devs."/>
          <p:cNvSpPr txBox="1"/>
          <p:nvPr/>
        </p:nvSpPr>
        <p:spPr>
          <a:xfrm>
            <a:off x="12750800" y="9651999"/>
            <a:ext cx="10922000" cy="6223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50800" tIns="50800" rIns="50800" bIns="50800" anchor="ctr">
            <a:spAutoFit/>
          </a:bodyPr>
          <a:lstStyle>
            <a:lvl1pPr>
              <a:defRPr sz="3200">
                <a:solidFill>
                  <a:srgbClr val="220D44"/>
                </a:solidFill>
                <a:latin typeface="Geist"/>
                <a:ea typeface="Geist"/>
                <a:cs typeface="Geist"/>
                <a:sym typeface="Geist"/>
              </a:defRPr>
            </a:lvl1pPr>
          </a:lstStyle>
          <a:p>
            <a:pPr/>
            <a:r>
              <a:t>Our ACF-free WordPress starter theme for devs.</a:t>
            </a:r>
          </a:p>
        </p:txBody>
      </p:sp>
      <p:pic>
        <p:nvPicPr>
          <p:cNvPr id="901" name="prog-43.png" descr="prog-43.png"/>
          <p:cNvPicPr>
            <a:picLocks noChangeAspect="1"/>
          </p:cNvPicPr>
          <p:nvPr/>
        </p:nvPicPr>
        <p:blipFill>
          <a:blip r:embed="rId3">
            <a:extLst/>
          </a:blip>
          <a:stretch>
            <a:fillRect/>
          </a:stretch>
        </p:blipFill>
        <p:spPr>
          <a:xfrm>
            <a:off x="17170400" y="12395200"/>
            <a:ext cx="5842000" cy="406400"/>
          </a:xfrm>
          <a:prstGeom prst="rect">
            <a:avLst/>
          </a:prstGeom>
          <a:ln w="12700">
            <a:miter lim="400000"/>
          </a:ln>
        </p:spPr>
      </p:pic>
    </p:spTree>
  </p:cSld>
  <p:clrMapOvr>
    <a:masterClrMapping/>
  </p:clrMapOvr>
  <p:transition xmlns:p14="http://schemas.microsoft.com/office/powerpoint/2010/main" spd="med" advClick="1"/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03" name="bg.png" descr="bg.png"/>
          <p:cNvPicPr>
            <a:picLocks noChangeAspect="1"/>
          </p:cNvPicPr>
          <p:nvPr/>
        </p:nvPicPr>
        <p:blipFill>
          <a:blip r:embed="rId2">
            <a:extLst/>
          </a:blip>
          <a:stretch>
            <a:fillRect/>
          </a:stretch>
        </p:blipFill>
        <p:spPr>
          <a:xfrm>
            <a:off x="0" y="0"/>
            <a:ext cx="24384000" cy="13716000"/>
          </a:xfrm>
          <a:prstGeom prst="rect">
            <a:avLst/>
          </a:prstGeom>
          <a:ln w="12700">
            <a:miter lim="400000"/>
          </a:ln>
        </p:spPr>
      </p:pic>
      <p:sp>
        <p:nvSpPr>
          <p:cNvPr id="904" name="Kiitos."/>
          <p:cNvSpPr txBox="1"/>
          <p:nvPr/>
        </p:nvSpPr>
        <p:spPr>
          <a:xfrm>
            <a:off x="1295400" y="4381499"/>
            <a:ext cx="22707600" cy="15621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50800" tIns="50800" rIns="50800" bIns="50800" anchor="ctr">
            <a:spAutoFit/>
          </a:bodyPr>
          <a:lstStyle>
            <a:lvl1pPr>
              <a:defRPr sz="9200">
                <a:solidFill>
                  <a:srgbClr val="220D44"/>
                </a:solidFill>
                <a:latin typeface="Unbounded ExtraBold"/>
                <a:ea typeface="Unbounded ExtraBold"/>
                <a:cs typeface="Unbounded ExtraBold"/>
                <a:sym typeface="Unbounded ExtraBold"/>
              </a:defRPr>
            </a:lvl1pPr>
          </a:lstStyle>
          <a:p>
            <a:pPr/>
            <a:r>
              <a:t>Kiitos.</a:t>
            </a:r>
          </a:p>
        </p:txBody>
      </p:sp>
      <p:sp>
        <p:nvSpPr>
          <p:cNvPr id="905" name="Questions?"/>
          <p:cNvSpPr txBox="1"/>
          <p:nvPr/>
        </p:nvSpPr>
        <p:spPr>
          <a:xfrm>
            <a:off x="1308100" y="5346699"/>
            <a:ext cx="22707600" cy="20574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50800" tIns="50800" rIns="50800" bIns="50800" anchor="ctr">
            <a:spAutoFit/>
          </a:bodyPr>
          <a:lstStyle>
            <a:lvl1pPr>
              <a:defRPr i="1" sz="11800">
                <a:solidFill>
                  <a:srgbClr val="6033A6"/>
                </a:solidFill>
                <a:latin typeface="Instrument Serif"/>
                <a:ea typeface="Instrument Serif"/>
                <a:cs typeface="Instrument Serif"/>
                <a:sym typeface="Instrument Serif"/>
              </a:defRPr>
            </a:lvl1pPr>
          </a:lstStyle>
          <a:p>
            <a:pPr/>
            <a:r>
              <a:t>Questions?</a:t>
            </a:r>
          </a:p>
        </p:txBody>
      </p:sp>
      <p:sp>
        <p:nvSpPr>
          <p:cNvPr id="906" name="Rolle Laukkarinen"/>
          <p:cNvSpPr txBox="1"/>
          <p:nvPr/>
        </p:nvSpPr>
        <p:spPr>
          <a:xfrm>
            <a:off x="1320800" y="7505699"/>
            <a:ext cx="22707600" cy="6985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50800" tIns="50800" rIns="50800" bIns="50800" anchor="ctr">
            <a:spAutoFit/>
          </a:bodyPr>
          <a:lstStyle>
            <a:lvl1pPr>
              <a:defRPr sz="3600">
                <a:solidFill>
                  <a:srgbClr val="4B3051"/>
                </a:solidFill>
                <a:latin typeface="Geist"/>
                <a:ea typeface="Geist"/>
                <a:cs typeface="Geist"/>
                <a:sym typeface="Geist"/>
              </a:defRPr>
            </a:lvl1pPr>
          </a:lstStyle>
          <a:p>
            <a:pPr/>
            <a:r>
              <a:t>Rolle Laukkarinen</a:t>
            </a:r>
          </a:p>
        </p:txBody>
      </p:sp>
      <p:sp>
        <p:nvSpPr>
          <p:cNvPr id="907" name="rolle.social · dude.fi · github.com/rollecode"/>
          <p:cNvSpPr txBox="1"/>
          <p:nvPr/>
        </p:nvSpPr>
        <p:spPr>
          <a:xfrm>
            <a:off x="1320800" y="8127999"/>
            <a:ext cx="22707600" cy="6985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50800" tIns="50800" rIns="50800" bIns="50800" anchor="ctr">
            <a:spAutoFit/>
          </a:bodyPr>
          <a:lstStyle>
            <a:lvl1pPr>
              <a:defRPr sz="3600">
                <a:solidFill>
                  <a:srgbClr val="4B3051"/>
                </a:solidFill>
                <a:latin typeface="Geist"/>
                <a:ea typeface="Geist"/>
                <a:cs typeface="Geist"/>
                <a:sym typeface="Geist"/>
              </a:defRPr>
            </a:lvl1pPr>
          </a:lstStyle>
          <a:p>
            <a:pPr/>
            <a:r>
              <a:t>rolle.social · dude.fi · github.com/rollecode</a:t>
            </a:r>
          </a:p>
        </p:txBody>
      </p:sp>
      <p:sp>
        <p:nvSpPr>
          <p:cNvPr id="908" name="Going ACF-free"/>
          <p:cNvSpPr txBox="1"/>
          <p:nvPr/>
        </p:nvSpPr>
        <p:spPr>
          <a:xfrm>
            <a:off x="1320800" y="12344400"/>
            <a:ext cx="2451100" cy="4953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50800" tIns="50800" rIns="50800" bIns="50800" anchor="ctr">
            <a:spAutoFit/>
          </a:bodyPr>
          <a:lstStyle>
            <a:lvl1pPr>
              <a:defRPr sz="2400">
                <a:solidFill>
                  <a:srgbClr val="5D4E61"/>
                </a:solidFill>
                <a:latin typeface="Geist"/>
                <a:ea typeface="Geist"/>
                <a:cs typeface="Geist"/>
                <a:sym typeface="Geist"/>
              </a:defRPr>
            </a:lvl1pPr>
          </a:lstStyle>
          <a:p>
            <a:pPr/>
            <a:r>
              <a:t>Going ACF-free</a:t>
            </a:r>
          </a:p>
        </p:txBody>
      </p:sp>
      <p:sp>
        <p:nvSpPr>
          <p:cNvPr id="909" name="Slides: github.com/rollecode/wpsuomi2026-talk-slides"/>
          <p:cNvSpPr txBox="1"/>
          <p:nvPr/>
        </p:nvSpPr>
        <p:spPr>
          <a:xfrm>
            <a:off x="1320799" y="8750299"/>
            <a:ext cx="11692891" cy="6985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wrap="none" lIns="50800" tIns="50800" rIns="50800" bIns="50800" anchor="ctr">
            <a:spAutoFit/>
          </a:bodyPr>
          <a:lstStyle/>
          <a:p>
            <a:pPr>
              <a:defRPr sz="3600">
                <a:solidFill>
                  <a:srgbClr val="4B3051"/>
                </a:solidFill>
                <a:latin typeface="Geist"/>
                <a:ea typeface="Geist"/>
                <a:cs typeface="Geist"/>
                <a:sym typeface="Geist"/>
              </a:defRPr>
            </a:pPr>
            <a:r>
              <a:t>Slides: </a:t>
            </a:r>
            <a:r>
              <a:rPr u="sng">
                <a:hlinkClick r:id="rId3" invalidUrl="" action="" tgtFrame="" tooltip="" history="1" highlightClick="0" endSnd="0"/>
              </a:rPr>
              <a:t>github.com/rollecode/wpsuomi2026-talk-slides</a:t>
            </a:r>
          </a:p>
        </p:txBody>
      </p:sp>
      <p:pic>
        <p:nvPicPr>
          <p:cNvPr id="910" name="prog-44.png" descr="prog-44.png"/>
          <p:cNvPicPr>
            <a:picLocks noChangeAspect="1"/>
          </p:cNvPicPr>
          <p:nvPr/>
        </p:nvPicPr>
        <p:blipFill>
          <a:blip r:embed="rId4">
            <a:extLst/>
          </a:blip>
          <a:stretch>
            <a:fillRect/>
          </a:stretch>
        </p:blipFill>
        <p:spPr>
          <a:xfrm>
            <a:off x="17170400" y="12395200"/>
            <a:ext cx="5842000" cy="406400"/>
          </a:xfrm>
          <a:prstGeom prst="rect">
            <a:avLst/>
          </a:prstGeom>
          <a:ln w="12700">
            <a:miter lim="400000"/>
          </a:ln>
        </p:spPr>
      </p:pic>
    </p:spTree>
  </p:cSld>
  <p:clrMapOvr>
    <a:masterClrMapping/>
  </p:clrMapOvr>
  <p:transition xmlns:p14="http://schemas.microsoft.com/office/powerpoint/2010/main" spd="med" advClick="1"/>
</p:sld>
</file>

<file path=ppt/theme/theme1.xml><?xml version="1.0" encoding="utf-8"?>
<a:theme xmlns:a="http://schemas.openxmlformats.org/drawingml/2006/main" xmlns:r="http://schemas.openxmlformats.org/officeDocument/2006/relationships" name="21_BasicWhite">
  <a:themeElements>
    <a:clrScheme name="21_BasicWhite">
      <a:dk1>
        <a:srgbClr val="000000"/>
      </a:dk1>
      <a:lt1>
        <a:srgbClr val="FFFFFF"/>
      </a:lt1>
      <a:dk2>
        <a:srgbClr val="5E5E5E"/>
      </a:dk2>
      <a:lt2>
        <a:srgbClr val="D5D5D5"/>
      </a:lt2>
      <a:accent1>
        <a:srgbClr val="00A2FF"/>
      </a:accent1>
      <a:accent2>
        <a:srgbClr val="16E7CF"/>
      </a:accent2>
      <a:accent3>
        <a:srgbClr val="61D836"/>
      </a:accent3>
      <a:accent4>
        <a:srgbClr val="FFD932"/>
      </a:accent4>
      <a:accent5>
        <a:srgbClr val="FF644E"/>
      </a:accent5>
      <a:accent6>
        <a:srgbClr val="FF42A1"/>
      </a:accent6>
      <a:hlink>
        <a:srgbClr val="0000FF"/>
      </a:hlink>
      <a:folHlink>
        <a:srgbClr val="FF00FF"/>
      </a:folHlink>
    </a:clrScheme>
    <a:fontScheme name="21_BasicWhite">
      <a:majorFont>
        <a:latin typeface="Helvetica Neue"/>
        <a:ea typeface="Helvetica Neue"/>
        <a:cs typeface="Helvetica Neue"/>
      </a:majorFont>
      <a:minorFont>
        <a:latin typeface="Helvetica Neue"/>
        <a:ea typeface="Helvetica Neue"/>
        <a:cs typeface="Helvetica Neue"/>
      </a:minorFont>
    </a:fontScheme>
    <a:fmtScheme name="21_BasicWhit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29999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4999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>
        <a:solidFill>
          <a:srgbClr val="000000"/>
        </a:solidFill>
        <a:ln w="12700" cap="flat">
          <a:noFill/>
          <a:miter lim="400000"/>
        </a:ln>
        <a:effectLst/>
        <a:sp3d/>
      </a:spPr>
      <a:bodyPr rot="0" spcFirstLastPara="1" vertOverflow="overflow" horzOverflow="overflow" vert="horz" wrap="square" lIns="50800" tIns="50800" rIns="50800" bIns="50800" numCol="1" spcCol="38100" rtlCol="0" anchor="ctr" upright="0">
        <a:spAutoFit/>
      </a:bodyPr>
      <a:lstStyle>
        <a:defPPr marL="0" marR="0" indent="0" algn="ctr" defTabSz="825500" rtl="0" fontAlgn="auto" latinLnBrk="0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3200" u="none" kumimoji="0" normalizeH="0">
            <a:ln>
              <a:noFill/>
            </a:ln>
            <a:solidFill>
              <a:srgbClr val="FFFFFF"/>
            </a:solidFill>
            <a:effectLst/>
            <a:uFillTx/>
            <a:latin typeface="Helvetica Neue Medium"/>
            <a:ea typeface="Helvetica Neue Medium"/>
            <a:cs typeface="Helvetica Neue Medium"/>
            <a:sym typeface="Helvetica Neue Medium"/>
          </a:defRPr>
        </a:defPPr>
        <a:lvl1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1pPr>
        <a:lvl2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2pPr>
        <a:lvl3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3pPr>
        <a:lvl4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4pPr>
        <a:lvl5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5pPr>
        <a:lvl6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6pPr>
        <a:lvl7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7pPr>
        <a:lvl8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8pPr>
        <a:lvl9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9pPr>
      </a:lstStyle>
      <a:style>
        <a:lnRef idx="0"/>
        <a:fillRef idx="0"/>
        <a:effectRef idx="0"/>
        <a:fontRef idx="none"/>
      </a:style>
    </a:spDef>
    <a:lnDef>
      <a:spPr>
        <a:noFill/>
        <a:ln w="25400" cap="flat">
          <a:solidFill>
            <a:srgbClr val="000000"/>
          </a:solidFill>
          <a:prstDash val="solid"/>
          <a:miter lim="400000"/>
        </a:ln>
        <a:effectLst/>
        <a:sp3d/>
      </a:spPr>
      <a:bodyPr rot="0" spcFirstLastPara="1" vertOverflow="overflow" horzOverflow="overflow" vert="horz" wrap="square" lIns="91439" tIns="45719" rIns="91439" bIns="45719" numCol="1" spcCol="38100" rtlCol="0" anchor="t" upright="0">
        <a:noAutofit/>
      </a:bodyPr>
      <a:lstStyle>
        <a:def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defPPr>
        <a:lvl1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1pPr>
        <a:lvl2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2pPr>
        <a:lvl3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3pPr>
        <a:lvl4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4pPr>
        <a:lvl5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5pPr>
        <a:lvl6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6pPr>
        <a:lvl7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7pPr>
        <a:lvl8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8pPr>
        <a:lvl9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9pPr>
      </a:lstStyle>
      <a:style>
        <a:lnRef idx="0"/>
        <a:fillRef idx="0"/>
        <a:effectRef idx="0"/>
        <a:fontRef idx="none"/>
      </a:style>
    </a:lnDef>
    <a:txDef>
      <a:spPr>
        <a:noFill/>
        <a:ln w="12700" cap="flat">
          <a:noFill/>
          <a:miter lim="400000"/>
        </a:ln>
        <a:effectLst/>
        <a:sp3d/>
      </a:spPr>
      <a:bodyPr rot="0" spcFirstLastPara="1" vertOverflow="overflow" horzOverflow="overflow" vert="horz" wrap="square" lIns="50800" tIns="50800" rIns="50800" bIns="50800" numCol="1" spcCol="38100" rtlCol="0" anchor="ctr" upright="0">
        <a:spAutoFit/>
      </a:bodyPr>
      <a:lstStyle>
        <a:defPPr marL="0" marR="0" indent="0" algn="l" defTabSz="2438338" rtl="0" fontAlgn="auto" latinLnBrk="0" hangingPunct="0">
          <a:lnSpc>
            <a:spcPct val="90000"/>
          </a:lnSpc>
          <a:spcBef>
            <a:spcPts val="450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4800" u="none" kumimoji="0" normalizeH="0">
            <a:ln>
              <a:noFill/>
            </a:ln>
            <a:solidFill>
              <a:srgbClr val="000000"/>
            </a:solidFill>
            <a:effectLst/>
            <a:uFillTx/>
            <a:latin typeface="+mn-lt"/>
            <a:ea typeface="+mn-ea"/>
            <a:cs typeface="+mn-cs"/>
            <a:sym typeface="Helvetica Neue"/>
          </a:defRPr>
        </a:defPPr>
        <a:lvl1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1pPr>
        <a:lvl2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2pPr>
        <a:lvl3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3pPr>
        <a:lvl4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4pPr>
        <a:lvl5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5pPr>
        <a:lvl6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6pPr>
        <a:lvl7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7pPr>
        <a:lvl8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8pPr>
        <a:lvl9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9pPr>
      </a:lstStyle>
      <a:style>
        <a:lnRef idx="0"/>
        <a:fillRef idx="0"/>
        <a:effectRef idx="0"/>
        <a:fontRef idx="none"/>
      </a:style>
    </a:txDef>
  </a:objectDefaults>
</a:theme>
</file>

<file path=ppt/theme/theme2.xml><?xml version="1.0" encoding="utf-8"?>
<a:theme xmlns:a="http://schemas.openxmlformats.org/drawingml/2006/main" xmlns:r="http://schemas.openxmlformats.org/officeDocument/2006/relationships" name="21_BasicWhite">
  <a:themeElements>
    <a:clrScheme name="21_BasicWhite">
      <a:dk1>
        <a:srgbClr val="000000"/>
      </a:dk1>
      <a:lt1>
        <a:srgbClr val="FFFFFF"/>
      </a:lt1>
      <a:dk2>
        <a:srgbClr val="5E5E5E"/>
      </a:dk2>
      <a:lt2>
        <a:srgbClr val="D5D5D5"/>
      </a:lt2>
      <a:accent1>
        <a:srgbClr val="00A2FF"/>
      </a:accent1>
      <a:accent2>
        <a:srgbClr val="16E7CF"/>
      </a:accent2>
      <a:accent3>
        <a:srgbClr val="61D836"/>
      </a:accent3>
      <a:accent4>
        <a:srgbClr val="FFD932"/>
      </a:accent4>
      <a:accent5>
        <a:srgbClr val="FF644E"/>
      </a:accent5>
      <a:accent6>
        <a:srgbClr val="FF42A1"/>
      </a:accent6>
      <a:hlink>
        <a:srgbClr val="0000FF"/>
      </a:hlink>
      <a:folHlink>
        <a:srgbClr val="FF00FF"/>
      </a:folHlink>
    </a:clrScheme>
    <a:fontScheme name="21_BasicWhite">
      <a:majorFont>
        <a:latin typeface="Helvetica Neue"/>
        <a:ea typeface="Helvetica Neue"/>
        <a:cs typeface="Helvetica Neue"/>
      </a:majorFont>
      <a:minorFont>
        <a:latin typeface="Helvetica Neue"/>
        <a:ea typeface="Helvetica Neue"/>
        <a:cs typeface="Helvetica Neue"/>
      </a:minorFont>
    </a:fontScheme>
    <a:fmtScheme name="21_BasicWhit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29999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4999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>
        <a:solidFill>
          <a:srgbClr val="000000"/>
        </a:solidFill>
        <a:ln w="12700" cap="flat">
          <a:noFill/>
          <a:miter lim="400000"/>
        </a:ln>
        <a:effectLst/>
        <a:sp3d/>
      </a:spPr>
      <a:bodyPr rot="0" spcFirstLastPara="1" vertOverflow="overflow" horzOverflow="overflow" vert="horz" wrap="square" lIns="50800" tIns="50800" rIns="50800" bIns="50800" numCol="1" spcCol="38100" rtlCol="0" anchor="ctr" upright="0">
        <a:spAutoFit/>
      </a:bodyPr>
      <a:lstStyle>
        <a:defPPr marL="0" marR="0" indent="0" algn="ctr" defTabSz="825500" rtl="0" fontAlgn="auto" latinLnBrk="0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3200" u="none" kumimoji="0" normalizeH="0">
            <a:ln>
              <a:noFill/>
            </a:ln>
            <a:solidFill>
              <a:srgbClr val="FFFFFF"/>
            </a:solidFill>
            <a:effectLst/>
            <a:uFillTx/>
            <a:latin typeface="Helvetica Neue Medium"/>
            <a:ea typeface="Helvetica Neue Medium"/>
            <a:cs typeface="Helvetica Neue Medium"/>
            <a:sym typeface="Helvetica Neue Medium"/>
          </a:defRPr>
        </a:defPPr>
        <a:lvl1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1pPr>
        <a:lvl2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2pPr>
        <a:lvl3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3pPr>
        <a:lvl4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4pPr>
        <a:lvl5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5pPr>
        <a:lvl6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6pPr>
        <a:lvl7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7pPr>
        <a:lvl8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8pPr>
        <a:lvl9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9pPr>
      </a:lstStyle>
      <a:style>
        <a:lnRef idx="0"/>
        <a:fillRef idx="0"/>
        <a:effectRef idx="0"/>
        <a:fontRef idx="none"/>
      </a:style>
    </a:spDef>
    <a:lnDef>
      <a:spPr>
        <a:noFill/>
        <a:ln w="25400" cap="flat">
          <a:solidFill>
            <a:srgbClr val="000000"/>
          </a:solidFill>
          <a:prstDash val="solid"/>
          <a:miter lim="400000"/>
        </a:ln>
        <a:effectLst/>
        <a:sp3d/>
      </a:spPr>
      <a:bodyPr rot="0" spcFirstLastPara="1" vertOverflow="overflow" horzOverflow="overflow" vert="horz" wrap="square" lIns="91439" tIns="45719" rIns="91439" bIns="45719" numCol="1" spcCol="38100" rtlCol="0" anchor="t" upright="0">
        <a:noAutofit/>
      </a:bodyPr>
      <a:lstStyle>
        <a:def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defPPr>
        <a:lvl1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1pPr>
        <a:lvl2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2pPr>
        <a:lvl3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3pPr>
        <a:lvl4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4pPr>
        <a:lvl5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5pPr>
        <a:lvl6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6pPr>
        <a:lvl7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7pPr>
        <a:lvl8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8pPr>
        <a:lvl9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9pPr>
      </a:lstStyle>
      <a:style>
        <a:lnRef idx="0"/>
        <a:fillRef idx="0"/>
        <a:effectRef idx="0"/>
        <a:fontRef idx="none"/>
      </a:style>
    </a:lnDef>
    <a:txDef>
      <a:spPr>
        <a:noFill/>
        <a:ln w="12700" cap="flat">
          <a:noFill/>
          <a:miter lim="400000"/>
        </a:ln>
        <a:effectLst/>
        <a:sp3d/>
      </a:spPr>
      <a:bodyPr rot="0" spcFirstLastPara="1" vertOverflow="overflow" horzOverflow="overflow" vert="horz" wrap="square" lIns="50800" tIns="50800" rIns="50800" bIns="50800" numCol="1" spcCol="38100" rtlCol="0" anchor="ctr" upright="0">
        <a:spAutoFit/>
      </a:bodyPr>
      <a:lstStyle>
        <a:defPPr marL="0" marR="0" indent="0" algn="l" defTabSz="2438338" rtl="0" fontAlgn="auto" latinLnBrk="0" hangingPunct="0">
          <a:lnSpc>
            <a:spcPct val="90000"/>
          </a:lnSpc>
          <a:spcBef>
            <a:spcPts val="450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4800" u="none" kumimoji="0" normalizeH="0">
            <a:ln>
              <a:noFill/>
            </a:ln>
            <a:solidFill>
              <a:srgbClr val="000000"/>
            </a:solidFill>
            <a:effectLst/>
            <a:uFillTx/>
            <a:latin typeface="+mn-lt"/>
            <a:ea typeface="+mn-ea"/>
            <a:cs typeface="+mn-cs"/>
            <a:sym typeface="Helvetica Neue"/>
          </a:defRPr>
        </a:defPPr>
        <a:lvl1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1pPr>
        <a:lvl2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2pPr>
        <a:lvl3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3pPr>
        <a:lvl4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4pPr>
        <a:lvl5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5pPr>
        <a:lvl6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6pPr>
        <a:lvl7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7pPr>
        <a:lvl8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8pPr>
        <a:lvl9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9pPr>
      </a:lstStyle>
      <a:style>
        <a:lnRef idx="0"/>
        <a:fillRef idx="0"/>
        <a:effectRef idx="0"/>
        <a:fontRef idx="none"/>
      </a:style>
    </a:txDef>
  </a:objectDefaults>
</a:theme>
</file>

<file path=docProps/app.xml><?xml version="1.0" encoding="utf-8"?>
<Properties xmlns="http://schemas.openxmlformats.org/officeDocument/2006/extended-properties" xmlns:vt="http://schemas.openxmlformats.org/officeDocument/2006/docPropsVTypes"/>
</file>

<file path=docProps/core.xml><?xml version="1.0" encoding="utf-8"?>
<cp:coreProperties xmlns:cp="http://schemas.openxmlformats.org/package/2006/metadata/core-properties" xmlns:dc="http://purl.org/dc/elements/1.1/" xmlns:dcterms="http://purl.org/dc/terms/" xmlns:xsi="http://www.w3.org/2001/XMLSchema-instance"/>
</file>