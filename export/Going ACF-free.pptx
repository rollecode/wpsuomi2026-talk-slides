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media/image1.jpeg" ContentType="image/jpeg"/>
  <Override PartName="/ppt/media/image2.jpeg" ContentType="image/jpeg"/>
  <Override PartName="/ppt/media/image3.jpeg" ContentType="image/jpeg"/>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68" name="Shape 168"/>
          <p:cNvSpPr/>
          <p:nvPr>
            <p:ph type="sldImg"/>
          </p:nvPr>
        </p:nvSpPr>
        <p:spPr>
          <a:xfrm>
            <a:off x="1143000" y="685800"/>
            <a:ext cx="4572000" cy="3429000"/>
          </a:xfrm>
          <a:prstGeom prst="rect">
            <a:avLst/>
          </a:prstGeom>
        </p:spPr>
        <p:txBody>
          <a:bodyPr/>
          <a:lstStyle/>
          <a:p>
            <a:pPr/>
          </a:p>
        </p:txBody>
      </p:sp>
      <p:sp>
        <p:nvSpPr>
          <p:cNvPr id="169" name="Shape 16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0.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1.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2.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3.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4.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5.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6.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37.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 name="Shape 202"/>
          <p:cNvSpPr/>
          <p:nvPr>
            <p:ph type="sldImg"/>
          </p:nvPr>
        </p:nvSpPr>
        <p:spPr>
          <a:prstGeom prst="rect">
            <a:avLst/>
          </a:prstGeom>
        </p:spPr>
        <p:txBody>
          <a:bodyPr/>
          <a:lstStyle/>
          <a:p>
            <a:pPr/>
          </a:p>
        </p:txBody>
      </p:sp>
      <p:sp>
        <p:nvSpPr>
          <p:cNvPr id="203" name="Shape 203"/>
          <p:cNvSpPr/>
          <p:nvPr>
            <p:ph type="body" sz="quarter" idx="1"/>
          </p:nvPr>
        </p:nvSpPr>
        <p:spPr>
          <a:prstGeom prst="rect">
            <a:avLst/>
          </a:prstGeom>
        </p:spPr>
        <p:txBody>
          <a:bodyPr/>
          <a:lstStyle/>
          <a:p>
            <a:pPr/>
            <a:r>
              <a:t>Before the poll: this is not a talk about shaming anyone. There is no guilt in using plugins, dependencies or ACF. We used ACF for more than ten years and it built a lot of good sites.</a:t>
            </a:r>
          </a:p>
          <a:p>
            <a:pPr/>
            <a:r>
              <a:t>I'd rather we all look at it positively: ACF solved a real problem when core couldn't. The question now is only what core can do for us today.</a:t>
            </a:r>
          </a:p>
          <a:p>
            <a:pPr/>
            <a:r>
              <a:t>So when I ask who still uses ACF for everything, raise your hand. Nobody here is going to ask "who the hell still uses ACF". Not today.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Shape 210"/>
          <p:cNvSpPr/>
          <p:nvPr>
            <p:ph type="sldImg"/>
          </p:nvPr>
        </p:nvSpPr>
        <p:spPr>
          <a:prstGeom prst="rect">
            <a:avLst/>
          </a:prstGeom>
        </p:spPr>
        <p:txBody>
          <a:bodyPr/>
          <a:lstStyle/>
          <a:p>
            <a:pPr/>
          </a:p>
        </p:txBody>
      </p:sp>
      <p:sp>
        <p:nvSpPr>
          <p:cNvPr id="211" name="Shape 211"/>
          <p:cNvSpPr/>
          <p:nvPr>
            <p:ph type="body" sz="quarter" idx="1"/>
          </p:nvPr>
        </p:nvSpPr>
        <p:spPr>
          <a:prstGeom prst="rect">
            <a:avLst/>
          </a:prstGeom>
        </p:spPr>
        <p:txBody>
          <a:bodyPr/>
          <a:lstStyle/>
          <a:p>
            <a:pPr/>
            <a:r>
              <a:t>Hands up. Get the room to commit before I say anything about going ACF-free.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 name="Shape 220"/>
          <p:cNvSpPr/>
          <p:nvPr>
            <p:ph type="sldImg"/>
          </p:nvPr>
        </p:nvSpPr>
        <p:spPr>
          <a:prstGeom prst="rect">
            <a:avLst/>
          </a:prstGeom>
        </p:spPr>
        <p:txBody>
          <a:bodyPr/>
          <a:lstStyle/>
          <a:p>
            <a:pPr/>
          </a:p>
        </p:txBody>
      </p:sp>
      <p:sp>
        <p:nvSpPr>
          <p:cNvPr id="221" name="Shape 221"/>
          <p:cNvSpPr/>
          <p:nvPr>
            <p:ph type="body" sz="quarter" idx="1"/>
          </p:nvPr>
        </p:nvSpPr>
        <p:spPr>
          <a:prstGeom prst="rect">
            <a:avLst/>
          </a:prstGeom>
        </p:spPr>
        <p:txBody>
          <a:bodyPr/>
          <a:lstStyle/>
          <a:p>
            <a:pPr/>
            <a:r>
              <a:t>Hands up. Get the room to commit before I say anything about going ACF-free.</a:t>
            </a:r>
          </a:p>
          <a:p>
            <a:pPr/>
            <a:r>
              <a:t>Option 1: ACF on every site, for everything.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 name="Shape 232"/>
          <p:cNvSpPr/>
          <p:nvPr>
            <p:ph type="sldImg"/>
          </p:nvPr>
        </p:nvSpPr>
        <p:spPr>
          <a:prstGeom prst="rect">
            <a:avLst/>
          </a:prstGeom>
        </p:spPr>
        <p:txBody>
          <a:bodyPr/>
          <a:lstStyle/>
          <a:p>
            <a:pPr/>
          </a:p>
        </p:txBody>
      </p:sp>
      <p:sp>
        <p:nvSpPr>
          <p:cNvPr id="233" name="Shape 233"/>
          <p:cNvSpPr/>
          <p:nvPr>
            <p:ph type="body" sz="quarter" idx="1"/>
          </p:nvPr>
        </p:nvSpPr>
        <p:spPr>
          <a:prstGeom prst="rect">
            <a:avLst/>
          </a:prstGeom>
        </p:spPr>
        <p:txBody>
          <a:bodyPr/>
          <a:lstStyle/>
          <a:p>
            <a:pPr/>
            <a:r>
              <a:t>Option 2: ACF for some things, native blocks or core for the rest.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6" name="Shape 246"/>
          <p:cNvSpPr/>
          <p:nvPr>
            <p:ph type="sldImg"/>
          </p:nvPr>
        </p:nvSpPr>
        <p:spPr>
          <a:prstGeom prst="rect">
            <a:avLst/>
          </a:prstGeom>
        </p:spPr>
        <p:txBody>
          <a:bodyPr/>
          <a:lstStyle/>
          <a:p>
            <a:pPr/>
          </a:p>
        </p:txBody>
      </p:sp>
      <p:sp>
        <p:nvSpPr>
          <p:cNvPr id="247" name="Shape 247"/>
          <p:cNvSpPr/>
          <p:nvPr>
            <p:ph type="body" sz="quarter" idx="1"/>
          </p:nvPr>
        </p:nvSpPr>
        <p:spPr>
          <a:prstGeom prst="rect">
            <a:avLst/>
          </a:prstGeom>
        </p:spPr>
        <p:txBody>
          <a:bodyPr/>
          <a:lstStyle/>
          <a:p>
            <a:pPr/>
            <a:r>
              <a:t>Option 3: ACF is legacy, moved on to native blocks, React blocks or core Gutenberg blocks.</a:t>
            </a:r>
          </a:p>
          <a:p>
            <a:pPr/>
            <a:r>
              <a:t>Read the split out loud. It tells you how much of the next half hour is news to this room.</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255"/>
          <p:cNvSpPr/>
          <p:nvPr>
            <p:ph type="sldImg"/>
          </p:nvPr>
        </p:nvSpPr>
        <p:spPr>
          <a:prstGeom prst="rect">
            <a:avLst/>
          </a:prstGeom>
        </p:spPr>
        <p:txBody>
          <a:bodyPr/>
          <a:lstStyle/>
          <a:p>
            <a:pPr/>
          </a:p>
        </p:txBody>
      </p:sp>
      <p:sp>
        <p:nvSpPr>
          <p:cNvPr id="256" name="Shape 256"/>
          <p:cNvSpPr/>
          <p:nvPr>
            <p:ph type="body" sz="quarter" idx="1"/>
          </p:nvPr>
        </p:nvSpPr>
        <p:spPr>
          <a:prstGeom prst="rect">
            <a:avLst/>
          </a:prstGeom>
        </p:spPr>
        <p:txBody>
          <a:bodyPr/>
          <a:lstStyle/>
          <a:p>
            <a:pPr/>
            <a:r>
              <a:t>I could lecture a couple of hours when dependencies are an issue and when they are not, when properly used. But we need a definition. Then the honest question: is WordPress itself a dependency? Yes. A website on a server depends on the hardware or the host, Linux, the web server, PHP, the database, WordPress core, the theme, the plugins, and outside services like DNS, CDN, email and AI APIs. Every layer is something the site cannot continue normally without.</a:t>
            </a:r>
          </a:p>
          <a:p>
            <a:pPr/>
            <a:r>
              <a:t>So the goal of this talk is not zero dependencies. The goal is choosing them on purpose, with four questions: who controls it, can I replace it, does my data come out in a standard format, and will it outlive the site.</a:t>
            </a:r>
          </a:p>
          <a:p>
            <a:pPr/>
            <a:r>
              <a:t>WordPress core does well on all four: GPL licence, over 20 years old, thousands of contributors, and content stored in plain database tables. A plugin that owns your content format does worse on every one of them, which is where ACF comes 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3" name="Shape 263"/>
          <p:cNvSpPr/>
          <p:nvPr>
            <p:ph type="sldImg"/>
          </p:nvPr>
        </p:nvSpPr>
        <p:spPr>
          <a:prstGeom prst="rect">
            <a:avLst/>
          </a:prstGeom>
        </p:spPr>
        <p:txBody>
          <a:bodyPr/>
          <a:lstStyle/>
          <a:p>
            <a:pPr/>
          </a:p>
        </p:txBody>
      </p:sp>
      <p:sp>
        <p:nvSpPr>
          <p:cNvPr id="264" name="Shape 264"/>
          <p:cNvSpPr/>
          <p:nvPr>
            <p:ph type="body" sz="quarter" idx="1"/>
          </p:nvPr>
        </p:nvSpPr>
        <p:spPr>
          <a:prstGeom prst="rect">
            <a:avLst/>
          </a:prstGeom>
        </p:spPr>
        <p:txBody>
          <a:bodyPr/>
          <a:lstStyle/>
          <a:p>
            <a:pPr/>
            <a:r>
              <a:t>Look a bit back before going forward. Fields first, then dependencies, then Gutenberg.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4" name="Shape 304"/>
          <p:cNvSpPr/>
          <p:nvPr>
            <p:ph type="sldImg"/>
          </p:nvPr>
        </p:nvSpPr>
        <p:spPr>
          <a:prstGeom prst="rect">
            <a:avLst/>
          </a:prstGeom>
        </p:spPr>
        <p:txBody>
          <a:bodyPr/>
          <a:lstStyle/>
          <a:p>
            <a:pPr/>
          </a:p>
        </p:txBody>
      </p:sp>
      <p:sp>
        <p:nvSpPr>
          <p:cNvPr id="305" name="Shape 305"/>
          <p:cNvSpPr/>
          <p:nvPr>
            <p:ph type="body" sz="quarter" idx="1"/>
          </p:nvPr>
        </p:nvSpPr>
        <p:spPr>
          <a:prstGeom prst="rect">
            <a:avLst/>
          </a:prstGeom>
        </p:spPr>
        <p:txBody>
          <a:bodyPr/>
          <a:lstStyle/>
          <a:p>
            <a:pPr/>
            <a:r>
              <a:t>Twenty-one years in one line. I start in 2005; custom fields had been in core since WordPress 1.2 in 2004.</a:t>
            </a:r>
          </a:p>
          <a:p>
            <a:pPr/>
            <a:r>
              <a:t>2010 WordPress 3.0 makes custom post types first class. 2011 ACF's first commit (Elliot Condon). 2014 dudestack, our WordPress starter stack: its first commit on 25.2.2014 already requires wpackagist/advanced-custom-fields (github.com/digitoimistodude/dudestack). Dude itself was founded in 2013.</a:t>
            </a:r>
          </a:p>
          <a:p>
            <a:pPr/>
            <a:r>
              <a:t>2018 WordPress 5.0 ships Gutenberg, a React editor, 6.12.2018. 2019 ACF 5.8 adds ACF Blocks, May 2019.</a:t>
            </a:r>
          </a:p>
          <a:p>
            <a:pPr/>
            <a:r>
              <a:t>2021 WordPress 5.8: theme.json arrives, block.json becomes the canonical way to register blocks.</a:t>
            </a:r>
          </a:p>
          <a:p>
            <a:pPr/>
            <a:r>
              <a:t>2022 WP Engine buys ACF with the other Delicious Brains plugins, June 2022. 2024 Block Bindings in 6.5 (March), and ACF is forked on wordpress.org as Secure Custom Fields (October).</a:t>
            </a:r>
          </a:p>
          <a:p>
            <a:pPr/>
            <a:r>
              <a:t>2025 WordPress 6.9 gives custom binding sources a real UI, December 2025. 2026 here we are.</a:t>
            </a:r>
          </a:p>
          <a:p>
            <a:pPr/>
            <a:r>
              <a:t>Sources: wordpress.org/news/2010/06/thelonious/ | advancedcustomfields.com/blog/acf-5-8-introducing-acf-blocks-for-gutenberg/ | make.wordpress.org/core/2021/06/25/introducing-theme-json-in-wordpress-5-8/ | deliciousbrains.com/epic-wordpress-announcement/ | make.wordpress.org/core/2024/03/06/new-feature-the-block-bindings-api/ | wptavern.com/acf-plugin-forked-to-secure-custom-fields-plugin | make.wordpress.org/core/2025/11/12/block-bindings-improvements-in-wordpress-6-9/</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5" name="Shape 315"/>
          <p:cNvSpPr/>
          <p:nvPr>
            <p:ph type="sldImg"/>
          </p:nvPr>
        </p:nvSpPr>
        <p:spPr>
          <a:prstGeom prst="rect">
            <a:avLst/>
          </a:prstGeom>
        </p:spPr>
        <p:txBody>
          <a:bodyPr/>
          <a:lstStyle/>
          <a:p>
            <a:pPr/>
          </a:p>
        </p:txBody>
      </p:sp>
      <p:sp>
        <p:nvSpPr>
          <p:cNvPr id="316" name="Shape 316"/>
          <p:cNvSpPr/>
          <p:nvPr>
            <p:ph type="body" sz="quarter" idx="1"/>
          </p:nvPr>
        </p:nvSpPr>
        <p:spPr>
          <a:prstGeom prst="rect">
            <a:avLst/>
          </a:prstGeom>
        </p:spPr>
        <p:txBody>
          <a:bodyPr/>
          <a:lstStyle/>
          <a:p>
            <a:pPr/>
            <a:r>
              <a:t>ACF stands for Advanced Custom Fields. Take away the "Advanced" and what is left is custom fields, the same thing core has had since 2004.</a:t>
            </a:r>
          </a:p>
          <a:p>
            <a:pPr/>
            <a:r>
              <a:t>What is a field? A named value attached to a post: a key and a value in wp_postmeta. We are talking about fields, right?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5" name="Shape 335"/>
          <p:cNvSpPr/>
          <p:nvPr>
            <p:ph type="sldImg"/>
          </p:nvPr>
        </p:nvSpPr>
        <p:spPr>
          <a:prstGeom prst="rect">
            <a:avLst/>
          </a:prstGeom>
        </p:spPr>
        <p:txBody>
          <a:bodyPr/>
          <a:lstStyle/>
          <a:p>
            <a:pPr/>
          </a:p>
        </p:txBody>
      </p:sp>
      <p:sp>
        <p:nvSpPr>
          <p:cNvPr id="336" name="Shape 336"/>
          <p:cNvSpPr/>
          <p:nvPr>
            <p:ph type="body" sz="quarter" idx="1"/>
          </p:nvPr>
        </p:nvSpPr>
        <p:spPr>
          <a:prstGeom prst="rect">
            <a:avLst/>
          </a:prstGeom>
        </p:spPr>
        <p:txBody>
          <a:bodyPr/>
          <a:lstStyle/>
          <a:p>
            <a:pPr/>
            <a:r>
              <a:t>Well, this is a bit of a joke, but it has a place in history. We used to do WordPress with meta fields only, when it was only about blogging.</a:t>
            </a:r>
          </a:p>
          <a:p>
            <a:pPr/>
            <a:r>
              <a:t>It works fine for a developer, it is kind of like knifing the database field.</a:t>
            </a:r>
          </a:p>
          <a:p>
            <a:pPr/>
            <a:r>
              <a:t>But if the customer wants to update content easily, you need a system.</a:t>
            </a:r>
          </a:p>
          <a:p>
            <a:pPr/>
          </a:p>
          <a:p>
            <a:pPr/>
            <a:r>
              <a:t>If someone asks: the original Custom Fields box only ever did text. A name, a value, a textarea.</a:t>
            </a:r>
          </a:p>
          <a:p>
            <a:pPr/>
            <a:r>
              <a:t>Storage: wp_postmeta has four columns, meta_id, post_id, meta_key and meta_value, and meta_value is LONGTEXT. There is no type column, then or now.</a:t>
            </a:r>
          </a:p>
          <a:p>
            <a:pPr/>
            <a:r>
              <a:t>Arrays and objects saved from code get PHP-serialized into that string. One key can hold many rows; get_post_meta() returns the first or all of them.</a:t>
            </a:r>
          </a:p>
          <a:p>
            <a:pPr/>
            <a:r>
              <a:t>Keys starting with an underscore are hidden from the box. That is where ACF keeps its field reference, e.g. _subtitle = field_5f3a1.</a:t>
            </a:r>
          </a:p>
          <a:p>
            <a:pPr/>
            <a:r>
              <a:t>The box is still in core in 7.1, just off by default in the block editor: Options menu (three dots), Preferences, General, Advanced, Custom fields. Turning it on reloads the editor. It only shows for post types that support custom-fields, and ACF removes it by default (remove_wp_meta_box), so on an ACF site you will not see it. In the classic editor it is under Screen Options.</a:t>
            </a:r>
          </a:p>
          <a:p>
            <a:pPr/>
            <a:r>
              <a:t>Types only arrived at registration level: register_meta() in 4.6 (2016) with type, single, sanitize and auth callbacks; register_post_meta() in 4.9.8 (2018); array and object types over REST in 5.3; default values in 5.5; meta revisions only when you opt in with revisions_enabled, 6.4.</a:t>
            </a:r>
          </a:p>
          <a:p>
            <a:pPr/>
            <a:r>
              <a:t>Even then the database stores a string. The type lives in the schema and the REST API, not in the table.</a:t>
            </a:r>
          </a:p>
          <a:p>
            <a:pPr/>
            <a:r>
              <a:t>Sources: developer.wordpress.org/reference/functions/register_meta/ | make.wordpress.org/core/2018/07/27/registering-metadata-in-4-9-8/ | wptavern.com/wordpress-4-6-expands-register_meta-to-support-registration-of-meta-keys</a:t>
            </a:r>
          </a:p>
          <a:p>
            <a:pPr/>
            <a:r>
              <a:t>Stamp, best before 2009: featured images arrived in 2.9 (12.2009) and took over the box's best-known job, post images.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0" name="Shape 350"/>
          <p:cNvSpPr/>
          <p:nvPr>
            <p:ph type="sldImg"/>
          </p:nvPr>
        </p:nvSpPr>
        <p:spPr>
          <a:prstGeom prst="rect">
            <a:avLst/>
          </a:prstGeom>
        </p:spPr>
        <p:txBody>
          <a:bodyPr/>
          <a:lstStyle/>
          <a:p>
            <a:pPr/>
          </a:p>
        </p:txBody>
      </p:sp>
      <p:sp>
        <p:nvSpPr>
          <p:cNvPr id="351" name="Shape 351"/>
          <p:cNvSpPr/>
          <p:nvPr>
            <p:ph type="body" sz="quarter" idx="1"/>
          </p:nvPr>
        </p:nvSpPr>
        <p:spPr>
          <a:prstGeom prst="rect">
            <a:avLst/>
          </a:prstGeom>
        </p:spPr>
        <p:txBody>
          <a:bodyPr/>
          <a:lstStyle/>
          <a:p>
            <a:pPr/>
            <a:r>
              <a:t>A fun aside, not a recommendation to build client sites on this box.</a:t>
            </a:r>
          </a:p>
          <a:p>
            <a:pPr/>
            <a:r>
              <a:t>Path in 7.1: Options menu (three dots), Preferences, General tab, Advanced section, Custom fields, Show &amp; Reload Page. Save first, the editor reloads. In the classic editor it is under Screen Options.</a:t>
            </a:r>
          </a:p>
          <a:p>
            <a:pPr/>
            <a:r>
              <a:t>It only appears for post types that support custom-fields (posts and pages do by default).</a:t>
            </a:r>
          </a:p>
          <a:p>
            <a:pPr/>
            <a:r>
              <a:t>Why you do not see it on an ACF site: ACF sets remove_wp_meta_box to true and calls remove_meta_box('postcustom') (includes/forms/form-post.php). Core then drops enableCustomFields and the Preferences modal leaves the toggle out. To get it back with ACF active: add_filter('acf/settings/remove_wp_meta_box', '__return_false');</a:t>
            </a:r>
          </a:p>
          <a:p>
            <a:pPr/>
            <a:r>
              <a:t>ACF's own comment on it: "removes expensive SQL query". The box runs SELECT DISTINCT meta_key over the whole wp_postmeta table for its key dropdown (limit 30, postmeta_form_limit). On a big site that is slow. postmeta_form_keys (4.4) lets you hand it a fixed list and skip the query.</a:t>
            </a:r>
          </a:p>
          <a:p>
            <a:pPr/>
            <a:r>
              <a:t>Not very useful nowadays:</a:t>
            </a:r>
          </a:p>
          <a:p>
            <a:pPr/>
            <a:r>
              <a:t>- Registered meta does the job properly. register_post_meta() gives a key a type, a default, sanitising and REST access, and Block Bindings put it in the editor. The box knows none of that.</a:t>
            </a:r>
          </a:p>
          <a:p>
            <a:pPr/>
            <a:r>
              <a:t>- It shows too much we don't need. Every meta key without an underscore from every plugin and import ends up in the list, and the key dropdown offers up to 30 keys from the whole site.</a:t>
            </a:r>
          </a:p>
          <a:p>
            <a:pPr/>
            <a:r>
              <a:t>- Text only. One name, one value, a textarea. No types, no validation, no image picker. Keys are typed by hand, so Photo credit, photo_credit and Photo Credit are three different fields.</a:t>
            </a:r>
          </a:p>
          <a:p>
            <a:pPr/>
            <a:r>
              <a:t>What it was good for back then: before featured images arrived in 2.9 (12.2009), themes read the post image URL from a custom field, often called image or thumbnail. Today it is mostly for peeking at what a plugin saved into a post without opening the database.</a:t>
            </a:r>
          </a:p>
          <a:p>
            <a:pPr/>
            <a:r>
              <a:t>Since 2004: verified in the WordPress 1.2 Mingus source (released 22.5.2004, wordpress.org/news/2004/05/heres-the-beef/). wp-admin/edit-form-advanced.php has the Custom Fields fieldset, install.php creates wp_postmeta, get_post_custom() and the_meta() exist. The release post itself does not mention it.</a:t>
            </a:r>
          </a:p>
          <a:p>
            <a:pPr/>
            <a:r>
              <a:t>Stamp, 100% dependency-free: true, no plugin involved. It is the talk's own promise, just on the worst possible tool for it. It isn't deprecated: only the_meta() is (@deprecated 6.0.2), the box and get_post_meta() are live core.</a:t>
            </a:r>
          </a:p>
          <a:p>
            <a:pPr/>
            <a:r>
              <a:t>Sources: wordpress.org/documentation/article/assign-custom-fields/ | wp-admin/includes/meta-boxes.php, wp-admin/edit-form-blocks.php, wp-admin/includes/template.php (meta_form) in 7.1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1" name="Shape 361"/>
          <p:cNvSpPr/>
          <p:nvPr>
            <p:ph type="sldImg"/>
          </p:nvPr>
        </p:nvSpPr>
        <p:spPr>
          <a:prstGeom prst="rect">
            <a:avLst/>
          </a:prstGeom>
        </p:spPr>
        <p:txBody>
          <a:bodyPr/>
          <a:lstStyle/>
          <a:p>
            <a:pPr/>
          </a:p>
        </p:txBody>
      </p:sp>
      <p:sp>
        <p:nvSpPr>
          <p:cNvPr id="362" name="Shape 362"/>
          <p:cNvSpPr/>
          <p:nvPr>
            <p:ph type="body" sz="quarter" idx="1"/>
          </p:nvPr>
        </p:nvSpPr>
        <p:spPr>
          <a:prstGeom prst="rect">
            <a:avLst/>
          </a:prstGeom>
        </p:spPr>
        <p:txBody>
          <a:bodyPr/>
          <a:lstStyle/>
          <a:p>
            <a:pPr/>
            <a:r>
              <a:t>ACF's first commit was 28.3.2011 (Elliot Condon). It made custom fields usable: field types, a real UI, repeaters. But everything it adds is still a field: a value in wp_postmeta that a template prints.</a:t>
            </a:r>
          </a:p>
          <a:p>
            <a:pPr/>
            <a:r>
              <a:t>Blocks changed the unit of content from a field to a block. That is the shift this talk is about.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6" name="Shape 376"/>
          <p:cNvSpPr/>
          <p:nvPr>
            <p:ph type="sldImg"/>
          </p:nvPr>
        </p:nvSpPr>
        <p:spPr>
          <a:prstGeom prst="rect">
            <a:avLst/>
          </a:prstGeom>
        </p:spPr>
        <p:txBody>
          <a:bodyPr/>
          <a:lstStyle/>
          <a:p>
            <a:pPr/>
          </a:p>
        </p:txBody>
      </p:sp>
      <p:sp>
        <p:nvSpPr>
          <p:cNvPr id="377" name="Shape 377"/>
          <p:cNvSpPr/>
          <p:nvPr>
            <p:ph type="body" sz="quarter" idx="1"/>
          </p:nvPr>
        </p:nvSpPr>
        <p:spPr>
          <a:prstGeom prst="rect">
            <a:avLst/>
          </a:prstGeom>
        </p:spPr>
        <p:txBody>
          <a:bodyPr/>
          <a:lstStyle/>
          <a:p>
            <a:pPr/>
            <a:r>
              <a:t>The funny part: I felt we did the core way, but we still used ACF. You lie to yourself that you do the core way, but with ACF it is not the core way. And you do not want to be purist or elitist. You want the thing that is fast to build and works for years. ACF was that. Until it wasn’t.</a:t>
            </a:r>
          </a:p>
          <a:p>
            <a:pPr/>
          </a:p>
          <a:p>
            <a:pPr/>
            <a:r>
              <a:t>I have always liked the core way of WordPress. Traditional themes, starting with Automattic's Underscores (_s), and that is how air-light was born: an easy starting point for developers like me.</a:t>
            </a:r>
          </a:p>
          <a:p>
            <a:pPr/>
            <a:r>
              <a:t>air-light is a starter theme and meant to be minimal. It still does not ship blocks, and that is on purpose. For a long time I saw blocks as a dependency too. (Some competitors have criticised air-light for not being a block theme. Possible hook for the Which kind of theme? / Why we chose the classic way slides.)</a:t>
            </a:r>
          </a:p>
          <a:p>
            <a:pPr/>
            <a:r>
              <a:t>I soon noticed there are different ways of doing WordPress, before and after the block era, and it was difficult to keep things directed at the core. There is value in staying close to the core ways and not deviating from the path too much.</a:t>
            </a:r>
          </a:p>
          <a:p>
            <a:pPr/>
          </a:p>
          <a:p>
            <a:pPr/>
            <a:r>
              <a:t>Facts, air-light git history:</a:t>
            </a:r>
          </a:p>
          <a:p>
            <a:pPr/>
            <a:r>
              <a:t>- First commit 29.1.2016. README: "Theme is originally based on _s".</a:t>
            </a:r>
          </a:p>
          <a:p>
            <a:pPr/>
            <a:r>
              <a:t>- 4.9.2020 "Add gutenberg custom blocks", a first native block try. 17.9.2020 "Remove leftover register_block_type()", gone 13 days later.</a:t>
            </a:r>
          </a:p>
          <a:p>
            <a:pPr/>
            <a:r>
              <a:t>- 11.5.2021 "add hooks that register new block group and all our acf blocks": ACF blocks, not native.</a:t>
            </a:r>
          </a:p>
          <a:p>
            <a:pPr/>
            <a:r>
              <a:t>- 28.2.2025 first real native block code. air-light 10.0.0 on 3.2.2026.</a:t>
            </a:r>
          </a:p>
          <a:p>
            <a:pPr/>
            <a:r>
              <a:t>Source: github.com/digitoimistodude/air-light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7" name="Shape 387"/>
          <p:cNvSpPr/>
          <p:nvPr>
            <p:ph type="sldImg"/>
          </p:nvPr>
        </p:nvSpPr>
        <p:spPr>
          <a:prstGeom prst="rect">
            <a:avLst/>
          </a:prstGeom>
        </p:spPr>
        <p:txBody>
          <a:bodyPr/>
          <a:lstStyle/>
          <a:p>
            <a:pPr/>
          </a:p>
        </p:txBody>
      </p:sp>
      <p:sp>
        <p:nvSpPr>
          <p:cNvPr id="388" name="Shape 388"/>
          <p:cNvSpPr/>
          <p:nvPr>
            <p:ph type="body" sz="quarter" idx="1"/>
          </p:nvPr>
        </p:nvSpPr>
        <p:spPr>
          <a:prstGeom prst="rect">
            <a:avLst/>
          </a:prstGeom>
        </p:spPr>
        <p:txBody>
          <a:bodyPr/>
          <a:lstStyle/>
          <a:p>
            <a:pPr/>
            <a:r>
              <a:t>So if ACF is still just fields and some heavy weight you need to get rid of, what's the answer?</a:t>
            </a:r>
          </a:p>
          <a:p>
            <a:pPr/>
            <a:r>
              <a:t>For years our answer was: Gutenberg for articles, ACF for everything else. In 2018 I didn't even have time to test Gutenberg properly.</a:t>
            </a:r>
          </a:p>
          <a:p>
            <a:pPr/>
            <a:r>
              <a:t>When we finally went native in 2025, we thought we knew the answer. Blocks are React, so we code every block ourselves, in React, every option by hand.</a:t>
            </a:r>
          </a:p>
          <a:p>
            <a:pPr/>
            <a:r>
              <a:t>GIF: Deep Thought, The Hitchhiker's Guide to the Galaxy (2005). The answer is 42, and it was just as useful.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Shape 403"/>
          <p:cNvSpPr/>
          <p:nvPr>
            <p:ph type="sldImg"/>
          </p:nvPr>
        </p:nvSpPr>
        <p:spPr>
          <a:prstGeom prst="rect">
            <a:avLst/>
          </a:prstGeom>
        </p:spPr>
        <p:txBody>
          <a:bodyPr/>
          <a:lstStyle/>
          <a:p>
            <a:pPr/>
          </a:p>
        </p:txBody>
      </p:sp>
      <p:sp>
        <p:nvSpPr>
          <p:cNvPr id="404" name="Shape 404"/>
          <p:cNvSpPr/>
          <p:nvPr>
            <p:ph type="body" sz="quarter" idx="1"/>
          </p:nvPr>
        </p:nvSpPr>
        <p:spPr>
          <a:prstGeom prst="rect">
            <a:avLst/>
          </a:prstGeom>
        </p:spPr>
        <p:txBody>
          <a:bodyPr/>
          <a:lstStyle/>
          <a:p>
            <a:pPr/>
            <a:r>
              <a:t>Our actual route, with dates.</a:t>
            </a:r>
          </a:p>
          <a:p>
            <a:pPr/>
            <a:r>
              <a:t>2017: we added the Classic Editor to our stack to prepare for Gutenberg. 2018 to 2020: Gutenberg only for articles, pages stayed ACF. 2021: ACF blocks became our standard (air-light 11.5.2021).</a:t>
            </a:r>
          </a:p>
          <a:p>
            <a:pPr/>
            <a:r>
              <a:t>In 2018 WordPress was telling everyone to "learn JavaScript, deeply" (State of the Word 2015), and when WP 5.0 shipped on 6.12.2018, a custom block meant JavaScript with a build step. That is exactly why ACF Blocks (announced 15.10.2018, released in ACF 5.8, 5.2019), Block Lab and Lazy Blocks existed: PHP developers didn't want to write React. WP Tavern called ACF 5.8 "a great relief".</a:t>
            </a:r>
          </a:p>
          <a:p>
            <a:pPr/>
            <a:r>
              <a:t>28.2.2025: our first native blocks in air-light, an image-content static block and a dynamic block draft. 13.5.2025 in Slack I already wrote "a custom block is the last resort", but the fourth level of that plan was still "a fully custom block in React".</a:t>
            </a:r>
          </a:p>
          <a:p>
            <a:pPr/>
            <a:r>
              <a:t>The peak: one client site built from 2.2026 to 5.2026 has 23 custom blocks, 77 attributes, about 4,130 lines of JavaScript (3,000 of it in edit.js), 45 InspectorControls.</a:t>
            </a:r>
          </a:p>
          <a:p>
            <a:pPr/>
            <a:r>
              <a:t>Our pricing blocks on dude.fi went through three versions: v1 and v2 had a TextControl or TextareaControl per field, which meant no rich text, no links in lists, lots of attribute code and bad UX. v3 moved to InnerBlocks.</a:t>
            </a:r>
          </a:p>
          <a:p>
            <a:pPr/>
            <a:r>
              <a:t>Sources: wordpress.org/news/2018/12/bebo/ | advancedcustomfields.com/blog/acf-5-8-introducing-acf-blocks-for-gutenberg/ | wptavern.com/advanced-custom-fields-5-8-0-introduces-acf-blocks-a-php-framework-for-creating-gutenberg-blocks | wptavern.com/state-of-the-word-2015-javascript-and-api-driven-interfaces-are-the-future-of-wordpress</a:t>
            </a:r>
          </a:p>
          <a:p>
            <a:pPr/>
            <a:r>
              <a:t>The result, on that site: most blocks already used InnerBlocks and RichText on the canvas, the sidebar held only settings. What hurt was markup coded into the blocks: a colleague, 21.5.2026, the pattern refused to create a version without buttons, because the buttons were in code. From 5.2026 that site moved to core Group plus patterns.</a:t>
            </a:r>
          </a:p>
          <a:p>
            <a:pPr/>
            <a:r>
              <a:t>ACF Gutenberg blocks since 2021: before that, pages were built with ACF Flexible Content. First ACF blocks in client themes 2.2021 ("Creating acf blocks"), made the air-light standard 11.5.2021 ("register new block group and all our acf blocks").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Shape 422"/>
          <p:cNvSpPr/>
          <p:nvPr>
            <p:ph type="sldImg"/>
          </p:nvPr>
        </p:nvSpPr>
        <p:spPr>
          <a:prstGeom prst="rect">
            <a:avLst/>
          </a:prstGeom>
        </p:spPr>
        <p:txBody>
          <a:bodyPr/>
          <a:lstStyle/>
          <a:p>
            <a:pPr/>
          </a:p>
        </p:txBody>
      </p:sp>
      <p:sp>
        <p:nvSpPr>
          <p:cNvPr id="423" name="Shape 423"/>
          <p:cNvSpPr/>
          <p:nvPr>
            <p:ph type="body" sz="quarter" idx="1"/>
          </p:nvPr>
        </p:nvSpPr>
        <p:spPr>
          <a:prstGeom prst="rect">
            <a:avLst/>
          </a:prstGeom>
        </p:spPr>
        <p:txBody>
          <a:bodyPr/>
          <a:lstStyle/>
          <a:p>
            <a:pPr/>
            <a:r>
              <a:t>I am a traditional WordPress guy. I come from the Underscores world, never got into Sage, Twig, Blade or other templating languages. PHP, HTML and CSS.</a:t>
            </a:r>
          </a:p>
          <a:p>
            <a:pPr/>
            <a:r>
              <a:t>Then WordPress took a huge leap and moved to React.</a:t>
            </a:r>
          </a:p>
          <a:p>
            <a:pPr/>
            <a:r>
              <a:t>Underscores launched 13.2.2012. Mullenweg announced dropping React on 14.9.2017 over the patents clause; Facebook relicensed React under MIT days later and Gutenberg stayed on React.</a:t>
            </a:r>
          </a:p>
          <a:p>
            <a:pPr/>
            <a:r>
              <a:t>Sources: themeshaper.com/2012/02/13/introducing-the-underscores-theme/ | ma.tt/2017/09/on-react-and-wordpress/ | ma.tt/2017/09/facebook-dropping-patent-clause/</a:t>
            </a:r>
          </a:p>
          <a:p>
            <a:pPr/>
            <a:r>
              <a:t>Learning React was not for nothing. It taught us how the WordPress block editor itself works: blocks, attributes, InnerBlocks, the data stores, why save() has to match what's in the database. Knowing that is what lets us use core properly now, and tell when a custom block is actually needed.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5" name="Shape 435"/>
          <p:cNvSpPr/>
          <p:nvPr>
            <p:ph type="sldImg"/>
          </p:nvPr>
        </p:nvSpPr>
        <p:spPr>
          <a:prstGeom prst="rect">
            <a:avLst/>
          </a:prstGeom>
        </p:spPr>
        <p:txBody>
          <a:bodyPr/>
          <a:lstStyle/>
          <a:p>
            <a:pPr/>
          </a:p>
        </p:txBody>
      </p:sp>
      <p:sp>
        <p:nvSpPr>
          <p:cNvPr id="436" name="Shape 436"/>
          <p:cNvSpPr/>
          <p:nvPr>
            <p:ph type="body" sz="quarter" idx="1"/>
          </p:nvPr>
        </p:nvSpPr>
        <p:spPr>
          <a:prstGeom prst="rect">
            <a:avLst/>
          </a:prstGeom>
        </p:spPr>
        <p:txBody>
          <a:bodyPr/>
          <a:lstStyle/>
          <a:p>
            <a:pPr/>
            <a:r>
              <a:t>This is what "native meant React" looked like: the same media and text block, coded by hand. Illustrative, but it is the shape of our 2025 to 2026 blocks.</a:t>
            </a:r>
          </a:p>
          <a:p>
            <a:pPr/>
            <a:r>
              <a:t>Nine files. block.json declares an attribute for every option. edit.js wires a control for each one: heading level, media side, background colour, padding, RichText for the heading, MediaUpload for the image. save.js has to print exactly the same HTML that is in the database, or the editor marks the block invalid. Change the markup later and you write a deprecation (our pricing block carries deprecated v1 and v2).</a:t>
            </a:r>
          </a:p>
          <a:p>
            <a:pPr/>
            <a:r>
              <a:t>Every one of these controls already ships with the core Media &amp; Text block: media position, colours and spacing from block supports and theme.json, and any blocks you want inside it.</a:t>
            </a:r>
          </a:p>
          <a:p>
            <a:pPr/>
            <a:r>
              <a:t>What went wrong for us: text fields in a sidebar lost bold, links and lists. Buttons coded into a block could not be removed in a pattern (a colleague, 21.5.2026: the pattern refused to create a version without buttons, because the buttons were in code). And we maintained forever what core maintains for free.</a:t>
            </a:r>
          </a:p>
          <a:p>
            <a:pPr/>
            <a:r>
              <a:t>Sources: developer.wordpress.org/block-editor/reference-guides/block-api/block-edit-save/ (markup that doesn't match save() is marked invalid) | developer.wordpress.org/block-editor/reference-guides/block-api/block-deprecation/</a:t>
            </a:r>
          </a:p>
          <a:p>
            <a:pPr/>
            <a:r>
              <a:t>Core Media &amp; Text has existed since the very first block editor: added in Gutenberg 4.1 (PR #9416, 10.2018), shipped with WordPress 5.0 on 6.12.2018. Source: make.wordpress.org/test/2018/10/19/call-for-testing-gutenberg-4-1-pre-release/</a:t>
            </a:r>
          </a:p>
          <a:p>
            <a:pPr/>
            <a:r>
              <a:t>Was it mature enough in 2018? As a block, yes: it shipped in WordPress 5.0 (6.12.2018) with media left or right, stacking on mobile and a background colour. What came later is what makes it on-brand without code:</a:t>
            </a:r>
          </a:p>
          <a:p>
            <a:pPr/>
            <a:r>
              <a:t>- Block styles you can add to any block: register_block_style, WordPress 5.3 (11.2019).</a:t>
            </a:r>
          </a:p>
          <a:p>
            <a:pPr/>
            <a:r>
              <a:t>- Colours through the shared block supports: Media &amp; Text moved to the colour support flag in Gutenberg 7.9 (merged 30.3.2020, WordPress 5.5, 8.2020).</a:t>
            </a:r>
          </a:p>
          <a:p>
            <a:pPr/>
            <a:r>
              <a:t>- theme.json, where palette, sizes and per-block styles live: WordPress 5.8 (7.2021).</a:t>
            </a:r>
          </a:p>
          <a:p>
            <a:pPr/>
            <a:r>
              <a:t>- Spacing, typography and border supports on the block arrived over later releases; today it has colour, gradients, padding, margin, typography and border.</a:t>
            </a:r>
          </a:p>
          <a:p>
            <a:pPr/>
            <a:r>
              <a:t>So from 2021 onwards, the block we kept rebuilding by hand in 2025 could be fully themed from theme.json.</a:t>
            </a:r>
          </a:p>
          <a:p>
            <a:pPr/>
            <a:r>
              <a:t>Sources: make.wordpress.org/core/2019/09/24/new-block-apis-in-wordpress-5-3/ | github.com/WordPress/gutenberg/pull/21169 | make.wordpress.org/core/2021/06/25/introducing-theme-json-in-wordpress-5-8/</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6" name="Shape 446"/>
          <p:cNvSpPr/>
          <p:nvPr>
            <p:ph type="sldImg"/>
          </p:nvPr>
        </p:nvSpPr>
        <p:spPr>
          <a:prstGeom prst="rect">
            <a:avLst/>
          </a:prstGeom>
        </p:spPr>
        <p:txBody>
          <a:bodyPr/>
          <a:lstStyle/>
          <a:p>
            <a:pPr/>
          </a:p>
        </p:txBody>
      </p:sp>
      <p:sp>
        <p:nvSpPr>
          <p:cNvPr id="447" name="Shape 447"/>
          <p:cNvSpPr/>
          <p:nvPr>
            <p:ph type="body" sz="quarter" idx="1"/>
          </p:nvPr>
        </p:nvSpPr>
        <p:spPr>
          <a:prstGeom prst="rect">
            <a:avLst/>
          </a:prstGeom>
        </p:spPr>
        <p:txBody>
          <a:bodyPr/>
          <a:lstStyle/>
          <a:p>
            <a:pPr/>
            <a:r>
              <a:t>React is how the editor is built, so it's for the people building WordPress core. It is not a requirement for building themes and blocks.</a:t>
            </a:r>
          </a:p>
          <a:p>
            <a:pPr/>
            <a:r>
              <a:t>Facts:</a:t>
            </a:r>
          </a:p>
          <a:p>
            <a:pPr/>
            <a:r>
              <a:t>- The editor: @wordpress/element "builds on top of React and provide a set of utilities to work with React components and React elements" (Block Editor Handbook, packages-element). The handbook explains why React was chosen to model blocks.</a:t>
            </a:r>
          </a:p>
          <a:p>
            <a:pPr/>
            <a:r>
              <a:t>- Themes: a block theme is HTML block templates plus theme.json (Theme Handbook). Patterns, block styles and theme.json are markup and JSON, no JavaScript.</a:t>
            </a:r>
          </a:p>
          <a:p>
            <a:pPr/>
            <a:r>
              <a:t>- Custom blocks: Learn WordPress (13.10.2024) shows "you can also develop blocks without using" JSX and @wordpress/scripts. The editor side is still JavaScript, just not necessarily React you write yourself.</a:t>
            </a:r>
          </a:p>
          <a:p>
            <a:pPr/>
            <a:r>
              <a:t>- Front end: the Interactivity API (6.5) is directives plus a small store, no React.</a:t>
            </a:r>
          </a:p>
          <a:p>
            <a:pPr/>
            <a:r>
              <a:t>Sources: developer.wordpress.org/block-editor/reference-guides/packages/packages-element/ | developer.wordpress.org/themes/getting-started/what-is-a-theme/ | learn.wordpress.org/lesson/developing-wordpress-blocks-without-jsx-or-a-build-process/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2" name="Shape 492"/>
          <p:cNvSpPr/>
          <p:nvPr>
            <p:ph type="sldImg"/>
          </p:nvPr>
        </p:nvSpPr>
        <p:spPr>
          <a:prstGeom prst="rect">
            <a:avLst/>
          </a:prstGeom>
        </p:spPr>
        <p:txBody>
          <a:bodyPr/>
          <a:lstStyle/>
          <a:p>
            <a:pPr/>
          </a:p>
        </p:txBody>
      </p:sp>
      <p:sp>
        <p:nvSpPr>
          <p:cNvPr id="493" name="Shape 493"/>
          <p:cNvSpPr/>
          <p:nvPr>
            <p:ph type="body" sz="quarter" idx="1"/>
          </p:nvPr>
        </p:nvSpPr>
        <p:spPr>
          <a:prstGeom prst="rect">
            <a:avLst/>
          </a:prstGeom>
        </p:spPr>
        <p:txBody>
          <a:bodyPr/>
          <a:lstStyle/>
          <a:p>
            <a:pPr/>
            <a:r>
              <a:t>Where things live. With ACF, four places: the field groups are set up by hand in wp-admin and stored in the database, ACF draws the forms, the theme's PHP templates print the fields with get_field(), and every value is its own row in wp_postmeta.</a:t>
            </a:r>
          </a:p>
          <a:p>
            <a:pPr/>
            <a:r>
              <a:t>Lose the database and you lose the field groups. That is why ACF 5 (2014) added Local JSON: it copies every field group into an acf-json folder in the theme, so the definitions can live in git and sync between environments. It works, but it's a copy of something that really lives in the database.</a:t>
            </a:r>
          </a:p>
          <a:p>
            <a:pPr/>
            <a:r>
              <a:t>Many of us found it odd to build fields in an admin view at all, so we reached for code: ACF's own acf_add_local_field_group(), or libraries like ACF Codifier (Geniem, 2017) that we met on inherited sites. They all sit on top of ACF, so you now depend on ACF and on the library keeping up with ACF. Even more dependency.</a:t>
            </a:r>
          </a:p>
          <a:p>
            <a:pPr/>
            <a:r>
              <a:t>With core blocks there are three places and no plugin: the block and all its options ship with WordPress core, the look lives in theme.json in the theme, and the content is block markup in post_content. There are no field groups to set up. The block's "fields" are the block.</a:t>
            </a:r>
          </a:p>
          <a:p>
            <a:pPr/>
            <a:r>
              <a:t>Sources: advancedcustomfields.com/resources/local-json/ (saves field groups as JSON in the theme, "allows for version control over your field settings") | github.com/devgeniem/acf-codifier (created 17.9.2017)</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3" name="Shape 503"/>
          <p:cNvSpPr/>
          <p:nvPr>
            <p:ph type="sldImg"/>
          </p:nvPr>
        </p:nvSpPr>
        <p:spPr>
          <a:prstGeom prst="rect">
            <a:avLst/>
          </a:prstGeom>
        </p:spPr>
        <p:txBody>
          <a:bodyPr/>
          <a:lstStyle/>
          <a:p>
            <a:pPr/>
          </a:p>
        </p:txBody>
      </p:sp>
      <p:sp>
        <p:nvSpPr>
          <p:cNvPr id="504" name="Shape 504"/>
          <p:cNvSpPr/>
          <p:nvPr>
            <p:ph type="body" sz="quarter" idx="1"/>
          </p:nvPr>
        </p:nvSpPr>
        <p:spPr>
          <a:prstGeom prst="rect">
            <a:avLst/>
          </a:prstGeom>
        </p:spPr>
        <p:txBody>
          <a:bodyPr/>
          <a:lstStyle/>
          <a:p>
            <a:pPr/>
            <a:r>
              <a:t>Jokes aside. Dependency-free here means no plugin dependency when it comes to content: WordPress itself is still the one dependency we choose on purpose, as on the definition slide.</a:t>
            </a:r>
          </a:p>
          <a:p>
            <a:pPr/>
            <a:r>
              <a:t>The rest of the talk is how we got there from ten years of ACF.</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5" name="Shape 525"/>
          <p:cNvSpPr/>
          <p:nvPr>
            <p:ph type="sldImg"/>
          </p:nvPr>
        </p:nvSpPr>
        <p:spPr>
          <a:prstGeom prst="rect">
            <a:avLst/>
          </a:prstGeom>
        </p:spPr>
        <p:txBody>
          <a:bodyPr/>
          <a:lstStyle/>
          <a:p>
            <a:pPr/>
          </a:p>
        </p:txBody>
      </p:sp>
      <p:sp>
        <p:nvSpPr>
          <p:cNvPr id="526" name="Shape 526"/>
          <p:cNvSpPr/>
          <p:nvPr>
            <p:ph type="body" sz="quarter" idx="1"/>
          </p:nvPr>
        </p:nvSpPr>
        <p:spPr>
          <a:prstGeom prst="rect">
            <a:avLst/>
          </a:prstGeom>
        </p:spPr>
        <p:txBody>
          <a:bodyPr/>
          <a:lstStyle/>
          <a:p>
            <a:pPr/>
            <a:r>
              <a:t>I am a traditional WordPress guy. I come from the Underscores world and never got into Sage, Twig, Blade or other theme frameworks and templating languages. I stuck to PHP, HTML and CSS, and I am a fan of the core way. It avoids vendor lock and it feels nice to be able to do things like core intended.</a:t>
            </a:r>
          </a:p>
          <a:p>
            <a:pPr/>
          </a:p>
          <a:p>
            <a:pPr/>
            <a:r>
              <a:t>Traditional: Underscores (_s), Automattic, launched 13.2.2012. Classic PHP templates following the template hierarchy.</a:t>
            </a:r>
          </a:p>
          <a:p>
            <a:pPr/>
            <a:r>
              <a:t>Innovative: Sage by Roots, started as the Roots theme in 2011. Sage 11 (2025) runs onAcorn with Laravel Blade views in resources/views, Composer, and Vite as the build tool.</a:t>
            </a:r>
          </a:p>
          <a:p>
            <a:pPr/>
            <a:r>
              <a:t>Modern: block themes arrived with WordPress 5.9 in January 2022. HTML templates and parts, theme.json for settings and styles, edited in the Site Editor.</a:t>
            </a:r>
          </a:p>
          <a:p>
            <a:pPr/>
            <a:r>
              <a:t>Sources: themeshaper.com/2012/02/13/introducing-the-underscores-theme/ | roots.io/sage-v11-and-acorn-v5-released/ | make.wordpress.org/core/2021/06/25/introducing-theme-json-in-wordpress-5-8/</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3" name="Shape 563"/>
          <p:cNvSpPr/>
          <p:nvPr>
            <p:ph type="sldImg"/>
          </p:nvPr>
        </p:nvSpPr>
        <p:spPr>
          <a:prstGeom prst="rect">
            <a:avLst/>
          </a:prstGeom>
        </p:spPr>
        <p:txBody>
          <a:bodyPr/>
          <a:lstStyle/>
          <a:p>
            <a:pPr/>
          </a:p>
        </p:txBody>
      </p:sp>
      <p:sp>
        <p:nvSpPr>
          <p:cNvPr id="564" name="Shape 564"/>
          <p:cNvSpPr/>
          <p:nvPr>
            <p:ph type="body" sz="quarter" idx="1"/>
          </p:nvPr>
        </p:nvSpPr>
        <p:spPr>
          <a:prstGeom prst="rect">
            <a:avLst/>
          </a:prstGeom>
        </p:spPr>
        <p:txBody>
          <a:bodyPr/>
          <a:lstStyle/>
          <a:p>
            <a:pPr/>
            <a:r>
              <a:t>How to get from a traditional theme with ACF to a modern one. You do not have to jump in one go: every step on the stairs works inside a classic theme, which is what a hybrid theme is.</a:t>
            </a:r>
          </a:p>
          <a:p>
            <a:pPr/>
            <a:r>
              <a:t>1 Native blocks (5.0+, block.json canonical in 5.8): replace ACF blocks with core blocks, patterns and your own blocks. Content first, theme untouched.</a:t>
            </a:r>
          </a:p>
          <a:p>
            <a:pPr/>
            <a:r>
              <a:t>2 Post meta (Block Bindings 6.5+, editing bound values 6.7, custom sources UI 6.9): register_post_meta() instead of ACF fields, bound to core blocks.</a:t>
            </a:r>
          </a:p>
          <a:p>
            <a:pPr/>
            <a:r>
              <a:t>3 theme.json (5.8+): settings and styles in a classic theme. A classic theme with theme.json or editor-styles gets Appearance &gt; Design (Style Book) instead of just Patterns (wp-admin/menu.php in 7.1).</a:t>
            </a:r>
          </a:p>
          <a:p>
            <a:pPr/>
            <a:r>
              <a:t>4 Block template parts (6.1+): add_theme_support('block-template-parts') plus a /parts folder, header and footer editable as blocks (@since 6.1.0 in wp-includes/theme.php).</a:t>
            </a:r>
          </a:p>
          <a:p>
            <a:pPr/>
            <a:r>
              <a:t>Last step, Modern: block theme with /templates HTML templates, detected by wp_is_block_theme() (5.9, January 2022), full site editing.</a:t>
            </a:r>
          </a:p>
          <a:p>
            <a:pPr/>
            <a:r>
              <a:t>Panel extras: WP REST API is on the Traditional side on purpose, core since 4.7 (12.2016) and it works in any theme. Interactivity API: core since 6.5 (3.2024), front-end behaviour through directives in block markup. AI client: wp_ai_client_prompt() @since 7.0.0, on top of the Abilities API @since 6.9.0. If asked: the AI client and Abilities API work with a classic theme too, they are modern core, not block-theme-only.</a:t>
            </a:r>
          </a:p>
          <a:p>
            <a:pPr/>
            <a:r>
              <a:t>Is full site editing worth it? It depends on who edits what:</a:t>
            </a:r>
          </a:p>
          <a:p>
            <a:pPr/>
            <a:r>
              <a:t>- For: one design system in theme.json, no PHP templates, the client can edit headers, footers and templates in the Site Editor, and it is where core is going.</a:t>
            </a:r>
          </a:p>
          <a:p>
            <a:pPr/>
            <a:r>
              <a:t>- Against: templates edited in the Site Editor are saved to the database and drift from the theme files in git, clients can change layouts you wanted locked, and the tooling and docs still move between releases.</a:t>
            </a:r>
          </a:p>
          <a:p>
            <a:pPr/>
            <a:r>
              <a:t>- Adoption, June 2026: block themes are 13% of the 14,822 wordpress.org themes and 44% of new submissions, but only 8.3% of non-default theme installs; classic themes still win about 11:1 (wp.md/blog/state-of-wordpress-themes-2026/, install counts are wordpress.org buckets).</a:t>
            </a:r>
          </a:p>
          <a:p>
            <a:pPr/>
            <a:r>
              <a:t>- Hybrid is a valid place to stop, not only a stop on the way.</a:t>
            </a:r>
          </a:p>
          <a:p>
            <a:pPr/>
            <a:r>
              <a:t>Sources: developer.wordpress.org/news/2024/12/bridging-the-gap-hybrid-themes/ (Troy Chaplin, 3.12.2024; it dates block template parts to 5.9, core says 6.1 for classic themes) | learn.wordpress.org/lesson/converting-a-classic-theme-to-a-block-theme/ | developer.wordpress.org/themes/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94" name="Shape 594"/>
          <p:cNvSpPr/>
          <p:nvPr>
            <p:ph type="sldImg"/>
          </p:nvPr>
        </p:nvSpPr>
        <p:spPr>
          <a:prstGeom prst="rect">
            <a:avLst/>
          </a:prstGeom>
        </p:spPr>
        <p:txBody>
          <a:bodyPr/>
          <a:lstStyle/>
          <a:p>
            <a:pPr/>
          </a:p>
        </p:txBody>
      </p:sp>
      <p:sp>
        <p:nvSpPr>
          <p:cNvPr id="595" name="Shape 595"/>
          <p:cNvSpPr/>
          <p:nvPr>
            <p:ph type="body" sz="quarter" idx="1"/>
          </p:nvPr>
        </p:nvSpPr>
        <p:spPr>
          <a:prstGeom prst="rect">
            <a:avLst/>
          </a:prstGeom>
        </p:spPr>
        <p:txBody>
          <a:bodyPr/>
          <a:lstStyle/>
          <a:p>
            <a:pPr/>
            <a:r>
              <a:t>So if you're still on ACF, why go 100% core for your blocks?</a:t>
            </a:r>
          </a:p>
          <a:p>
            <a:pPr/>
          </a:p>
          <a:p>
            <a:pPr/>
            <a:r>
              <a:t>First, performance. A lot of the work moves from the server to the browser, and the page itself is just saved block markup.</a:t>
            </a:r>
          </a:p>
          <a:p>
            <a:pPr/>
          </a:p>
          <a:p>
            <a:pPr/>
            <a:r>
              <a:t>Second, the basics are built in. Heading levels, colours, spacing. With ACF we had to build every one of those settings by hand. Even changing an h1 to an h2 was a job for a developer. And the WYSIWYG field was a pain: our editors couldn't even put bold text or a link in the middle of a sentence the way they wanted.</a:t>
            </a:r>
          </a:p>
          <a:p>
            <a:pPr/>
          </a:p>
          <a:p>
            <a:pPr/>
            <a:r>
              <a:t>Third, the client edits right in the preview. No more jumping between an edit view and a preview view. Our big ACF blocks used to flicker every time you touched them.</a:t>
            </a:r>
          </a:p>
          <a:p>
            <a:pPr/>
          </a:p>
          <a:p>
            <a:pPr/>
            <a:r>
              <a:t>Fourth, you get Lego and Duplo at the same time. Big ready-made pieces and small ones, mixed however you like. And anything can be moved, reordered and combined.</a:t>
            </a:r>
          </a:p>
          <a:p>
            <a:pPr/>
          </a:p>
          <a:p>
            <a:pPr/>
            <a:r>
              <a:t>And the client gets a real tool. A few years ago one of our clients emailed us that he was about to lose his mind in "the WordPress straitjacket Dude knitted". He was half joking, but the name stuck with us.</a:t>
            </a:r>
          </a:p>
          <a:p>
            <a:pPr/>
          </a:p>
          <a:p>
            <a:pPr/>
            <a:r>
              <a:t>The cons. There is a steep learning curve, for the whole team. You write less PHP and more JSON, theme.json and block.json, which is new ground for a lot of CSS developers. You have to unlearn the habit of building every block from scratch and start from what core already has. When you do need a custom block, you get the heavy build tooling: React, npm, a build step. And core moves fast while the docs are scattered.</a:t>
            </a:r>
          </a:p>
          <a:p>
            <a:pPr/>
          </a:p>
          <a:p>
            <a:pPr/>
            <a:r>
              <a:t>When we started, I said this would take our team a year or more to absorb. It's wonderful and horrible at the same time. The designer side of it is on the next slide.</a:t>
            </a:r>
          </a:p>
          <a:p>
            <a:pPr/>
          </a:p>
          <a:p>
            <a:pPr/>
            <a:r>
              <a:t>(Sources, not to read out: the straitjacket email 7.11.2023; the flicker comment in our developer channel 11.9.2024; "a year or more" 17.4.2026; "wonderful and horrible" voicenote 29.4.2026.)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5" name="Shape 605"/>
          <p:cNvSpPr/>
          <p:nvPr>
            <p:ph type="sldImg"/>
          </p:nvPr>
        </p:nvSpPr>
        <p:spPr>
          <a:prstGeom prst="rect">
            <a:avLst/>
          </a:prstGeom>
        </p:spPr>
        <p:txBody>
          <a:bodyPr/>
          <a:lstStyle/>
          <a:p>
            <a:pPr/>
          </a:p>
        </p:txBody>
      </p:sp>
      <p:sp>
        <p:nvSpPr>
          <p:cNvPr id="606" name="Shape 606"/>
          <p:cNvSpPr/>
          <p:nvPr>
            <p:ph type="body" sz="quarter" idx="1"/>
          </p:nvPr>
        </p:nvSpPr>
        <p:spPr>
          <a:prstGeom prst="rect">
            <a:avLst/>
          </a:prstGeom>
        </p:spPr>
        <p:txBody>
          <a:bodyPr/>
          <a:lstStyle/>
          <a:p>
            <a:pPr/>
            <a:r>
              <a:t>Before, designers used to limit what the customer can do. Now we give complete freedom. We need to design all blocks so that they look like the customer's brand. With great power comes great responsibility.</a:t>
            </a:r>
          </a:p>
          <a:p>
            <a:pPr/>
            <a:r>
              <a:t>Practical side: the design system goes into theme.json (palette, font sizes, spacing scale), block styles and patterns, so the choices the client can make are all on-brand. Lock what must not change with templateLock and block locking, curate with allowed blocks.</a:t>
            </a:r>
          </a:p>
          <a:p>
            <a:pPr/>
          </a:p>
          <a:p>
            <a:pPr/>
            <a:r>
              <a:t>Evidence: Dude's designer carousel "Natiivilohkot suunnittelijan näkökulmasta" (6.2026): "Jos asiakkaalle annetaan vapaasti käyttöön 14 fonttikokoa... sivusto alkaa muistuttaa kollaasia" (give the client 14 font sizes freely and the site starts to look like a collage). A designer in the 23.2.2026 session: "asiakas ei pääse ehkä liikaa siellä myllertämään?" Answer: curate in theme.json, MAYBE fewer choices, all on brand. But we’ve decided to give as much as choices as possible and make them look good in all scenarios.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2" name="Shape 662"/>
          <p:cNvSpPr/>
          <p:nvPr>
            <p:ph type="sldImg"/>
          </p:nvPr>
        </p:nvSpPr>
        <p:spPr>
          <a:prstGeom prst="rect">
            <a:avLst/>
          </a:prstGeom>
        </p:spPr>
        <p:txBody>
          <a:bodyPr/>
          <a:lstStyle/>
          <a:p>
            <a:pPr/>
          </a:p>
        </p:txBody>
      </p:sp>
      <p:sp>
        <p:nvSpPr>
          <p:cNvPr id="663" name="Shape 663"/>
          <p:cNvSpPr/>
          <p:nvPr>
            <p:ph type="body" sz="quarter" idx="1"/>
          </p:nvPr>
        </p:nvSpPr>
        <p:spPr>
          <a:prstGeom prst="rect">
            <a:avLst/>
          </a:prstGeom>
        </p:spPr>
        <p:txBody>
          <a:bodyPr/>
          <a:lstStyle/>
          <a:p>
            <a:pPr/>
            <a:r>
              <a:t>21 ways to build a block, and that is the point: this is why moving off ACF feels confusing. You do not need all of them.</a:t>
            </a:r>
          </a:p>
          <a:p>
            <a:pPr/>
            <a:r>
              <a:t>Column 1, no custom code: core blocks, variations, patterns, styles, filters, and synced patterns (reusable blocks, renamed synced patterns in 6.3; pattern overrides in 6.6).</a:t>
            </a:r>
          </a:p>
          <a:p>
            <a:pPr/>
            <a:r>
              <a:t>Column 2, your own code: register_block_type / registerBlockType, block.json, dynamic render.php, React, InnerBlocks, and interactive blocks with the Interactivity API (core since 6.5).</a:t>
            </a:r>
          </a:p>
          <a:p>
            <a:pPr/>
            <a:r>
              <a:t>Column 3, the in-betweens and third parties: ACF blocks, hybrid setups, theme choices, Block Bindings, and page builders like Elementor and Divi, which bring their own editor and their own content format. Elementor keeps the layout as JSON in post meta (_elementor_data), so the content only makes sense with the plugin active. The same dependency problem as ACF, just bigger.</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77" name="Shape 677"/>
          <p:cNvSpPr/>
          <p:nvPr>
            <p:ph type="sldImg"/>
          </p:nvPr>
        </p:nvSpPr>
        <p:spPr>
          <a:prstGeom prst="rect">
            <a:avLst/>
          </a:prstGeom>
        </p:spPr>
        <p:txBody>
          <a:bodyPr/>
          <a:lstStyle/>
          <a:p>
            <a:pPr/>
          </a:p>
        </p:txBody>
      </p:sp>
      <p:sp>
        <p:nvSpPr>
          <p:cNvPr id="678" name="Shape 678"/>
          <p:cNvSpPr/>
          <p:nvPr>
            <p:ph type="body" sz="quarter" idx="1"/>
          </p:nvPr>
        </p:nvSpPr>
        <p:spPr>
          <a:prstGeom prst="rect">
            <a:avLst/>
          </a:prstGeom>
        </p:spPr>
        <p:txBody>
          <a:bodyPr/>
          <a:lstStyle/>
          <a:p>
            <a:pPr/>
            <a:r>
              <a:t>Priority order: reach for 1 before 2, 2 before 3, and write a custom block only when nothing above fits.</a:t>
            </a:r>
          </a:p>
          <a:p>
            <a:pPr/>
            <a:r>
              <a:t>Order of preference in our converter spec: core blocks as a pattern first, a custom native block only for queries, external APIs or interactive widgets, and a hybrid wrapper with InnerBlocks in between.</a:t>
            </a:r>
          </a:p>
          <a:p>
            <a:pPr/>
            <a:r>
              <a:t>The 115 block count is WordPress 7.1's core inventory as recorded in our converter spec (DEV-1056).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9" name="Shape 689"/>
          <p:cNvSpPr/>
          <p:nvPr>
            <p:ph type="sldImg"/>
          </p:nvPr>
        </p:nvSpPr>
        <p:spPr>
          <a:prstGeom prst="rect">
            <a:avLst/>
          </a:prstGeom>
        </p:spPr>
        <p:txBody>
          <a:bodyPr/>
          <a:lstStyle/>
          <a:p>
            <a:pPr/>
          </a:p>
        </p:txBody>
      </p:sp>
      <p:sp>
        <p:nvSpPr>
          <p:cNvPr id="690" name="Shape 690"/>
          <p:cNvSpPr/>
          <p:nvPr>
            <p:ph type="body" sz="quarter" idx="1"/>
          </p:nvPr>
        </p:nvSpPr>
        <p:spPr>
          <a:prstGeom prst="rect">
            <a:avLst/>
          </a:prstGeom>
        </p:spPr>
        <p:txBody>
          <a:bodyPr/>
          <a:lstStyle/>
          <a:p>
            <a:pPr/>
            <a:r>
              <a:t>Same block, two ways. Left: the image and text block on our most recent ACF site to launch (5.2026), anonymised. The editor fills a fixed form: title, one WYSIWYG box, one link, one image. The PHP template decides the markup and the content lives in ACF fields. No second button, no list, no video, and every new variation means a developer adds a field.</a:t>
            </a:r>
          </a:p>
          <a:p>
            <a:pPr/>
            <a:r>
              <a:t>Right: priority 1, a core block as shipped. core/media-text has been in core since WordPress 5.0. There is nothing to build: no PHP, no JS, no field group. This is what the editor saves into post_content (trimmed: the real markup also has is-stacked-on-mobile and the image classes). Inside the content half the client can use any blocks: heading, paragraph, buttons, lists, whatever.</a:t>
            </a:r>
          </a:p>
          <a:p>
            <a:pPr/>
            <a:r>
              <a:t>Styling comes from theme.json and a block style if needed (priority 3). Wrap the markup in a pattern file to give editors a ready-made starting point (priority 2).</a:t>
            </a:r>
          </a:p>
          <a:p>
            <a:pPr/>
            <a:r>
              <a:t>Our latest native site did this one as a small custom block around core blocks. For this layout core/media-text would have done the job, which is the point of the priority order.</a:t>
            </a:r>
          </a:p>
          <a:p>
            <a:pPr/>
            <a:r>
              <a:t>Core Media &amp; Text has existed since the very first block editor: added in Gutenberg 4.1 (PR #9416, 10.2018), shipped with WordPress 5.0 on 6.12.2018. Source: make.wordpress.org/test/2018/10/19/call-for-testing-gutenberg-4-1-pre-release/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00" name="Shape 700"/>
          <p:cNvSpPr/>
          <p:nvPr>
            <p:ph type="sldImg"/>
          </p:nvPr>
        </p:nvSpPr>
        <p:spPr>
          <a:prstGeom prst="rect">
            <a:avLst/>
          </a:prstGeom>
        </p:spPr>
        <p:txBody>
          <a:bodyPr/>
          <a:lstStyle/>
          <a:p>
            <a:pPr/>
          </a:p>
        </p:txBody>
      </p:sp>
      <p:sp>
        <p:nvSpPr>
          <p:cNvPr id="701" name="Shape 701"/>
          <p:cNvSpPr/>
          <p:nvPr>
            <p:ph type="body" sz="quarter" idx="1"/>
          </p:nvPr>
        </p:nvSpPr>
        <p:spPr>
          <a:prstGeom prst="rect">
            <a:avLst/>
          </a:prstGeom>
        </p:spPr>
        <p:txBody>
          <a:bodyPr/>
          <a:lstStyle/>
          <a:p>
            <a:pPr/>
            <a:r>
              <a:t>The Media &amp; Text example on the previous slide is the typical case: the ACF version was a field group plus a PHP template, the core version is a block that already exists. Search the inserter first.</a:t>
            </a:r>
          </a:p>
          <a:p>
            <a:pPr/>
            <a:r>
              <a:t>115 core blocks is WordPress 7.1's inventory as recorded in our converter spec (DEV-1056).</a:t>
            </a:r>
          </a:p>
          <a:p>
            <a:pPr/>
            <a:r>
              <a:t>Proof from our own work: one of our 2026 sites (6.2026) was built with zero custom blocks. Core blocks, three block styles (gallery marquee and masonry, a gradient button), theme.json styling and patterns. That is all.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3" name="Shape 723"/>
          <p:cNvSpPr/>
          <p:nvPr>
            <p:ph type="sldImg"/>
          </p:nvPr>
        </p:nvSpPr>
        <p:spPr>
          <a:prstGeom prst="rect">
            <a:avLst/>
          </a:prstGeom>
        </p:spPr>
        <p:txBody>
          <a:bodyPr/>
          <a:lstStyle/>
          <a:p>
            <a:pPr/>
          </a:p>
        </p:txBody>
      </p:sp>
      <p:sp>
        <p:nvSpPr>
          <p:cNvPr id="724" name="Shape 724"/>
          <p:cNvSpPr/>
          <p:nvPr>
            <p:ph type="body" sz="quarter" idx="1"/>
          </p:nvPr>
        </p:nvSpPr>
        <p:spPr>
          <a:prstGeom prst="rect">
            <a:avLst/>
          </a:prstGeom>
        </p:spPr>
        <p:txBody>
          <a:bodyPr/>
          <a:lstStyle/>
          <a:p>
            <a:pPr/>
            <a:r>
              <a:t>Most of the time you don't need to code. But when you do, this is how we do it at Dude today.</a:t>
            </a:r>
          </a:p>
          <a:p>
            <a:pPr/>
          </a:p>
          <a:p>
            <a:pPr/>
            <a:r>
              <a:t>1. We lock theme.json first. A fixed palette, a named type scale, a fluid spacing scale, fixed content widths. Custom colours, custom sizes, line height, drop caps: all off. The client picks from our scale and never types a value. This is the brand guard from the designer slide.</a:t>
            </a:r>
          </a:p>
          <a:p>
            <a:pPr/>
          </a:p>
          <a:p>
            <a:pPr/>
            <a:r>
              <a:t>2. Core blocks by default, and we curate them per post type. A news post doesn't need the same blocks as a landing page. We also remove the bundled core and WooCommerce patterns and most of the embed providers, so the inserter only shows what fits the site.</a:t>
            </a:r>
          </a:p>
          <a:p>
            <a:pPr/>
          </a:p>
          <a:p>
            <a:pPr/>
            <a:r>
              <a:t>3. We style core blocks and their variations in theme.json. SCSS only for what theme.json can't do. The style names are registered in PHP so they show up in the editor's Styles panel, but the look lives in theme.json.</a:t>
            </a:r>
          </a:p>
          <a:p>
            <a:pPr/>
          </a:p>
          <a:p>
            <a:pPr/>
            <a:r>
              <a:t>4. Layouts are patterns built from core blocks, in the editor. We have actually deleted custom blocks that turned out to be only layout and rebuilt them as patterns. A pattern is a starting point the client can change; a custom block is code we maintain forever.</a:t>
            </a:r>
          </a:p>
          <a:p>
            <a:pPr/>
          </a:p>
          <a:p>
            <a:pPr/>
            <a:r>
              <a:t>5. Public data comes from the WP REST API and is rendered in the browser. We try to avoid render.php. No PHP rendering per block, no server round trip just to show a preview in the editor, and the same endpoints serve the site, the editor and anything else.</a:t>
            </a:r>
          </a:p>
          <a:p>
            <a:pPr/>
          </a:p>
          <a:p>
            <a:pPr/>
            <a:r>
              <a:t>6. When a block has to react without a page reload, filters, sorting, paging, we use the Interactivity API. It has been in core since 6.5. You write directives in the markup, data-wp-on--click, data-wp-text, data-wp-each, and a small store in view.js. No React on the front end, no build step for the front-end script.</a:t>
            </a:r>
          </a:p>
          <a:p>
            <a:pPr/>
          </a:p>
          <a:p>
            <a:pPr/>
            <a:r>
              <a:t>7. And only then, as the last resort, a custom block. Few attributes, narrow supports, block.json with a view.js, built with wp-scripts. That's the folder on the right.</a:t>
            </a:r>
          </a:p>
          <a:p>
            <a:pPr/>
          </a:p>
          <a:p>
            <a:pPr/>
            <a:r>
              <a:t>ACF is still installed on these sites, but it builds no blocks. It's a form builder for data: custom post type fields, menu flags, settings screens. For plain text fields on a simple marketing site we don't even need ACF, a registered meta field is enough.</a:t>
            </a:r>
          </a:p>
          <a:p>
            <a:pPr/>
          </a:p>
          <a:p>
            <a:pPr/>
            <a:r>
              <a:t>If asked about render.php: some of our current blocks still use it. That is exactly what we are moving away from for public data.</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38" name="Shape 738"/>
          <p:cNvSpPr/>
          <p:nvPr>
            <p:ph type="sldImg"/>
          </p:nvPr>
        </p:nvSpPr>
        <p:spPr>
          <a:prstGeom prst="rect">
            <a:avLst/>
          </a:prstGeom>
        </p:spPr>
        <p:txBody>
          <a:bodyPr/>
          <a:lstStyle/>
          <a:p>
            <a:pPr/>
          </a:p>
        </p:txBody>
      </p:sp>
      <p:sp>
        <p:nvSpPr>
          <p:cNvPr id="739" name="Shape 739"/>
          <p:cNvSpPr/>
          <p:nvPr>
            <p:ph type="body" sz="quarter" idx="1"/>
          </p:nvPr>
        </p:nvSpPr>
        <p:spPr>
          <a:prstGeom prst="rect">
            <a:avLst/>
          </a:prstGeom>
        </p:spPr>
        <p:txBody>
          <a:bodyPr/>
          <a:lstStyle/>
          <a:p>
            <a:pPr/>
            <a:r>
              <a:t>Our first full site editing build: a small route guide site, 5.2026 to 6.2026, converted from air-light into a block theme. How it is built: templates/ has index, page, page-no-sidebar and 404; parts/ has header and footer. theme.json v3 declares templateParts and customTemplates, loads the font with fontFace, and turns off custom colours, sizes, line height, letter spacing, borders and shadows. Four patterns live in patterns/*.php under our own category; core and remote patterns are unregistered.</a:t>
            </a:r>
          </a:p>
          <a:p>
            <a:pPr/>
            <a:r>
              <a:t>No custom blocks, no ACF, no Interactivity API. Small vanilla JS fills the gaps: the sidebar navigation accordion and a print button. Editors change header, footer and menus in the Site Editor, reached from a "Muokkaa sivustoa" admin link. The header groups are locked against moving and removing.</a:t>
            </a:r>
          </a:p>
          <a:p>
            <a:pPr/>
            <a:r>
              <a:t>The honest lessons:</a:t>
            </a:r>
          </a:p>
          <a:p>
            <a:pPr/>
            <a:r>
              <a:t>- Git and the database drift. Templates were built in the local Site Editor and pasted into files, so they carry database IDs (navigation ref, image ids) and local URLs. Any edit in the Site Editor on production creates a database copy that overrides the file, and nothing brings it back to git. Decide up front who owns templates, and use an export workflow (for example the Create Block Theme plugin) if files are the source of truth.</a:t>
            </a:r>
          </a:p>
          <a:p>
            <a:pPr/>
            <a:r>
              <a:t>- Core Navigation is not built for a sidebar menu: "Tuo coren nav ei oikein palvele kunnolla tossa sivupalkissa, kun ei ole siihen tarkoitettu" (our project channel, 3.6.2026). Solved with custom JS and SCSS.</a:t>
            </a:r>
          </a:p>
          <a:p>
            <a:pPr/>
            <a:r>
              <a:t>- Converting a classic starter leaves dead code: nav walkers and CSS that fought theme.json had to be removed by hand.</a:t>
            </a:r>
          </a:p>
          <a:p>
            <a:pPr/>
            <a:r>
              <a:t>- Multilingual was hard: Polylang only swaps a navigation ref when templates are duplicated, not for a shared template. It was added and removed again.</a:t>
            </a:r>
          </a:p>
          <a:p>
            <a:pPr/>
            <a:r>
              <a:t>The upside: almost no custom code, the design options come from theme.json, and editors manage header, footer and menus without a developer.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3" name="Shape 753"/>
          <p:cNvSpPr/>
          <p:nvPr>
            <p:ph type="sldImg"/>
          </p:nvPr>
        </p:nvSpPr>
        <p:spPr>
          <a:prstGeom prst="rect">
            <a:avLst/>
          </a:prstGeom>
        </p:spPr>
        <p:txBody>
          <a:bodyPr/>
          <a:lstStyle/>
          <a:p>
            <a:pPr/>
          </a:p>
        </p:txBody>
      </p:sp>
      <p:sp>
        <p:nvSpPr>
          <p:cNvPr id="754" name="Shape 754"/>
          <p:cNvSpPr/>
          <p:nvPr>
            <p:ph type="body" sz="quarter" idx="1"/>
          </p:nvPr>
        </p:nvSpPr>
        <p:spPr>
          <a:prstGeom prst="rect">
            <a:avLst/>
          </a:prstGeom>
        </p:spPr>
        <p:txBody>
          <a:bodyPr/>
          <a:lstStyle/>
          <a:p>
            <a:pPr/>
            <a:r>
              <a:t>Everything so far was page content. But people also build custom post types with fields, and archive pages. How without ACF?</a:t>
            </a:r>
          </a:p>
          <a:p>
            <a:pPr/>
            <a:r>
              <a:t>The post type: register_post_type() in the theme or a small plugin. Core since 3.0 (2010).</a:t>
            </a:r>
          </a:p>
          <a:p>
            <a:pPr/>
            <a:r>
              <a:t>Its fields: register_post_meta() with a type, a default and show_in_rest. Arrays and objects work too (5.3). Show the value with a Block Binding: a core heading, paragraph, image or button reads it and the editor edits it in place (6.5, editable since 6.7).</a:t>
            </a:r>
          </a:p>
          <a:p>
            <a:pPr/>
            <a:r>
              <a:t>Single and archive pages: a template, PHP in a classic theme or HTML in a block theme, with the Query Loop block for the listing. Sorting or filtering by a meta field, like upcoming events by date, needs a small hook (query_loop_block_query_vars, 6.1) or a custom block.</a:t>
            </a:r>
          </a:p>
          <a:p>
            <a:pPr/>
            <a:r>
              <a:t>Complex fields and settings: this is where ACF still earns its place. Core can store a repeater or a relationship, but has no editing UI for them, and bindings only take simple values. Same for site-wide options pages. Our team still uses ACF exactly for this on our 2026 sites, and reads it with get_post_meta().</a:t>
            </a:r>
          </a:p>
          <a:p>
            <a:pPr/>
            <a:r>
              <a:t>If asked about FSE: it makes the templates editable, it doesn't add fields.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61" name="Shape 761"/>
          <p:cNvSpPr/>
          <p:nvPr>
            <p:ph type="sldImg"/>
          </p:nvPr>
        </p:nvSpPr>
        <p:spPr>
          <a:prstGeom prst="rect">
            <a:avLst/>
          </a:prstGeom>
        </p:spPr>
        <p:txBody>
          <a:bodyPr/>
          <a:lstStyle/>
          <a:p>
            <a:pPr/>
          </a:p>
        </p:txBody>
      </p:sp>
      <p:sp>
        <p:nvSpPr>
          <p:cNvPr id="762" name="Shape 762"/>
          <p:cNvSpPr/>
          <p:nvPr>
            <p:ph type="body" sz="quarter" idx="1"/>
          </p:nvPr>
        </p:nvSpPr>
        <p:spPr>
          <a:prstGeom prst="rect">
            <a:avLst/>
          </a:prstGeom>
        </p:spPr>
        <p:txBody>
          <a:bodyPr/>
          <a:lstStyle/>
          <a:p>
            <a:pPr/>
            <a:r>
              <a:t>That's a lot of new things. If you only take one of them home, take patterns. They need no code, they work in every theme, classic or block, and they are the fastest way to get away from ACF blocks.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76" name="Shape 776"/>
          <p:cNvSpPr/>
          <p:nvPr>
            <p:ph type="sldImg"/>
          </p:nvPr>
        </p:nvSpPr>
        <p:spPr>
          <a:prstGeom prst="rect">
            <a:avLst/>
          </a:prstGeom>
        </p:spPr>
        <p:txBody>
          <a:bodyPr/>
          <a:lstStyle/>
          <a:p>
            <a:pPr/>
          </a:p>
        </p:txBody>
      </p:sp>
      <p:sp>
        <p:nvSpPr>
          <p:cNvPr id="777" name="Shape 777"/>
          <p:cNvSpPr/>
          <p:nvPr>
            <p:ph type="body" sz="quarter" idx="1"/>
          </p:nvPr>
        </p:nvSpPr>
        <p:spPr>
          <a:prstGeom prst="rect">
            <a:avLst/>
          </a:prstGeom>
        </p:spPr>
        <p:txBody>
          <a:bodyPr/>
          <a:lstStyle/>
          <a:p>
            <a:pPr/>
            <a:r>
              <a:t>It has always been a pattern. When we went through the 49 ACF blocks of one client site, 32 of them only printed layout and typed copy: headings, text, images, cards. Every one of those was a pattern all along, we just built it as a block.</a:t>
            </a:r>
          </a:p>
          <a:p>
            <a:pPr/>
            <a:r>
              <a:t>A pattern is nothing more than core blocks arranged once and saved. No code, no build step. The client inserts it and can change anything in it, because it isn't locked in code.</a:t>
            </a:r>
          </a:p>
          <a:p>
            <a:pPr/>
            <a:r>
              <a:t>Patterns have been in core since WordPress 5.5 (8.2020). Synced patterns, the old reusable blocks, since 6.3 (8.2023), and pattern overrides since 6.6 let one synced pattern have per-page content.</a:t>
            </a:r>
          </a:p>
          <a:p>
            <a:pPr/>
            <a:r>
              <a:t>Sources: make.wordpress.org/core/2020/07/16/block-patterns-in-wordpress-5-5/ | our own conversion analysis of a client site, 9.2026.</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0" name="Shape 790"/>
          <p:cNvSpPr/>
          <p:nvPr>
            <p:ph type="sldImg"/>
          </p:nvPr>
        </p:nvSpPr>
        <p:spPr>
          <a:prstGeom prst="rect">
            <a:avLst/>
          </a:prstGeom>
        </p:spPr>
        <p:txBody>
          <a:bodyPr/>
          <a:lstStyle/>
          <a:p>
            <a:pPr/>
          </a:p>
        </p:txBody>
      </p:sp>
      <p:sp>
        <p:nvSpPr>
          <p:cNvPr id="791" name="Shape 791"/>
          <p:cNvSpPr/>
          <p:nvPr>
            <p:ph type="body" sz="quarter" idx="1"/>
          </p:nvPr>
        </p:nvSpPr>
        <p:spPr>
          <a:prstGeom prst="rect">
            <a:avLst/>
          </a:prstGeom>
        </p:spPr>
        <p:txBody>
          <a:bodyPr/>
          <a:lstStyle/>
          <a:p>
            <a:pPr/>
            <a:r>
              <a:t>New from the last weeks. When a client creates a new empty page, the editor opens on a blank canvas. Blocks alone don't show how to build a whole section, and clients who never open the Patterns tab don't know the finished sections exist.</a:t>
            </a:r>
          </a:p>
          <a:p>
            <a:pPr/>
            <a:r>
              <a:t>WordPress already has a "Choose a pattern" window for new pages, but it only lists patterns registered with blockTypes core/post-content. Patterns people save in the editor never carry that, so on our sites the window never opens.</a:t>
            </a:r>
          </a:p>
          <a:p>
            <a:pPr/>
            <a:r>
              <a:t>Left: the core way, for patterns in theme files. Right: what we do for editor-saved patterns. On a new, empty page we open the inserter on the Patterns tab. It uses core's own "All" string, so it's already translated.</a:t>
            </a:r>
          </a:p>
          <a:p>
            <a:pPr/>
            <a:r>
              <a:t>It's coming to air-helper, our open source helper plugin, on by default, with a filter to turn it off: add_filter( 'air_helper_enable_page_patterns_onboarding', '__return_false' ).</a:t>
            </a:r>
          </a:p>
          <a:p>
            <a:pPr/>
            <a:r>
              <a:t>Caveat if asked: tab and category map to __experimental props in core, so we recheck on every major release.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8" name="Shape 798"/>
          <p:cNvSpPr/>
          <p:nvPr>
            <p:ph type="sldImg"/>
          </p:nvPr>
        </p:nvSpPr>
        <p:spPr>
          <a:prstGeom prst="rect">
            <a:avLst/>
          </a:prstGeom>
        </p:spPr>
        <p:txBody>
          <a:bodyPr/>
          <a:lstStyle/>
          <a:p>
            <a:pPr/>
          </a:p>
        </p:txBody>
      </p:sp>
      <p:sp>
        <p:nvSpPr>
          <p:cNvPr id="799" name="Shape 799"/>
          <p:cNvSpPr/>
          <p:nvPr>
            <p:ph type="body" sz="quarter" idx="1"/>
          </p:nvPr>
        </p:nvSpPr>
        <p:spPr>
          <a:prstGeom prst="rect">
            <a:avLst/>
          </a:prstGeom>
        </p:spPr>
        <p:txBody>
          <a:bodyPr/>
          <a:lstStyle/>
          <a:p>
            <a:pPr/>
            <a:r>
              <a:t>This is what the client sees on a new, empty page: the editor opens with the Patterns tab (Mallit) already open, and the finished sections are right there, contact form, logo wall, text and media, columns with icons, hero. Drag one in and edit it.</a:t>
            </a:r>
          </a:p>
          <a:p>
            <a:pPr/>
            <a:r>
              <a:t>Screenshot: our demo site with the air-helper change turned 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14" name="Shape 814"/>
          <p:cNvSpPr/>
          <p:nvPr>
            <p:ph type="sldImg"/>
          </p:nvPr>
        </p:nvSpPr>
        <p:spPr>
          <a:prstGeom prst="rect">
            <a:avLst/>
          </a:prstGeom>
        </p:spPr>
        <p:txBody>
          <a:bodyPr/>
          <a:lstStyle/>
          <a:p>
            <a:pPr/>
          </a:p>
        </p:txBody>
      </p:sp>
      <p:sp>
        <p:nvSpPr>
          <p:cNvPr id="815" name="Shape 815"/>
          <p:cNvSpPr/>
          <p:nvPr>
            <p:ph type="body" sz="quarter" idx="1"/>
          </p:nvPr>
        </p:nvSpPr>
        <p:spPr>
          <a:prstGeom prst="rect">
            <a:avLst/>
          </a:prstGeom>
        </p:spPr>
        <p:txBody>
          <a:bodyPr/>
          <a:lstStyle/>
          <a:p>
            <a:pPr/>
            <a:r>
              <a:t>AI is great for learning this, with one caution. Because there are so many ways to build a block and the docs are scattered, AI makes the same mistakes we did. Ask it for a block and it often writes a full hand-coded React block: that's the most common answer in its training data, it's too lazy to look for the core way, or we're too lazy to prompt properly, or it simply doesn't find the right documentation.</a:t>
            </a:r>
          </a:p>
          <a:p>
            <a:pPr/>
            <a:r>
              <a:t>So tell it the priority order up front: core blocks, then patterns, then block styles, and a custom block only as the last resort. The prompt on the next slide does exactly that.</a:t>
            </a:r>
          </a:p>
          <a:p>
            <a:pPr/>
            <a:r>
              <a:t>Make it show the handbook page it based the answer on, and review the code like you'd review a colleague's.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27" name="Shape 827"/>
          <p:cNvSpPr/>
          <p:nvPr>
            <p:ph type="sldImg"/>
          </p:nvPr>
        </p:nvSpPr>
        <p:spPr>
          <a:prstGeom prst="rect">
            <a:avLst/>
          </a:prstGeom>
        </p:spPr>
        <p:txBody>
          <a:bodyPr/>
          <a:lstStyle/>
          <a:p>
            <a:pPr/>
          </a:p>
        </p:txBody>
      </p:sp>
      <p:sp>
        <p:nvSpPr>
          <p:cNvPr id="828" name="Shape 828"/>
          <p:cNvSpPr/>
          <p:nvPr>
            <p:ph type="body" sz="quarter" idx="1"/>
          </p:nvPr>
        </p:nvSpPr>
        <p:spPr>
          <a:prstGeom prst="rect">
            <a:avLst/>
          </a:prstGeom>
        </p:spPr>
        <p:txBody>
          <a:bodyPr/>
          <a:lstStyle/>
          <a:p>
            <a:pPr/>
            <a:r>
              <a:t>So, ditch ACF completely? Not always. This is where ACF is still the more sensible choice.</a:t>
            </a:r>
          </a:p>
          <a:p>
            <a:pPr/>
            <a:r>
              <a:t>Integrations: a lot of the plugin ecosystem reads ACF fields directly. Translation plugins like Polylang, search like FacetWP or Relevanssi, SEO plugins. Replacing ACF there can mean rebuilding the integration too.</a:t>
            </a:r>
          </a:p>
          <a:p>
            <a:pPr/>
            <a:r>
              <a:t>Settings pages: an ACF options page is a few lines. In core it's the Settings API and a form you write yourself.</a:t>
            </a:r>
          </a:p>
          <a:p>
            <a:pPr/>
            <a:r>
              <a:t>Relationships: "these posts belong to this one" with a nice picker. Core stores it fine, but has no editing UI. A taxonomy covers some cases, not all.</a:t>
            </a:r>
          </a:p>
          <a:p>
            <a:pPr/>
            <a:r>
              <a:t>Where blocks get in the way: structured data that isn't page content. Product specs, opening hours, event dates with validation. Those want a form with fields, not a canvas of blocks.</a:t>
            </a:r>
          </a:p>
          <a:p>
            <a:pPr/>
            <a:r>
              <a:t>So the rule is: pages and layout with core blocks and patterns, structured data with whatever makes the form easiest. Often that's still ACF, and that's fine.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Avocados and limes"/>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Bowl with salmon cakes, salad, and hummus"/>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Bowl of pappardelle pasta with parsley butter, roasted hazelnuts, and shaved parmesan cheese"/>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7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7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8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9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9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9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10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10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10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10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11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1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11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2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2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3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3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44" name="Bowl of salad with fried rice, boiled eggs, and chopsticks"/>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45" name="Bowl with salmon cakes, salad, and hummus "/>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46" name="Bowl of pappardelle pasta with parsley butter, roasted hazelnuts, and shaved parmesan chees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4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54" name="bowl of salad with fried rice, boiled eggs, and chopsticks"/>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5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6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6.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7.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8.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9.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0.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1.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12.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image" Target="../media/image14.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16.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6.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7.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1.gif"/><Relationship Id="rId5" Type="http://schemas.openxmlformats.org/officeDocument/2006/relationships/image" Target="../media/image28.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9.png"/><Relationship Id="rId5" Type="http://schemas.openxmlformats.org/officeDocument/2006/relationships/image" Target="../media/image30.png"/></Relationships>

</file>

<file path=ppt/slides/_rels/slide1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9.png"/><Relationship Id="rId7" Type="http://schemas.openxmlformats.org/officeDocument/2006/relationships/image" Target="../media/image33.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29.png"/><Relationship Id="rId7" Type="http://schemas.openxmlformats.org/officeDocument/2006/relationships/image" Target="../media/image36.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37.png"/></Relationships>

</file>

<file path=ppt/slides/_rels/slide2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2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41.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54.png"/></Relationships>

</file>

<file path=ppt/slides/_rels/slide2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55.png"/></Relationships>

</file>

<file path=ppt/slides/_rels/slide2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gif"/><Relationship Id="rId5" Type="http://schemas.openxmlformats.org/officeDocument/2006/relationships/image" Target="../media/image56.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57.png"/></Relationships>

</file>

<file path=ppt/slides/_rels/slide2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58.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59.png"/></Relationships>

</file>

<file path=ppt/slides/_rels/slide3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63.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64.png"/><Relationship Id="rId5" Type="http://schemas.openxmlformats.org/officeDocument/2006/relationships/image" Target="../media/image65.png"/></Relationships>

</file>

<file path=ppt/slides/_rels/slide3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0.xml"/><Relationship Id="rId3" Type="http://schemas.openxmlformats.org/officeDocument/2006/relationships/image" Target="../media/image1.png"/><Relationship Id="rId4" Type="http://schemas.openxmlformats.org/officeDocument/2006/relationships/image" Target="../media/image66.png"/></Relationships>

</file>

<file path=ppt/slides/_rels/slide3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1.xml"/><Relationship Id="rId3" Type="http://schemas.openxmlformats.org/officeDocument/2006/relationships/image" Target="../media/image1.png"/><Relationship Id="rId4" Type="http://schemas.openxmlformats.org/officeDocument/2006/relationships/image" Target="../media/image67.png"/></Relationships>

</file>

<file path=ppt/slides/_rels/slide3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2.xml"/><Relationship Id="rId3" Type="http://schemas.openxmlformats.org/officeDocument/2006/relationships/image" Target="../media/image1.png"/><Relationship Id="rId4" Type="http://schemas.openxmlformats.org/officeDocument/2006/relationships/image" Target="../media/image68.png"/></Relationships>

</file>

<file path=ppt/slides/_rels/slide3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3.xml"/><Relationship Id="rId3" Type="http://schemas.openxmlformats.org/officeDocument/2006/relationships/image" Target="../media/image1.png"/><Relationship Id="rId4" Type="http://schemas.openxmlformats.org/officeDocument/2006/relationships/image" Target="../media/image69.png"/></Relationships>

</file>

<file path=ppt/slides/_rels/slide3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image" Target="../media/image1.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s>

</file>

<file path=ppt/slides/_rels/slide3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5.xml"/><Relationship Id="rId3" Type="http://schemas.openxmlformats.org/officeDocument/2006/relationships/image" Target="../media/image1.png"/><Relationship Id="rId4" Type="http://schemas.openxmlformats.org/officeDocument/2006/relationships/image" Target="../media/image73.png"/><Relationship Id="rId5" Type="http://schemas.openxmlformats.org/officeDocument/2006/relationships/image" Target="../media/image74.png"/></Relationships>

</file>

<file path=ppt/slides/_rels/slide3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6.xml"/><Relationship Id="rId3" Type="http://schemas.openxmlformats.org/officeDocument/2006/relationships/image" Target="../media/image1.png"/><Relationship Id="rId4" Type="http://schemas.openxmlformats.org/officeDocument/2006/relationships/image" Target="../media/image75.png"/><Relationship Id="rId5" Type="http://schemas.openxmlformats.org/officeDocument/2006/relationships/image" Target="../media/image76.png"/></Relationships>

</file>

<file path=ppt/slides/_rels/slide4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7.xml"/><Relationship Id="rId3" Type="http://schemas.openxmlformats.org/officeDocument/2006/relationships/image" Target="../media/image1.png"/><Relationship Id="rId4" Type="http://schemas.openxmlformats.org/officeDocument/2006/relationships/image" Target="../media/image77.png"/></Relationships>

</file>

<file path=ppt/slides/_rels/slide4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78.png"/></Relationships>

</file>

<file path=ppt/slides/_rels/slide4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78.png"/><Relationship Id="rId4" Type="http://schemas.openxmlformats.org/officeDocument/2006/relationships/hyperlink" Target="http://github.com/rollecode/wpsuomi2026-talk-slides" TargetMode="Externa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71"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pic>
        <p:nvPicPr>
          <p:cNvPr id="172" name="portrait-crop.jpg" descr="portrait-crop.jpg"/>
          <p:cNvPicPr>
            <a:picLocks noChangeAspect="1"/>
          </p:cNvPicPr>
          <p:nvPr/>
        </p:nvPicPr>
        <p:blipFill>
          <a:blip r:embed="rId3">
            <a:extLst/>
          </a:blip>
          <a:stretch>
            <a:fillRect/>
          </a:stretch>
        </p:blipFill>
        <p:spPr>
          <a:xfrm>
            <a:off x="18554700" y="0"/>
            <a:ext cx="5829300" cy="13716000"/>
          </a:xfrm>
          <a:prstGeom prst="rect">
            <a:avLst/>
          </a:prstGeom>
          <a:ln w="12700">
            <a:miter lim="400000"/>
          </a:ln>
        </p:spPr>
      </p:pic>
      <p:pic>
        <p:nvPicPr>
          <p:cNvPr id="173" name="wpsuomi.png" descr="wpsuomi.png"/>
          <p:cNvPicPr>
            <a:picLocks noChangeAspect="1"/>
          </p:cNvPicPr>
          <p:nvPr/>
        </p:nvPicPr>
        <p:blipFill>
          <a:blip r:embed="rId4">
            <a:extLst/>
          </a:blip>
          <a:stretch>
            <a:fillRect/>
          </a:stretch>
        </p:blipFill>
        <p:spPr>
          <a:xfrm>
            <a:off x="1397000" y="965200"/>
            <a:ext cx="3012764" cy="723900"/>
          </a:xfrm>
          <a:prstGeom prst="rect">
            <a:avLst/>
          </a:prstGeom>
          <a:ln w="12700">
            <a:miter lim="400000"/>
          </a:ln>
        </p:spPr>
      </p:pic>
      <p:pic>
        <p:nvPicPr>
          <p:cNvPr id="174" name="icons.png" descr="icons.png"/>
          <p:cNvPicPr>
            <a:picLocks noChangeAspect="1"/>
          </p:cNvPicPr>
          <p:nvPr/>
        </p:nvPicPr>
        <p:blipFill>
          <a:blip r:embed="rId5">
            <a:extLst/>
          </a:blip>
          <a:stretch>
            <a:fillRect/>
          </a:stretch>
        </p:blipFill>
        <p:spPr>
          <a:xfrm>
            <a:off x="1371600" y="12407900"/>
            <a:ext cx="3922713" cy="355600"/>
          </a:xfrm>
          <a:prstGeom prst="rect">
            <a:avLst/>
          </a:prstGeom>
          <a:ln w="12700">
            <a:miter lim="400000"/>
          </a:ln>
        </p:spPr>
      </p:pic>
      <p:sp>
        <p:nvSpPr>
          <p:cNvPr id="175" name="WP Suomi 2026, Oulu, 16th of October, 2026"/>
          <p:cNvSpPr txBox="1"/>
          <p:nvPr/>
        </p:nvSpPr>
        <p:spPr>
          <a:xfrm>
            <a:off x="1346200" y="1803400"/>
            <a:ext cx="6819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665A7C"/>
                </a:solidFill>
                <a:latin typeface="Geist Medium"/>
                <a:ea typeface="Geist Medium"/>
                <a:cs typeface="Geist Medium"/>
                <a:sym typeface="Geist Medium"/>
              </a:defRPr>
            </a:lvl1pPr>
          </a:lstStyle>
          <a:p>
            <a:pPr/>
            <a:r>
              <a:t>WP Suomi 2026, Oulu, 16th of October, 2026</a:t>
            </a:r>
          </a:p>
        </p:txBody>
      </p:sp>
      <p:sp>
        <p:nvSpPr>
          <p:cNvPr id="176" name="Going"/>
          <p:cNvSpPr txBox="1"/>
          <p:nvPr/>
        </p:nvSpPr>
        <p:spPr>
          <a:xfrm>
            <a:off x="1295400" y="3670300"/>
            <a:ext cx="18072100" cy="2273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3800">
                <a:solidFill>
                  <a:srgbClr val="220D44"/>
                </a:solidFill>
                <a:latin typeface="Unbounded ExtraBold"/>
                <a:ea typeface="Unbounded ExtraBold"/>
                <a:cs typeface="Unbounded ExtraBold"/>
                <a:sym typeface="Unbounded ExtraBold"/>
              </a:defRPr>
            </a:lvl1pPr>
          </a:lstStyle>
          <a:p>
            <a:pPr/>
            <a:r>
              <a:t>Going</a:t>
            </a:r>
          </a:p>
        </p:txBody>
      </p:sp>
      <p:sp>
        <p:nvSpPr>
          <p:cNvPr id="177" name="ACF-free"/>
          <p:cNvSpPr txBox="1"/>
          <p:nvPr/>
        </p:nvSpPr>
        <p:spPr>
          <a:xfrm>
            <a:off x="1409700" y="5105400"/>
            <a:ext cx="18072100" cy="297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7400">
                <a:solidFill>
                  <a:srgbClr val="6033A6"/>
                </a:solidFill>
                <a:latin typeface="Instrument Serif"/>
                <a:ea typeface="Instrument Serif"/>
                <a:cs typeface="Instrument Serif"/>
                <a:sym typeface="Instrument Serif"/>
              </a:defRPr>
            </a:lvl1pPr>
          </a:lstStyle>
          <a:p>
            <a:pPr/>
            <a:r>
              <a:t>ACF-free</a:t>
            </a:r>
          </a:p>
        </p:txBody>
      </p:sp>
      <p:sp>
        <p:nvSpPr>
          <p:cNvPr id="178" name="Replacing a plugin dependency"/>
          <p:cNvSpPr txBox="1"/>
          <p:nvPr/>
        </p:nvSpPr>
        <p:spPr>
          <a:xfrm>
            <a:off x="1320800" y="79375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a:ea typeface="Geist"/>
                <a:cs typeface="Geist"/>
                <a:sym typeface="Geist"/>
              </a:defRPr>
            </a:lvl1pPr>
          </a:lstStyle>
          <a:p>
            <a:pPr/>
            <a:r>
              <a:t>Replacing a plugin dependency</a:t>
            </a:r>
          </a:p>
        </p:txBody>
      </p:sp>
      <p:sp>
        <p:nvSpPr>
          <p:cNvPr id="179" name="with core WordPress"/>
          <p:cNvSpPr txBox="1"/>
          <p:nvPr/>
        </p:nvSpPr>
        <p:spPr>
          <a:xfrm>
            <a:off x="1320800" y="85979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a:ea typeface="Geist"/>
                <a:cs typeface="Geist"/>
                <a:sym typeface="Geist"/>
              </a:defRPr>
            </a:lvl1pPr>
          </a:lstStyle>
          <a:p>
            <a:pPr/>
            <a:r>
              <a:t>with core WordPress</a:t>
            </a:r>
          </a:p>
        </p:txBody>
      </p:sp>
      <p:sp>
        <p:nvSpPr>
          <p:cNvPr id="180" name="Rolle Laukkarinen"/>
          <p:cNvSpPr txBox="1"/>
          <p:nvPr/>
        </p:nvSpPr>
        <p:spPr>
          <a:xfrm>
            <a:off x="1320800" y="11010899"/>
            <a:ext cx="180721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220D44"/>
                </a:solidFill>
                <a:latin typeface="Geist SemiBold"/>
                <a:ea typeface="Geist SemiBold"/>
                <a:cs typeface="Geist SemiBold"/>
                <a:sym typeface="Geist SemiBold"/>
              </a:defRPr>
            </a:lvl1pPr>
          </a:lstStyle>
          <a:p>
            <a:pPr/>
            <a:r>
              <a:t>Rolle Laukkarinen</a:t>
            </a:r>
          </a:p>
        </p:txBody>
      </p:sp>
      <p:sp>
        <p:nvSpPr>
          <p:cNvPr id="181" name="Founder and CTO, Digitoimisto Dude Oy"/>
          <p:cNvSpPr txBox="1"/>
          <p:nvPr/>
        </p:nvSpPr>
        <p:spPr>
          <a:xfrm>
            <a:off x="1320800" y="11645899"/>
            <a:ext cx="18072100" cy="584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900">
                <a:solidFill>
                  <a:srgbClr val="5D4E61"/>
                </a:solidFill>
                <a:latin typeface="Geist"/>
                <a:ea typeface="Geist"/>
                <a:cs typeface="Geist"/>
                <a:sym typeface="Geist"/>
              </a:defRPr>
            </a:lvl1pPr>
          </a:lstStyle>
          <a:p>
            <a:pPr/>
            <a:r>
              <a:t>Founder and CTO, Digitoimisto Dude Oy</a:t>
            </a:r>
          </a:p>
        </p:txBody>
      </p:sp>
      <p:sp>
        <p:nvSpPr>
          <p:cNvPr id="182" name="→ rolle.social"/>
          <p:cNvSpPr txBox="1"/>
          <p:nvPr/>
        </p:nvSpPr>
        <p:spPr>
          <a:xfrm>
            <a:off x="5524500" y="12306300"/>
            <a:ext cx="23622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Medium"/>
                <a:ea typeface="Geist Medium"/>
                <a:cs typeface="Geist Medium"/>
                <a:sym typeface="Geist Medium"/>
              </a:defRPr>
            </a:lvl1pPr>
          </a:lstStyle>
          <a:p>
            <a:pPr/>
            <a:r>
              <a:t>→ rolle.social</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84"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pic>
        <p:nvPicPr>
          <p:cNvPr id="185" name="rolle-90s.jpg" descr="rolle-90s.jpg"/>
          <p:cNvPicPr>
            <a:picLocks noChangeAspect="1"/>
          </p:cNvPicPr>
          <p:nvPr/>
        </p:nvPicPr>
        <p:blipFill>
          <a:blip r:embed="rId3">
            <a:extLst/>
          </a:blip>
          <a:stretch>
            <a:fillRect/>
          </a:stretch>
        </p:blipFill>
        <p:spPr>
          <a:xfrm>
            <a:off x="15240000" y="0"/>
            <a:ext cx="9144000" cy="6858000"/>
          </a:xfrm>
          <a:prstGeom prst="rect">
            <a:avLst/>
          </a:prstGeom>
          <a:ln w="12700">
            <a:miter lim="400000"/>
          </a:ln>
        </p:spPr>
      </p:pic>
      <p:pic>
        <p:nvPicPr>
          <p:cNvPr id="186" name="dudella.jpg" descr="dudella.jpg"/>
          <p:cNvPicPr>
            <a:picLocks noChangeAspect="1"/>
          </p:cNvPicPr>
          <p:nvPr/>
        </p:nvPicPr>
        <p:blipFill>
          <a:blip r:embed="rId4">
            <a:extLst/>
          </a:blip>
          <a:stretch>
            <a:fillRect/>
          </a:stretch>
        </p:blipFill>
        <p:spPr>
          <a:xfrm>
            <a:off x="15240000" y="6858000"/>
            <a:ext cx="9144000" cy="6858000"/>
          </a:xfrm>
          <a:prstGeom prst="rect">
            <a:avLst/>
          </a:prstGeom>
          <a:ln w="12700">
            <a:miter lim="400000"/>
          </a:ln>
        </p:spPr>
      </p:pic>
      <p:sp>
        <p:nvSpPr>
          <p:cNvPr id="187" name="About Rolle"/>
          <p:cNvSpPr txBox="1"/>
          <p:nvPr/>
        </p:nvSpPr>
        <p:spPr>
          <a:xfrm>
            <a:off x="1308100" y="1574800"/>
            <a:ext cx="135128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ExtraBold"/>
                <a:ea typeface="Unbounded ExtraBold"/>
                <a:cs typeface="Unbounded ExtraBold"/>
                <a:sym typeface="Unbounded ExtraBold"/>
              </a:defRPr>
            </a:pPr>
            <a:r>
              <a:t>About </a:t>
            </a:r>
            <a:r>
              <a:rPr i="1" sz="8200">
                <a:solidFill>
                  <a:srgbClr val="6033A6"/>
                </a:solidFill>
                <a:latin typeface="Instrument Serif"/>
                <a:ea typeface="Instrument Serif"/>
                <a:cs typeface="Instrument Serif"/>
                <a:sym typeface="Instrument Serif"/>
              </a:rPr>
              <a:t>Rolle</a:t>
            </a:r>
          </a:p>
        </p:txBody>
      </p:sp>
      <p:sp>
        <p:nvSpPr>
          <p:cNvPr id="188" name="Founder and CTO of Digitoimisto Dude Oy. Code soon 30 years, WordPress since 2005, online since 1999. Accessibility, open source, Linux servers, and building my own tools. Free time: running, bilingual family, knows sign language."/>
          <p:cNvSpPr txBox="1"/>
          <p:nvPr/>
        </p:nvSpPr>
        <p:spPr>
          <a:xfrm>
            <a:off x="1320800" y="3073399"/>
            <a:ext cx="12567634"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a:ea typeface="Geist"/>
                <a:cs typeface="Geist"/>
                <a:sym typeface="Geist"/>
              </a:defRPr>
            </a:pPr>
            <a:r>
              <a:t>Founder and CTO of Digitoimisto Dude Oy. Code soon</a:t>
            </a:r>
            <a:br/>
            <a:r>
              <a:t>30 years, WordPress since 2005, online since 1999. Accessibility, open source, Linux servers, and building my own tools. Free time: running, bilingual family, knows sign language.</a:t>
            </a:r>
          </a:p>
        </p:txBody>
      </p:sp>
      <p:sp>
        <p:nvSpPr>
          <p:cNvPr id="189" name="Dude &amp; WordPress"/>
          <p:cNvSpPr txBox="1"/>
          <p:nvPr/>
        </p:nvSpPr>
        <p:spPr>
          <a:xfrm>
            <a:off x="1308100" y="5765800"/>
            <a:ext cx="135128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ExtraBold"/>
                <a:ea typeface="Unbounded ExtraBold"/>
                <a:cs typeface="Unbounded ExtraBold"/>
                <a:sym typeface="Unbounded ExtraBold"/>
              </a:defRPr>
            </a:pPr>
            <a:r>
              <a:t>Dude &amp; </a:t>
            </a:r>
            <a:r>
              <a:rPr i="1" sz="8200">
                <a:solidFill>
                  <a:srgbClr val="6033A6"/>
                </a:solidFill>
                <a:latin typeface="Instrument Serif"/>
                <a:ea typeface="Instrument Serif"/>
                <a:cs typeface="Instrument Serif"/>
                <a:sym typeface="Instrument Serif"/>
              </a:rPr>
              <a:t>WordPress</a:t>
            </a:r>
          </a:p>
        </p:txBody>
      </p:sp>
      <p:sp>
        <p:nvSpPr>
          <p:cNvPr id="190" name="Contributing to WordPress and open source since we founded Dude in 2013: 71 open source repositories on GitHub, including air-light, our starter theme with over 1100 stars."/>
          <p:cNvSpPr txBox="1"/>
          <p:nvPr/>
        </p:nvSpPr>
        <p:spPr>
          <a:xfrm>
            <a:off x="1320800" y="7226300"/>
            <a:ext cx="10824466"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Contributing to WordPress and open source since we founded Dude in 2013: 71 open source repositories on GitHub, including air-light, our starter theme with over 1100 stars.</a:t>
            </a:r>
          </a:p>
        </p:txBody>
      </p:sp>
      <p:sp>
        <p:nvSpPr>
          <p:cNvPr id="19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192" name="pills.png" descr="pills.png"/>
          <p:cNvPicPr>
            <a:picLocks noChangeAspect="1"/>
          </p:cNvPicPr>
          <p:nvPr/>
        </p:nvPicPr>
        <p:blipFill>
          <a:blip r:embed="rId5">
            <a:extLst/>
          </a:blip>
          <a:stretch>
            <a:fillRect/>
          </a:stretch>
        </p:blipFill>
        <p:spPr>
          <a:xfrm>
            <a:off x="1351280" y="10125062"/>
            <a:ext cx="11443976" cy="1540536"/>
          </a:xfrm>
          <a:prstGeom prst="rect">
            <a:avLst/>
          </a:prstGeom>
          <a:ln w="12700">
            <a:miter lim="400000"/>
          </a:ln>
        </p:spPr>
      </p:pic>
      <p:pic>
        <p:nvPicPr>
          <p:cNvPr id="193" name="prog-2.png" descr="prog-2.png"/>
          <p:cNvPicPr>
            <a:picLocks noChangeAspect="1"/>
          </p:cNvPicPr>
          <p:nvPr/>
        </p:nvPicPr>
        <p:blipFill>
          <a:blip r:embed="rId6">
            <a:extLst/>
          </a:blip>
          <a:stretch>
            <a:fillRect/>
          </a:stretch>
        </p:blipFill>
        <p:spPr>
          <a:xfrm>
            <a:off x="83312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196" name="No shame in"/>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No shame in</a:t>
            </a:r>
          </a:p>
        </p:txBody>
      </p:sp>
      <p:sp>
        <p:nvSpPr>
          <p:cNvPr id="197" name="using ACF or plugin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a:ea typeface="Instrument Serif"/>
                <a:cs typeface="Instrument Serif"/>
                <a:sym typeface="Instrument Serif"/>
              </a:defRPr>
            </a:lvl1pPr>
          </a:lstStyle>
          <a:p>
            <a:pPr/>
            <a:r>
              <a:t>using ACF or plugins</a:t>
            </a:r>
          </a:p>
        </p:txBody>
      </p:sp>
      <p:sp>
        <p:nvSpPr>
          <p:cNvPr id="198" name="WordPress has a great plugin ecosystem, and ACF is a very good plugin."/>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WordPress has a great plugin ecosystem, and ACF is a very good plugin.</a:t>
            </a:r>
          </a:p>
        </p:txBody>
      </p:sp>
      <p:sp>
        <p:nvSpPr>
          <p:cNvPr id="199" name="ACF built a lot of good sites, ours included."/>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ACF built a lot of good sites, ours included.</a:t>
            </a:r>
          </a:p>
        </p:txBody>
      </p:sp>
      <p:sp>
        <p:nvSpPr>
          <p:cNvPr id="2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201" name="prog-4.png" descr="prog-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0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207"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A quick </a:t>
            </a:r>
            <a:r>
              <a:rPr i="1" sz="9800">
                <a:solidFill>
                  <a:srgbClr val="6033A6"/>
                </a:solidFill>
                <a:latin typeface="Instrument Serif"/>
                <a:ea typeface="Instrument Serif"/>
                <a:cs typeface="Instrument Serif"/>
                <a:sym typeface="Instrument Serif"/>
              </a:rPr>
              <a:t>poll</a:t>
            </a:r>
          </a:p>
        </p:txBody>
      </p:sp>
      <p:sp>
        <p:nvSpPr>
          <p:cNvPr id="208"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a:ea typeface="Geist"/>
                <a:cs typeface="Geist"/>
                <a:sym typeface="Geist"/>
              </a:defRPr>
            </a:lvl1pPr>
          </a:lstStyle>
          <a:p>
            <a:pPr/>
            <a:r>
              <a:t>How many of you…</a:t>
            </a:r>
          </a:p>
        </p:txBody>
      </p:sp>
      <p:pic>
        <p:nvPicPr>
          <p:cNvPr id="209" name="prog-4.png" descr="prog-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1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215"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A quick </a:t>
            </a:r>
            <a:r>
              <a:rPr i="1" sz="9800">
                <a:solidFill>
                  <a:srgbClr val="6033A6"/>
                </a:solidFill>
                <a:latin typeface="Instrument Serif"/>
                <a:ea typeface="Instrument Serif"/>
                <a:cs typeface="Instrument Serif"/>
                <a:sym typeface="Instrument Serif"/>
              </a:rPr>
              <a:t>poll</a:t>
            </a:r>
          </a:p>
        </p:txBody>
      </p:sp>
      <p:sp>
        <p:nvSpPr>
          <p:cNvPr id="216"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a:ea typeface="Geist"/>
                <a:cs typeface="Geist"/>
                <a:sym typeface="Geist"/>
              </a:defRPr>
            </a:lvl1pPr>
          </a:lstStyle>
          <a:p>
            <a:pPr/>
            <a:r>
              <a:t>How many of you…</a:t>
            </a:r>
          </a:p>
        </p:txBody>
      </p:sp>
      <p:sp>
        <p:nvSpPr>
          <p:cNvPr id="217"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SemiBold"/>
                <a:ea typeface="Unbounded SemiBold"/>
                <a:cs typeface="Unbounded SemiBold"/>
                <a:sym typeface="Unbounded SemiBold"/>
              </a:defRPr>
            </a:lvl1pPr>
          </a:lstStyle>
          <a:p>
            <a:pPr/>
            <a:r>
              <a:t>1</a:t>
            </a:r>
          </a:p>
        </p:txBody>
      </p:sp>
      <p:sp>
        <p:nvSpPr>
          <p:cNvPr id="218"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a:ea typeface="Geist"/>
                <a:cs typeface="Geist"/>
                <a:sym typeface="Geist"/>
              </a:defRPr>
            </a:lvl1pPr>
          </a:lstStyle>
          <a:p>
            <a:pPr/>
            <a:r>
              <a:t>Still use ACF for everything (okay, with exceptions, let’s say 80%)</a:t>
            </a:r>
          </a:p>
        </p:txBody>
      </p:sp>
      <p:pic>
        <p:nvPicPr>
          <p:cNvPr id="219" name="prog-5.png" descr="prog-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2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2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225"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A quick </a:t>
            </a:r>
            <a:r>
              <a:rPr i="1" sz="9800">
                <a:solidFill>
                  <a:srgbClr val="6033A6"/>
                </a:solidFill>
                <a:latin typeface="Instrument Serif"/>
                <a:ea typeface="Instrument Serif"/>
                <a:cs typeface="Instrument Serif"/>
                <a:sym typeface="Instrument Serif"/>
              </a:rPr>
              <a:t>poll</a:t>
            </a:r>
          </a:p>
        </p:txBody>
      </p:sp>
      <p:sp>
        <p:nvSpPr>
          <p:cNvPr id="226"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a:ea typeface="Geist"/>
                <a:cs typeface="Geist"/>
                <a:sym typeface="Geist"/>
              </a:defRPr>
            </a:lvl1pPr>
          </a:lstStyle>
          <a:p>
            <a:pPr/>
            <a:r>
              <a:t>How many of you…</a:t>
            </a:r>
          </a:p>
        </p:txBody>
      </p:sp>
      <p:sp>
        <p:nvSpPr>
          <p:cNvPr id="227"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SemiBold"/>
                <a:ea typeface="Unbounded SemiBold"/>
                <a:cs typeface="Unbounded SemiBold"/>
                <a:sym typeface="Unbounded SemiBold"/>
              </a:defRPr>
            </a:lvl1pPr>
          </a:lstStyle>
          <a:p>
            <a:pPr/>
            <a:r>
              <a:t>1</a:t>
            </a:r>
          </a:p>
        </p:txBody>
      </p:sp>
      <p:sp>
        <p:nvSpPr>
          <p:cNvPr id="228"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a:ea typeface="Geist"/>
                <a:cs typeface="Geist"/>
                <a:sym typeface="Geist"/>
              </a:defRPr>
            </a:lvl1pPr>
          </a:lstStyle>
          <a:p>
            <a:pPr/>
            <a:r>
              <a:t>Still use ACF for everything (okay, with exceptions, let’s say 80%)</a:t>
            </a:r>
          </a:p>
        </p:txBody>
      </p:sp>
      <p:sp>
        <p:nvSpPr>
          <p:cNvPr id="229" name="2"/>
          <p:cNvSpPr txBox="1"/>
          <p:nvPr/>
        </p:nvSpPr>
        <p:spPr>
          <a:xfrm>
            <a:off x="1371600" y="7366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SemiBold"/>
                <a:ea typeface="Unbounded SemiBold"/>
                <a:cs typeface="Unbounded SemiBold"/>
                <a:sym typeface="Unbounded SemiBold"/>
              </a:defRPr>
            </a:lvl1pPr>
          </a:lstStyle>
          <a:p>
            <a:pPr/>
            <a:r>
              <a:t>2</a:t>
            </a:r>
          </a:p>
        </p:txBody>
      </p:sp>
      <p:sp>
        <p:nvSpPr>
          <p:cNvPr id="230" name="Use ACF for some things"/>
          <p:cNvSpPr txBox="1"/>
          <p:nvPr/>
        </p:nvSpPr>
        <p:spPr>
          <a:xfrm>
            <a:off x="2489200" y="7493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a:ea typeface="Geist"/>
                <a:cs typeface="Geist"/>
                <a:sym typeface="Geist"/>
              </a:defRPr>
            </a:lvl1pPr>
          </a:lstStyle>
          <a:p>
            <a:pPr/>
            <a:r>
              <a:t>Use ACF for some things</a:t>
            </a:r>
          </a:p>
        </p:txBody>
      </p:sp>
      <p:pic>
        <p:nvPicPr>
          <p:cNvPr id="231" name="prog-6.png" descr="prog-6.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3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3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237"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A quick </a:t>
            </a:r>
            <a:r>
              <a:rPr i="1" sz="9800">
                <a:solidFill>
                  <a:srgbClr val="6033A6"/>
                </a:solidFill>
                <a:latin typeface="Instrument Serif"/>
                <a:ea typeface="Instrument Serif"/>
                <a:cs typeface="Instrument Serif"/>
                <a:sym typeface="Instrument Serif"/>
              </a:rPr>
              <a:t>poll</a:t>
            </a:r>
          </a:p>
        </p:txBody>
      </p:sp>
      <p:sp>
        <p:nvSpPr>
          <p:cNvPr id="238"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a:ea typeface="Geist"/>
                <a:cs typeface="Geist"/>
                <a:sym typeface="Geist"/>
              </a:defRPr>
            </a:lvl1pPr>
          </a:lstStyle>
          <a:p>
            <a:pPr/>
            <a:r>
              <a:t>How many of you…</a:t>
            </a:r>
          </a:p>
        </p:txBody>
      </p:sp>
      <p:sp>
        <p:nvSpPr>
          <p:cNvPr id="239"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SemiBold"/>
                <a:ea typeface="Unbounded SemiBold"/>
                <a:cs typeface="Unbounded SemiBold"/>
                <a:sym typeface="Unbounded SemiBold"/>
              </a:defRPr>
            </a:lvl1pPr>
          </a:lstStyle>
          <a:p>
            <a:pPr/>
            <a:r>
              <a:t>1</a:t>
            </a:r>
          </a:p>
        </p:txBody>
      </p:sp>
      <p:sp>
        <p:nvSpPr>
          <p:cNvPr id="240"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a:ea typeface="Geist"/>
                <a:cs typeface="Geist"/>
                <a:sym typeface="Geist"/>
              </a:defRPr>
            </a:lvl1pPr>
          </a:lstStyle>
          <a:p>
            <a:pPr/>
            <a:r>
              <a:t>Still use ACF for everything (okay, with exceptions, let’s say 80%)</a:t>
            </a:r>
          </a:p>
        </p:txBody>
      </p:sp>
      <p:sp>
        <p:nvSpPr>
          <p:cNvPr id="241" name="2"/>
          <p:cNvSpPr txBox="1"/>
          <p:nvPr/>
        </p:nvSpPr>
        <p:spPr>
          <a:xfrm>
            <a:off x="1371600" y="7366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SemiBold"/>
                <a:ea typeface="Unbounded SemiBold"/>
                <a:cs typeface="Unbounded SemiBold"/>
                <a:sym typeface="Unbounded SemiBold"/>
              </a:defRPr>
            </a:lvl1pPr>
          </a:lstStyle>
          <a:p>
            <a:pPr/>
            <a:r>
              <a:t>2</a:t>
            </a:r>
          </a:p>
        </p:txBody>
      </p:sp>
      <p:sp>
        <p:nvSpPr>
          <p:cNvPr id="242" name="Use ACF for some things"/>
          <p:cNvSpPr txBox="1"/>
          <p:nvPr/>
        </p:nvSpPr>
        <p:spPr>
          <a:xfrm>
            <a:off x="2489200" y="7493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a:ea typeface="Geist"/>
                <a:cs typeface="Geist"/>
                <a:sym typeface="Geist"/>
              </a:defRPr>
            </a:lvl1pPr>
          </a:lstStyle>
          <a:p>
            <a:pPr/>
            <a:r>
              <a:t>Use ACF for some things</a:t>
            </a:r>
          </a:p>
        </p:txBody>
      </p:sp>
      <p:sp>
        <p:nvSpPr>
          <p:cNvPr id="243" name="3"/>
          <p:cNvSpPr txBox="1"/>
          <p:nvPr/>
        </p:nvSpPr>
        <p:spPr>
          <a:xfrm>
            <a:off x="1371600" y="8890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SemiBold"/>
                <a:ea typeface="Unbounded SemiBold"/>
                <a:cs typeface="Unbounded SemiBold"/>
                <a:sym typeface="Unbounded SemiBold"/>
              </a:defRPr>
            </a:lvl1pPr>
          </a:lstStyle>
          <a:p>
            <a:pPr/>
            <a:r>
              <a:t>3</a:t>
            </a:r>
          </a:p>
        </p:txBody>
      </p:sp>
      <p:sp>
        <p:nvSpPr>
          <p:cNvPr id="244" name="Have fully moved on to native, React or core Gutenberg blocks"/>
          <p:cNvSpPr txBox="1"/>
          <p:nvPr/>
        </p:nvSpPr>
        <p:spPr>
          <a:xfrm>
            <a:off x="2489200" y="9017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a:ea typeface="Geist"/>
                <a:cs typeface="Geist"/>
                <a:sym typeface="Geist"/>
              </a:defRPr>
            </a:lvl1pPr>
          </a:lstStyle>
          <a:p>
            <a:pPr/>
            <a:r>
              <a:t>Have fully moved on to native, React or core Gutenberg blocks</a:t>
            </a:r>
          </a:p>
        </p:txBody>
      </p:sp>
      <p:pic>
        <p:nvPicPr>
          <p:cNvPr id="245" name="prog-7.png" descr="prog-7.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4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5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251" name="What is a dependency?"/>
          <p:cNvSpPr txBox="1"/>
          <p:nvPr/>
        </p:nvSpPr>
        <p:spPr>
          <a:xfrm>
            <a:off x="1308100" y="3581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What is </a:t>
            </a:r>
            <a:r>
              <a:rPr i="1" sz="9800">
                <a:solidFill>
                  <a:srgbClr val="6033A6"/>
                </a:solidFill>
                <a:latin typeface="Instrument Serif"/>
                <a:ea typeface="Instrument Serif"/>
                <a:cs typeface="Instrument Serif"/>
                <a:sym typeface="Instrument Serif"/>
              </a:rPr>
              <a:t>a dependency?</a:t>
            </a:r>
          </a:p>
        </p:txBody>
      </p:sp>
      <p:sp>
        <p:nvSpPr>
          <p:cNvPr id="252" name="“A situation in which you need something or someone and are unable to continue normally without them.”"/>
          <p:cNvSpPr txBox="1"/>
          <p:nvPr/>
        </p:nvSpPr>
        <p:spPr>
          <a:xfrm>
            <a:off x="1308100" y="5969000"/>
            <a:ext cx="19812000" cy="21526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6600">
                <a:solidFill>
                  <a:srgbClr val="220D44"/>
                </a:solidFill>
                <a:latin typeface="Instrument Serif"/>
                <a:ea typeface="Instrument Serif"/>
                <a:cs typeface="Instrument Serif"/>
                <a:sym typeface="Instrument Serif"/>
              </a:defRPr>
            </a:lvl1pPr>
          </a:lstStyle>
          <a:p>
            <a:pPr/>
            <a:r>
              <a:t>“A situation in which you need something or someone and are unable to continue normally without them.”</a:t>
            </a:r>
          </a:p>
        </p:txBody>
      </p:sp>
      <p:sp>
        <p:nvSpPr>
          <p:cNvPr id="253" name="Cambridge Dictionary"/>
          <p:cNvSpPr txBox="1"/>
          <p:nvPr/>
        </p:nvSpPr>
        <p:spPr>
          <a:xfrm>
            <a:off x="1371600" y="8636000"/>
            <a:ext cx="10160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5D4E61"/>
                </a:solidFill>
                <a:latin typeface="Geist Medium"/>
                <a:ea typeface="Geist Medium"/>
                <a:cs typeface="Geist Medium"/>
                <a:sym typeface="Geist Medium"/>
              </a:defRPr>
            </a:lvl1pPr>
          </a:lstStyle>
          <a:p>
            <a:pPr/>
            <a:r>
              <a:t>Cambridge Dictionary</a:t>
            </a:r>
          </a:p>
        </p:txBody>
      </p:sp>
      <p:pic>
        <p:nvPicPr>
          <p:cNvPr id="254" name="prog-8.png" descr="prog-8.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5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59" name="A brief history of"/>
          <p:cNvSpPr txBox="1"/>
          <p:nvPr/>
        </p:nvSpPr>
        <p:spPr>
          <a:xfrm>
            <a:off x="1278774" y="4898736"/>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A brief history of</a:t>
            </a:r>
          </a:p>
        </p:txBody>
      </p:sp>
      <p:sp>
        <p:nvSpPr>
          <p:cNvPr id="260" name="fields and dependencies in WordPress"/>
          <p:cNvSpPr txBox="1"/>
          <p:nvPr/>
        </p:nvSpPr>
        <p:spPr>
          <a:xfrm>
            <a:off x="1291474" y="6067136"/>
            <a:ext cx="22707601"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a:ea typeface="Instrument Serif"/>
                <a:cs typeface="Instrument Serif"/>
                <a:sym typeface="Instrument Serif"/>
              </a:defRPr>
            </a:lvl1pPr>
          </a:lstStyle>
          <a:p>
            <a:pPr/>
            <a:r>
              <a:t>fields and dependencies in WordPress</a:t>
            </a:r>
          </a:p>
        </p:txBody>
      </p:sp>
      <p:sp>
        <p:nvSpPr>
          <p:cNvPr id="26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262" name="prog-9.png" descr="prog-9.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6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67" name="Fields and blocks since 2005"/>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Fields and blocks </a:t>
            </a:r>
            <a:r>
              <a:rPr i="1" sz="9800">
                <a:solidFill>
                  <a:srgbClr val="6033A6"/>
                </a:solidFill>
                <a:latin typeface="Instrument Serif"/>
                <a:ea typeface="Instrument Serif"/>
                <a:cs typeface="Instrument Serif"/>
                <a:sym typeface="Instrument Serif"/>
              </a:rPr>
              <a:t>since 2005</a:t>
            </a:r>
          </a:p>
        </p:txBody>
      </p:sp>
      <p:sp>
        <p:nvSpPr>
          <p:cNvPr id="268"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269" name="timeline.png" descr="timeline.png"/>
          <p:cNvPicPr>
            <a:picLocks noChangeAspect="1"/>
          </p:cNvPicPr>
          <p:nvPr/>
        </p:nvPicPr>
        <p:blipFill>
          <a:blip r:embed="rId4">
            <a:extLst/>
          </a:blip>
          <a:stretch>
            <a:fillRect/>
          </a:stretch>
        </p:blipFill>
        <p:spPr>
          <a:xfrm>
            <a:off x="0" y="5588000"/>
            <a:ext cx="24384000" cy="4064000"/>
          </a:xfrm>
          <a:prstGeom prst="rect">
            <a:avLst/>
          </a:prstGeom>
          <a:ln w="12700">
            <a:miter lim="400000"/>
          </a:ln>
        </p:spPr>
      </p:pic>
      <p:sp>
        <p:nvSpPr>
          <p:cNvPr id="270" name="2005"/>
          <p:cNvSpPr txBox="1"/>
          <p:nvPr/>
        </p:nvSpPr>
        <p:spPr>
          <a:xfrm>
            <a:off x="1778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2005</a:t>
            </a:r>
          </a:p>
        </p:txBody>
      </p:sp>
      <p:sp>
        <p:nvSpPr>
          <p:cNvPr id="271" name="2010"/>
          <p:cNvSpPr txBox="1"/>
          <p:nvPr/>
        </p:nvSpPr>
        <p:spPr>
          <a:xfrm>
            <a:off x="3556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2010</a:t>
            </a:r>
          </a:p>
        </p:txBody>
      </p:sp>
      <p:sp>
        <p:nvSpPr>
          <p:cNvPr id="272" name="2011"/>
          <p:cNvSpPr txBox="1"/>
          <p:nvPr/>
        </p:nvSpPr>
        <p:spPr>
          <a:xfrm>
            <a:off x="5334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2011</a:t>
            </a:r>
          </a:p>
        </p:txBody>
      </p:sp>
      <p:sp>
        <p:nvSpPr>
          <p:cNvPr id="273" name="2014"/>
          <p:cNvSpPr txBox="1"/>
          <p:nvPr/>
        </p:nvSpPr>
        <p:spPr>
          <a:xfrm>
            <a:off x="7112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2014</a:t>
            </a:r>
          </a:p>
        </p:txBody>
      </p:sp>
      <p:sp>
        <p:nvSpPr>
          <p:cNvPr id="274" name="2018"/>
          <p:cNvSpPr txBox="1"/>
          <p:nvPr/>
        </p:nvSpPr>
        <p:spPr>
          <a:xfrm>
            <a:off x="8890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2018</a:t>
            </a:r>
          </a:p>
        </p:txBody>
      </p:sp>
      <p:sp>
        <p:nvSpPr>
          <p:cNvPr id="275" name="2019"/>
          <p:cNvSpPr txBox="1"/>
          <p:nvPr/>
        </p:nvSpPr>
        <p:spPr>
          <a:xfrm>
            <a:off x="10668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2019</a:t>
            </a:r>
          </a:p>
        </p:txBody>
      </p:sp>
      <p:sp>
        <p:nvSpPr>
          <p:cNvPr id="276" name="2021"/>
          <p:cNvSpPr txBox="1"/>
          <p:nvPr/>
        </p:nvSpPr>
        <p:spPr>
          <a:xfrm>
            <a:off x="12446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2021</a:t>
            </a:r>
          </a:p>
        </p:txBody>
      </p:sp>
      <p:sp>
        <p:nvSpPr>
          <p:cNvPr id="277" name="2022"/>
          <p:cNvSpPr txBox="1"/>
          <p:nvPr/>
        </p:nvSpPr>
        <p:spPr>
          <a:xfrm>
            <a:off x="14224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2022</a:t>
            </a:r>
          </a:p>
        </p:txBody>
      </p:sp>
      <p:sp>
        <p:nvSpPr>
          <p:cNvPr id="278" name="2024"/>
          <p:cNvSpPr txBox="1"/>
          <p:nvPr/>
        </p:nvSpPr>
        <p:spPr>
          <a:xfrm>
            <a:off x="16002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2024</a:t>
            </a:r>
          </a:p>
        </p:txBody>
      </p:sp>
      <p:sp>
        <p:nvSpPr>
          <p:cNvPr id="279" name="2025"/>
          <p:cNvSpPr txBox="1"/>
          <p:nvPr/>
        </p:nvSpPr>
        <p:spPr>
          <a:xfrm>
            <a:off x="17780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2025</a:t>
            </a:r>
          </a:p>
        </p:txBody>
      </p:sp>
      <p:sp>
        <p:nvSpPr>
          <p:cNvPr id="280" name="2026"/>
          <p:cNvSpPr txBox="1"/>
          <p:nvPr/>
        </p:nvSpPr>
        <p:spPr>
          <a:xfrm>
            <a:off x="19558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SemiBold"/>
                <a:ea typeface="Unbounded SemiBold"/>
                <a:cs typeface="Unbounded SemiBold"/>
                <a:sym typeface="Unbounded SemiBold"/>
              </a:defRPr>
            </a:lvl1pPr>
          </a:lstStyle>
          <a:p>
            <a:pPr/>
            <a:r>
              <a:t>2026</a:t>
            </a:r>
          </a:p>
        </p:txBody>
      </p:sp>
      <p:sp>
        <p:nvSpPr>
          <p:cNvPr id="281" name="My first WordPress"/>
          <p:cNvSpPr txBox="1"/>
          <p:nvPr/>
        </p:nvSpPr>
        <p:spPr>
          <a:xfrm>
            <a:off x="1803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My first WordPress</a:t>
            </a:r>
          </a:p>
        </p:txBody>
      </p:sp>
      <p:sp>
        <p:nvSpPr>
          <p:cNvPr id="282" name="custom fields in core"/>
          <p:cNvSpPr txBox="1"/>
          <p:nvPr/>
        </p:nvSpPr>
        <p:spPr>
          <a:xfrm>
            <a:off x="1803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a:ea typeface="Geist"/>
                <a:cs typeface="Geist"/>
                <a:sym typeface="Geist"/>
              </a:defRPr>
            </a:lvl1pPr>
          </a:lstStyle>
          <a:p>
            <a:pPr/>
            <a:r>
              <a:t>custom fields in core</a:t>
            </a:r>
          </a:p>
        </p:txBody>
      </p:sp>
      <p:sp>
        <p:nvSpPr>
          <p:cNvPr id="283" name="WordPress 3.0"/>
          <p:cNvSpPr txBox="1"/>
          <p:nvPr/>
        </p:nvSpPr>
        <p:spPr>
          <a:xfrm>
            <a:off x="3581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WordPress 3.0</a:t>
            </a:r>
          </a:p>
        </p:txBody>
      </p:sp>
      <p:sp>
        <p:nvSpPr>
          <p:cNvPr id="284" name="custom post types"/>
          <p:cNvSpPr txBox="1"/>
          <p:nvPr/>
        </p:nvSpPr>
        <p:spPr>
          <a:xfrm>
            <a:off x="3581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a:ea typeface="Geist"/>
                <a:cs typeface="Geist"/>
                <a:sym typeface="Geist"/>
              </a:defRPr>
            </a:lvl1pPr>
          </a:lstStyle>
          <a:p>
            <a:pPr/>
            <a:r>
              <a:t>custom post types</a:t>
            </a:r>
          </a:p>
        </p:txBody>
      </p:sp>
      <p:sp>
        <p:nvSpPr>
          <p:cNvPr id="285" name="ACF"/>
          <p:cNvSpPr txBox="1"/>
          <p:nvPr/>
        </p:nvSpPr>
        <p:spPr>
          <a:xfrm>
            <a:off x="5359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ACF</a:t>
            </a:r>
          </a:p>
        </p:txBody>
      </p:sp>
      <p:sp>
        <p:nvSpPr>
          <p:cNvPr id="286" name="ACF’s first commit"/>
          <p:cNvSpPr txBox="1"/>
          <p:nvPr/>
        </p:nvSpPr>
        <p:spPr>
          <a:xfrm>
            <a:off x="5359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a:ea typeface="Geist"/>
                <a:cs typeface="Geist"/>
                <a:sym typeface="Geist"/>
              </a:defRPr>
            </a:lvl1pPr>
          </a:lstStyle>
          <a:p>
            <a:pPr/>
            <a:r>
              <a:t>ACF’s first commit</a:t>
            </a:r>
          </a:p>
        </p:txBody>
      </p:sp>
      <p:sp>
        <p:nvSpPr>
          <p:cNvPr id="287" name="dudestack"/>
          <p:cNvSpPr txBox="1"/>
          <p:nvPr/>
        </p:nvSpPr>
        <p:spPr>
          <a:xfrm>
            <a:off x="7137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dudestack</a:t>
            </a:r>
          </a:p>
        </p:txBody>
      </p:sp>
      <p:sp>
        <p:nvSpPr>
          <p:cNvPr id="288" name="ACF from commit one"/>
          <p:cNvSpPr txBox="1"/>
          <p:nvPr/>
        </p:nvSpPr>
        <p:spPr>
          <a:xfrm>
            <a:off x="7137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a:ea typeface="Geist"/>
                <a:cs typeface="Geist"/>
                <a:sym typeface="Geist"/>
              </a:defRPr>
            </a:lvl1pPr>
          </a:lstStyle>
          <a:p>
            <a:pPr/>
            <a:r>
              <a:t>ACF from commit one</a:t>
            </a:r>
          </a:p>
        </p:txBody>
      </p:sp>
      <p:sp>
        <p:nvSpPr>
          <p:cNvPr id="289" name="WordPress 5.0"/>
          <p:cNvSpPr txBox="1"/>
          <p:nvPr/>
        </p:nvSpPr>
        <p:spPr>
          <a:xfrm>
            <a:off x="8915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WordPress 5.0</a:t>
            </a:r>
          </a:p>
        </p:txBody>
      </p:sp>
      <p:sp>
        <p:nvSpPr>
          <p:cNvPr id="290" name="Gutenberg and React"/>
          <p:cNvSpPr txBox="1"/>
          <p:nvPr/>
        </p:nvSpPr>
        <p:spPr>
          <a:xfrm>
            <a:off x="8915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a:ea typeface="Geist"/>
                <a:cs typeface="Geist"/>
                <a:sym typeface="Geist"/>
              </a:defRPr>
            </a:lvl1pPr>
          </a:lstStyle>
          <a:p>
            <a:pPr/>
            <a:r>
              <a:t>Gutenberg and React</a:t>
            </a:r>
          </a:p>
        </p:txBody>
      </p:sp>
      <p:sp>
        <p:nvSpPr>
          <p:cNvPr id="291" name="ACF Blocks"/>
          <p:cNvSpPr txBox="1"/>
          <p:nvPr/>
        </p:nvSpPr>
        <p:spPr>
          <a:xfrm>
            <a:off x="10693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ACF Blocks</a:t>
            </a:r>
          </a:p>
        </p:txBody>
      </p:sp>
      <p:sp>
        <p:nvSpPr>
          <p:cNvPr id="292" name="fields inside blocks"/>
          <p:cNvSpPr txBox="1"/>
          <p:nvPr/>
        </p:nvSpPr>
        <p:spPr>
          <a:xfrm>
            <a:off x="10693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a:ea typeface="Geist"/>
                <a:cs typeface="Geist"/>
                <a:sym typeface="Geist"/>
              </a:defRPr>
            </a:lvl1pPr>
          </a:lstStyle>
          <a:p>
            <a:pPr/>
            <a:r>
              <a:t>fields inside blocks</a:t>
            </a:r>
          </a:p>
        </p:txBody>
      </p:sp>
      <p:sp>
        <p:nvSpPr>
          <p:cNvPr id="293" name="WordPress 5.8"/>
          <p:cNvSpPr txBox="1"/>
          <p:nvPr/>
        </p:nvSpPr>
        <p:spPr>
          <a:xfrm>
            <a:off x="12471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WordPress 5.8</a:t>
            </a:r>
          </a:p>
        </p:txBody>
      </p:sp>
      <p:sp>
        <p:nvSpPr>
          <p:cNvPr id="294" name="theme.json, block.json"/>
          <p:cNvSpPr txBox="1"/>
          <p:nvPr/>
        </p:nvSpPr>
        <p:spPr>
          <a:xfrm>
            <a:off x="12471400" y="6724649"/>
            <a:ext cx="33274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1900">
                <a:solidFill>
                  <a:srgbClr val="5D4E61"/>
                </a:solidFill>
                <a:latin typeface="Geist"/>
                <a:ea typeface="Geist"/>
                <a:cs typeface="Geist"/>
                <a:sym typeface="Geist"/>
              </a:defRPr>
            </a:pPr>
            <a:r>
              <a:rPr>
                <a:solidFill>
                  <a:srgbClr val="6033A6"/>
                </a:solidFill>
                <a:latin typeface="Geist Mono"/>
                <a:ea typeface="Geist Mono"/>
                <a:cs typeface="Geist Mono"/>
                <a:sym typeface="Geist Mono"/>
              </a:rPr>
              <a:t>theme.json</a:t>
            </a:r>
            <a:r>
              <a:t>, </a:t>
            </a:r>
            <a:r>
              <a:rPr>
                <a:solidFill>
                  <a:srgbClr val="6033A6"/>
                </a:solidFill>
                <a:latin typeface="Geist Mono"/>
                <a:ea typeface="Geist Mono"/>
                <a:cs typeface="Geist Mono"/>
                <a:sym typeface="Geist Mono"/>
              </a:rPr>
              <a:t>block.json</a:t>
            </a:r>
          </a:p>
        </p:txBody>
      </p:sp>
      <p:sp>
        <p:nvSpPr>
          <p:cNvPr id="295" name="ACF to WP Engine"/>
          <p:cNvSpPr txBox="1"/>
          <p:nvPr/>
        </p:nvSpPr>
        <p:spPr>
          <a:xfrm>
            <a:off x="14249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ACF to WP Engine</a:t>
            </a:r>
          </a:p>
        </p:txBody>
      </p:sp>
      <p:sp>
        <p:nvSpPr>
          <p:cNvPr id="296" name="via Delicious Brains"/>
          <p:cNvSpPr txBox="1"/>
          <p:nvPr/>
        </p:nvSpPr>
        <p:spPr>
          <a:xfrm>
            <a:off x="14249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a:ea typeface="Geist"/>
                <a:cs typeface="Geist"/>
                <a:sym typeface="Geist"/>
              </a:defRPr>
            </a:lvl1pPr>
          </a:lstStyle>
          <a:p>
            <a:pPr/>
            <a:r>
              <a:t>via Delicious Brains</a:t>
            </a:r>
          </a:p>
        </p:txBody>
      </p:sp>
      <p:sp>
        <p:nvSpPr>
          <p:cNvPr id="297" name="ACF is forked"/>
          <p:cNvSpPr txBox="1"/>
          <p:nvPr/>
        </p:nvSpPr>
        <p:spPr>
          <a:xfrm>
            <a:off x="16027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ACF is forked</a:t>
            </a:r>
          </a:p>
        </p:txBody>
      </p:sp>
      <p:sp>
        <p:nvSpPr>
          <p:cNvPr id="298" name="Bindings land in 6.5"/>
          <p:cNvSpPr txBox="1"/>
          <p:nvPr/>
        </p:nvSpPr>
        <p:spPr>
          <a:xfrm>
            <a:off x="16027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a:ea typeface="Geist"/>
                <a:cs typeface="Geist"/>
                <a:sym typeface="Geist"/>
              </a:defRPr>
            </a:lvl1pPr>
          </a:lstStyle>
          <a:p>
            <a:pPr/>
            <a:r>
              <a:t>Bindings land in 6.5</a:t>
            </a:r>
          </a:p>
        </p:txBody>
      </p:sp>
      <p:sp>
        <p:nvSpPr>
          <p:cNvPr id="299" name="WordPress 6.9"/>
          <p:cNvSpPr txBox="1"/>
          <p:nvPr/>
        </p:nvSpPr>
        <p:spPr>
          <a:xfrm>
            <a:off x="17805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WordPress 6.9</a:t>
            </a:r>
          </a:p>
        </p:txBody>
      </p:sp>
      <p:sp>
        <p:nvSpPr>
          <p:cNvPr id="300" name="Native blocks at Dude"/>
          <p:cNvSpPr txBox="1"/>
          <p:nvPr/>
        </p:nvSpPr>
        <p:spPr>
          <a:xfrm>
            <a:off x="17805400" y="9093199"/>
            <a:ext cx="3009682"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a:ea typeface="Geist"/>
                <a:cs typeface="Geist"/>
                <a:sym typeface="Geist"/>
              </a:defRPr>
            </a:lvl1pPr>
          </a:lstStyle>
          <a:p>
            <a:pPr/>
            <a:r>
              <a:t>Native blocks at Dude</a:t>
            </a:r>
          </a:p>
        </p:txBody>
      </p:sp>
      <p:sp>
        <p:nvSpPr>
          <p:cNvPr id="301" name="WordPress 7 -&gt;"/>
          <p:cNvSpPr txBox="1"/>
          <p:nvPr/>
        </p:nvSpPr>
        <p:spPr>
          <a:xfrm>
            <a:off x="19583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SemiBold"/>
                <a:ea typeface="Geist SemiBold"/>
                <a:cs typeface="Geist SemiBold"/>
                <a:sym typeface="Geist SemiBold"/>
              </a:defRPr>
            </a:lvl1pPr>
          </a:lstStyle>
          <a:p>
            <a:pPr/>
            <a:r>
              <a:t>WordPress 7 -&gt;</a:t>
            </a:r>
          </a:p>
        </p:txBody>
      </p:sp>
      <p:sp>
        <p:nvSpPr>
          <p:cNvPr id="302" name="Going ACF-free"/>
          <p:cNvSpPr txBox="1"/>
          <p:nvPr/>
        </p:nvSpPr>
        <p:spPr>
          <a:xfrm>
            <a:off x="19583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a:ea typeface="Geist"/>
                <a:cs typeface="Geist"/>
                <a:sym typeface="Geist"/>
              </a:defRPr>
            </a:lvl1pPr>
          </a:lstStyle>
          <a:p>
            <a:pPr/>
            <a:r>
              <a:t>Going ACF-free</a:t>
            </a:r>
          </a:p>
        </p:txBody>
      </p:sp>
      <p:pic>
        <p:nvPicPr>
          <p:cNvPr id="303" name="prog-10.png" descr="prog-10.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0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08" name="Advanced"/>
          <p:cNvSpPr txBox="1"/>
          <p:nvPr/>
        </p:nvSpPr>
        <p:spPr>
          <a:xfrm>
            <a:off x="1292120" y="4938419"/>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Advanced</a:t>
            </a:r>
          </a:p>
        </p:txBody>
      </p:sp>
      <p:sp>
        <p:nvSpPr>
          <p:cNvPr id="309" name="What is a field, anyway?"/>
          <p:cNvSpPr txBox="1"/>
          <p:nvPr/>
        </p:nvSpPr>
        <p:spPr>
          <a:xfrm>
            <a:off x="1320800" y="69595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What is a field, anyway?</a:t>
            </a:r>
          </a:p>
        </p:txBody>
      </p:sp>
      <p:sp>
        <p:nvSpPr>
          <p:cNvPr id="310" name="We are talking about fields, right?"/>
          <p:cNvSpPr txBox="1"/>
          <p:nvPr/>
        </p:nvSpPr>
        <p:spPr>
          <a:xfrm>
            <a:off x="1320800" y="76199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We are talking about fields, right?</a:t>
            </a:r>
          </a:p>
        </p:txBody>
      </p:sp>
      <p:sp>
        <p:nvSpPr>
          <p:cNvPr id="31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312" name="scratch.png" descr="scratch.png"/>
          <p:cNvPicPr>
            <a:picLocks noChangeAspect="1"/>
          </p:cNvPicPr>
          <p:nvPr/>
        </p:nvPicPr>
        <p:blipFill>
          <a:blip r:embed="rId4">
            <a:extLst/>
          </a:blip>
          <a:stretch>
            <a:fillRect/>
          </a:stretch>
        </p:blipFill>
        <p:spPr>
          <a:xfrm>
            <a:off x="707920" y="4836819"/>
            <a:ext cx="8890001" cy="1778001"/>
          </a:xfrm>
          <a:prstGeom prst="rect">
            <a:avLst/>
          </a:prstGeom>
          <a:ln w="12700">
            <a:miter lim="400000"/>
          </a:ln>
        </p:spPr>
      </p:pic>
      <p:sp>
        <p:nvSpPr>
          <p:cNvPr id="313" name="Custom fields"/>
          <p:cNvSpPr txBox="1"/>
          <p:nvPr/>
        </p:nvSpPr>
        <p:spPr>
          <a:xfrm>
            <a:off x="9359331" y="4970169"/>
            <a:ext cx="10769185" cy="1498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8800">
                <a:solidFill>
                  <a:srgbClr val="220D44"/>
                </a:solidFill>
                <a:latin typeface="Unbounded ExtraBold"/>
                <a:ea typeface="Unbounded ExtraBold"/>
                <a:cs typeface="Unbounded ExtraBold"/>
                <a:sym typeface="Unbounded ExtraBold"/>
              </a:defRPr>
            </a:lvl1pPr>
          </a:lstStyle>
          <a:p>
            <a:pPr/>
            <a:r>
              <a:t>Custom fields</a:t>
            </a:r>
          </a:p>
        </p:txBody>
      </p:sp>
      <p:pic>
        <p:nvPicPr>
          <p:cNvPr id="314" name="prog-11.png" descr="prog-11.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1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19" name="No dependencies?"/>
          <p:cNvSpPr txBox="1"/>
          <p:nvPr/>
        </p:nvSpPr>
        <p:spPr>
          <a:xfrm>
            <a:off x="1308100" y="24892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ExtraBold"/>
                <a:ea typeface="Unbounded ExtraBold"/>
                <a:cs typeface="Unbounded ExtraBold"/>
                <a:sym typeface="Unbounded ExtraBold"/>
              </a:defRPr>
            </a:lvl1pPr>
          </a:lstStyle>
          <a:p>
            <a:pPr/>
            <a:r>
              <a:t>No dependencies?</a:t>
            </a:r>
          </a:p>
        </p:txBody>
      </p:sp>
      <p:sp>
        <p:nvSpPr>
          <p:cNvPr id="320" name="—"/>
          <p:cNvSpPr txBox="1"/>
          <p:nvPr/>
        </p:nvSpPr>
        <p:spPr>
          <a:xfrm>
            <a:off x="1320800" y="58420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a:ea typeface="Geist"/>
                <a:cs typeface="Geist"/>
                <a:sym typeface="Geist"/>
              </a:defRPr>
            </a:lvl1pPr>
          </a:lstStyle>
          <a:p>
            <a:pPr/>
            <a:r>
              <a:t>—</a:t>
            </a:r>
          </a:p>
        </p:txBody>
      </p:sp>
      <p:sp>
        <p:nvSpPr>
          <p:cNvPr id="321" name="In the early days, some of us used plain meta fields, and it was enough."/>
          <p:cNvSpPr txBox="1"/>
          <p:nvPr/>
        </p:nvSpPr>
        <p:spPr>
          <a:xfrm>
            <a:off x="2082800" y="5841999"/>
            <a:ext cx="9621818"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a:ea typeface="Geist"/>
                <a:cs typeface="Geist"/>
                <a:sym typeface="Geist"/>
              </a:defRPr>
            </a:lvl1pPr>
          </a:lstStyle>
          <a:p>
            <a:pPr/>
            <a:r>
              <a:t>In the early days, some of us used plain meta fields, and it was enough.</a:t>
            </a:r>
          </a:p>
        </p:txBody>
      </p:sp>
      <p:sp>
        <p:nvSpPr>
          <p:cNvPr id="322" name="—"/>
          <p:cNvSpPr txBox="1"/>
          <p:nvPr/>
        </p:nvSpPr>
        <p:spPr>
          <a:xfrm>
            <a:off x="1320800" y="75311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a:ea typeface="Geist"/>
                <a:cs typeface="Geist"/>
                <a:sym typeface="Geist"/>
              </a:defRPr>
            </a:lvl1pPr>
          </a:lstStyle>
          <a:p>
            <a:pPr/>
            <a:r>
              <a:t>—</a:t>
            </a:r>
          </a:p>
        </p:txBody>
      </p:sp>
      <p:sp>
        <p:nvSpPr>
          <p:cNvPr id="323" name="For a developer, get_post_meta() is fine. It is a knife straight into a row."/>
          <p:cNvSpPr txBox="1"/>
          <p:nvPr/>
        </p:nvSpPr>
        <p:spPr>
          <a:xfrm>
            <a:off x="2082800" y="7531099"/>
            <a:ext cx="9225995"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800">
                <a:solidFill>
                  <a:srgbClr val="3D2644"/>
                </a:solidFill>
                <a:latin typeface="Geist"/>
                <a:ea typeface="Geist"/>
                <a:cs typeface="Geist"/>
                <a:sym typeface="Geist"/>
              </a:defRPr>
            </a:pPr>
            <a:r>
              <a:t>For a developer, </a:t>
            </a:r>
            <a:r>
              <a:rPr sz="3400">
                <a:solidFill>
                  <a:srgbClr val="6033A6"/>
                </a:solidFill>
                <a:latin typeface="Geist Mono"/>
                <a:ea typeface="Geist Mono"/>
                <a:cs typeface="Geist Mono"/>
                <a:sym typeface="Geist Mono"/>
              </a:rPr>
              <a:t>get_post_meta()</a:t>
            </a:r>
            <a:r>
              <a:t> is fine. It is a knife straight into a row.</a:t>
            </a:r>
          </a:p>
        </p:txBody>
      </p:sp>
      <p:sp>
        <p:nvSpPr>
          <p:cNvPr id="324" name="—"/>
          <p:cNvSpPr txBox="1"/>
          <p:nvPr/>
        </p:nvSpPr>
        <p:spPr>
          <a:xfrm>
            <a:off x="1320800" y="92202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a:ea typeface="Geist"/>
                <a:cs typeface="Geist"/>
                <a:sym typeface="Geist"/>
              </a:defRPr>
            </a:lvl1pPr>
          </a:lstStyle>
          <a:p>
            <a:pPr/>
            <a:r>
              <a:t>—</a:t>
            </a:r>
          </a:p>
        </p:txBody>
      </p:sp>
      <p:sp>
        <p:nvSpPr>
          <p:cNvPr id="325" name="Once clients edit content themselves, they need a proper editing interface. Also, text fields are way too limited."/>
          <p:cNvSpPr txBox="1"/>
          <p:nvPr/>
        </p:nvSpPr>
        <p:spPr>
          <a:xfrm>
            <a:off x="2082800" y="9220199"/>
            <a:ext cx="8652888" cy="18440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a:ea typeface="Geist"/>
                <a:cs typeface="Geist"/>
                <a:sym typeface="Geist"/>
              </a:defRPr>
            </a:lvl1pPr>
          </a:lstStyle>
          <a:p>
            <a:pPr/>
            <a:r>
              <a:t>Once clients edit content themselves, they need a proper editing interface. Also, text fields are way too limited.</a:t>
            </a:r>
          </a:p>
        </p:txBody>
      </p:sp>
      <p:sp>
        <p:nvSpPr>
          <p:cNvPr id="32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327" name="custom-fields.png" descr="custom-fields.png"/>
          <p:cNvPicPr>
            <a:picLocks noChangeAspect="1"/>
          </p:cNvPicPr>
          <p:nvPr/>
        </p:nvPicPr>
        <p:blipFill>
          <a:blip r:embed="rId4">
            <a:extLst/>
          </a:blip>
          <a:stretch>
            <a:fillRect/>
          </a:stretch>
        </p:blipFill>
        <p:spPr>
          <a:xfrm>
            <a:off x="12090400" y="5918200"/>
            <a:ext cx="10929526" cy="4229100"/>
          </a:xfrm>
          <a:prstGeom prst="rect">
            <a:avLst/>
          </a:prstGeom>
          <a:ln w="12700">
            <a:miter lim="400000"/>
          </a:ln>
        </p:spPr>
      </p:pic>
      <p:sp>
        <p:nvSpPr>
          <p:cNvPr id="328" name="Let’s knife the database!"/>
          <p:cNvSpPr txBox="1"/>
          <p:nvPr/>
        </p:nvSpPr>
        <p:spPr>
          <a:xfrm>
            <a:off x="1308100" y="3555999"/>
            <a:ext cx="165100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9800">
                <a:solidFill>
                  <a:srgbClr val="6033A6"/>
                </a:solidFill>
                <a:latin typeface="Instrument Serif"/>
                <a:ea typeface="Instrument Serif"/>
                <a:cs typeface="Instrument Serif"/>
                <a:sym typeface="Instrument Serif"/>
              </a:defRPr>
            </a:lvl1pPr>
          </a:lstStyle>
          <a:p>
            <a:pPr/>
            <a:r>
              <a:t>Let’s knife the database!</a:t>
            </a:r>
          </a:p>
        </p:txBody>
      </p:sp>
      <p:sp>
        <p:nvSpPr>
          <p:cNvPr id="329" name="Let’s go back to"/>
          <p:cNvSpPr txBox="1"/>
          <p:nvPr/>
        </p:nvSpPr>
        <p:spPr>
          <a:xfrm>
            <a:off x="13977619" y="937894"/>
            <a:ext cx="5334001" cy="914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900">
                <a:solidFill>
                  <a:srgbClr val="6033A6"/>
                </a:solidFill>
                <a:latin typeface="Instrument Serif"/>
                <a:ea typeface="Instrument Serif"/>
                <a:cs typeface="Instrument Serif"/>
                <a:sym typeface="Instrument Serif"/>
              </a:defRPr>
            </a:lvl1pPr>
          </a:lstStyle>
          <a:p>
            <a:pPr/>
            <a:r>
              <a:t>Let’s go back to</a:t>
            </a:r>
          </a:p>
        </p:txBody>
      </p:sp>
      <p:sp>
        <p:nvSpPr>
          <p:cNvPr id="330" name="prehistoric times…"/>
          <p:cNvSpPr txBox="1"/>
          <p:nvPr/>
        </p:nvSpPr>
        <p:spPr>
          <a:xfrm>
            <a:off x="13977619" y="1598295"/>
            <a:ext cx="5334001" cy="914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900">
                <a:solidFill>
                  <a:srgbClr val="6033A6"/>
                </a:solidFill>
                <a:latin typeface="Instrument Serif"/>
                <a:ea typeface="Instrument Serif"/>
                <a:cs typeface="Instrument Serif"/>
                <a:sym typeface="Instrument Serif"/>
              </a:defRPr>
            </a:lvl1pPr>
          </a:lstStyle>
          <a:p>
            <a:pPr/>
            <a:r>
              <a:t>prehistoric times…</a:t>
            </a:r>
          </a:p>
        </p:txBody>
      </p:sp>
      <p:pic>
        <p:nvPicPr>
          <p:cNvPr id="331" name="arrow.png" descr="arrow.png"/>
          <p:cNvPicPr>
            <a:picLocks noChangeAspect="1"/>
          </p:cNvPicPr>
          <p:nvPr/>
        </p:nvPicPr>
        <p:blipFill>
          <a:blip r:embed="rId5">
            <a:extLst/>
          </a:blip>
          <a:stretch>
            <a:fillRect/>
          </a:stretch>
        </p:blipFill>
        <p:spPr>
          <a:xfrm rot="16988635">
            <a:off x="18097935" y="1393913"/>
            <a:ext cx="929326" cy="1323164"/>
          </a:xfrm>
          <a:prstGeom prst="rect">
            <a:avLst/>
          </a:prstGeom>
          <a:ln w="12700">
            <a:miter lim="400000"/>
          </a:ln>
        </p:spPr>
      </p:pic>
      <p:pic>
        <p:nvPicPr>
          <p:cNvPr id="332" name="trex-only.png" descr="trex-only.png"/>
          <p:cNvPicPr>
            <a:picLocks noChangeAspect="1"/>
          </p:cNvPicPr>
          <p:nvPr/>
        </p:nvPicPr>
        <p:blipFill>
          <a:blip r:embed="rId6">
            <a:extLst/>
          </a:blip>
          <a:stretch>
            <a:fillRect/>
          </a:stretch>
        </p:blipFill>
        <p:spPr>
          <a:xfrm>
            <a:off x="18923000" y="1790700"/>
            <a:ext cx="4191000" cy="3556000"/>
          </a:xfrm>
          <a:prstGeom prst="rect">
            <a:avLst/>
          </a:prstGeom>
          <a:ln w="12700">
            <a:miter lim="400000"/>
          </a:ln>
        </p:spPr>
      </p:pic>
      <p:pic>
        <p:nvPicPr>
          <p:cNvPr id="333" name="stamp-best-before.png" descr="stamp-best-before.png"/>
          <p:cNvPicPr>
            <a:picLocks noChangeAspect="1"/>
          </p:cNvPicPr>
          <p:nvPr/>
        </p:nvPicPr>
        <p:blipFill>
          <a:blip r:embed="rId7">
            <a:extLst/>
          </a:blip>
          <a:stretch>
            <a:fillRect/>
          </a:stretch>
        </p:blipFill>
        <p:spPr>
          <a:xfrm>
            <a:off x="14859000" y="7772400"/>
            <a:ext cx="8629650" cy="3835400"/>
          </a:xfrm>
          <a:prstGeom prst="rect">
            <a:avLst/>
          </a:prstGeom>
          <a:ln w="12700">
            <a:miter lim="400000"/>
          </a:ln>
        </p:spPr>
      </p:pic>
      <p:pic>
        <p:nvPicPr>
          <p:cNvPr id="334" name="prog-12.png" descr="prog-12.png"/>
          <p:cNvPicPr>
            <a:picLocks noChangeAspect="1"/>
          </p:cNvPicPr>
          <p:nvPr/>
        </p:nvPicPr>
        <p:blipFill>
          <a:blip r:embed="rId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3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39" name="How to use (prehistoric) custom field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How to use </a:t>
            </a:r>
            <a:r>
              <a:rPr i="1" sz="9800">
                <a:solidFill>
                  <a:srgbClr val="6033A6"/>
                </a:solidFill>
                <a:latin typeface="Instrument Serif"/>
                <a:ea typeface="Instrument Serif"/>
                <a:cs typeface="Instrument Serif"/>
                <a:sym typeface="Instrument Serif"/>
              </a:rPr>
              <a:t>(prehistoric) custom fields</a:t>
            </a:r>
          </a:p>
        </p:txBody>
      </p:sp>
      <p:sp>
        <p:nvSpPr>
          <p:cNvPr id="340" name="Turn them on"/>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Turn them on</a:t>
            </a:r>
          </a:p>
        </p:txBody>
      </p:sp>
      <p:sp>
        <p:nvSpPr>
          <p:cNvPr id="341" name="Options (three dots), Preferences, General, Advanced, Custom fields. The editor reloads."/>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Options (three dots), Preferences, General, Advanced, Custom fields. The editor reloads.</a:t>
            </a:r>
          </a:p>
        </p:txBody>
      </p:sp>
      <p:sp>
        <p:nvSpPr>
          <p:cNvPr id="342" name="ACF actually disables them"/>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ACF actually disables them</a:t>
            </a:r>
          </a:p>
        </p:txBody>
      </p:sp>
      <p:sp>
        <p:nvSpPr>
          <p:cNvPr id="343" name="ACF removes the Custom Fields box by default, so on an ACF site the toggle is not there at all. One filter brings it back."/>
          <p:cNvSpPr txBox="1"/>
          <p:nvPr/>
        </p:nvSpPr>
        <p:spPr>
          <a:xfrm>
            <a:off x="12827000" y="5638800"/>
            <a:ext cx="10101144"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ACF removes the Custom Fields box by default, so on an ACF site the toggle is not there at all. One filter brings it back.</a:t>
            </a:r>
          </a:p>
        </p:txBody>
      </p:sp>
      <p:sp>
        <p:nvSpPr>
          <p:cNvPr id="34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345" name="code-acf-metabox-4.png" descr="code-acf-metabox-4.png"/>
          <p:cNvPicPr>
            <a:picLocks noChangeAspect="1"/>
          </p:cNvPicPr>
          <p:nvPr/>
        </p:nvPicPr>
        <p:blipFill>
          <a:blip r:embed="rId4">
            <a:extLst/>
          </a:blip>
          <a:stretch>
            <a:fillRect/>
          </a:stretch>
        </p:blipFill>
        <p:spPr>
          <a:xfrm>
            <a:off x="12827000" y="7620000"/>
            <a:ext cx="8890000" cy="2692400"/>
          </a:xfrm>
          <a:prstGeom prst="rect">
            <a:avLst/>
          </a:prstGeom>
          <a:ln w="12700">
            <a:miter lim="400000"/>
          </a:ln>
        </p:spPr>
      </p:pic>
      <p:pic>
        <p:nvPicPr>
          <p:cNvPr id="346" name="custom-fields-toggle.png" descr="custom-fields-toggle.png"/>
          <p:cNvPicPr>
            <a:picLocks noChangeAspect="1"/>
          </p:cNvPicPr>
          <p:nvPr/>
        </p:nvPicPr>
        <p:blipFill>
          <a:blip r:embed="rId5">
            <a:extLst/>
          </a:blip>
          <a:stretch>
            <a:fillRect/>
          </a:stretch>
        </p:blipFill>
        <p:spPr>
          <a:xfrm>
            <a:off x="1320800" y="7620000"/>
            <a:ext cx="10148048" cy="3657600"/>
          </a:xfrm>
          <a:prstGeom prst="rect">
            <a:avLst/>
          </a:prstGeom>
          <a:ln w="12700">
            <a:miter lim="400000"/>
          </a:ln>
        </p:spPr>
      </p:pic>
      <p:sp>
        <p:nvSpPr>
          <p:cNvPr id="347" name="Hidden in Preferences since 2018. Bring a shovel."/>
          <p:cNvSpPr txBox="1"/>
          <p:nvPr/>
        </p:nvSpPr>
        <p:spPr>
          <a:xfrm>
            <a:off x="12750800" y="10617199"/>
            <a:ext cx="10160000" cy="838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400">
                <a:solidFill>
                  <a:srgbClr val="6033A6"/>
                </a:solidFill>
                <a:latin typeface="Instrument Serif"/>
                <a:ea typeface="Instrument Serif"/>
                <a:cs typeface="Instrument Serif"/>
                <a:sym typeface="Instrument Serif"/>
              </a:defRPr>
            </a:lvl1pPr>
          </a:lstStyle>
          <a:p>
            <a:pPr/>
            <a:r>
              <a:t>Hidden in Preferences since 2018. Bring a shovel.</a:t>
            </a:r>
          </a:p>
        </p:txBody>
      </p:sp>
      <p:pic>
        <p:nvPicPr>
          <p:cNvPr id="348" name="stamp-dependency-free.png" descr="stamp-dependency-free.png"/>
          <p:cNvPicPr>
            <a:picLocks noChangeAspect="1"/>
          </p:cNvPicPr>
          <p:nvPr/>
        </p:nvPicPr>
        <p:blipFill>
          <a:blip r:embed="rId6">
            <a:extLst/>
          </a:blip>
          <a:stretch>
            <a:fillRect/>
          </a:stretch>
        </p:blipFill>
        <p:spPr>
          <a:xfrm>
            <a:off x="4699000" y="8280400"/>
            <a:ext cx="8629650" cy="3835400"/>
          </a:xfrm>
          <a:prstGeom prst="rect">
            <a:avLst/>
          </a:prstGeom>
          <a:ln w="12700">
            <a:miter lim="400000"/>
          </a:ln>
        </p:spPr>
      </p:pic>
      <p:pic>
        <p:nvPicPr>
          <p:cNvPr id="349" name="prog-13.png" descr="prog-13.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5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54" name="Advanced Custom Fields"/>
          <p:cNvSpPr txBox="1"/>
          <p:nvPr/>
        </p:nvSpPr>
        <p:spPr>
          <a:xfrm>
            <a:off x="1308100" y="4207395"/>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Advanced Custom Fields</a:t>
            </a:r>
          </a:p>
        </p:txBody>
      </p:sp>
      <p:sp>
        <p:nvSpPr>
          <p:cNvPr id="355" name="since 2011"/>
          <p:cNvSpPr txBox="1"/>
          <p:nvPr/>
        </p:nvSpPr>
        <p:spPr>
          <a:xfrm>
            <a:off x="1308100" y="5366740"/>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a:ea typeface="Instrument Serif"/>
                <a:cs typeface="Instrument Serif"/>
                <a:sym typeface="Instrument Serif"/>
              </a:defRPr>
            </a:lvl1pPr>
          </a:lstStyle>
          <a:p>
            <a:pPr/>
            <a:r>
              <a:t>since 2011</a:t>
            </a:r>
          </a:p>
        </p:txBody>
      </p:sp>
      <p:sp>
        <p:nvSpPr>
          <p:cNvPr id="356" name="ACF was born to extend custom fields."/>
          <p:cNvSpPr txBox="1"/>
          <p:nvPr/>
        </p:nvSpPr>
        <p:spPr>
          <a:xfrm>
            <a:off x="1320800" y="77142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ACF was born to extend custom fields.</a:t>
            </a:r>
          </a:p>
        </p:txBody>
      </p:sp>
      <p:sp>
        <p:nvSpPr>
          <p:cNvPr id="357" name="Better fields, but still fields."/>
          <p:cNvSpPr txBox="1"/>
          <p:nvPr/>
        </p:nvSpPr>
        <p:spPr>
          <a:xfrm>
            <a:off x="1320800" y="83746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Better fields, but still fields.</a:t>
            </a:r>
          </a:p>
        </p:txBody>
      </p:sp>
      <p:sp>
        <p:nvSpPr>
          <p:cNvPr id="358"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359" name="We are past the field era and into the block era."/>
          <p:cNvSpPr txBox="1"/>
          <p:nvPr/>
        </p:nvSpPr>
        <p:spPr>
          <a:xfrm>
            <a:off x="1320800" y="90096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We are past the field era and into the block era.</a:t>
            </a:r>
          </a:p>
        </p:txBody>
      </p:sp>
      <p:pic>
        <p:nvPicPr>
          <p:cNvPr id="360" name="prog-14.png" descr="prog-1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6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65" name="We thought we did “the core way”"/>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We thought we did </a:t>
            </a:r>
            <a:r>
              <a:rPr i="1" sz="9800">
                <a:solidFill>
                  <a:srgbClr val="6033A6"/>
                </a:solidFill>
                <a:latin typeface="Instrument Serif"/>
                <a:ea typeface="Instrument Serif"/>
                <a:cs typeface="Instrument Serif"/>
                <a:sym typeface="Instrument Serif"/>
              </a:rPr>
              <a:t>“the core way”</a:t>
            </a:r>
          </a:p>
        </p:txBody>
      </p:sp>
      <p:sp>
        <p:nvSpPr>
          <p:cNvPr id="366" name="Underscores, 2016"/>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Underscores, 2016</a:t>
            </a:r>
          </a:p>
        </p:txBody>
      </p:sp>
      <p:sp>
        <p:nvSpPr>
          <p:cNvPr id="367" name="air-light started from Automattic’s starter theme, a traditional theme kept as close to core as we could."/>
          <p:cNvSpPr txBox="1"/>
          <p:nvPr/>
        </p:nvSpPr>
        <p:spPr>
          <a:xfrm>
            <a:off x="1320800" y="5638799"/>
            <a:ext cx="106934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a:ea typeface="Geist"/>
                <a:cs typeface="Geist"/>
                <a:sym typeface="Geist"/>
              </a:defRPr>
            </a:pPr>
            <a:r>
              <a:t>air-light started from Automattic’s starter theme,</a:t>
            </a:r>
            <a:br/>
            <a:r>
              <a:t>a traditional theme kept as close to core as we could.</a:t>
            </a:r>
          </a:p>
        </p:txBody>
      </p:sp>
      <p:sp>
        <p:nvSpPr>
          <p:cNvPr id="368" name="Core functio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Core functions</a:t>
            </a:r>
          </a:p>
        </p:txBody>
      </p:sp>
      <p:sp>
        <p:nvSpPr>
          <p:cNvPr id="369" name="Templates built from WordPress’s own parts: the loop, template parts, WP_Query."/>
          <p:cNvSpPr txBox="1"/>
          <p:nvPr/>
        </p:nvSpPr>
        <p:spPr>
          <a:xfrm>
            <a:off x="128270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a:ea typeface="Geist"/>
                <a:cs typeface="Geist"/>
                <a:sym typeface="Geist"/>
              </a:defRPr>
            </a:pPr>
            <a:r>
              <a:t>Templates built from WordPress’s own parts: the loop, template parts, </a:t>
            </a:r>
            <a:r>
              <a:rPr sz="3100">
                <a:solidFill>
                  <a:srgbClr val="6033A6"/>
                </a:solidFill>
                <a:latin typeface="Geist Mono"/>
                <a:ea typeface="Geist Mono"/>
                <a:cs typeface="Geist Mono"/>
                <a:sym typeface="Geist Mono"/>
              </a:rPr>
              <a:t>WP_Query</a:t>
            </a:r>
            <a:r>
              <a:t>.</a:t>
            </a:r>
          </a:p>
        </p:txBody>
      </p:sp>
      <p:sp>
        <p:nvSpPr>
          <p:cNvPr id="370" name="ACF on every site"/>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ACF on every site</a:t>
            </a:r>
          </a:p>
        </p:txBody>
      </p:sp>
      <p:sp>
        <p:nvSpPr>
          <p:cNvPr id="371" name="The content in those templates came from ACF fields. That is not the core way."/>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The content in those templates came from ACF fields. That is not the core way.</a:t>
            </a:r>
          </a:p>
        </p:txBody>
      </p:sp>
      <p:sp>
        <p:nvSpPr>
          <p:cNvPr id="372" name="Why we kept doing ACF"/>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Why we kept doing ACF</a:t>
            </a:r>
          </a:p>
        </p:txBody>
      </p:sp>
      <p:sp>
        <p:nvSpPr>
          <p:cNvPr id="373" name="ACF was quick to build with, and the sites built on it kept working for years."/>
          <p:cNvSpPr txBox="1"/>
          <p:nvPr/>
        </p:nvSpPr>
        <p:spPr>
          <a:xfrm>
            <a:off x="12827000" y="8559799"/>
            <a:ext cx="9959979"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ACF was quick to build with, and the sites built on it kept working for years.</a:t>
            </a:r>
          </a:p>
        </p:txBody>
      </p:sp>
      <p:sp>
        <p:nvSpPr>
          <p:cNvPr id="37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375" name="prog-15.png" descr="prog-1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7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80" name="So what’s"/>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So what’s</a:t>
            </a:r>
          </a:p>
        </p:txBody>
      </p:sp>
      <p:sp>
        <p:nvSpPr>
          <p:cNvPr id="381" name="the answer?"/>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a:ea typeface="Instrument Serif"/>
                <a:cs typeface="Instrument Serif"/>
                <a:sym typeface="Instrument Serif"/>
              </a:defRPr>
            </a:lvl1pPr>
          </a:lstStyle>
          <a:p>
            <a:pPr/>
            <a:r>
              <a:t>the answer?</a:t>
            </a:r>
          </a:p>
        </p:txBody>
      </p:sp>
      <p:sp>
        <p:nvSpPr>
          <p:cNvPr id="382" name="When we finally went native in 2025,"/>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When we finally went native in 2025,</a:t>
            </a:r>
          </a:p>
        </p:txBody>
      </p:sp>
      <p:sp>
        <p:nvSpPr>
          <p:cNvPr id="383" name="we thought we knew."/>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we thought we knew.</a:t>
            </a:r>
          </a:p>
        </p:txBody>
      </p:sp>
      <p:sp>
        <p:nvSpPr>
          <p:cNvPr id="38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385" name="deep-thought-42.gif" descr="deep-thought-42.gif"/>
          <p:cNvPicPr>
            <a:picLocks noChangeAspect="0"/>
          </p:cNvPicPr>
          <p:nvPr/>
        </p:nvPicPr>
        <p:blipFill>
          <a:blip r:embed="rId4">
            <a:extLst/>
          </a:blip>
          <a:stretch>
            <a:fillRect/>
          </a:stretch>
        </p:blipFill>
        <p:spPr>
          <a:xfrm>
            <a:off x="13462000" y="4572000"/>
            <a:ext cx="9534574" cy="3810000"/>
          </a:xfrm>
          <a:prstGeom prst="rect">
            <a:avLst/>
          </a:prstGeom>
          <a:ln w="12700">
            <a:miter lim="400000"/>
          </a:ln>
        </p:spPr>
      </p:pic>
      <p:pic>
        <p:nvPicPr>
          <p:cNvPr id="386" name="prog-16.png" descr="prog-16.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9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91" name="We thought “native” meant React.j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We thought “native” </a:t>
            </a:r>
            <a:r>
              <a:rPr i="1" sz="9800">
                <a:solidFill>
                  <a:srgbClr val="6033A6"/>
                </a:solidFill>
                <a:latin typeface="Instrument Serif"/>
                <a:ea typeface="Instrument Serif"/>
                <a:cs typeface="Instrument Serif"/>
                <a:sym typeface="Instrument Serif"/>
              </a:rPr>
              <a:t>meant React.js</a:t>
            </a:r>
          </a:p>
        </p:txBody>
      </p:sp>
      <p:sp>
        <p:nvSpPr>
          <p:cNvPr id="392" name="2018 to 2024"/>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2018 to 2024</a:t>
            </a:r>
          </a:p>
        </p:txBody>
      </p:sp>
      <p:sp>
        <p:nvSpPr>
          <p:cNvPr id="393" name="We used core Gutenberg for articles, ACF for everything else. ACF Gutenberg blocks since 2021."/>
          <p:cNvSpPr txBox="1"/>
          <p:nvPr/>
        </p:nvSpPr>
        <p:spPr>
          <a:xfrm>
            <a:off x="1320800" y="5638800"/>
            <a:ext cx="7932559"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a:ea typeface="Geist"/>
                <a:cs typeface="Geist"/>
                <a:sym typeface="Geist"/>
              </a:defRPr>
            </a:pPr>
            <a:r>
              <a:t>We used core Gutenberg for articles, ACF for everything else.</a:t>
            </a:r>
            <a:br/>
            <a:r>
              <a:t>ACF Gutenberg blocks since 2021.</a:t>
            </a:r>
          </a:p>
        </p:txBody>
      </p:sp>
      <p:sp>
        <p:nvSpPr>
          <p:cNvPr id="394" name="2025"/>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2025</a:t>
            </a:r>
          </a:p>
        </p:txBody>
      </p:sp>
      <p:sp>
        <p:nvSpPr>
          <p:cNvPr id="395" name="Our first real native blocks: every option written by hand in React."/>
          <p:cNvSpPr txBox="1"/>
          <p:nvPr/>
        </p:nvSpPr>
        <p:spPr>
          <a:xfrm>
            <a:off x="12827000" y="5638799"/>
            <a:ext cx="90577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a:ea typeface="Geist"/>
                <a:cs typeface="Geist"/>
                <a:sym typeface="Geist"/>
              </a:defRPr>
            </a:pPr>
            <a:r>
              <a:t>Our first </a:t>
            </a:r>
            <a:r>
              <a:t>real</a:t>
            </a:r>
            <a:r>
              <a:t> native blocks:</a:t>
            </a:r>
            <a:br/>
            <a:r>
              <a:t>every option written by hand in React.</a:t>
            </a:r>
          </a:p>
        </p:txBody>
      </p:sp>
      <p:sp>
        <p:nvSpPr>
          <p:cNvPr id="396" name="One site, when we still stumbled"/>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One site, when we still stumbled</a:t>
            </a:r>
          </a:p>
        </p:txBody>
      </p:sp>
      <p:sp>
        <p:nvSpPr>
          <p:cNvPr id="397" name="23 custom blocks, 77 attributes, about 3000 lines of edit.js JavaScript."/>
          <p:cNvSpPr txBox="1"/>
          <p:nvPr/>
        </p:nvSpPr>
        <p:spPr>
          <a:xfrm>
            <a:off x="1320800" y="8559799"/>
            <a:ext cx="874279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23 custom blocks, 77 attributes, about 3000 lines of edit.js JavaScript.</a:t>
            </a:r>
          </a:p>
        </p:txBody>
      </p:sp>
      <p:sp>
        <p:nvSpPr>
          <p:cNvPr id="398" name="The result"/>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The result</a:t>
            </a:r>
          </a:p>
        </p:txBody>
      </p:sp>
      <p:sp>
        <p:nvSpPr>
          <p:cNvPr id="399" name="Too static blocks, “reinventing the wheel” like with ACF…"/>
          <p:cNvSpPr txBox="1"/>
          <p:nvPr/>
        </p:nvSpPr>
        <p:spPr>
          <a:xfrm>
            <a:off x="12827000" y="8559799"/>
            <a:ext cx="698451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Too static blocks, “reinventing the wheel” like with ACF…</a:t>
            </a:r>
          </a:p>
        </p:txBody>
      </p:sp>
      <p:sp>
        <p:nvSpPr>
          <p:cNvPr id="4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401" name="stamp-not-quite.png" descr="stamp-not-quite.png"/>
          <p:cNvPicPr>
            <a:picLocks noChangeAspect="1"/>
          </p:cNvPicPr>
          <p:nvPr/>
        </p:nvPicPr>
        <p:blipFill>
          <a:blip r:embed="rId4">
            <a:extLst/>
          </a:blip>
          <a:stretch>
            <a:fillRect/>
          </a:stretch>
        </p:blipFill>
        <p:spPr>
          <a:xfrm>
            <a:off x="15526374" y="9279588"/>
            <a:ext cx="7620001" cy="2857501"/>
          </a:xfrm>
          <a:prstGeom prst="rect">
            <a:avLst/>
          </a:prstGeom>
          <a:ln w="12700">
            <a:miter lim="400000"/>
          </a:ln>
        </p:spPr>
      </p:pic>
      <p:pic>
        <p:nvPicPr>
          <p:cNvPr id="402" name="prog-17.png" descr="prog-17.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0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07" name="And suddenly we were"/>
          <p:cNvSpPr txBox="1"/>
          <p:nvPr/>
        </p:nvSpPr>
        <p:spPr>
          <a:xfrm>
            <a:off x="1308100" y="29591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ExtraBold"/>
                <a:ea typeface="Unbounded ExtraBold"/>
                <a:cs typeface="Unbounded ExtraBold"/>
                <a:sym typeface="Unbounded ExtraBold"/>
              </a:defRPr>
            </a:lvl1pPr>
          </a:lstStyle>
          <a:p>
            <a:pPr/>
            <a:r>
              <a:t>And suddenly we were</a:t>
            </a:r>
          </a:p>
        </p:txBody>
      </p:sp>
      <p:sp>
        <p:nvSpPr>
          <p:cNvPr id="408" name="2012"/>
          <p:cNvSpPr txBox="1"/>
          <p:nvPr/>
        </p:nvSpPr>
        <p:spPr>
          <a:xfrm>
            <a:off x="1295400" y="5011420"/>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2012</a:t>
            </a:r>
          </a:p>
        </p:txBody>
      </p:sp>
      <p:sp>
        <p:nvSpPr>
          <p:cNvPr id="409" name="Underscores. PHP, HTML and CSS. Where I learned themes, and where I stayed for the longest time."/>
          <p:cNvSpPr txBox="1"/>
          <p:nvPr/>
        </p:nvSpPr>
        <p:spPr>
          <a:xfrm>
            <a:off x="1320800" y="583691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Underscores. PHP, HTML and CSS. Where I learned themes, and where I stayed for the longest time.</a:t>
            </a:r>
          </a:p>
        </p:txBody>
      </p:sp>
      <p:sp>
        <p:nvSpPr>
          <p:cNvPr id="410" name="Flashback, historical hard pass"/>
          <p:cNvSpPr txBox="1"/>
          <p:nvPr/>
        </p:nvSpPr>
        <p:spPr>
          <a:xfrm>
            <a:off x="12801600" y="5011420"/>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Flashback, historical hard pass</a:t>
            </a:r>
          </a:p>
        </p:txBody>
      </p:sp>
      <p:sp>
        <p:nvSpPr>
          <p:cNvPr id="411" name="Sage, Twig, Timber, Blade, Dust.js, exotic ways of building WordPress. I kept at doing traditional WordPress."/>
          <p:cNvSpPr txBox="1"/>
          <p:nvPr/>
        </p:nvSpPr>
        <p:spPr>
          <a:xfrm>
            <a:off x="12827000" y="5814059"/>
            <a:ext cx="8655785"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Sage, Twig, Timber, Blade, Dust.js, exotic ways of building WordPress. I kept at doing traditional WordPress.</a:t>
            </a:r>
          </a:p>
        </p:txBody>
      </p:sp>
      <p:sp>
        <p:nvSpPr>
          <p:cNvPr id="412" name="2017"/>
          <p:cNvSpPr txBox="1"/>
          <p:nvPr/>
        </p:nvSpPr>
        <p:spPr>
          <a:xfrm>
            <a:off x="1295400" y="793241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2017</a:t>
            </a:r>
          </a:p>
        </p:txBody>
      </p:sp>
      <p:sp>
        <p:nvSpPr>
          <p:cNvPr id="413" name="WordPress nearly dropped React over its patent clause. Facebook relicensed it as MIT."/>
          <p:cNvSpPr txBox="1"/>
          <p:nvPr/>
        </p:nvSpPr>
        <p:spPr>
          <a:xfrm>
            <a:off x="1320800" y="875791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WordPress nearly dropped React over its patent clause. Facebook relicensed it as MIT.</a:t>
            </a:r>
          </a:p>
        </p:txBody>
      </p:sp>
      <p:sp>
        <p:nvSpPr>
          <p:cNvPr id="414" name="2018"/>
          <p:cNvSpPr txBox="1"/>
          <p:nvPr/>
        </p:nvSpPr>
        <p:spPr>
          <a:xfrm>
            <a:off x="12801600" y="793241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2018</a:t>
            </a:r>
          </a:p>
        </p:txBody>
      </p:sp>
      <p:sp>
        <p:nvSpPr>
          <p:cNvPr id="415" name="Blocks are React components, built with npm and @wordpress/scripts."/>
          <p:cNvSpPr txBox="1"/>
          <p:nvPr/>
        </p:nvSpPr>
        <p:spPr>
          <a:xfrm>
            <a:off x="12827000" y="8762999"/>
            <a:ext cx="835146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a:ea typeface="Geist"/>
                <a:cs typeface="Geist"/>
                <a:sym typeface="Geist"/>
              </a:defRPr>
            </a:pPr>
            <a:r>
              <a:t>Blocks are React components, built with npm and </a:t>
            </a:r>
            <a:r>
              <a:rPr sz="3100">
                <a:solidFill>
                  <a:srgbClr val="6033A6"/>
                </a:solidFill>
                <a:latin typeface="Geist Mono"/>
                <a:ea typeface="Geist Mono"/>
                <a:cs typeface="Geist Mono"/>
                <a:sym typeface="Geist Mono"/>
              </a:rPr>
              <a:t>@wordpress/scripts</a:t>
            </a:r>
            <a:r>
              <a:t>.</a:t>
            </a:r>
          </a:p>
        </p:txBody>
      </p:sp>
      <p:sp>
        <p:nvSpPr>
          <p:cNvPr id="41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417" name="-devs"/>
          <p:cNvSpPr txBox="1"/>
          <p:nvPr/>
        </p:nvSpPr>
        <p:spPr>
          <a:xfrm>
            <a:off x="19359880" y="2701289"/>
            <a:ext cx="6096001"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9800">
                <a:solidFill>
                  <a:srgbClr val="6033A6"/>
                </a:solidFill>
                <a:latin typeface="Instrument Serif"/>
                <a:ea typeface="Instrument Serif"/>
                <a:cs typeface="Instrument Serif"/>
                <a:sym typeface="Instrument Serif"/>
              </a:defRPr>
            </a:lvl1pPr>
          </a:lstStyle>
          <a:p>
            <a:pPr/>
            <a:r>
              <a:t>-devs</a:t>
            </a:r>
          </a:p>
        </p:txBody>
      </p:sp>
      <p:pic>
        <p:nvPicPr>
          <p:cNvPr id="418" name="js-logo.png" descr="js-logo.png"/>
          <p:cNvPicPr>
            <a:picLocks noChangeAspect="1"/>
          </p:cNvPicPr>
          <p:nvPr/>
        </p:nvPicPr>
        <p:blipFill>
          <a:blip r:embed="rId4">
            <a:extLst/>
          </a:blip>
          <a:stretch>
            <a:fillRect/>
          </a:stretch>
        </p:blipFill>
        <p:spPr>
          <a:xfrm>
            <a:off x="15374619" y="3114039"/>
            <a:ext cx="965201" cy="965201"/>
          </a:xfrm>
          <a:prstGeom prst="rect">
            <a:avLst/>
          </a:prstGeom>
          <a:ln w="12700">
            <a:miter lim="400000"/>
          </a:ln>
        </p:spPr>
      </p:pic>
      <p:pic>
        <p:nvPicPr>
          <p:cNvPr id="419" name="react-lockup.png" descr="react-lockup.png"/>
          <p:cNvPicPr>
            <a:picLocks noChangeAspect="1"/>
          </p:cNvPicPr>
          <p:nvPr/>
        </p:nvPicPr>
        <p:blipFill>
          <a:blip r:embed="rId5">
            <a:extLst/>
          </a:blip>
          <a:stretch>
            <a:fillRect/>
          </a:stretch>
        </p:blipFill>
        <p:spPr>
          <a:xfrm>
            <a:off x="16512539" y="3181350"/>
            <a:ext cx="3118339" cy="965200"/>
          </a:xfrm>
          <a:prstGeom prst="rect">
            <a:avLst/>
          </a:prstGeom>
          <a:ln w="12700">
            <a:miter lim="400000"/>
          </a:ln>
        </p:spPr>
      </p:pic>
      <p:pic>
        <p:nvPicPr>
          <p:cNvPr id="420" name="stamp-not-quite.png" descr="stamp-not-quite.png"/>
          <p:cNvPicPr>
            <a:picLocks noChangeAspect="1"/>
          </p:cNvPicPr>
          <p:nvPr/>
        </p:nvPicPr>
        <p:blipFill>
          <a:blip r:embed="rId6">
            <a:extLst/>
          </a:blip>
          <a:stretch>
            <a:fillRect/>
          </a:stretch>
        </p:blipFill>
        <p:spPr>
          <a:xfrm>
            <a:off x="17345931" y="6512559"/>
            <a:ext cx="5177262" cy="1941474"/>
          </a:xfrm>
          <a:prstGeom prst="rect">
            <a:avLst/>
          </a:prstGeom>
          <a:ln w="12700">
            <a:miter lim="400000"/>
          </a:ln>
        </p:spPr>
      </p:pic>
      <p:pic>
        <p:nvPicPr>
          <p:cNvPr id="421" name="prog-18.png" descr="prog-18.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2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26" name="Media and text, coded by han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Media and text, </a:t>
            </a:r>
            <a:r>
              <a:rPr i="1" sz="9800">
                <a:solidFill>
                  <a:srgbClr val="6033A6"/>
                </a:solidFill>
                <a:latin typeface="Instrument Serif"/>
                <a:ea typeface="Instrument Serif"/>
                <a:cs typeface="Instrument Serif"/>
                <a:sym typeface="Instrument Serif"/>
              </a:rPr>
              <a:t>coded by hand</a:t>
            </a:r>
          </a:p>
        </p:txBody>
      </p:sp>
      <p:sp>
        <p:nvSpPr>
          <p:cNvPr id="42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428" name="panel-470x456.png" descr="panel-470x456.png"/>
          <p:cNvPicPr>
            <a:picLocks noChangeAspect="1"/>
          </p:cNvPicPr>
          <p:nvPr/>
        </p:nvPicPr>
        <p:blipFill>
          <a:blip r:embed="rId4">
            <a:extLst/>
          </a:blip>
          <a:stretch>
            <a:fillRect/>
          </a:stretch>
        </p:blipFill>
        <p:spPr>
          <a:xfrm>
            <a:off x="1371600" y="4826000"/>
            <a:ext cx="5969000" cy="5791200"/>
          </a:xfrm>
          <a:prstGeom prst="rect">
            <a:avLst/>
          </a:prstGeom>
          <a:ln w="12700">
            <a:miter lim="400000"/>
          </a:ln>
        </p:spPr>
      </p:pic>
      <p:sp>
        <p:nvSpPr>
          <p:cNvPr id="429" name="blocks/media-text/ ├── block.json ├── build/ └── src/     ├── index.js     ├── edit.js     ├── save.js     ├── deprecated.js     ├── editor.scss     └── style.scss"/>
          <p:cNvSpPr txBox="1"/>
          <p:nvPr/>
        </p:nvSpPr>
        <p:spPr>
          <a:xfrm>
            <a:off x="1676400" y="5079999"/>
            <a:ext cx="5461000" cy="568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a:ea typeface="Geist Mono"/>
                <a:cs typeface="Geist Mono"/>
                <a:sym typeface="Geist Mono"/>
              </a:defRPr>
            </a:pPr>
            <a:r>
              <a:t>blocks/media-text/</a:t>
            </a:r>
            <a:br>
              <a:rPr sz="3400"/>
            </a:br>
            <a:r>
              <a:t>├── block</a:t>
            </a:r>
            <a:r>
              <a:rPr>
                <a:solidFill>
                  <a:srgbClr val="C4B7E9"/>
                </a:solidFill>
              </a:rPr>
              <a:t>.</a:t>
            </a:r>
            <a:r>
              <a:t>json</a:t>
            </a:r>
            <a:br>
              <a:rPr sz="3400"/>
            </a:br>
            <a:r>
              <a:t>├── build/</a:t>
            </a:r>
            <a:br>
              <a:rPr sz="3400"/>
            </a:br>
            <a:r>
              <a:t>└── src/</a:t>
            </a:r>
            <a:br>
              <a:rPr sz="3400"/>
            </a:br>
            <a:r>
              <a:t>    ├── index</a:t>
            </a:r>
            <a:r>
              <a:rPr>
                <a:solidFill>
                  <a:srgbClr val="C4B7E9"/>
                </a:solidFill>
              </a:rPr>
              <a:t>.</a:t>
            </a:r>
            <a:r>
              <a:t>js</a:t>
            </a:r>
            <a:br>
              <a:rPr sz="3400"/>
            </a:br>
            <a:r>
              <a:t>    ├── edit</a:t>
            </a:r>
            <a:r>
              <a:rPr>
                <a:solidFill>
                  <a:srgbClr val="C4B7E9"/>
                </a:solidFill>
              </a:rPr>
              <a:t>.</a:t>
            </a:r>
            <a:r>
              <a:t>js</a:t>
            </a:r>
            <a:br>
              <a:rPr sz="3400"/>
            </a:br>
            <a:r>
              <a:t>    ├── save</a:t>
            </a:r>
            <a:r>
              <a:rPr>
                <a:solidFill>
                  <a:srgbClr val="C4B7E9"/>
                </a:solidFill>
              </a:rPr>
              <a:t>.</a:t>
            </a:r>
            <a:r>
              <a:t>js</a:t>
            </a:r>
            <a:br>
              <a:rPr sz="3400"/>
            </a:br>
            <a:r>
              <a:t>    ├── deprecated</a:t>
            </a:r>
            <a:r>
              <a:rPr>
                <a:solidFill>
                  <a:srgbClr val="C4B7E9"/>
                </a:solidFill>
              </a:rPr>
              <a:t>.</a:t>
            </a:r>
            <a:r>
              <a:t>js</a:t>
            </a:r>
            <a:br>
              <a:rPr sz="3400"/>
            </a:br>
            <a:r>
              <a:t>    ├── editor</a:t>
            </a:r>
            <a:r>
              <a:rPr>
                <a:solidFill>
                  <a:srgbClr val="C4B7E9"/>
                </a:solidFill>
              </a:rPr>
              <a:t>.</a:t>
            </a:r>
            <a:r>
              <a:t>scss</a:t>
            </a:r>
            <a:br>
              <a:rPr sz="3400"/>
            </a:br>
            <a:r>
              <a:t>    └── style</a:t>
            </a:r>
            <a:r>
              <a:rPr>
                <a:solidFill>
                  <a:srgbClr val="C4B7E9"/>
                </a:solidFill>
              </a:rPr>
              <a:t>.</a:t>
            </a:r>
            <a:r>
              <a:t>scss</a:t>
            </a:r>
            <a:br>
              <a:rPr sz="3400"/>
            </a:br>
          </a:p>
        </p:txBody>
      </p:sp>
      <p:pic>
        <p:nvPicPr>
          <p:cNvPr id="430" name="panel-1210x456.png" descr="panel-1210x456.png"/>
          <p:cNvPicPr>
            <a:picLocks noChangeAspect="1"/>
          </p:cNvPicPr>
          <p:nvPr/>
        </p:nvPicPr>
        <p:blipFill>
          <a:blip r:embed="rId5">
            <a:extLst/>
          </a:blip>
          <a:stretch>
            <a:fillRect/>
          </a:stretch>
        </p:blipFill>
        <p:spPr>
          <a:xfrm>
            <a:off x="7645400" y="4826000"/>
            <a:ext cx="15367000" cy="5791200"/>
          </a:xfrm>
          <a:prstGeom prst="rect">
            <a:avLst/>
          </a:prstGeom>
          <a:ln w="12700">
            <a:miter lim="400000"/>
          </a:ln>
        </p:spPr>
      </p:pic>
      <p:sp>
        <p:nvSpPr>
          <p:cNvPr id="431" name="const { heading, level, mediaUrl,   mediaRight, bgColor, padding } = attributes; &lt;InspectorControls&gt;   &lt;SelectControl label=&quot;Heading level&quot; value={ level } /&gt;   &lt;ToggleControl label=&quot;Media right&quot; checked={ mediaRight } /&gt;   &lt;ColorPalette value={ bgColor "/>
          <p:cNvSpPr txBox="1"/>
          <p:nvPr/>
        </p:nvSpPr>
        <p:spPr>
          <a:xfrm>
            <a:off x="7950200" y="5079999"/>
            <a:ext cx="14859000" cy="568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a:ea typeface="Geist Mono"/>
                <a:cs typeface="Geist Mono"/>
                <a:sym typeface="Geist Mono"/>
              </a:defRPr>
            </a:pPr>
            <a:r>
              <a:rPr>
                <a:solidFill>
                  <a:srgbClr val="FF97E2"/>
                </a:solidFill>
              </a:rPr>
              <a:t>const</a:t>
            </a:r>
            <a:r>
              <a:t> </a:t>
            </a:r>
            <a:r>
              <a:rPr>
                <a:solidFill>
                  <a:srgbClr val="C4B7E9"/>
                </a:solidFill>
              </a:rPr>
              <a:t>{</a:t>
            </a:r>
            <a:r>
              <a:t> heading</a:t>
            </a:r>
            <a:r>
              <a:rPr>
                <a:solidFill>
                  <a:srgbClr val="C4B7E9"/>
                </a:solidFill>
              </a:rPr>
              <a:t>,</a:t>
            </a:r>
            <a:r>
              <a:t> level</a:t>
            </a:r>
            <a:r>
              <a:rPr>
                <a:solidFill>
                  <a:srgbClr val="C4B7E9"/>
                </a:solidFill>
              </a:rPr>
              <a:t>,</a:t>
            </a:r>
            <a:r>
              <a:t> mediaUrl</a:t>
            </a:r>
            <a:r>
              <a:rPr>
                <a:solidFill>
                  <a:srgbClr val="C4B7E9"/>
                </a:solidFill>
              </a:rPr>
              <a:t>,</a:t>
            </a:r>
            <a:br>
              <a:rPr sz="3400"/>
            </a:br>
            <a:r>
              <a:t>  mediaRight</a:t>
            </a:r>
            <a:r>
              <a:rPr>
                <a:solidFill>
                  <a:srgbClr val="C4B7E9"/>
                </a:solidFill>
              </a:rPr>
              <a:t>,</a:t>
            </a:r>
            <a:r>
              <a:t> bgColor</a:t>
            </a:r>
            <a:r>
              <a:rPr>
                <a:solidFill>
                  <a:srgbClr val="C4B7E9"/>
                </a:solidFill>
              </a:rPr>
              <a:t>,</a:t>
            </a:r>
            <a:r>
              <a:t> padding </a:t>
            </a:r>
            <a:r>
              <a:rPr>
                <a:solidFill>
                  <a:srgbClr val="C4B7E9"/>
                </a:solidFill>
              </a:rPr>
              <a:t>}</a:t>
            </a:r>
            <a:r>
              <a:t> </a:t>
            </a:r>
            <a:r>
              <a:rPr>
                <a:solidFill>
                  <a:srgbClr val="C4B7E9"/>
                </a:solidFill>
              </a:rPr>
              <a:t>=</a:t>
            </a:r>
            <a:r>
              <a:t> attributes</a:t>
            </a:r>
            <a:r>
              <a:rPr>
                <a:solidFill>
                  <a:srgbClr val="C4B7E9"/>
                </a:solidFill>
              </a:rPr>
              <a:t>;</a:t>
            </a:r>
            <a:br>
              <a:rPr sz="3400"/>
            </a:br>
            <a:r>
              <a:rPr>
                <a:solidFill>
                  <a:srgbClr val="C4B7E9"/>
                </a:solidFill>
              </a:rPr>
              <a:t>&lt;</a:t>
            </a:r>
            <a:r>
              <a:t>InspectorControls</a:t>
            </a:r>
            <a:r>
              <a:rPr>
                <a:solidFill>
                  <a:srgbClr val="C4B7E9"/>
                </a:solidFill>
              </a:rPr>
              <a:t>&gt;</a:t>
            </a:r>
            <a:br>
              <a:rPr sz="3400"/>
            </a:br>
            <a:r>
              <a:t>  </a:t>
            </a:r>
            <a:r>
              <a:rPr>
                <a:solidFill>
                  <a:srgbClr val="C4B7E9"/>
                </a:solidFill>
              </a:rPr>
              <a:t>&lt;</a:t>
            </a:r>
            <a:r>
              <a:t>SelectControl label</a:t>
            </a:r>
            <a:r>
              <a:rPr>
                <a:solidFill>
                  <a:srgbClr val="C4B7E9"/>
                </a:solidFill>
              </a:rPr>
              <a:t>=</a:t>
            </a:r>
            <a:r>
              <a:rPr>
                <a:solidFill>
                  <a:srgbClr val="FFC3E7"/>
                </a:solidFill>
              </a:rPr>
              <a:t>"Heading level"</a:t>
            </a:r>
            <a:r>
              <a:t> value</a:t>
            </a:r>
            <a:r>
              <a:rPr>
                <a:solidFill>
                  <a:srgbClr val="C4B7E9"/>
                </a:solidFill>
              </a:rPr>
              <a:t>={</a:t>
            </a:r>
            <a:r>
              <a:t> level </a:t>
            </a:r>
            <a:r>
              <a:rPr>
                <a:solidFill>
                  <a:srgbClr val="C4B7E9"/>
                </a:solidFill>
              </a:rPr>
              <a:t>}</a:t>
            </a:r>
            <a:r>
              <a:t> /</a:t>
            </a:r>
            <a:r>
              <a:rPr>
                <a:solidFill>
                  <a:srgbClr val="C4B7E9"/>
                </a:solidFill>
              </a:rPr>
              <a:t>&gt;</a:t>
            </a:r>
            <a:br>
              <a:rPr sz="3400"/>
            </a:br>
            <a:r>
              <a:t>  </a:t>
            </a:r>
            <a:r>
              <a:rPr>
                <a:solidFill>
                  <a:srgbClr val="C4B7E9"/>
                </a:solidFill>
              </a:rPr>
              <a:t>&lt;</a:t>
            </a:r>
            <a:r>
              <a:t>ToggleControl label</a:t>
            </a:r>
            <a:r>
              <a:rPr>
                <a:solidFill>
                  <a:srgbClr val="C4B7E9"/>
                </a:solidFill>
              </a:rPr>
              <a:t>=</a:t>
            </a:r>
            <a:r>
              <a:rPr>
                <a:solidFill>
                  <a:srgbClr val="FFC3E7"/>
                </a:solidFill>
              </a:rPr>
              <a:t>"Media right"</a:t>
            </a:r>
            <a:r>
              <a:t> checked</a:t>
            </a:r>
            <a:r>
              <a:rPr>
                <a:solidFill>
                  <a:srgbClr val="C4B7E9"/>
                </a:solidFill>
              </a:rPr>
              <a:t>={</a:t>
            </a:r>
            <a:r>
              <a:t> mediaRight </a:t>
            </a:r>
            <a:r>
              <a:rPr>
                <a:solidFill>
                  <a:srgbClr val="C4B7E9"/>
                </a:solidFill>
              </a:rPr>
              <a:t>}</a:t>
            </a:r>
            <a:r>
              <a:t> /</a:t>
            </a:r>
            <a:r>
              <a:rPr>
                <a:solidFill>
                  <a:srgbClr val="C4B7E9"/>
                </a:solidFill>
              </a:rPr>
              <a:t>&gt;</a:t>
            </a:r>
            <a:br>
              <a:rPr sz="3400"/>
            </a:br>
            <a:r>
              <a:t>  </a:t>
            </a:r>
            <a:r>
              <a:rPr>
                <a:solidFill>
                  <a:srgbClr val="C4B7E9"/>
                </a:solidFill>
              </a:rPr>
              <a:t>&lt;</a:t>
            </a:r>
            <a:r>
              <a:t>ColorPalette value</a:t>
            </a:r>
            <a:r>
              <a:rPr>
                <a:solidFill>
                  <a:srgbClr val="C4B7E9"/>
                </a:solidFill>
              </a:rPr>
              <a:t>={</a:t>
            </a:r>
            <a:r>
              <a:t> bgColor </a:t>
            </a:r>
            <a:r>
              <a:rPr>
                <a:solidFill>
                  <a:srgbClr val="C4B7E9"/>
                </a:solidFill>
              </a:rPr>
              <a:t>}</a:t>
            </a:r>
            <a:r>
              <a:t> onChange</a:t>
            </a:r>
            <a:r>
              <a:rPr>
                <a:solidFill>
                  <a:srgbClr val="C4B7E9"/>
                </a:solidFill>
              </a:rPr>
              <a:t>={</a:t>
            </a:r>
            <a:r>
              <a:t> setBg </a:t>
            </a:r>
            <a:r>
              <a:rPr>
                <a:solidFill>
                  <a:srgbClr val="C4B7E9"/>
                </a:solidFill>
              </a:rPr>
              <a:t>}</a:t>
            </a:r>
            <a:r>
              <a:t> /</a:t>
            </a:r>
            <a:r>
              <a:rPr>
                <a:solidFill>
                  <a:srgbClr val="C4B7E9"/>
                </a:solidFill>
              </a:rPr>
              <a:t>&gt;</a:t>
            </a:r>
            <a:br>
              <a:rPr sz="3400"/>
            </a:br>
            <a:r>
              <a:t>  </a:t>
            </a:r>
            <a:r>
              <a:rPr>
                <a:solidFill>
                  <a:srgbClr val="C4B7E9"/>
                </a:solidFill>
              </a:rPr>
              <a:t>&lt;</a:t>
            </a:r>
            <a:r>
              <a:t>RangeControl label</a:t>
            </a:r>
            <a:r>
              <a:rPr>
                <a:solidFill>
                  <a:srgbClr val="C4B7E9"/>
                </a:solidFill>
              </a:rPr>
              <a:t>=</a:t>
            </a:r>
            <a:r>
              <a:rPr>
                <a:solidFill>
                  <a:srgbClr val="FFC3E7"/>
                </a:solidFill>
              </a:rPr>
              <a:t>"Padding"</a:t>
            </a:r>
            <a:r>
              <a:t> value</a:t>
            </a:r>
            <a:r>
              <a:rPr>
                <a:solidFill>
                  <a:srgbClr val="C4B7E9"/>
                </a:solidFill>
              </a:rPr>
              <a:t>={</a:t>
            </a:r>
            <a:r>
              <a:t> padding </a:t>
            </a:r>
            <a:r>
              <a:rPr>
                <a:solidFill>
                  <a:srgbClr val="C4B7E9"/>
                </a:solidFill>
              </a:rPr>
              <a:t>}</a:t>
            </a:r>
            <a:r>
              <a:t> /</a:t>
            </a:r>
            <a:r>
              <a:rPr>
                <a:solidFill>
                  <a:srgbClr val="C4B7E9"/>
                </a:solidFill>
              </a:rPr>
              <a:t>&gt;</a:t>
            </a:r>
            <a:br>
              <a:rPr sz="3400"/>
            </a:br>
            <a:r>
              <a:rPr>
                <a:solidFill>
                  <a:srgbClr val="C4B7E9"/>
                </a:solidFill>
              </a:rPr>
              <a:t>&lt;</a:t>
            </a:r>
            <a:r>
              <a:t>/InspectorControls</a:t>
            </a:r>
            <a:r>
              <a:rPr>
                <a:solidFill>
                  <a:srgbClr val="C4B7E9"/>
                </a:solidFill>
              </a:rPr>
              <a:t>&gt;</a:t>
            </a:r>
            <a:br>
              <a:rPr sz="3400"/>
            </a:br>
            <a:r>
              <a:rPr>
                <a:solidFill>
                  <a:srgbClr val="C4B7E9"/>
                </a:solidFill>
              </a:rPr>
              <a:t>&lt;</a:t>
            </a:r>
            <a:r>
              <a:t>RichText tagName</a:t>
            </a:r>
            <a:r>
              <a:rPr>
                <a:solidFill>
                  <a:srgbClr val="C4B7E9"/>
                </a:solidFill>
              </a:rPr>
              <a:t>={</a:t>
            </a:r>
            <a:r>
              <a:t> level </a:t>
            </a:r>
            <a:r>
              <a:rPr>
                <a:solidFill>
                  <a:srgbClr val="C4B7E9"/>
                </a:solidFill>
              </a:rPr>
              <a:t>}</a:t>
            </a:r>
            <a:r>
              <a:t> value</a:t>
            </a:r>
            <a:r>
              <a:rPr>
                <a:solidFill>
                  <a:srgbClr val="C4B7E9"/>
                </a:solidFill>
              </a:rPr>
              <a:t>={</a:t>
            </a:r>
            <a:r>
              <a:t> heading </a:t>
            </a:r>
            <a:r>
              <a:rPr>
                <a:solidFill>
                  <a:srgbClr val="C4B7E9"/>
                </a:solidFill>
              </a:rPr>
              <a:t>}</a:t>
            </a:r>
            <a:r>
              <a:t> /</a:t>
            </a:r>
            <a:r>
              <a:rPr>
                <a:solidFill>
                  <a:srgbClr val="C4B7E9"/>
                </a:solidFill>
              </a:rPr>
              <a:t>&gt;</a:t>
            </a:r>
            <a:br>
              <a:rPr sz="3400"/>
            </a:br>
            <a:r>
              <a:rPr>
                <a:solidFill>
                  <a:srgbClr val="C4B7E9"/>
                </a:solidFill>
              </a:rPr>
              <a:t>&lt;</a:t>
            </a:r>
            <a:r>
              <a:t>MediaUpload onSelect</a:t>
            </a:r>
            <a:r>
              <a:rPr>
                <a:solidFill>
                  <a:srgbClr val="C4B7E9"/>
                </a:solidFill>
              </a:rPr>
              <a:t>={</a:t>
            </a:r>
            <a:r>
              <a:t> setMedia </a:t>
            </a:r>
            <a:r>
              <a:rPr>
                <a:solidFill>
                  <a:srgbClr val="C4B7E9"/>
                </a:solidFill>
              </a:rPr>
              <a:t>}</a:t>
            </a:r>
            <a:r>
              <a:t> render</a:t>
            </a:r>
            <a:r>
              <a:rPr>
                <a:solidFill>
                  <a:srgbClr val="C4B7E9"/>
                </a:solidFill>
              </a:rPr>
              <a:t>={</a:t>
            </a:r>
            <a:r>
              <a:t> button </a:t>
            </a:r>
            <a:r>
              <a:rPr>
                <a:solidFill>
                  <a:srgbClr val="C4B7E9"/>
                </a:solidFill>
              </a:rPr>
              <a:t>}</a:t>
            </a:r>
            <a:r>
              <a:t> /</a:t>
            </a:r>
            <a:r>
              <a:rPr>
                <a:solidFill>
                  <a:srgbClr val="C4B7E9"/>
                </a:solidFill>
              </a:rPr>
              <a:t>&gt;</a:t>
            </a:r>
            <a:br>
              <a:rPr sz="3400"/>
            </a:br>
          </a:p>
        </p:txBody>
      </p:sp>
      <p:sp>
        <p:nvSpPr>
          <p:cNvPr id="432" name="Every one of these controls already ships with core Media &amp; Text, in core since WordPress 5.0 (2018)."/>
          <p:cNvSpPr txBox="1"/>
          <p:nvPr/>
        </p:nvSpPr>
        <p:spPr>
          <a:xfrm>
            <a:off x="1320800" y="10998199"/>
            <a:ext cx="2159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Every one of these controls already ships with core Media &amp; Text, in core since WordPress 5.0 (2018).</a:t>
            </a:r>
          </a:p>
        </p:txBody>
      </p:sp>
      <p:pic>
        <p:nvPicPr>
          <p:cNvPr id="433" name="stamp-not-quite.png" descr="stamp-not-quite.png"/>
          <p:cNvPicPr>
            <a:picLocks noChangeAspect="1"/>
          </p:cNvPicPr>
          <p:nvPr/>
        </p:nvPicPr>
        <p:blipFill>
          <a:blip r:embed="rId6">
            <a:extLst/>
          </a:blip>
          <a:stretch>
            <a:fillRect/>
          </a:stretch>
        </p:blipFill>
        <p:spPr>
          <a:xfrm>
            <a:off x="17640349" y="3069388"/>
            <a:ext cx="5960535" cy="2235201"/>
          </a:xfrm>
          <a:prstGeom prst="rect">
            <a:avLst/>
          </a:prstGeom>
          <a:ln w="12700">
            <a:miter lim="400000"/>
          </a:ln>
        </p:spPr>
      </p:pic>
      <p:pic>
        <p:nvPicPr>
          <p:cNvPr id="434" name="prog-19.png" descr="prog-19.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3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39" name="React is for"/>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React is for</a:t>
            </a:r>
          </a:p>
        </p:txBody>
      </p:sp>
      <p:sp>
        <p:nvSpPr>
          <p:cNvPr id="440" name="WordPress core developer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a:ea typeface="Instrument Serif"/>
                <a:cs typeface="Instrument Serif"/>
                <a:sym typeface="Instrument Serif"/>
              </a:defRPr>
            </a:lvl1pPr>
          </a:lstStyle>
          <a:p>
            <a:pPr/>
            <a:r>
              <a:t>WordPress core developers</a:t>
            </a:r>
          </a:p>
        </p:txBody>
      </p:sp>
      <p:sp>
        <p:nvSpPr>
          <p:cNvPr id="441" name="The WordPress block editor itself is built with React.js."/>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The WordPress block editor itself is built with React.js.</a:t>
            </a:r>
          </a:p>
        </p:txBody>
      </p:sp>
      <p:sp>
        <p:nvSpPr>
          <p:cNvPr id="442" name="Themes, patterns, styles and theme.json need none of it."/>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Themes, patterns, styles and theme.json need none of it.</a:t>
            </a:r>
          </a:p>
        </p:txBody>
      </p:sp>
      <p:sp>
        <p:nvSpPr>
          <p:cNvPr id="443"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444" name="React only comes in for a custom block, and that's the last resort."/>
          <p:cNvSpPr txBox="1"/>
          <p:nvPr/>
        </p:nvSpPr>
        <p:spPr>
          <a:xfrm>
            <a:off x="1320800" y="90296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React only comes in for a custom block, and that's the last resort.</a:t>
            </a:r>
          </a:p>
        </p:txBody>
      </p:sp>
      <p:pic>
        <p:nvPicPr>
          <p:cNvPr id="445" name="prog-20.png" descr="prog-2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4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50" name="Where your content lives"/>
          <p:cNvSpPr txBox="1"/>
          <p:nvPr/>
        </p:nvSpPr>
        <p:spPr>
          <a:xfrm>
            <a:off x="12192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Where your content </a:t>
            </a:r>
            <a:r>
              <a:rPr i="1" sz="9800">
                <a:solidFill>
                  <a:srgbClr val="6033A6"/>
                </a:solidFill>
                <a:latin typeface="Instrument Serif"/>
                <a:ea typeface="Instrument Serif"/>
                <a:cs typeface="Instrument Serif"/>
                <a:sym typeface="Instrument Serif"/>
              </a:rPr>
              <a:t>lives</a:t>
            </a:r>
          </a:p>
        </p:txBody>
      </p:sp>
      <p:sp>
        <p:nvSpPr>
          <p:cNvPr id="45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452" name="With ACF"/>
          <p:cNvSpPr txBox="1"/>
          <p:nvPr/>
        </p:nvSpPr>
        <p:spPr>
          <a:xfrm>
            <a:off x="1270000" y="5486400"/>
            <a:ext cx="3048000" cy="571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Unbounded SemiBold"/>
                <a:ea typeface="Unbounded SemiBold"/>
                <a:cs typeface="Unbounded SemiBold"/>
                <a:sym typeface="Unbounded SemiBold"/>
              </a:defRPr>
            </a:lvl1pPr>
          </a:lstStyle>
          <a:p>
            <a:pPr/>
            <a:r>
              <a:t>With ACF</a:t>
            </a:r>
          </a:p>
        </p:txBody>
      </p:sp>
      <p:pic>
        <p:nvPicPr>
          <p:cNvPr id="453" name="dg-box.png" descr="dg-box.png"/>
          <p:cNvPicPr>
            <a:picLocks noChangeAspect="1"/>
          </p:cNvPicPr>
          <p:nvPr/>
        </p:nvPicPr>
        <p:blipFill>
          <a:blip r:embed="rId4">
            <a:extLst/>
          </a:blip>
          <a:stretch>
            <a:fillRect/>
          </a:stretch>
        </p:blipFill>
        <p:spPr>
          <a:xfrm>
            <a:off x="4622800" y="4914900"/>
            <a:ext cx="4191000" cy="2159000"/>
          </a:xfrm>
          <a:prstGeom prst="rect">
            <a:avLst/>
          </a:prstGeom>
          <a:ln w="12700">
            <a:miter lim="400000"/>
          </a:ln>
        </p:spPr>
      </p:pic>
      <p:sp>
        <p:nvSpPr>
          <p:cNvPr id="454" name="DATABASE + acf-json/"/>
          <p:cNvSpPr txBox="1"/>
          <p:nvPr/>
        </p:nvSpPr>
        <p:spPr>
          <a:xfrm>
            <a:off x="48514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a:ea typeface="Geist Mono"/>
                <a:cs typeface="Geist Mono"/>
                <a:sym typeface="Geist Mono"/>
              </a:defRPr>
            </a:lvl1pPr>
          </a:lstStyle>
          <a:p>
            <a:pPr/>
            <a:r>
              <a:t>DATABASE + acf-json/</a:t>
            </a:r>
          </a:p>
        </p:txBody>
      </p:sp>
      <p:sp>
        <p:nvSpPr>
          <p:cNvPr id="455" name="Field groups"/>
          <p:cNvSpPr txBox="1"/>
          <p:nvPr/>
        </p:nvSpPr>
        <p:spPr>
          <a:xfrm>
            <a:off x="48514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SemiBold"/>
                <a:ea typeface="Unbounded SemiBold"/>
                <a:cs typeface="Unbounded SemiBold"/>
                <a:sym typeface="Unbounded SemiBold"/>
              </a:defRPr>
            </a:lvl1pPr>
          </a:lstStyle>
          <a:p>
            <a:pPr/>
            <a:r>
              <a:t>Field groups</a:t>
            </a:r>
          </a:p>
        </p:txBody>
      </p:sp>
      <p:sp>
        <p:nvSpPr>
          <p:cNvPr id="456" name="Set up by hand in the admin"/>
          <p:cNvSpPr txBox="1"/>
          <p:nvPr/>
        </p:nvSpPr>
        <p:spPr>
          <a:xfrm>
            <a:off x="48514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a:ea typeface="Geist"/>
                <a:cs typeface="Geist"/>
                <a:sym typeface="Geist"/>
              </a:defRPr>
            </a:lvl1pPr>
          </a:lstStyle>
          <a:p>
            <a:pPr/>
            <a:r>
              <a:t>Set up by hand in the admin</a:t>
            </a:r>
          </a:p>
        </p:txBody>
      </p:sp>
      <p:sp>
        <p:nvSpPr>
          <p:cNvPr id="457" name="→"/>
          <p:cNvSpPr txBox="1"/>
          <p:nvPr/>
        </p:nvSpPr>
        <p:spPr>
          <a:xfrm>
            <a:off x="88138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a:ea typeface="Geist"/>
                <a:cs typeface="Geist"/>
                <a:sym typeface="Geist"/>
              </a:defRPr>
            </a:lvl1pPr>
          </a:lstStyle>
          <a:p>
            <a:pPr/>
            <a:r>
              <a:t>→</a:t>
            </a:r>
          </a:p>
        </p:txBody>
      </p:sp>
      <p:pic>
        <p:nvPicPr>
          <p:cNvPr id="458" name="dg-box.png" descr="dg-box.png"/>
          <p:cNvPicPr>
            <a:picLocks noChangeAspect="1"/>
          </p:cNvPicPr>
          <p:nvPr/>
        </p:nvPicPr>
        <p:blipFill>
          <a:blip r:embed="rId4">
            <a:extLst/>
          </a:blip>
          <a:stretch>
            <a:fillRect/>
          </a:stretch>
        </p:blipFill>
        <p:spPr>
          <a:xfrm>
            <a:off x="9372600" y="4914900"/>
            <a:ext cx="4191000" cy="2159000"/>
          </a:xfrm>
          <a:prstGeom prst="rect">
            <a:avLst/>
          </a:prstGeom>
          <a:ln w="12700">
            <a:miter lim="400000"/>
          </a:ln>
        </p:spPr>
      </p:pic>
      <p:sp>
        <p:nvSpPr>
          <p:cNvPr id="459" name="PLUGIN"/>
          <p:cNvSpPr txBox="1"/>
          <p:nvPr/>
        </p:nvSpPr>
        <p:spPr>
          <a:xfrm>
            <a:off x="96012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a:ea typeface="Geist Mono"/>
                <a:cs typeface="Geist Mono"/>
                <a:sym typeface="Geist Mono"/>
              </a:defRPr>
            </a:lvl1pPr>
          </a:lstStyle>
          <a:p>
            <a:pPr/>
            <a:r>
              <a:t>PLUGIN</a:t>
            </a:r>
          </a:p>
        </p:txBody>
      </p:sp>
      <p:sp>
        <p:nvSpPr>
          <p:cNvPr id="460" name="ACF"/>
          <p:cNvSpPr txBox="1"/>
          <p:nvPr/>
        </p:nvSpPr>
        <p:spPr>
          <a:xfrm>
            <a:off x="96012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SemiBold"/>
                <a:ea typeface="Unbounded SemiBold"/>
                <a:cs typeface="Unbounded SemiBold"/>
                <a:sym typeface="Unbounded SemiBold"/>
              </a:defRPr>
            </a:lvl1pPr>
          </a:lstStyle>
          <a:p>
            <a:pPr/>
            <a:r>
              <a:t>ACF</a:t>
            </a:r>
          </a:p>
        </p:txBody>
      </p:sp>
      <p:sp>
        <p:nvSpPr>
          <p:cNvPr id="461" name="Reads the groups, draws the forms"/>
          <p:cNvSpPr txBox="1"/>
          <p:nvPr/>
        </p:nvSpPr>
        <p:spPr>
          <a:xfrm>
            <a:off x="96012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a:ea typeface="Geist"/>
                <a:cs typeface="Geist"/>
                <a:sym typeface="Geist"/>
              </a:defRPr>
            </a:lvl1pPr>
          </a:lstStyle>
          <a:p>
            <a:pPr/>
            <a:r>
              <a:t>Reads the groups, draws the forms</a:t>
            </a:r>
          </a:p>
        </p:txBody>
      </p:sp>
      <p:sp>
        <p:nvSpPr>
          <p:cNvPr id="462" name="→"/>
          <p:cNvSpPr txBox="1"/>
          <p:nvPr/>
        </p:nvSpPr>
        <p:spPr>
          <a:xfrm>
            <a:off x="135636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a:ea typeface="Geist"/>
                <a:cs typeface="Geist"/>
                <a:sym typeface="Geist"/>
              </a:defRPr>
            </a:lvl1pPr>
          </a:lstStyle>
          <a:p>
            <a:pPr/>
            <a:r>
              <a:t>→</a:t>
            </a:r>
          </a:p>
        </p:txBody>
      </p:sp>
      <p:pic>
        <p:nvPicPr>
          <p:cNvPr id="463" name="dg-box.png" descr="dg-box.png"/>
          <p:cNvPicPr>
            <a:picLocks noChangeAspect="1"/>
          </p:cNvPicPr>
          <p:nvPr/>
        </p:nvPicPr>
        <p:blipFill>
          <a:blip r:embed="rId4">
            <a:extLst/>
          </a:blip>
          <a:stretch>
            <a:fillRect/>
          </a:stretch>
        </p:blipFill>
        <p:spPr>
          <a:xfrm>
            <a:off x="14122400" y="4914900"/>
            <a:ext cx="4191000" cy="2159000"/>
          </a:xfrm>
          <a:prstGeom prst="rect">
            <a:avLst/>
          </a:prstGeom>
          <a:ln w="12700">
            <a:miter lim="400000"/>
          </a:ln>
        </p:spPr>
      </p:pic>
      <p:sp>
        <p:nvSpPr>
          <p:cNvPr id="464" name="THEME"/>
          <p:cNvSpPr txBox="1"/>
          <p:nvPr/>
        </p:nvSpPr>
        <p:spPr>
          <a:xfrm>
            <a:off x="143510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a:ea typeface="Geist Mono"/>
                <a:cs typeface="Geist Mono"/>
                <a:sym typeface="Geist Mono"/>
              </a:defRPr>
            </a:lvl1pPr>
          </a:lstStyle>
          <a:p>
            <a:pPr/>
            <a:r>
              <a:t>THEME</a:t>
            </a:r>
          </a:p>
        </p:txBody>
      </p:sp>
      <p:sp>
        <p:nvSpPr>
          <p:cNvPr id="465" name="PHP templates"/>
          <p:cNvSpPr txBox="1"/>
          <p:nvPr/>
        </p:nvSpPr>
        <p:spPr>
          <a:xfrm>
            <a:off x="143510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SemiBold"/>
                <a:ea typeface="Unbounded SemiBold"/>
                <a:cs typeface="Unbounded SemiBold"/>
                <a:sym typeface="Unbounded SemiBold"/>
              </a:defRPr>
            </a:lvl1pPr>
          </a:lstStyle>
          <a:p>
            <a:pPr/>
            <a:r>
              <a:t>PHP templates</a:t>
            </a:r>
          </a:p>
        </p:txBody>
      </p:sp>
      <p:sp>
        <p:nvSpPr>
          <p:cNvPr id="466" name="Print each field with get_field()"/>
          <p:cNvSpPr txBox="1"/>
          <p:nvPr/>
        </p:nvSpPr>
        <p:spPr>
          <a:xfrm>
            <a:off x="14351000" y="6172199"/>
            <a:ext cx="3683000" cy="78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a:ea typeface="Geist"/>
                <a:cs typeface="Geist"/>
                <a:sym typeface="Geist"/>
              </a:defRPr>
            </a:pPr>
            <a:r>
              <a:t>Print each field with </a:t>
            </a:r>
            <a:r>
              <a:rPr sz="2100">
                <a:solidFill>
                  <a:srgbClr val="6033A6"/>
                </a:solidFill>
                <a:latin typeface="Geist Mono"/>
                <a:ea typeface="Geist Mono"/>
                <a:cs typeface="Geist Mono"/>
                <a:sym typeface="Geist Mono"/>
              </a:rPr>
              <a:t>get_field()</a:t>
            </a:r>
          </a:p>
        </p:txBody>
      </p:sp>
      <p:sp>
        <p:nvSpPr>
          <p:cNvPr id="467" name="→"/>
          <p:cNvSpPr txBox="1"/>
          <p:nvPr/>
        </p:nvSpPr>
        <p:spPr>
          <a:xfrm>
            <a:off x="183134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a:ea typeface="Geist"/>
                <a:cs typeface="Geist"/>
                <a:sym typeface="Geist"/>
              </a:defRPr>
            </a:lvl1pPr>
          </a:lstStyle>
          <a:p>
            <a:pPr/>
            <a:r>
              <a:t>→</a:t>
            </a:r>
          </a:p>
        </p:txBody>
      </p:sp>
      <p:pic>
        <p:nvPicPr>
          <p:cNvPr id="468" name="dg-box.png" descr="dg-box.png"/>
          <p:cNvPicPr>
            <a:picLocks noChangeAspect="1"/>
          </p:cNvPicPr>
          <p:nvPr/>
        </p:nvPicPr>
        <p:blipFill>
          <a:blip r:embed="rId4">
            <a:extLst/>
          </a:blip>
          <a:stretch>
            <a:fillRect/>
          </a:stretch>
        </p:blipFill>
        <p:spPr>
          <a:xfrm>
            <a:off x="18872200" y="4914900"/>
            <a:ext cx="4191000" cy="2159000"/>
          </a:xfrm>
          <a:prstGeom prst="rect">
            <a:avLst/>
          </a:prstGeom>
          <a:ln w="12700">
            <a:miter lim="400000"/>
          </a:ln>
        </p:spPr>
      </p:pic>
      <p:sp>
        <p:nvSpPr>
          <p:cNvPr id="469" name="DATABASE"/>
          <p:cNvSpPr txBox="1"/>
          <p:nvPr/>
        </p:nvSpPr>
        <p:spPr>
          <a:xfrm>
            <a:off x="191008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a:ea typeface="Geist Mono"/>
                <a:cs typeface="Geist Mono"/>
                <a:sym typeface="Geist Mono"/>
              </a:defRPr>
            </a:lvl1pPr>
          </a:lstStyle>
          <a:p>
            <a:pPr/>
            <a:r>
              <a:t>DATABASE</a:t>
            </a:r>
          </a:p>
        </p:txBody>
      </p:sp>
      <p:sp>
        <p:nvSpPr>
          <p:cNvPr id="470" name="Field values"/>
          <p:cNvSpPr txBox="1"/>
          <p:nvPr/>
        </p:nvSpPr>
        <p:spPr>
          <a:xfrm>
            <a:off x="191008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SemiBold"/>
                <a:ea typeface="Unbounded SemiBold"/>
                <a:cs typeface="Unbounded SemiBold"/>
                <a:sym typeface="Unbounded SemiBold"/>
              </a:defRPr>
            </a:lvl1pPr>
          </a:lstStyle>
          <a:p>
            <a:pPr/>
            <a:r>
              <a:t>Field values</a:t>
            </a:r>
          </a:p>
        </p:txBody>
      </p:sp>
      <p:sp>
        <p:nvSpPr>
          <p:cNvPr id="471" name="One wp_postmeta row per field"/>
          <p:cNvSpPr txBox="1"/>
          <p:nvPr/>
        </p:nvSpPr>
        <p:spPr>
          <a:xfrm>
            <a:off x="191008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a:ea typeface="Geist"/>
                <a:cs typeface="Geist"/>
                <a:sym typeface="Geist"/>
              </a:defRPr>
            </a:pPr>
            <a:r>
              <a:t>One </a:t>
            </a:r>
            <a:r>
              <a:rPr sz="2100">
                <a:solidFill>
                  <a:srgbClr val="6033A6"/>
                </a:solidFill>
                <a:latin typeface="Geist Mono"/>
                <a:ea typeface="Geist Mono"/>
                <a:cs typeface="Geist Mono"/>
                <a:sym typeface="Geist Mono"/>
              </a:rPr>
              <a:t>wp_postmeta</a:t>
            </a:r>
            <a:r>
              <a:t> row per field</a:t>
            </a:r>
          </a:p>
        </p:txBody>
      </p:sp>
      <p:sp>
        <p:nvSpPr>
          <p:cNvPr id="472" name="With core blocks"/>
          <p:cNvSpPr txBox="1"/>
          <p:nvPr/>
        </p:nvSpPr>
        <p:spPr>
          <a:xfrm>
            <a:off x="1270000" y="8432800"/>
            <a:ext cx="3048000" cy="99441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Unbounded SemiBold"/>
                <a:ea typeface="Unbounded SemiBold"/>
                <a:cs typeface="Unbounded SemiBold"/>
                <a:sym typeface="Unbounded SemiBold"/>
              </a:defRPr>
            </a:lvl1pPr>
          </a:lstStyle>
          <a:p>
            <a:pPr/>
            <a:r>
              <a:t>With core blocks</a:t>
            </a:r>
          </a:p>
        </p:txBody>
      </p:sp>
      <p:pic>
        <p:nvPicPr>
          <p:cNvPr id="473" name="dg-box.png" descr="dg-box.png"/>
          <p:cNvPicPr>
            <a:picLocks noChangeAspect="1"/>
          </p:cNvPicPr>
          <p:nvPr/>
        </p:nvPicPr>
        <p:blipFill>
          <a:blip r:embed="rId4">
            <a:extLst/>
          </a:blip>
          <a:stretch>
            <a:fillRect/>
          </a:stretch>
        </p:blipFill>
        <p:spPr>
          <a:xfrm>
            <a:off x="4622800" y="7861300"/>
            <a:ext cx="4191000" cy="2159000"/>
          </a:xfrm>
          <a:prstGeom prst="rect">
            <a:avLst/>
          </a:prstGeom>
          <a:ln w="12700">
            <a:miter lim="400000"/>
          </a:ln>
        </p:spPr>
      </p:pic>
      <p:sp>
        <p:nvSpPr>
          <p:cNvPr id="474" name="WORDPRESS CORE"/>
          <p:cNvSpPr txBox="1"/>
          <p:nvPr/>
        </p:nvSpPr>
        <p:spPr>
          <a:xfrm>
            <a:off x="48514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a:ea typeface="Geist Mono"/>
                <a:cs typeface="Geist Mono"/>
                <a:sym typeface="Geist Mono"/>
              </a:defRPr>
            </a:lvl1pPr>
          </a:lstStyle>
          <a:p>
            <a:pPr/>
            <a:r>
              <a:t>WORDPRESS CORE</a:t>
            </a:r>
          </a:p>
        </p:txBody>
      </p:sp>
      <p:sp>
        <p:nvSpPr>
          <p:cNvPr id="475" name="Blocks"/>
          <p:cNvSpPr txBox="1"/>
          <p:nvPr/>
        </p:nvSpPr>
        <p:spPr>
          <a:xfrm>
            <a:off x="48514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SemiBold"/>
                <a:ea typeface="Unbounded SemiBold"/>
                <a:cs typeface="Unbounded SemiBold"/>
                <a:sym typeface="Unbounded SemiBold"/>
              </a:defRPr>
            </a:lvl1pPr>
          </a:lstStyle>
          <a:p>
            <a:pPr/>
            <a:r>
              <a:t>Blocks</a:t>
            </a:r>
          </a:p>
        </p:txBody>
      </p:sp>
      <p:sp>
        <p:nvSpPr>
          <p:cNvPr id="476" name="The options come with the block"/>
          <p:cNvSpPr txBox="1"/>
          <p:nvPr/>
        </p:nvSpPr>
        <p:spPr>
          <a:xfrm>
            <a:off x="48514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a:ea typeface="Geist"/>
                <a:cs typeface="Geist"/>
                <a:sym typeface="Geist"/>
              </a:defRPr>
            </a:lvl1pPr>
          </a:lstStyle>
          <a:p>
            <a:pPr/>
            <a:r>
              <a:t>The options come with the block</a:t>
            </a:r>
          </a:p>
        </p:txBody>
      </p:sp>
      <p:sp>
        <p:nvSpPr>
          <p:cNvPr id="477" name="→"/>
          <p:cNvSpPr txBox="1"/>
          <p:nvPr/>
        </p:nvSpPr>
        <p:spPr>
          <a:xfrm>
            <a:off x="88138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a:ea typeface="Geist"/>
                <a:cs typeface="Geist"/>
                <a:sym typeface="Geist"/>
              </a:defRPr>
            </a:lvl1pPr>
          </a:lstStyle>
          <a:p>
            <a:pPr/>
            <a:r>
              <a:t>→</a:t>
            </a:r>
          </a:p>
        </p:txBody>
      </p:sp>
      <p:pic>
        <p:nvPicPr>
          <p:cNvPr id="478" name="dg-box-ghost.png" descr="dg-box-ghost.png"/>
          <p:cNvPicPr>
            <a:picLocks noChangeAspect="1"/>
          </p:cNvPicPr>
          <p:nvPr/>
        </p:nvPicPr>
        <p:blipFill>
          <a:blip r:embed="rId5">
            <a:extLst/>
          </a:blip>
          <a:stretch>
            <a:fillRect/>
          </a:stretch>
        </p:blipFill>
        <p:spPr>
          <a:xfrm>
            <a:off x="9372600" y="7861300"/>
            <a:ext cx="4191000" cy="2159000"/>
          </a:xfrm>
          <a:prstGeom prst="rect">
            <a:avLst/>
          </a:prstGeom>
          <a:ln w="12700">
            <a:miter lim="400000"/>
          </a:ln>
        </p:spPr>
      </p:pic>
      <p:sp>
        <p:nvSpPr>
          <p:cNvPr id="479" name="No plugin"/>
          <p:cNvSpPr txBox="1"/>
          <p:nvPr/>
        </p:nvSpPr>
        <p:spPr>
          <a:xfrm>
            <a:off x="96012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5D5377"/>
                </a:solidFill>
                <a:latin typeface="Unbounded SemiBold"/>
                <a:ea typeface="Unbounded SemiBold"/>
                <a:cs typeface="Unbounded SemiBold"/>
                <a:sym typeface="Unbounded SemiBold"/>
              </a:defRPr>
            </a:lvl1pPr>
          </a:lstStyle>
          <a:p>
            <a:pPr/>
            <a:r>
              <a:t>No plugin</a:t>
            </a:r>
          </a:p>
        </p:txBody>
      </p:sp>
      <p:sp>
        <p:nvSpPr>
          <p:cNvPr id="480" name="Nothing to install or update"/>
          <p:cNvSpPr txBox="1"/>
          <p:nvPr/>
        </p:nvSpPr>
        <p:spPr>
          <a:xfrm>
            <a:off x="96012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5D5377"/>
                </a:solidFill>
                <a:latin typeface="Geist"/>
                <a:ea typeface="Geist"/>
                <a:cs typeface="Geist"/>
                <a:sym typeface="Geist"/>
              </a:defRPr>
            </a:lvl1pPr>
          </a:lstStyle>
          <a:p>
            <a:pPr/>
            <a:r>
              <a:t>Nothing to install or update</a:t>
            </a:r>
          </a:p>
        </p:txBody>
      </p:sp>
      <p:sp>
        <p:nvSpPr>
          <p:cNvPr id="481" name="→"/>
          <p:cNvSpPr txBox="1"/>
          <p:nvPr/>
        </p:nvSpPr>
        <p:spPr>
          <a:xfrm>
            <a:off x="135636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a:ea typeface="Geist"/>
                <a:cs typeface="Geist"/>
                <a:sym typeface="Geist"/>
              </a:defRPr>
            </a:lvl1pPr>
          </a:lstStyle>
          <a:p>
            <a:pPr/>
            <a:r>
              <a:t>→</a:t>
            </a:r>
          </a:p>
        </p:txBody>
      </p:sp>
      <p:pic>
        <p:nvPicPr>
          <p:cNvPr id="482" name="dg-box.png" descr="dg-box.png"/>
          <p:cNvPicPr>
            <a:picLocks noChangeAspect="1"/>
          </p:cNvPicPr>
          <p:nvPr/>
        </p:nvPicPr>
        <p:blipFill>
          <a:blip r:embed="rId4">
            <a:extLst/>
          </a:blip>
          <a:stretch>
            <a:fillRect/>
          </a:stretch>
        </p:blipFill>
        <p:spPr>
          <a:xfrm>
            <a:off x="14122400" y="7861300"/>
            <a:ext cx="4191000" cy="2159000"/>
          </a:xfrm>
          <a:prstGeom prst="rect">
            <a:avLst/>
          </a:prstGeom>
          <a:ln w="12700">
            <a:miter lim="400000"/>
          </a:ln>
        </p:spPr>
      </p:pic>
      <p:sp>
        <p:nvSpPr>
          <p:cNvPr id="483" name="THEME"/>
          <p:cNvSpPr txBox="1"/>
          <p:nvPr/>
        </p:nvSpPr>
        <p:spPr>
          <a:xfrm>
            <a:off x="143510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a:ea typeface="Geist Mono"/>
                <a:cs typeface="Geist Mono"/>
                <a:sym typeface="Geist Mono"/>
              </a:defRPr>
            </a:lvl1pPr>
          </a:lstStyle>
          <a:p>
            <a:pPr/>
            <a:r>
              <a:t>THEME</a:t>
            </a:r>
          </a:p>
        </p:txBody>
      </p:sp>
      <p:sp>
        <p:nvSpPr>
          <p:cNvPr id="484" name="theme.json"/>
          <p:cNvSpPr txBox="1"/>
          <p:nvPr/>
        </p:nvSpPr>
        <p:spPr>
          <a:xfrm>
            <a:off x="14351000" y="8509000"/>
            <a:ext cx="3683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6033A6"/>
                </a:solidFill>
                <a:latin typeface="Geist Mono"/>
                <a:ea typeface="Geist Mono"/>
                <a:cs typeface="Geist Mono"/>
                <a:sym typeface="Geist Mono"/>
              </a:defRPr>
            </a:lvl1pPr>
          </a:lstStyle>
          <a:p>
            <a:pPr>
              <a:defRPr sz="2800">
                <a:solidFill>
                  <a:srgbClr val="220D44"/>
                </a:solidFill>
                <a:latin typeface="Unbounded SemiBold"/>
                <a:ea typeface="Unbounded SemiBold"/>
                <a:cs typeface="Unbounded SemiBold"/>
                <a:sym typeface="Unbounded SemiBold"/>
              </a:defRPr>
            </a:pPr>
            <a:r>
              <a:rPr sz="2600">
                <a:solidFill>
                  <a:srgbClr val="6033A6"/>
                </a:solidFill>
                <a:latin typeface="Geist Mono"/>
                <a:ea typeface="Geist Mono"/>
                <a:cs typeface="Geist Mono"/>
                <a:sym typeface="Geist Mono"/>
              </a:rPr>
              <a:t>theme.json</a:t>
            </a:r>
          </a:p>
        </p:txBody>
      </p:sp>
      <p:sp>
        <p:nvSpPr>
          <p:cNvPr id="485" name="Colours, sizes, spacing, styles"/>
          <p:cNvSpPr txBox="1"/>
          <p:nvPr/>
        </p:nvSpPr>
        <p:spPr>
          <a:xfrm>
            <a:off x="143510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a:ea typeface="Geist"/>
                <a:cs typeface="Geist"/>
                <a:sym typeface="Geist"/>
              </a:defRPr>
            </a:lvl1pPr>
          </a:lstStyle>
          <a:p>
            <a:pPr/>
            <a:r>
              <a:t>Colours, sizes, spacing, styles</a:t>
            </a:r>
          </a:p>
        </p:txBody>
      </p:sp>
      <p:sp>
        <p:nvSpPr>
          <p:cNvPr id="486" name="→"/>
          <p:cNvSpPr txBox="1"/>
          <p:nvPr/>
        </p:nvSpPr>
        <p:spPr>
          <a:xfrm>
            <a:off x="183134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a:ea typeface="Geist"/>
                <a:cs typeface="Geist"/>
                <a:sym typeface="Geist"/>
              </a:defRPr>
            </a:lvl1pPr>
          </a:lstStyle>
          <a:p>
            <a:pPr/>
            <a:r>
              <a:t>→</a:t>
            </a:r>
          </a:p>
        </p:txBody>
      </p:sp>
      <p:pic>
        <p:nvPicPr>
          <p:cNvPr id="487" name="dg-box.png" descr="dg-box.png"/>
          <p:cNvPicPr>
            <a:picLocks noChangeAspect="1"/>
          </p:cNvPicPr>
          <p:nvPr/>
        </p:nvPicPr>
        <p:blipFill>
          <a:blip r:embed="rId4">
            <a:extLst/>
          </a:blip>
          <a:stretch>
            <a:fillRect/>
          </a:stretch>
        </p:blipFill>
        <p:spPr>
          <a:xfrm>
            <a:off x="18872200" y="7861300"/>
            <a:ext cx="4191000" cy="2159000"/>
          </a:xfrm>
          <a:prstGeom prst="rect">
            <a:avLst/>
          </a:prstGeom>
          <a:ln w="12700">
            <a:miter lim="400000"/>
          </a:ln>
        </p:spPr>
      </p:pic>
      <p:sp>
        <p:nvSpPr>
          <p:cNvPr id="488" name="DATABASE"/>
          <p:cNvSpPr txBox="1"/>
          <p:nvPr/>
        </p:nvSpPr>
        <p:spPr>
          <a:xfrm>
            <a:off x="191008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a:ea typeface="Geist Mono"/>
                <a:cs typeface="Geist Mono"/>
                <a:sym typeface="Geist Mono"/>
              </a:defRPr>
            </a:lvl1pPr>
          </a:lstStyle>
          <a:p>
            <a:pPr/>
            <a:r>
              <a:t>DATABASE</a:t>
            </a:r>
          </a:p>
        </p:txBody>
      </p:sp>
      <p:sp>
        <p:nvSpPr>
          <p:cNvPr id="489" name="Content"/>
          <p:cNvSpPr txBox="1"/>
          <p:nvPr/>
        </p:nvSpPr>
        <p:spPr>
          <a:xfrm>
            <a:off x="191008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SemiBold"/>
                <a:ea typeface="Unbounded SemiBold"/>
                <a:cs typeface="Unbounded SemiBold"/>
                <a:sym typeface="Unbounded SemiBold"/>
              </a:defRPr>
            </a:lvl1pPr>
          </a:lstStyle>
          <a:p>
            <a:pPr/>
            <a:r>
              <a:t>Content</a:t>
            </a:r>
          </a:p>
        </p:txBody>
      </p:sp>
      <p:sp>
        <p:nvSpPr>
          <p:cNvPr id="490" name="Block markup in post_content"/>
          <p:cNvSpPr txBox="1"/>
          <p:nvPr/>
        </p:nvSpPr>
        <p:spPr>
          <a:xfrm>
            <a:off x="19100800" y="9118599"/>
            <a:ext cx="3683000" cy="78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a:ea typeface="Geist"/>
                <a:cs typeface="Geist"/>
                <a:sym typeface="Geist"/>
              </a:defRPr>
            </a:pPr>
            <a:r>
              <a:t>Block markup in </a:t>
            </a:r>
            <a:r>
              <a:rPr sz="2100">
                <a:solidFill>
                  <a:srgbClr val="6033A6"/>
                </a:solidFill>
                <a:latin typeface="Geist Mono"/>
                <a:ea typeface="Geist Mono"/>
                <a:cs typeface="Geist Mono"/>
                <a:sym typeface="Geist Mono"/>
              </a:rPr>
              <a:t>post_content</a:t>
            </a:r>
          </a:p>
        </p:txBody>
      </p:sp>
      <p:pic>
        <p:nvPicPr>
          <p:cNvPr id="491" name="prog-21.png" descr="prog-21.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9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96" name="True dependency-free WordPress"/>
          <p:cNvSpPr txBox="1"/>
          <p:nvPr/>
        </p:nvSpPr>
        <p:spPr>
          <a:xfrm>
            <a:off x="1308100" y="3276862"/>
            <a:ext cx="22707600" cy="28765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True dependency-free WordPress</a:t>
            </a:r>
          </a:p>
        </p:txBody>
      </p:sp>
      <p:sp>
        <p:nvSpPr>
          <p:cNvPr id="497" name="is the core way"/>
          <p:cNvSpPr txBox="1"/>
          <p:nvPr/>
        </p:nvSpPr>
        <p:spPr>
          <a:xfrm>
            <a:off x="1308100" y="5714217"/>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a:ea typeface="Instrument Serif"/>
                <a:cs typeface="Instrument Serif"/>
                <a:sym typeface="Instrument Serif"/>
              </a:defRPr>
            </a:lvl1pPr>
          </a:lstStyle>
          <a:p>
            <a:pPr/>
            <a:r>
              <a:t>is the core way</a:t>
            </a:r>
          </a:p>
        </p:txBody>
      </p:sp>
      <p:sp>
        <p:nvSpPr>
          <p:cNvPr id="498" name="The WordPress block editor (also called simply the block editor,"/>
          <p:cNvSpPr txBox="1"/>
          <p:nvPr/>
        </p:nvSpPr>
        <p:spPr>
          <a:xfrm>
            <a:off x="1320800" y="787321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The WordPress block editor (also called simply the block editor,</a:t>
            </a:r>
          </a:p>
        </p:txBody>
      </p:sp>
      <p:sp>
        <p:nvSpPr>
          <p:cNvPr id="499" name="WordPress editor or Gutenberg editor) as the content management system,"/>
          <p:cNvSpPr txBox="1"/>
          <p:nvPr/>
        </p:nvSpPr>
        <p:spPr>
          <a:xfrm>
            <a:off x="1320800" y="853361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WordPress editor or Gutenberg editor) as the content management system,</a:t>
            </a:r>
          </a:p>
        </p:txBody>
      </p:sp>
      <p:sp>
        <p:nvSpPr>
          <p:cNvPr id="5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501" name="with no plugin that the content depends on."/>
          <p:cNvSpPr txBox="1"/>
          <p:nvPr/>
        </p:nvSpPr>
        <p:spPr>
          <a:xfrm>
            <a:off x="1320800" y="917496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with no plugin that the content depends on.</a:t>
            </a:r>
          </a:p>
        </p:txBody>
      </p:sp>
      <p:pic>
        <p:nvPicPr>
          <p:cNvPr id="502" name="prog-22.png" descr="prog-22.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0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0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508" name="Three ways to build a sovereign theme"/>
          <p:cNvSpPr txBox="1"/>
          <p:nvPr/>
        </p:nvSpPr>
        <p:spPr>
          <a:xfrm>
            <a:off x="1308100" y="14350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Three ways to </a:t>
            </a:r>
            <a:r>
              <a:rPr i="1" sz="9800">
                <a:solidFill>
                  <a:srgbClr val="6033A6"/>
                </a:solidFill>
                <a:latin typeface="Instrument Serif"/>
                <a:ea typeface="Instrument Serif"/>
                <a:cs typeface="Instrument Serif"/>
                <a:sym typeface="Instrument Serif"/>
              </a:rPr>
              <a:t>build a sovereign theme</a:t>
            </a:r>
          </a:p>
        </p:txBody>
      </p:sp>
      <p:sp>
        <p:nvSpPr>
          <p:cNvPr id="509" name="Traditional"/>
          <p:cNvSpPr txBox="1"/>
          <p:nvPr/>
        </p:nvSpPr>
        <p:spPr>
          <a:xfrm>
            <a:off x="13462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Traditional</a:t>
            </a:r>
          </a:p>
        </p:txBody>
      </p:sp>
      <p:sp>
        <p:nvSpPr>
          <p:cNvPr id="510" name="Underscores, 2012. PHP templates and the template hierarchy."/>
          <p:cNvSpPr txBox="1"/>
          <p:nvPr/>
        </p:nvSpPr>
        <p:spPr>
          <a:xfrm>
            <a:off x="13716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a:ea typeface="Geist"/>
                <a:cs typeface="Geist"/>
                <a:sym typeface="Geist"/>
              </a:defRPr>
            </a:lvl1pPr>
          </a:lstStyle>
          <a:p>
            <a:pPr/>
            <a:r>
              <a:t>Underscores, 2012. PHP templates and the template hierarchy.</a:t>
            </a:r>
          </a:p>
        </p:txBody>
      </p:sp>
      <p:sp>
        <p:nvSpPr>
          <p:cNvPr id="511" name="Innovative"/>
          <p:cNvSpPr txBox="1"/>
          <p:nvPr/>
        </p:nvSpPr>
        <p:spPr>
          <a:xfrm>
            <a:off x="87630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Innovative</a:t>
            </a:r>
          </a:p>
        </p:txBody>
      </p:sp>
      <p:sp>
        <p:nvSpPr>
          <p:cNvPr id="512" name="Sage by Roots. Blade, Composer and a build step on top of WordPress."/>
          <p:cNvSpPr txBox="1"/>
          <p:nvPr/>
        </p:nvSpPr>
        <p:spPr>
          <a:xfrm>
            <a:off x="87884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a:ea typeface="Geist"/>
                <a:cs typeface="Geist"/>
                <a:sym typeface="Geist"/>
              </a:defRPr>
            </a:lvl1pPr>
          </a:lstStyle>
          <a:p>
            <a:pPr/>
            <a:r>
              <a:t>Sage by Roots. Blade, Composer and a build step on top of WordPress.</a:t>
            </a:r>
          </a:p>
        </p:txBody>
      </p:sp>
      <p:sp>
        <p:nvSpPr>
          <p:cNvPr id="513" name="Modern"/>
          <p:cNvSpPr txBox="1"/>
          <p:nvPr/>
        </p:nvSpPr>
        <p:spPr>
          <a:xfrm>
            <a:off x="161798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Modern</a:t>
            </a:r>
          </a:p>
        </p:txBody>
      </p:sp>
      <p:sp>
        <p:nvSpPr>
          <p:cNvPr id="514" name="Block theme, WordPress 5.9. HTML templates and theme.json."/>
          <p:cNvSpPr txBox="1"/>
          <p:nvPr/>
        </p:nvSpPr>
        <p:spPr>
          <a:xfrm>
            <a:off x="162052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5D4E61"/>
                </a:solidFill>
                <a:latin typeface="Geist"/>
                <a:ea typeface="Geist"/>
                <a:cs typeface="Geist"/>
                <a:sym typeface="Geist"/>
              </a:defRPr>
            </a:pPr>
            <a:r>
              <a:t>Block theme, WordPress 5.9. HTML templates and </a:t>
            </a:r>
            <a:r>
              <a:rPr sz="2300">
                <a:solidFill>
                  <a:srgbClr val="6033A6"/>
                </a:solidFill>
                <a:latin typeface="Geist Mono"/>
                <a:ea typeface="Geist Mono"/>
                <a:cs typeface="Geist Mono"/>
                <a:sym typeface="Geist Mono"/>
              </a:rPr>
              <a:t>theme.json</a:t>
            </a:r>
            <a:r>
              <a:t>.</a:t>
            </a:r>
          </a:p>
        </p:txBody>
      </p:sp>
      <p:pic>
        <p:nvPicPr>
          <p:cNvPr id="515" name="tree-panel.png" descr="tree-panel.png"/>
          <p:cNvPicPr>
            <a:picLocks noChangeAspect="1"/>
          </p:cNvPicPr>
          <p:nvPr/>
        </p:nvPicPr>
        <p:blipFill>
          <a:blip r:embed="rId4">
            <a:extLst/>
          </a:blip>
          <a:stretch>
            <a:fillRect/>
          </a:stretch>
        </p:blipFill>
        <p:spPr>
          <a:xfrm>
            <a:off x="1371600" y="4267200"/>
            <a:ext cx="6807200" cy="6248400"/>
          </a:xfrm>
          <a:prstGeom prst="rect">
            <a:avLst/>
          </a:prstGeom>
          <a:ln w="12700">
            <a:miter lim="400000"/>
          </a:ln>
        </p:spPr>
      </p:pic>
      <p:sp>
        <p:nvSpPr>
          <p:cNvPr id="516" name="_s/ ├── style.css ├── functions.php ├── header.php ├── footer.php ├── index.php ├── single.php ├── page.php ├── template-parts/ │   └── content.php └── inc/"/>
          <p:cNvSpPr txBox="1"/>
          <p:nvPr/>
        </p:nvSpPr>
        <p:spPr>
          <a:xfrm>
            <a:off x="1752600" y="45211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a:ea typeface="Geist Mono"/>
                <a:cs typeface="Geist Mono"/>
                <a:sym typeface="Geist Mono"/>
              </a:defRPr>
            </a:pPr>
            <a:r>
              <a:rPr>
                <a:solidFill>
                  <a:srgbClr val="D2B0FF"/>
                </a:solidFill>
              </a:rPr>
              <a:t>_s/</a:t>
            </a:r>
            <a:br>
              <a:rPr sz="3400"/>
            </a:br>
            <a:r>
              <a:rPr>
                <a:solidFill>
                  <a:srgbClr val="C4B7E9"/>
                </a:solidFill>
              </a:rPr>
              <a:t>├── </a:t>
            </a:r>
            <a:r>
              <a:t>style.css</a:t>
            </a:r>
            <a:br>
              <a:rPr sz="3400"/>
            </a:br>
            <a:r>
              <a:rPr>
                <a:solidFill>
                  <a:srgbClr val="C4B7E9"/>
                </a:solidFill>
              </a:rPr>
              <a:t>├── </a:t>
            </a:r>
            <a:r>
              <a:t>functions.php</a:t>
            </a:r>
            <a:br>
              <a:rPr sz="3400"/>
            </a:br>
            <a:r>
              <a:rPr>
                <a:solidFill>
                  <a:srgbClr val="C4B7E9"/>
                </a:solidFill>
              </a:rPr>
              <a:t>├── </a:t>
            </a:r>
            <a:r>
              <a:t>header.php</a:t>
            </a:r>
            <a:br>
              <a:rPr sz="3400"/>
            </a:br>
            <a:r>
              <a:rPr>
                <a:solidFill>
                  <a:srgbClr val="C4B7E9"/>
                </a:solidFill>
              </a:rPr>
              <a:t>├── </a:t>
            </a:r>
            <a:r>
              <a:t>footer.php</a:t>
            </a:r>
            <a:br>
              <a:rPr sz="3400"/>
            </a:br>
            <a:r>
              <a:rPr>
                <a:solidFill>
                  <a:srgbClr val="C4B7E9"/>
                </a:solidFill>
              </a:rPr>
              <a:t>├── </a:t>
            </a:r>
            <a:r>
              <a:t>index.php</a:t>
            </a:r>
            <a:br>
              <a:rPr sz="3400"/>
            </a:br>
            <a:r>
              <a:rPr>
                <a:solidFill>
                  <a:srgbClr val="C4B7E9"/>
                </a:solidFill>
              </a:rPr>
              <a:t>├── </a:t>
            </a:r>
            <a:r>
              <a:rPr>
                <a:solidFill>
                  <a:srgbClr val="FF97E2"/>
                </a:solidFill>
              </a:rPr>
              <a:t>single.php</a:t>
            </a:r>
            <a:br>
              <a:rPr sz="3400"/>
            </a:br>
            <a:r>
              <a:rPr>
                <a:solidFill>
                  <a:srgbClr val="C4B7E9"/>
                </a:solidFill>
              </a:rPr>
              <a:t>├── </a:t>
            </a:r>
            <a:r>
              <a:t>page.php</a:t>
            </a:r>
            <a:br>
              <a:rPr sz="3400"/>
            </a:br>
            <a:r>
              <a:rPr>
                <a:solidFill>
                  <a:srgbClr val="C4B7E9"/>
                </a:solidFill>
              </a:rPr>
              <a:t>├── </a:t>
            </a:r>
            <a:r>
              <a:rPr>
                <a:solidFill>
                  <a:srgbClr val="D2B0FF"/>
                </a:solidFill>
              </a:rPr>
              <a:t>template-parts/</a:t>
            </a:r>
            <a:br>
              <a:rPr sz="3400"/>
            </a:br>
            <a:r>
              <a:rPr>
                <a:solidFill>
                  <a:srgbClr val="C4B7E9"/>
                </a:solidFill>
              </a:rPr>
              <a:t>│   └── </a:t>
            </a:r>
            <a:r>
              <a:t>content.php</a:t>
            </a:r>
            <a:br>
              <a:rPr sz="3400"/>
            </a:br>
            <a:r>
              <a:rPr>
                <a:solidFill>
                  <a:srgbClr val="C4B7E9"/>
                </a:solidFill>
              </a:rPr>
              <a:t>└── </a:t>
            </a:r>
            <a:r>
              <a:rPr>
                <a:solidFill>
                  <a:srgbClr val="D2B0FF"/>
                </a:solidFill>
              </a:rPr>
              <a:t>inc/</a:t>
            </a:r>
            <a:br>
              <a:rPr sz="3400">
                <a:solidFill>
                  <a:srgbClr val="D2B0FF"/>
                </a:solidFill>
              </a:rPr>
            </a:br>
          </a:p>
        </p:txBody>
      </p:sp>
      <p:pic>
        <p:nvPicPr>
          <p:cNvPr id="517" name="tree-panel.png" descr="tree-panel.png"/>
          <p:cNvPicPr>
            <a:picLocks noChangeAspect="1"/>
          </p:cNvPicPr>
          <p:nvPr/>
        </p:nvPicPr>
        <p:blipFill>
          <a:blip r:embed="rId4">
            <a:extLst/>
          </a:blip>
          <a:stretch>
            <a:fillRect/>
          </a:stretch>
        </p:blipFill>
        <p:spPr>
          <a:xfrm>
            <a:off x="8788400" y="4267200"/>
            <a:ext cx="6807200" cy="6248400"/>
          </a:xfrm>
          <a:prstGeom prst="rect">
            <a:avLst/>
          </a:prstGeom>
          <a:ln w="12700">
            <a:miter lim="400000"/>
          </a:ln>
        </p:spPr>
      </p:pic>
      <p:sp>
        <p:nvSpPr>
          <p:cNvPr id="518" name="sage/ ├── app/ │   └── View/Composers/ ├── resources/ │   ├── views/ │   │   └── index.blade.php │   ├── css/ │   └── js/ ├── composer.json ├── package.json └── vite.config.js"/>
          <p:cNvSpPr txBox="1"/>
          <p:nvPr/>
        </p:nvSpPr>
        <p:spPr>
          <a:xfrm>
            <a:off x="9169400" y="45211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a:ea typeface="Geist Mono"/>
                <a:cs typeface="Geist Mono"/>
                <a:sym typeface="Geist Mono"/>
              </a:defRPr>
            </a:pPr>
            <a:r>
              <a:rPr>
                <a:solidFill>
                  <a:srgbClr val="D2B0FF"/>
                </a:solidFill>
              </a:rPr>
              <a:t>sage/</a:t>
            </a:r>
            <a:br>
              <a:rPr sz="3400"/>
            </a:br>
            <a:r>
              <a:rPr>
                <a:solidFill>
                  <a:srgbClr val="C4B7E9"/>
                </a:solidFill>
              </a:rPr>
              <a:t>├── </a:t>
            </a:r>
            <a:r>
              <a:rPr>
                <a:solidFill>
                  <a:srgbClr val="D2B0FF"/>
                </a:solidFill>
              </a:rPr>
              <a:t>app/</a:t>
            </a:r>
            <a:br>
              <a:rPr sz="3400"/>
            </a:br>
            <a:r>
              <a:rPr>
                <a:solidFill>
                  <a:srgbClr val="C4B7E9"/>
                </a:solidFill>
              </a:rPr>
              <a:t>│   └── </a:t>
            </a:r>
            <a:r>
              <a:rPr>
                <a:solidFill>
                  <a:srgbClr val="D2B0FF"/>
                </a:solidFill>
              </a:rPr>
              <a:t>View/Composers/</a:t>
            </a:r>
            <a:br>
              <a:rPr sz="3400"/>
            </a:br>
            <a:r>
              <a:rPr>
                <a:solidFill>
                  <a:srgbClr val="C4B7E9"/>
                </a:solidFill>
              </a:rPr>
              <a:t>├── </a:t>
            </a:r>
            <a:r>
              <a:rPr>
                <a:solidFill>
                  <a:srgbClr val="D2B0FF"/>
                </a:solidFill>
              </a:rPr>
              <a:t>resources/</a:t>
            </a:r>
            <a:br>
              <a:rPr sz="3400"/>
            </a:br>
            <a:r>
              <a:rPr>
                <a:solidFill>
                  <a:srgbClr val="C4B7E9"/>
                </a:solidFill>
              </a:rPr>
              <a:t>│   ├── </a:t>
            </a:r>
            <a:r>
              <a:rPr>
                <a:solidFill>
                  <a:srgbClr val="D2B0FF"/>
                </a:solidFill>
              </a:rPr>
              <a:t>views/</a:t>
            </a:r>
            <a:br>
              <a:rPr sz="3400"/>
            </a:br>
            <a:r>
              <a:rPr>
                <a:solidFill>
                  <a:srgbClr val="C4B7E9"/>
                </a:solidFill>
              </a:rPr>
              <a:t>│   │   └── </a:t>
            </a:r>
            <a:r>
              <a:rPr>
                <a:solidFill>
                  <a:srgbClr val="FF97E2"/>
                </a:solidFill>
              </a:rPr>
              <a:t>index.blade.php</a:t>
            </a:r>
            <a:br>
              <a:rPr sz="3400"/>
            </a:br>
            <a:r>
              <a:rPr>
                <a:solidFill>
                  <a:srgbClr val="C4B7E9"/>
                </a:solidFill>
              </a:rPr>
              <a:t>│   ├── </a:t>
            </a:r>
            <a:r>
              <a:rPr>
                <a:solidFill>
                  <a:srgbClr val="D2B0FF"/>
                </a:solidFill>
              </a:rPr>
              <a:t>css/</a:t>
            </a:r>
            <a:br>
              <a:rPr sz="3400"/>
            </a:br>
            <a:r>
              <a:rPr>
                <a:solidFill>
                  <a:srgbClr val="C4B7E9"/>
                </a:solidFill>
              </a:rPr>
              <a:t>│   └── </a:t>
            </a:r>
            <a:r>
              <a:rPr>
                <a:solidFill>
                  <a:srgbClr val="D2B0FF"/>
                </a:solidFill>
              </a:rPr>
              <a:t>js/</a:t>
            </a:r>
            <a:br>
              <a:rPr sz="3400"/>
            </a:br>
            <a:r>
              <a:rPr>
                <a:solidFill>
                  <a:srgbClr val="C4B7E9"/>
                </a:solidFill>
              </a:rPr>
              <a:t>├── </a:t>
            </a:r>
            <a:r>
              <a:t>composer.json</a:t>
            </a:r>
            <a:br>
              <a:rPr sz="3400"/>
            </a:br>
            <a:r>
              <a:rPr>
                <a:solidFill>
                  <a:srgbClr val="C4B7E9"/>
                </a:solidFill>
              </a:rPr>
              <a:t>├── </a:t>
            </a:r>
            <a:r>
              <a:t>package.json</a:t>
            </a:r>
            <a:br>
              <a:rPr sz="3400"/>
            </a:br>
            <a:r>
              <a:rPr>
                <a:solidFill>
                  <a:srgbClr val="C4B7E9"/>
                </a:solidFill>
              </a:rPr>
              <a:t>└── </a:t>
            </a:r>
            <a:r>
              <a:t>vite.config.js</a:t>
            </a:r>
            <a:br>
              <a:rPr sz="3400"/>
            </a:br>
          </a:p>
        </p:txBody>
      </p:sp>
      <p:pic>
        <p:nvPicPr>
          <p:cNvPr id="519" name="tree-panel.png" descr="tree-panel.png"/>
          <p:cNvPicPr>
            <a:picLocks noChangeAspect="1"/>
          </p:cNvPicPr>
          <p:nvPr/>
        </p:nvPicPr>
        <p:blipFill>
          <a:blip r:embed="rId4">
            <a:extLst/>
          </a:blip>
          <a:stretch>
            <a:fillRect/>
          </a:stretch>
        </p:blipFill>
        <p:spPr>
          <a:xfrm>
            <a:off x="16205200" y="4267200"/>
            <a:ext cx="6807200" cy="6248400"/>
          </a:xfrm>
          <a:prstGeom prst="rect">
            <a:avLst/>
          </a:prstGeom>
          <a:ln w="12700">
            <a:miter lim="400000"/>
          </a:ln>
        </p:spPr>
      </p:pic>
      <p:sp>
        <p:nvSpPr>
          <p:cNvPr id="520" name="block-theme/ ├── style.css ├── theme.json ├── functions.php ├── templates/ │   ├── index.html │   └── single.html ├── parts/ │   └── header.html ├── patterns/ └── styles/"/>
          <p:cNvSpPr txBox="1"/>
          <p:nvPr/>
        </p:nvSpPr>
        <p:spPr>
          <a:xfrm>
            <a:off x="16586200" y="45338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a:ea typeface="Geist Mono"/>
                <a:cs typeface="Geist Mono"/>
                <a:sym typeface="Geist Mono"/>
              </a:defRPr>
            </a:pPr>
            <a:r>
              <a:rPr>
                <a:solidFill>
                  <a:srgbClr val="D2B0FF"/>
                </a:solidFill>
              </a:rPr>
              <a:t>block-theme/</a:t>
            </a:r>
            <a:br>
              <a:rPr sz="3400"/>
            </a:br>
            <a:r>
              <a:rPr>
                <a:solidFill>
                  <a:srgbClr val="C4B7E9"/>
                </a:solidFill>
              </a:rPr>
              <a:t>├── </a:t>
            </a:r>
            <a:r>
              <a:t>style.css</a:t>
            </a:r>
            <a:br>
              <a:rPr sz="3400"/>
            </a:br>
            <a:r>
              <a:rPr>
                <a:solidFill>
                  <a:srgbClr val="C4B7E9"/>
                </a:solidFill>
              </a:rPr>
              <a:t>├── </a:t>
            </a:r>
            <a:r>
              <a:rPr>
                <a:solidFill>
                  <a:srgbClr val="FF97E2"/>
                </a:solidFill>
              </a:rPr>
              <a:t>theme.json</a:t>
            </a:r>
            <a:br>
              <a:rPr sz="3400"/>
            </a:br>
            <a:r>
              <a:rPr>
                <a:solidFill>
                  <a:srgbClr val="C4B7E9"/>
                </a:solidFill>
              </a:rPr>
              <a:t>├── </a:t>
            </a:r>
            <a:r>
              <a:t>functions.php</a:t>
            </a:r>
            <a:br>
              <a:rPr sz="3400"/>
            </a:br>
            <a:r>
              <a:rPr>
                <a:solidFill>
                  <a:srgbClr val="C4B7E9"/>
                </a:solidFill>
              </a:rPr>
              <a:t>├── </a:t>
            </a:r>
            <a:r>
              <a:rPr>
                <a:solidFill>
                  <a:srgbClr val="D2B0FF"/>
                </a:solidFill>
              </a:rPr>
              <a:t>templates/</a:t>
            </a:r>
            <a:br>
              <a:rPr sz="3400"/>
            </a:br>
            <a:r>
              <a:rPr>
                <a:solidFill>
                  <a:srgbClr val="C4B7E9"/>
                </a:solidFill>
              </a:rPr>
              <a:t>│   ├── </a:t>
            </a:r>
            <a:r>
              <a:t>index.html</a:t>
            </a:r>
            <a:br>
              <a:rPr sz="3400"/>
            </a:br>
            <a:r>
              <a:rPr>
                <a:solidFill>
                  <a:srgbClr val="C4B7E9"/>
                </a:solidFill>
              </a:rPr>
              <a:t>│   └── </a:t>
            </a:r>
            <a:r>
              <a:t>single.html</a:t>
            </a:r>
            <a:br>
              <a:rPr sz="3400"/>
            </a:br>
            <a:r>
              <a:rPr>
                <a:solidFill>
                  <a:srgbClr val="C4B7E9"/>
                </a:solidFill>
              </a:rPr>
              <a:t>├── </a:t>
            </a:r>
            <a:r>
              <a:rPr>
                <a:solidFill>
                  <a:srgbClr val="D2B0FF"/>
                </a:solidFill>
              </a:rPr>
              <a:t>parts/</a:t>
            </a:r>
            <a:br>
              <a:rPr sz="3400"/>
            </a:br>
            <a:r>
              <a:rPr>
                <a:solidFill>
                  <a:srgbClr val="C4B7E9"/>
                </a:solidFill>
              </a:rPr>
              <a:t>│   └── </a:t>
            </a:r>
            <a:r>
              <a:t>header.html</a:t>
            </a:r>
            <a:br>
              <a:rPr sz="3400"/>
            </a:br>
            <a:r>
              <a:rPr>
                <a:solidFill>
                  <a:srgbClr val="C4B7E9"/>
                </a:solidFill>
              </a:rPr>
              <a:t>├── </a:t>
            </a:r>
            <a:r>
              <a:rPr>
                <a:solidFill>
                  <a:srgbClr val="D2B0FF"/>
                </a:solidFill>
              </a:rPr>
              <a:t>patterns/</a:t>
            </a:r>
            <a:br>
              <a:rPr sz="3400"/>
            </a:br>
            <a:r>
              <a:rPr>
                <a:solidFill>
                  <a:srgbClr val="C4B7E9"/>
                </a:solidFill>
              </a:rPr>
              <a:t>└── </a:t>
            </a:r>
            <a:r>
              <a:rPr>
                <a:solidFill>
                  <a:srgbClr val="D2B0FF"/>
                </a:solidFill>
              </a:rPr>
              <a:t>styles/</a:t>
            </a:r>
            <a:br>
              <a:rPr sz="3400">
                <a:solidFill>
                  <a:srgbClr val="D2B0FF"/>
                </a:solidFill>
              </a:rPr>
            </a:br>
          </a:p>
        </p:txBody>
      </p:sp>
      <p:pic>
        <p:nvPicPr>
          <p:cNvPr id="521" name="stamp-core-way-2.png" descr="stamp-core-way-2.png"/>
          <p:cNvPicPr>
            <a:picLocks noChangeAspect="1"/>
          </p:cNvPicPr>
          <p:nvPr/>
        </p:nvPicPr>
        <p:blipFill>
          <a:blip r:embed="rId5">
            <a:extLst/>
          </a:blip>
          <a:stretch>
            <a:fillRect/>
          </a:stretch>
        </p:blipFill>
        <p:spPr>
          <a:xfrm>
            <a:off x="18402300" y="2667000"/>
            <a:ext cx="4572000" cy="2032000"/>
          </a:xfrm>
          <a:prstGeom prst="rect">
            <a:avLst/>
          </a:prstGeom>
          <a:ln w="12700">
            <a:miter lim="400000"/>
          </a:ln>
        </p:spPr>
      </p:pic>
      <p:pic>
        <p:nvPicPr>
          <p:cNvPr id="522" name="stamp-not-core-way.png" descr="stamp-not-core-way.png"/>
          <p:cNvPicPr>
            <a:picLocks noChangeAspect="1"/>
          </p:cNvPicPr>
          <p:nvPr/>
        </p:nvPicPr>
        <p:blipFill>
          <a:blip r:embed="rId6">
            <a:extLst/>
          </a:blip>
          <a:stretch>
            <a:fillRect/>
          </a:stretch>
        </p:blipFill>
        <p:spPr>
          <a:xfrm>
            <a:off x="11988800" y="2667000"/>
            <a:ext cx="4572000" cy="2032000"/>
          </a:xfrm>
          <a:prstGeom prst="rect">
            <a:avLst/>
          </a:prstGeom>
          <a:ln w="12700">
            <a:miter lim="400000"/>
          </a:ln>
        </p:spPr>
      </p:pic>
      <p:pic>
        <p:nvPicPr>
          <p:cNvPr id="523" name="stamp-core-way.png" descr="stamp-core-way.png"/>
          <p:cNvPicPr>
            <a:picLocks noChangeAspect="1"/>
          </p:cNvPicPr>
          <p:nvPr/>
        </p:nvPicPr>
        <p:blipFill>
          <a:blip r:embed="rId7">
            <a:extLst/>
          </a:blip>
          <a:stretch>
            <a:fillRect/>
          </a:stretch>
        </p:blipFill>
        <p:spPr>
          <a:xfrm>
            <a:off x="4432300" y="2692400"/>
            <a:ext cx="4572000" cy="2032000"/>
          </a:xfrm>
          <a:prstGeom prst="rect">
            <a:avLst/>
          </a:prstGeom>
          <a:ln w="12700">
            <a:miter lim="400000"/>
          </a:ln>
        </p:spPr>
      </p:pic>
      <p:pic>
        <p:nvPicPr>
          <p:cNvPr id="524" name="prog-23.png" descr="prog-23.png"/>
          <p:cNvPicPr>
            <a:picLocks noChangeAspect="1"/>
          </p:cNvPicPr>
          <p:nvPr/>
        </p:nvPicPr>
        <p:blipFill>
          <a:blip r:embed="rId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2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29" name="From Traditional to Mod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From Traditional </a:t>
            </a:r>
            <a:r>
              <a:rPr i="1" sz="9800">
                <a:solidFill>
                  <a:srgbClr val="6033A6"/>
                </a:solidFill>
                <a:latin typeface="Instrument Serif"/>
                <a:ea typeface="Instrument Serif"/>
                <a:cs typeface="Instrument Serif"/>
                <a:sym typeface="Instrument Serif"/>
              </a:rPr>
              <a:t>to Modern</a:t>
            </a:r>
          </a:p>
        </p:txBody>
      </p:sp>
      <p:pic>
        <p:nvPicPr>
          <p:cNvPr id="530" name="dg-panel.png" descr="dg-panel.png"/>
          <p:cNvPicPr>
            <a:picLocks noChangeAspect="1"/>
          </p:cNvPicPr>
          <p:nvPr/>
        </p:nvPicPr>
        <p:blipFill>
          <a:blip r:embed="rId4">
            <a:extLst/>
          </a:blip>
          <a:stretch>
            <a:fillRect/>
          </a:stretch>
        </p:blipFill>
        <p:spPr>
          <a:xfrm>
            <a:off x="1320800" y="4953000"/>
            <a:ext cx="4572000" cy="5334000"/>
          </a:xfrm>
          <a:prstGeom prst="rect">
            <a:avLst/>
          </a:prstGeom>
          <a:ln w="12700">
            <a:miter lim="400000"/>
          </a:ln>
        </p:spPr>
      </p:pic>
      <p:pic>
        <p:nvPicPr>
          <p:cNvPr id="531" name="dg-panel.png" descr="dg-panel.png"/>
          <p:cNvPicPr>
            <a:picLocks noChangeAspect="1"/>
          </p:cNvPicPr>
          <p:nvPr/>
        </p:nvPicPr>
        <p:blipFill>
          <a:blip r:embed="rId4">
            <a:extLst/>
          </a:blip>
          <a:stretch>
            <a:fillRect/>
          </a:stretch>
        </p:blipFill>
        <p:spPr>
          <a:xfrm>
            <a:off x="18491200" y="4953000"/>
            <a:ext cx="4572000" cy="5334000"/>
          </a:xfrm>
          <a:prstGeom prst="rect">
            <a:avLst/>
          </a:prstGeom>
          <a:ln w="12700">
            <a:miter lim="400000"/>
          </a:ln>
        </p:spPr>
      </p:pic>
      <p:pic>
        <p:nvPicPr>
          <p:cNvPr id="532" name="dg-step1.png" descr="dg-step1.png"/>
          <p:cNvPicPr>
            <a:picLocks noChangeAspect="1"/>
          </p:cNvPicPr>
          <p:nvPr/>
        </p:nvPicPr>
        <p:blipFill>
          <a:blip r:embed="rId5">
            <a:extLst/>
          </a:blip>
          <a:stretch>
            <a:fillRect/>
          </a:stretch>
        </p:blipFill>
        <p:spPr>
          <a:xfrm>
            <a:off x="6400800" y="8255000"/>
            <a:ext cx="2768600" cy="2032000"/>
          </a:xfrm>
          <a:prstGeom prst="rect">
            <a:avLst/>
          </a:prstGeom>
          <a:ln w="12700">
            <a:miter lim="400000"/>
          </a:ln>
        </p:spPr>
      </p:pic>
      <p:pic>
        <p:nvPicPr>
          <p:cNvPr id="533" name="dg-step2.png" descr="dg-step2.png"/>
          <p:cNvPicPr>
            <a:picLocks noChangeAspect="1"/>
          </p:cNvPicPr>
          <p:nvPr/>
        </p:nvPicPr>
        <p:blipFill>
          <a:blip r:embed="rId6">
            <a:extLst/>
          </a:blip>
          <a:stretch>
            <a:fillRect/>
          </a:stretch>
        </p:blipFill>
        <p:spPr>
          <a:xfrm>
            <a:off x="9334500" y="7658100"/>
            <a:ext cx="2768600" cy="2628900"/>
          </a:xfrm>
          <a:prstGeom prst="rect">
            <a:avLst/>
          </a:prstGeom>
          <a:ln w="12700">
            <a:miter lim="400000"/>
          </a:ln>
        </p:spPr>
      </p:pic>
      <p:pic>
        <p:nvPicPr>
          <p:cNvPr id="534" name="dg-step3.png" descr="dg-step3.png"/>
          <p:cNvPicPr>
            <a:picLocks noChangeAspect="1"/>
          </p:cNvPicPr>
          <p:nvPr/>
        </p:nvPicPr>
        <p:blipFill>
          <a:blip r:embed="rId7">
            <a:extLst/>
          </a:blip>
          <a:stretch>
            <a:fillRect/>
          </a:stretch>
        </p:blipFill>
        <p:spPr>
          <a:xfrm>
            <a:off x="12268200" y="7061200"/>
            <a:ext cx="2768600" cy="3225800"/>
          </a:xfrm>
          <a:prstGeom prst="rect">
            <a:avLst/>
          </a:prstGeom>
          <a:ln w="12700">
            <a:miter lim="400000"/>
          </a:ln>
        </p:spPr>
      </p:pic>
      <p:pic>
        <p:nvPicPr>
          <p:cNvPr id="535" name="dg-step4.png" descr="dg-step4.png"/>
          <p:cNvPicPr>
            <a:picLocks noChangeAspect="1"/>
          </p:cNvPicPr>
          <p:nvPr/>
        </p:nvPicPr>
        <p:blipFill>
          <a:blip r:embed="rId8">
            <a:extLst/>
          </a:blip>
          <a:stretch>
            <a:fillRect/>
          </a:stretch>
        </p:blipFill>
        <p:spPr>
          <a:xfrm>
            <a:off x="15201900" y="6477000"/>
            <a:ext cx="2768600" cy="3810000"/>
          </a:xfrm>
          <a:prstGeom prst="rect">
            <a:avLst/>
          </a:prstGeom>
          <a:ln w="12700">
            <a:miter lim="400000"/>
          </a:ln>
        </p:spPr>
      </p:pic>
      <p:pic>
        <p:nvPicPr>
          <p:cNvPr id="536" name="dg-arrow.png" descr="dg-arrow.png"/>
          <p:cNvPicPr>
            <a:picLocks noChangeAspect="1"/>
          </p:cNvPicPr>
          <p:nvPr/>
        </p:nvPicPr>
        <p:blipFill>
          <a:blip r:embed="rId9">
            <a:extLst/>
          </a:blip>
          <a:stretch>
            <a:fillRect/>
          </a:stretch>
        </p:blipFill>
        <p:spPr>
          <a:xfrm>
            <a:off x="5829300" y="4445000"/>
            <a:ext cx="12573000" cy="1397000"/>
          </a:xfrm>
          <a:prstGeom prst="rect">
            <a:avLst/>
          </a:prstGeom>
          <a:ln w="12700">
            <a:miter lim="400000"/>
          </a:ln>
        </p:spPr>
      </p:pic>
      <p:pic>
        <p:nvPicPr>
          <p:cNvPr id="537" name="dg-bracket.png" descr="dg-bracket.png"/>
          <p:cNvPicPr>
            <a:picLocks noChangeAspect="1"/>
          </p:cNvPicPr>
          <p:nvPr/>
        </p:nvPicPr>
        <p:blipFill>
          <a:blip r:embed="rId10">
            <a:extLst/>
          </a:blip>
          <a:stretch>
            <a:fillRect/>
          </a:stretch>
        </p:blipFill>
        <p:spPr>
          <a:xfrm>
            <a:off x="6400800" y="10795000"/>
            <a:ext cx="11582400" cy="279400"/>
          </a:xfrm>
          <a:prstGeom prst="rect">
            <a:avLst/>
          </a:prstGeom>
          <a:ln w="12700">
            <a:miter lim="400000"/>
          </a:ln>
        </p:spPr>
      </p:pic>
      <p:sp>
        <p:nvSpPr>
          <p:cNvPr id="538" name="Traditional"/>
          <p:cNvSpPr txBox="1"/>
          <p:nvPr/>
        </p:nvSpPr>
        <p:spPr>
          <a:xfrm>
            <a:off x="1701800" y="5321299"/>
            <a:ext cx="4064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FFFFFF"/>
                </a:solidFill>
                <a:latin typeface="Unbounded SemiBold"/>
                <a:ea typeface="Unbounded SemiBold"/>
                <a:cs typeface="Unbounded SemiBold"/>
                <a:sym typeface="Unbounded SemiBold"/>
              </a:defRPr>
            </a:lvl1pPr>
          </a:lstStyle>
          <a:p>
            <a:pPr/>
            <a:r>
              <a:t>Traditional</a:t>
            </a:r>
          </a:p>
        </p:txBody>
      </p:sp>
      <p:sp>
        <p:nvSpPr>
          <p:cNvPr id="539" name="PHP templates"/>
          <p:cNvSpPr txBox="1"/>
          <p:nvPr/>
        </p:nvSpPr>
        <p:spPr>
          <a:xfrm>
            <a:off x="1727200" y="6134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a:ea typeface="Geist Mono"/>
                <a:cs typeface="Geist Mono"/>
                <a:sym typeface="Geist Mono"/>
              </a:defRPr>
            </a:lvl1pPr>
          </a:lstStyle>
          <a:p>
            <a:pPr/>
            <a:r>
              <a:t>PHP templates</a:t>
            </a:r>
          </a:p>
        </p:txBody>
      </p:sp>
      <p:sp>
        <p:nvSpPr>
          <p:cNvPr id="540" name="ACF fields"/>
          <p:cNvSpPr txBox="1"/>
          <p:nvPr/>
        </p:nvSpPr>
        <p:spPr>
          <a:xfrm>
            <a:off x="1727200" y="6743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FF97E2"/>
                </a:solidFill>
                <a:latin typeface="Geist Mono"/>
                <a:ea typeface="Geist Mono"/>
                <a:cs typeface="Geist Mono"/>
                <a:sym typeface="Geist Mono"/>
              </a:defRPr>
            </a:lvl1pPr>
          </a:lstStyle>
          <a:p>
            <a:pPr/>
            <a:r>
              <a:t>ACF fields</a:t>
            </a:r>
          </a:p>
        </p:txBody>
      </p:sp>
      <p:sp>
        <p:nvSpPr>
          <p:cNvPr id="541" name="ACF blocks"/>
          <p:cNvSpPr txBox="1"/>
          <p:nvPr/>
        </p:nvSpPr>
        <p:spPr>
          <a:xfrm>
            <a:off x="1727200" y="73406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FF97E2"/>
                </a:solidFill>
                <a:latin typeface="Geist Mono"/>
                <a:ea typeface="Geist Mono"/>
                <a:cs typeface="Geist Mono"/>
                <a:sym typeface="Geist Mono"/>
              </a:defRPr>
            </a:lvl1pPr>
          </a:lstStyle>
          <a:p>
            <a:pPr/>
            <a:r>
              <a:t>ACF blocks</a:t>
            </a:r>
          </a:p>
        </p:txBody>
      </p:sp>
      <p:sp>
        <p:nvSpPr>
          <p:cNvPr id="542" name="style.css"/>
          <p:cNvSpPr txBox="1"/>
          <p:nvPr/>
        </p:nvSpPr>
        <p:spPr>
          <a:xfrm>
            <a:off x="1727200" y="79502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a:ea typeface="Geist Mono"/>
                <a:cs typeface="Geist Mono"/>
                <a:sym typeface="Geist Mono"/>
              </a:defRPr>
            </a:lvl1pPr>
          </a:lstStyle>
          <a:p>
            <a:pPr/>
            <a:r>
              <a:t>style.css</a:t>
            </a:r>
          </a:p>
        </p:txBody>
      </p:sp>
      <p:sp>
        <p:nvSpPr>
          <p:cNvPr id="543" name="jQuery/Vanilla JS"/>
          <p:cNvSpPr txBox="1"/>
          <p:nvPr/>
        </p:nvSpPr>
        <p:spPr>
          <a:xfrm>
            <a:off x="1727200" y="8547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a:ea typeface="Geist Mono"/>
                <a:cs typeface="Geist Mono"/>
                <a:sym typeface="Geist Mono"/>
              </a:defRPr>
            </a:lvl1pPr>
          </a:lstStyle>
          <a:p>
            <a:pPr/>
            <a:r>
              <a:t>jQuery/Vanilla JS</a:t>
            </a:r>
          </a:p>
        </p:txBody>
      </p:sp>
      <p:sp>
        <p:nvSpPr>
          <p:cNvPr id="544" name="WP REST API"/>
          <p:cNvSpPr txBox="1"/>
          <p:nvPr/>
        </p:nvSpPr>
        <p:spPr>
          <a:xfrm>
            <a:off x="1727200" y="9156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a:ea typeface="Geist Mono"/>
                <a:cs typeface="Geist Mono"/>
                <a:sym typeface="Geist Mono"/>
              </a:defRPr>
            </a:lvl1pPr>
          </a:lstStyle>
          <a:p>
            <a:pPr/>
            <a:r>
              <a:t>WP REST API</a:t>
            </a:r>
          </a:p>
        </p:txBody>
      </p:sp>
      <p:sp>
        <p:nvSpPr>
          <p:cNvPr id="545" name="Modern"/>
          <p:cNvSpPr txBox="1"/>
          <p:nvPr/>
        </p:nvSpPr>
        <p:spPr>
          <a:xfrm>
            <a:off x="18872200" y="5321299"/>
            <a:ext cx="4064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FFFFFF"/>
                </a:solidFill>
                <a:latin typeface="Unbounded SemiBold"/>
                <a:ea typeface="Unbounded SemiBold"/>
                <a:cs typeface="Unbounded SemiBold"/>
                <a:sym typeface="Unbounded SemiBold"/>
              </a:defRPr>
            </a:lvl1pPr>
          </a:lstStyle>
          <a:p>
            <a:pPr/>
            <a:r>
              <a:t>Modern</a:t>
            </a:r>
          </a:p>
        </p:txBody>
      </p:sp>
      <p:sp>
        <p:nvSpPr>
          <p:cNvPr id="546" name="HTML templates"/>
          <p:cNvSpPr txBox="1"/>
          <p:nvPr/>
        </p:nvSpPr>
        <p:spPr>
          <a:xfrm>
            <a:off x="18897600" y="6134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a:ea typeface="Geist Mono"/>
                <a:cs typeface="Geist Mono"/>
                <a:sym typeface="Geist Mono"/>
              </a:defRPr>
            </a:lvl1pPr>
          </a:lstStyle>
          <a:p>
            <a:pPr/>
            <a:r>
              <a:t>HTML templates</a:t>
            </a:r>
          </a:p>
        </p:txBody>
      </p:sp>
      <p:sp>
        <p:nvSpPr>
          <p:cNvPr id="547" name="post meta"/>
          <p:cNvSpPr txBox="1"/>
          <p:nvPr/>
        </p:nvSpPr>
        <p:spPr>
          <a:xfrm>
            <a:off x="18897600" y="6743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a:ea typeface="Geist Mono"/>
                <a:cs typeface="Geist Mono"/>
                <a:sym typeface="Geist Mono"/>
              </a:defRPr>
            </a:lvl1pPr>
          </a:lstStyle>
          <a:p>
            <a:pPr/>
            <a:r>
              <a:t>post meta</a:t>
            </a:r>
          </a:p>
        </p:txBody>
      </p:sp>
      <p:sp>
        <p:nvSpPr>
          <p:cNvPr id="548" name="native blocks"/>
          <p:cNvSpPr txBox="1"/>
          <p:nvPr/>
        </p:nvSpPr>
        <p:spPr>
          <a:xfrm>
            <a:off x="18897600" y="73406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a:ea typeface="Geist Mono"/>
                <a:cs typeface="Geist Mono"/>
                <a:sym typeface="Geist Mono"/>
              </a:defRPr>
            </a:lvl1pPr>
          </a:lstStyle>
          <a:p>
            <a:pPr/>
            <a:r>
              <a:t>native blocks</a:t>
            </a:r>
          </a:p>
        </p:txBody>
      </p:sp>
      <p:sp>
        <p:nvSpPr>
          <p:cNvPr id="549" name="theme.json"/>
          <p:cNvSpPr txBox="1"/>
          <p:nvPr/>
        </p:nvSpPr>
        <p:spPr>
          <a:xfrm>
            <a:off x="18897600" y="79502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a:ea typeface="Geist Mono"/>
                <a:cs typeface="Geist Mono"/>
                <a:sym typeface="Geist Mono"/>
              </a:defRPr>
            </a:lvl1pPr>
          </a:lstStyle>
          <a:p>
            <a:pPr/>
            <a:r>
              <a:t>theme.json</a:t>
            </a:r>
          </a:p>
        </p:txBody>
      </p:sp>
      <p:sp>
        <p:nvSpPr>
          <p:cNvPr id="550" name="Interactivity API"/>
          <p:cNvSpPr txBox="1"/>
          <p:nvPr/>
        </p:nvSpPr>
        <p:spPr>
          <a:xfrm>
            <a:off x="18897600" y="8547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a:ea typeface="Geist Mono"/>
                <a:cs typeface="Geist Mono"/>
                <a:sym typeface="Geist Mono"/>
              </a:defRPr>
            </a:lvl1pPr>
          </a:lstStyle>
          <a:p>
            <a:pPr/>
            <a:r>
              <a:t>Interactivity API</a:t>
            </a:r>
          </a:p>
        </p:txBody>
      </p:sp>
      <p:sp>
        <p:nvSpPr>
          <p:cNvPr id="551" name="AI client"/>
          <p:cNvSpPr txBox="1"/>
          <p:nvPr/>
        </p:nvSpPr>
        <p:spPr>
          <a:xfrm>
            <a:off x="18897600" y="9156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a:ea typeface="Geist Mono"/>
                <a:cs typeface="Geist Mono"/>
                <a:sym typeface="Geist Mono"/>
              </a:defRPr>
            </a:lvl1pPr>
          </a:lstStyle>
          <a:p>
            <a:pPr/>
            <a:r>
              <a:t>AI client</a:t>
            </a:r>
          </a:p>
        </p:txBody>
      </p:sp>
      <p:sp>
        <p:nvSpPr>
          <p:cNvPr id="552" name="Native blocks"/>
          <p:cNvSpPr txBox="1"/>
          <p:nvPr/>
        </p:nvSpPr>
        <p:spPr>
          <a:xfrm>
            <a:off x="6553200" y="8496299"/>
            <a:ext cx="24130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SemiBold"/>
                <a:ea typeface="Unbounded SemiBold"/>
                <a:cs typeface="Unbounded SemiBold"/>
                <a:sym typeface="Unbounded SemiBold"/>
              </a:defRPr>
            </a:lvl1pPr>
          </a:lstStyle>
          <a:p>
            <a:pPr/>
            <a:r>
              <a:t>Native blocks</a:t>
            </a:r>
          </a:p>
        </p:txBody>
      </p:sp>
      <p:sp>
        <p:nvSpPr>
          <p:cNvPr id="553" name="5.0+"/>
          <p:cNvSpPr txBox="1"/>
          <p:nvPr/>
        </p:nvSpPr>
        <p:spPr>
          <a:xfrm>
            <a:off x="6578600" y="93853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a:ea typeface="Geist Mono"/>
                <a:cs typeface="Geist Mono"/>
                <a:sym typeface="Geist Mono"/>
              </a:defRPr>
            </a:lvl1pPr>
          </a:lstStyle>
          <a:p>
            <a:pPr/>
            <a:r>
              <a:t>5.0+</a:t>
            </a:r>
          </a:p>
        </p:txBody>
      </p:sp>
      <p:sp>
        <p:nvSpPr>
          <p:cNvPr id="554" name="Post meta"/>
          <p:cNvSpPr txBox="1"/>
          <p:nvPr/>
        </p:nvSpPr>
        <p:spPr>
          <a:xfrm>
            <a:off x="9486900" y="7899400"/>
            <a:ext cx="2413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SemiBold"/>
                <a:ea typeface="Unbounded SemiBold"/>
                <a:cs typeface="Unbounded SemiBold"/>
                <a:sym typeface="Unbounded SemiBold"/>
              </a:defRPr>
            </a:lvl1pPr>
          </a:lstStyle>
          <a:p>
            <a:pPr/>
            <a:r>
              <a:t>Post meta</a:t>
            </a:r>
          </a:p>
        </p:txBody>
      </p:sp>
      <p:sp>
        <p:nvSpPr>
          <p:cNvPr id="555" name="6.5+"/>
          <p:cNvSpPr txBox="1"/>
          <p:nvPr/>
        </p:nvSpPr>
        <p:spPr>
          <a:xfrm>
            <a:off x="9512300" y="83947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a:ea typeface="Geist Mono"/>
                <a:cs typeface="Geist Mono"/>
                <a:sym typeface="Geist Mono"/>
              </a:defRPr>
            </a:lvl1pPr>
          </a:lstStyle>
          <a:p>
            <a:pPr/>
            <a:r>
              <a:t>6.5+</a:t>
            </a:r>
          </a:p>
        </p:txBody>
      </p:sp>
      <p:sp>
        <p:nvSpPr>
          <p:cNvPr id="556" name="theme.json"/>
          <p:cNvSpPr txBox="1"/>
          <p:nvPr/>
        </p:nvSpPr>
        <p:spPr>
          <a:xfrm>
            <a:off x="12420600" y="7302500"/>
            <a:ext cx="2717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SemiBold"/>
                <a:ea typeface="Unbounded SemiBold"/>
                <a:cs typeface="Unbounded SemiBold"/>
                <a:sym typeface="Unbounded SemiBold"/>
              </a:defRPr>
            </a:lvl1pPr>
          </a:lstStyle>
          <a:p>
            <a:pPr/>
            <a:r>
              <a:t>theme.json</a:t>
            </a:r>
          </a:p>
        </p:txBody>
      </p:sp>
      <p:sp>
        <p:nvSpPr>
          <p:cNvPr id="557" name="5.8+"/>
          <p:cNvSpPr txBox="1"/>
          <p:nvPr/>
        </p:nvSpPr>
        <p:spPr>
          <a:xfrm>
            <a:off x="12446000" y="77978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a:ea typeface="Geist Mono"/>
                <a:cs typeface="Geist Mono"/>
                <a:sym typeface="Geist Mono"/>
              </a:defRPr>
            </a:lvl1pPr>
          </a:lstStyle>
          <a:p>
            <a:pPr/>
            <a:r>
              <a:t>5.8+</a:t>
            </a:r>
          </a:p>
        </p:txBody>
      </p:sp>
      <p:sp>
        <p:nvSpPr>
          <p:cNvPr id="558" name="Block parts"/>
          <p:cNvSpPr txBox="1"/>
          <p:nvPr/>
        </p:nvSpPr>
        <p:spPr>
          <a:xfrm>
            <a:off x="15354300" y="6718299"/>
            <a:ext cx="24130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SemiBold"/>
                <a:ea typeface="Unbounded SemiBold"/>
                <a:cs typeface="Unbounded SemiBold"/>
                <a:sym typeface="Unbounded SemiBold"/>
              </a:defRPr>
            </a:lvl1pPr>
          </a:lstStyle>
          <a:p>
            <a:pPr/>
            <a:r>
              <a:t>Block parts</a:t>
            </a:r>
          </a:p>
        </p:txBody>
      </p:sp>
      <p:sp>
        <p:nvSpPr>
          <p:cNvPr id="559" name="6.1+"/>
          <p:cNvSpPr txBox="1"/>
          <p:nvPr/>
        </p:nvSpPr>
        <p:spPr>
          <a:xfrm>
            <a:off x="15379700" y="76073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a:ea typeface="Geist Mono"/>
                <a:cs typeface="Geist Mono"/>
                <a:sym typeface="Geist Mono"/>
              </a:defRPr>
            </a:lvl1pPr>
          </a:lstStyle>
          <a:p>
            <a:pPr/>
            <a:r>
              <a:t>6.1+</a:t>
            </a:r>
          </a:p>
        </p:txBody>
      </p:sp>
      <p:sp>
        <p:nvSpPr>
          <p:cNvPr id="560" name="hybrid theme: every step works in a classic theme"/>
          <p:cNvSpPr txBox="1"/>
          <p:nvPr/>
        </p:nvSpPr>
        <p:spPr>
          <a:xfrm>
            <a:off x="7239000" y="11087099"/>
            <a:ext cx="10160000" cy="838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400">
                <a:solidFill>
                  <a:srgbClr val="6F3CC3"/>
                </a:solidFill>
                <a:latin typeface="Instrument Serif"/>
                <a:ea typeface="Instrument Serif"/>
                <a:cs typeface="Instrument Serif"/>
                <a:sym typeface="Instrument Serif"/>
              </a:defRPr>
            </a:lvl1pPr>
          </a:lstStyle>
          <a:p>
            <a:pPr/>
            <a:r>
              <a:t>hybrid theme: every step works in a classic theme</a:t>
            </a:r>
          </a:p>
        </p:txBody>
      </p:sp>
      <p:sp>
        <p:nvSpPr>
          <p:cNvPr id="56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562" name="prog-24.png" descr="prog-24.png"/>
          <p:cNvPicPr>
            <a:picLocks noChangeAspect="1"/>
          </p:cNvPicPr>
          <p:nvPr/>
        </p:nvPicPr>
        <p:blipFill>
          <a:blip r:embed="rId11">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6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67" name="Why go 100% cor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Why go </a:t>
            </a:r>
            <a:r>
              <a:rPr i="1" sz="9800">
                <a:solidFill>
                  <a:srgbClr val="6033A6"/>
                </a:solidFill>
                <a:latin typeface="Instrument Serif"/>
                <a:ea typeface="Instrument Serif"/>
                <a:cs typeface="Instrument Serif"/>
                <a:sym typeface="Instrument Serif"/>
              </a:rPr>
              <a:t>100% core</a:t>
            </a:r>
          </a:p>
        </p:txBody>
      </p:sp>
      <p:sp>
        <p:nvSpPr>
          <p:cNvPr id="568" name="Pro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Pros</a:t>
            </a:r>
          </a:p>
        </p:txBody>
      </p:sp>
      <p:sp>
        <p:nvSpPr>
          <p:cNvPr id="569" name="“Co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“Cons”</a:t>
            </a:r>
          </a:p>
        </p:txBody>
      </p:sp>
      <p:sp>
        <p:nvSpPr>
          <p:cNvPr id="57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571" name="—"/>
          <p:cNvSpPr txBox="1"/>
          <p:nvPr/>
        </p:nvSpPr>
        <p:spPr>
          <a:xfrm>
            <a:off x="1320800" y="5841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72" name="Performance, things moving from server to browser"/>
          <p:cNvSpPr txBox="1"/>
          <p:nvPr/>
        </p:nvSpPr>
        <p:spPr>
          <a:xfrm>
            <a:off x="1905000" y="58419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Performance, things moving from server to browser</a:t>
            </a:r>
          </a:p>
        </p:txBody>
      </p:sp>
      <p:sp>
        <p:nvSpPr>
          <p:cNvPr id="573" name="—"/>
          <p:cNvSpPr txBox="1"/>
          <p:nvPr/>
        </p:nvSpPr>
        <p:spPr>
          <a:xfrm>
            <a:off x="1320800" y="67055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74" name="Heading levels, colours and spacing are built in."/>
          <p:cNvSpPr txBox="1"/>
          <p:nvPr/>
        </p:nvSpPr>
        <p:spPr>
          <a:xfrm>
            <a:off x="1905000" y="67055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Heading levels, colours and spacing are built in.</a:t>
            </a:r>
          </a:p>
        </p:txBody>
      </p:sp>
      <p:sp>
        <p:nvSpPr>
          <p:cNvPr id="575" name="—"/>
          <p:cNvSpPr txBox="1"/>
          <p:nvPr/>
        </p:nvSpPr>
        <p:spPr>
          <a:xfrm>
            <a:off x="1320800" y="75691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76" name="The client edits in the preview itself."/>
          <p:cNvSpPr txBox="1"/>
          <p:nvPr/>
        </p:nvSpPr>
        <p:spPr>
          <a:xfrm>
            <a:off x="1905000" y="75691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The client edits in the preview itself.</a:t>
            </a:r>
          </a:p>
        </p:txBody>
      </p:sp>
      <p:sp>
        <p:nvSpPr>
          <p:cNvPr id="577" name="—"/>
          <p:cNvSpPr txBox="1"/>
          <p:nvPr/>
        </p:nvSpPr>
        <p:spPr>
          <a:xfrm>
            <a:off x="1320800" y="84327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78" name="Lego and Duplo at once, mixed freely."/>
          <p:cNvSpPr txBox="1"/>
          <p:nvPr/>
        </p:nvSpPr>
        <p:spPr>
          <a:xfrm>
            <a:off x="1905000" y="84327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Lego and Duplo at once, mixed freely.</a:t>
            </a:r>
          </a:p>
        </p:txBody>
      </p:sp>
      <p:sp>
        <p:nvSpPr>
          <p:cNvPr id="579" name="—"/>
          <p:cNvSpPr txBox="1"/>
          <p:nvPr/>
        </p:nvSpPr>
        <p:spPr>
          <a:xfrm>
            <a:off x="1320800" y="92963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80" name="Anything can be moved, reordered and combined."/>
          <p:cNvSpPr txBox="1"/>
          <p:nvPr/>
        </p:nvSpPr>
        <p:spPr>
          <a:xfrm>
            <a:off x="1905000" y="92963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Anything can be moved, reordered and combined.</a:t>
            </a:r>
          </a:p>
        </p:txBody>
      </p:sp>
      <p:sp>
        <p:nvSpPr>
          <p:cNvPr id="581" name="—"/>
          <p:cNvSpPr txBox="1"/>
          <p:nvPr/>
        </p:nvSpPr>
        <p:spPr>
          <a:xfrm>
            <a:off x="1320800" y="10159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82" name="The client gets a real tool. One client had called an old site “the WordPress straitjacket Dude knitted”."/>
          <p:cNvSpPr txBox="1"/>
          <p:nvPr/>
        </p:nvSpPr>
        <p:spPr>
          <a:xfrm>
            <a:off x="1905000" y="10160000"/>
            <a:ext cx="10160000" cy="109093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a:ea typeface="Geist"/>
                <a:cs typeface="Geist"/>
                <a:sym typeface="Geist"/>
              </a:defRPr>
            </a:pPr>
            <a:r>
              <a:t>The client gets a real tool. One client had called an</a:t>
            </a:r>
            <a:br/>
            <a:r>
              <a:t>old site “the WordPress straitjacket Dude knitted”.</a:t>
            </a:r>
          </a:p>
        </p:txBody>
      </p:sp>
      <p:sp>
        <p:nvSpPr>
          <p:cNvPr id="583" name="—"/>
          <p:cNvSpPr txBox="1"/>
          <p:nvPr/>
        </p:nvSpPr>
        <p:spPr>
          <a:xfrm>
            <a:off x="12801600" y="5841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84" name="A steep learning curve for the whole team."/>
          <p:cNvSpPr txBox="1"/>
          <p:nvPr/>
        </p:nvSpPr>
        <p:spPr>
          <a:xfrm>
            <a:off x="13385800" y="58419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A steep learning curve for the whole team.</a:t>
            </a:r>
          </a:p>
        </p:txBody>
      </p:sp>
      <p:sp>
        <p:nvSpPr>
          <p:cNvPr id="585" name="—"/>
          <p:cNvSpPr txBox="1"/>
          <p:nvPr/>
        </p:nvSpPr>
        <p:spPr>
          <a:xfrm>
            <a:off x="12801600" y="67055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86" name="Less PHP, more JSON: theme.json, block.json."/>
          <p:cNvSpPr txBox="1"/>
          <p:nvPr/>
        </p:nvSpPr>
        <p:spPr>
          <a:xfrm>
            <a:off x="13385800" y="67055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a:ea typeface="Geist"/>
                <a:cs typeface="Geist"/>
                <a:sym typeface="Geist"/>
              </a:defRPr>
            </a:pPr>
            <a:r>
              <a:t>Less PHP, more JSON: </a:t>
            </a:r>
            <a:r>
              <a:rPr sz="2900">
                <a:solidFill>
                  <a:srgbClr val="6033A6"/>
                </a:solidFill>
                <a:latin typeface="Geist Mono"/>
                <a:ea typeface="Geist Mono"/>
                <a:cs typeface="Geist Mono"/>
                <a:sym typeface="Geist Mono"/>
              </a:rPr>
              <a:t>theme.json</a:t>
            </a:r>
            <a:r>
              <a:t>, </a:t>
            </a:r>
            <a:r>
              <a:rPr sz="2900">
                <a:solidFill>
                  <a:srgbClr val="6033A6"/>
                </a:solidFill>
                <a:latin typeface="Geist Mono"/>
                <a:ea typeface="Geist Mono"/>
                <a:cs typeface="Geist Mono"/>
                <a:sym typeface="Geist Mono"/>
              </a:rPr>
              <a:t>block.json</a:t>
            </a:r>
            <a:r>
              <a:t>.</a:t>
            </a:r>
          </a:p>
        </p:txBody>
      </p:sp>
      <p:sp>
        <p:nvSpPr>
          <p:cNvPr id="587" name="—"/>
          <p:cNvSpPr txBox="1"/>
          <p:nvPr/>
        </p:nvSpPr>
        <p:spPr>
          <a:xfrm>
            <a:off x="12801600" y="75691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88" name="Unlearning building every block from scratch."/>
          <p:cNvSpPr txBox="1"/>
          <p:nvPr/>
        </p:nvSpPr>
        <p:spPr>
          <a:xfrm>
            <a:off x="13385800" y="75691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Unlearning building every block from scratch.</a:t>
            </a:r>
          </a:p>
        </p:txBody>
      </p:sp>
      <p:sp>
        <p:nvSpPr>
          <p:cNvPr id="589" name="—"/>
          <p:cNvSpPr txBox="1"/>
          <p:nvPr/>
        </p:nvSpPr>
        <p:spPr>
          <a:xfrm>
            <a:off x="12801600" y="84327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90" name="Heavy build tooling: React, npm, a build step."/>
          <p:cNvSpPr txBox="1"/>
          <p:nvPr/>
        </p:nvSpPr>
        <p:spPr>
          <a:xfrm>
            <a:off x="13385800" y="84327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Heavy build tooling: React, npm, a build step.</a:t>
            </a:r>
          </a:p>
        </p:txBody>
      </p:sp>
      <p:sp>
        <p:nvSpPr>
          <p:cNvPr id="591" name="—"/>
          <p:cNvSpPr txBox="1"/>
          <p:nvPr/>
        </p:nvSpPr>
        <p:spPr>
          <a:xfrm>
            <a:off x="12801600" y="92963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a:ea typeface="Geist"/>
                <a:cs typeface="Geist"/>
                <a:sym typeface="Geist"/>
              </a:defRPr>
            </a:lvl1pPr>
          </a:lstStyle>
          <a:p>
            <a:pPr/>
            <a:r>
              <a:t>—</a:t>
            </a:r>
          </a:p>
        </p:txBody>
      </p:sp>
      <p:sp>
        <p:nvSpPr>
          <p:cNvPr id="592" name="Core moves fast, and the docs are scattered."/>
          <p:cNvSpPr txBox="1"/>
          <p:nvPr/>
        </p:nvSpPr>
        <p:spPr>
          <a:xfrm>
            <a:off x="13385800" y="92963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Core moves fast, and the docs are scattered.</a:t>
            </a:r>
          </a:p>
        </p:txBody>
      </p:sp>
      <p:pic>
        <p:nvPicPr>
          <p:cNvPr id="593" name="prog-25.png" descr="prog-2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9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98" name="The designer’s new job"/>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The designer’s </a:t>
            </a:r>
            <a:r>
              <a:rPr i="1" sz="9800">
                <a:solidFill>
                  <a:srgbClr val="6033A6"/>
                </a:solidFill>
                <a:latin typeface="Instrument Serif"/>
                <a:ea typeface="Instrument Serif"/>
                <a:cs typeface="Instrument Serif"/>
                <a:sym typeface="Instrument Serif"/>
              </a:rPr>
              <a:t>new job</a:t>
            </a:r>
          </a:p>
        </p:txBody>
      </p:sp>
      <p:sp>
        <p:nvSpPr>
          <p:cNvPr id="599"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600" name="uncle-ben.gif" descr="uncle-ben.gif"/>
          <p:cNvPicPr>
            <a:picLocks noChangeAspect="0"/>
          </p:cNvPicPr>
          <p:nvPr/>
        </p:nvPicPr>
        <p:blipFill>
          <a:blip r:embed="rId4">
            <a:extLst/>
          </a:blip>
          <a:stretch>
            <a:fillRect/>
          </a:stretch>
        </p:blipFill>
        <p:spPr>
          <a:xfrm>
            <a:off x="1320800" y="5080000"/>
            <a:ext cx="10798098" cy="4445000"/>
          </a:xfrm>
          <a:prstGeom prst="rect">
            <a:avLst/>
          </a:prstGeom>
          <a:ln w="12700">
            <a:miter lim="400000"/>
          </a:ln>
        </p:spPr>
      </p:pic>
      <p:sp>
        <p:nvSpPr>
          <p:cNvPr id="601" name="We used to design the limits: fixed layouts the client could only fill in."/>
          <p:cNvSpPr txBox="1"/>
          <p:nvPr/>
        </p:nvSpPr>
        <p:spPr>
          <a:xfrm>
            <a:off x="12776200" y="5118099"/>
            <a:ext cx="869388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a:ea typeface="Geist"/>
                <a:cs typeface="Geist"/>
                <a:sym typeface="Geist"/>
              </a:defRPr>
            </a:lvl1pPr>
          </a:lstStyle>
          <a:p>
            <a:pPr/>
            <a:r>
              <a:t>We used to design the limits: fixed layouts the client could only fill in.</a:t>
            </a:r>
          </a:p>
        </p:txBody>
      </p:sp>
      <p:sp>
        <p:nvSpPr>
          <p:cNvPr id="602" name="Core gives the client every block, in any order, next to anything."/>
          <p:cNvSpPr txBox="1"/>
          <p:nvPr/>
        </p:nvSpPr>
        <p:spPr>
          <a:xfrm>
            <a:off x="12776200" y="6705599"/>
            <a:ext cx="923701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a:ea typeface="Geist"/>
                <a:cs typeface="Geist"/>
                <a:sym typeface="Geist"/>
              </a:defRPr>
            </a:lvl1pPr>
          </a:lstStyle>
          <a:p>
            <a:pPr/>
            <a:r>
              <a:t>Core gives the client every block, in any order, next to anything.</a:t>
            </a:r>
          </a:p>
        </p:txBody>
      </p:sp>
      <p:sp>
        <p:nvSpPr>
          <p:cNvPr id="603" name="Every block needs to look like the brand, in every combination."/>
          <p:cNvSpPr txBox="1"/>
          <p:nvPr/>
        </p:nvSpPr>
        <p:spPr>
          <a:xfrm>
            <a:off x="12776200" y="8293099"/>
            <a:ext cx="837176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a:ea typeface="Geist"/>
                <a:cs typeface="Geist"/>
                <a:sym typeface="Geist"/>
              </a:defRPr>
            </a:lvl1pPr>
          </a:lstStyle>
          <a:p>
            <a:pPr/>
            <a:r>
              <a:t>Every block needs to look like the brand, in every combination.</a:t>
            </a:r>
          </a:p>
        </p:txBody>
      </p:sp>
      <p:pic>
        <p:nvPicPr>
          <p:cNvPr id="604" name="prog-26.png" descr="prog-26.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08"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609" name="The leap is high,"/>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The leap is high,</a:t>
            </a:r>
          </a:p>
        </p:txBody>
      </p:sp>
      <p:sp>
        <p:nvSpPr>
          <p:cNvPr id="610" name="and that is not your fault"/>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a:ea typeface="Instrument Serif"/>
                <a:cs typeface="Instrument Serif"/>
                <a:sym typeface="Instrument Serif"/>
              </a:defRPr>
            </a:lvl1pPr>
          </a:lstStyle>
          <a:p>
            <a:pPr/>
            <a:r>
              <a:t>and that is not your fault</a:t>
            </a:r>
          </a:p>
        </p:txBody>
      </p:sp>
      <p:sp>
        <p:nvSpPr>
          <p:cNvPr id="611" name="Since WordPress 5.0 in 2018, Gutenberg has added"/>
          <p:cNvSpPr txBox="1"/>
          <p:nvPr/>
        </p:nvSpPr>
        <p:spPr>
          <a:xfrm>
            <a:off x="1320800" y="7505699"/>
            <a:ext cx="2032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Since WordPress 5.0 in 2018, Gutenberg has added</a:t>
            </a:r>
          </a:p>
        </p:txBody>
      </p:sp>
      <p:sp>
        <p:nvSpPr>
          <p:cNvPr id="612" name="many ways to build sites without dependencies. And it has been a ride."/>
          <p:cNvSpPr txBox="1"/>
          <p:nvPr/>
        </p:nvSpPr>
        <p:spPr>
          <a:xfrm>
            <a:off x="1320800" y="8127999"/>
            <a:ext cx="2032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many ways to build sites without dependencies. And it has been a ride.</a:t>
            </a:r>
          </a:p>
        </p:txBody>
      </p:sp>
      <p:sp>
        <p:nvSpPr>
          <p:cNvPr id="613"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614" name="prog-27.png" descr="prog-27.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1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17" name="Ways to build a block"/>
          <p:cNvSpPr txBox="1"/>
          <p:nvPr/>
        </p:nvSpPr>
        <p:spPr>
          <a:xfrm>
            <a:off x="1308100" y="27685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Ways to build </a:t>
            </a:r>
            <a:r>
              <a:rPr i="1" sz="9800">
                <a:solidFill>
                  <a:srgbClr val="6033A6"/>
                </a:solidFill>
                <a:latin typeface="Instrument Serif"/>
                <a:ea typeface="Instrument Serif"/>
                <a:cs typeface="Instrument Serif"/>
                <a:sym typeface="Instrument Serif"/>
              </a:rPr>
              <a:t>a block</a:t>
            </a:r>
          </a:p>
        </p:txBody>
      </p:sp>
      <p:sp>
        <p:nvSpPr>
          <p:cNvPr id="618" name="—"/>
          <p:cNvSpPr txBox="1"/>
          <p:nvPr/>
        </p:nvSpPr>
        <p:spPr>
          <a:xfrm>
            <a:off x="13208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19" name="Core blocks, as shipped"/>
          <p:cNvSpPr txBox="1"/>
          <p:nvPr/>
        </p:nvSpPr>
        <p:spPr>
          <a:xfrm>
            <a:off x="1905000" y="49022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Core blocks, as shipped</a:t>
            </a:r>
          </a:p>
        </p:txBody>
      </p:sp>
      <p:sp>
        <p:nvSpPr>
          <p:cNvPr id="620" name="—"/>
          <p:cNvSpPr txBox="1"/>
          <p:nvPr/>
        </p:nvSpPr>
        <p:spPr>
          <a:xfrm>
            <a:off x="13208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21" name="Core block variations"/>
          <p:cNvSpPr txBox="1"/>
          <p:nvPr/>
        </p:nvSpPr>
        <p:spPr>
          <a:xfrm>
            <a:off x="19050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Core block variations</a:t>
            </a:r>
          </a:p>
        </p:txBody>
      </p:sp>
      <p:sp>
        <p:nvSpPr>
          <p:cNvPr id="622" name="—"/>
          <p:cNvSpPr txBox="1"/>
          <p:nvPr/>
        </p:nvSpPr>
        <p:spPr>
          <a:xfrm>
            <a:off x="13208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23" name="Block patterns"/>
          <p:cNvSpPr txBox="1"/>
          <p:nvPr/>
        </p:nvSpPr>
        <p:spPr>
          <a:xfrm>
            <a:off x="19050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Block patterns</a:t>
            </a:r>
          </a:p>
        </p:txBody>
      </p:sp>
      <p:sp>
        <p:nvSpPr>
          <p:cNvPr id="624" name="—"/>
          <p:cNvSpPr txBox="1"/>
          <p:nvPr/>
        </p:nvSpPr>
        <p:spPr>
          <a:xfrm>
            <a:off x="13208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25" name="Block styles"/>
          <p:cNvSpPr txBox="1"/>
          <p:nvPr/>
        </p:nvSpPr>
        <p:spPr>
          <a:xfrm>
            <a:off x="19050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Block styles</a:t>
            </a:r>
          </a:p>
        </p:txBody>
      </p:sp>
      <p:sp>
        <p:nvSpPr>
          <p:cNvPr id="626" name="—"/>
          <p:cNvSpPr txBox="1"/>
          <p:nvPr/>
        </p:nvSpPr>
        <p:spPr>
          <a:xfrm>
            <a:off x="13208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27" name="Filtering a core block in PHP"/>
          <p:cNvSpPr txBox="1"/>
          <p:nvPr/>
        </p:nvSpPr>
        <p:spPr>
          <a:xfrm>
            <a:off x="19050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Filtering a core block in PHP</a:t>
            </a:r>
          </a:p>
        </p:txBody>
      </p:sp>
      <p:sp>
        <p:nvSpPr>
          <p:cNvPr id="628" name="—"/>
          <p:cNvSpPr txBox="1"/>
          <p:nvPr/>
        </p:nvSpPr>
        <p:spPr>
          <a:xfrm>
            <a:off x="13208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29" name="Filtering a core block in JS"/>
          <p:cNvSpPr txBox="1"/>
          <p:nvPr/>
        </p:nvSpPr>
        <p:spPr>
          <a:xfrm>
            <a:off x="19050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Filtering a core block in JS</a:t>
            </a:r>
          </a:p>
        </p:txBody>
      </p:sp>
      <p:sp>
        <p:nvSpPr>
          <p:cNvPr id="630" name="—"/>
          <p:cNvSpPr txBox="1"/>
          <p:nvPr/>
        </p:nvSpPr>
        <p:spPr>
          <a:xfrm>
            <a:off x="85979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31" name="register_block_type in PHP"/>
          <p:cNvSpPr txBox="1"/>
          <p:nvPr/>
        </p:nvSpPr>
        <p:spPr>
          <a:xfrm>
            <a:off x="9182100" y="49022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a:ea typeface="Geist"/>
                <a:cs typeface="Geist"/>
                <a:sym typeface="Geist"/>
              </a:defRPr>
            </a:pPr>
            <a:r>
              <a:rPr sz="2700">
                <a:solidFill>
                  <a:srgbClr val="6033A6"/>
                </a:solidFill>
                <a:latin typeface="Geist Mono"/>
                <a:ea typeface="Geist Mono"/>
                <a:cs typeface="Geist Mono"/>
                <a:sym typeface="Geist Mono"/>
              </a:rPr>
              <a:t>register_block_type</a:t>
            </a:r>
            <a:r>
              <a:t> in PHP</a:t>
            </a:r>
          </a:p>
        </p:txBody>
      </p:sp>
      <p:sp>
        <p:nvSpPr>
          <p:cNvPr id="632" name="—"/>
          <p:cNvSpPr txBox="1"/>
          <p:nvPr/>
        </p:nvSpPr>
        <p:spPr>
          <a:xfrm>
            <a:off x="85979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33" name="registerBlockType in JS"/>
          <p:cNvSpPr txBox="1"/>
          <p:nvPr/>
        </p:nvSpPr>
        <p:spPr>
          <a:xfrm>
            <a:off x="91821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a:ea typeface="Geist"/>
                <a:cs typeface="Geist"/>
                <a:sym typeface="Geist"/>
              </a:defRPr>
            </a:pPr>
            <a:r>
              <a:rPr sz="2700">
                <a:solidFill>
                  <a:srgbClr val="6033A6"/>
                </a:solidFill>
                <a:latin typeface="Geist Mono"/>
                <a:ea typeface="Geist Mono"/>
                <a:cs typeface="Geist Mono"/>
                <a:sym typeface="Geist Mono"/>
              </a:rPr>
              <a:t>registerBlockType</a:t>
            </a:r>
            <a:r>
              <a:t> in JS</a:t>
            </a:r>
          </a:p>
        </p:txBody>
      </p:sp>
      <p:sp>
        <p:nvSpPr>
          <p:cNvPr id="634" name="—"/>
          <p:cNvSpPr txBox="1"/>
          <p:nvPr/>
        </p:nvSpPr>
        <p:spPr>
          <a:xfrm>
            <a:off x="85979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35" name="block.json metadata"/>
          <p:cNvSpPr txBox="1"/>
          <p:nvPr/>
        </p:nvSpPr>
        <p:spPr>
          <a:xfrm>
            <a:off x="91821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a:ea typeface="Geist"/>
                <a:cs typeface="Geist"/>
                <a:sym typeface="Geist"/>
              </a:defRPr>
            </a:pPr>
            <a:r>
              <a:rPr sz="2700">
                <a:solidFill>
                  <a:srgbClr val="6033A6"/>
                </a:solidFill>
                <a:latin typeface="Geist Mono"/>
                <a:ea typeface="Geist Mono"/>
                <a:cs typeface="Geist Mono"/>
                <a:sym typeface="Geist Mono"/>
              </a:rPr>
              <a:t>block.json</a:t>
            </a:r>
            <a:r>
              <a:t> metadata</a:t>
            </a:r>
          </a:p>
        </p:txBody>
      </p:sp>
      <p:sp>
        <p:nvSpPr>
          <p:cNvPr id="636" name="—"/>
          <p:cNvSpPr txBox="1"/>
          <p:nvPr/>
        </p:nvSpPr>
        <p:spPr>
          <a:xfrm>
            <a:off x="85979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37" name="Dynamic block with render.php"/>
          <p:cNvSpPr txBox="1"/>
          <p:nvPr/>
        </p:nvSpPr>
        <p:spPr>
          <a:xfrm>
            <a:off x="91821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a:ea typeface="Geist"/>
                <a:cs typeface="Geist"/>
                <a:sym typeface="Geist"/>
              </a:defRPr>
            </a:pPr>
            <a:r>
              <a:t>Dynamic block with </a:t>
            </a:r>
            <a:r>
              <a:rPr sz="2700">
                <a:solidFill>
                  <a:srgbClr val="6033A6"/>
                </a:solidFill>
                <a:latin typeface="Geist Mono"/>
                <a:ea typeface="Geist Mono"/>
                <a:cs typeface="Geist Mono"/>
                <a:sym typeface="Geist Mono"/>
              </a:rPr>
              <a:t>render.php</a:t>
            </a:r>
          </a:p>
        </p:txBody>
      </p:sp>
      <p:sp>
        <p:nvSpPr>
          <p:cNvPr id="638" name="—"/>
          <p:cNvSpPr txBox="1"/>
          <p:nvPr/>
        </p:nvSpPr>
        <p:spPr>
          <a:xfrm>
            <a:off x="85979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39" name="Custom React block"/>
          <p:cNvSpPr txBox="1"/>
          <p:nvPr/>
        </p:nvSpPr>
        <p:spPr>
          <a:xfrm>
            <a:off x="91821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Custom React block</a:t>
            </a:r>
          </a:p>
        </p:txBody>
      </p:sp>
      <p:sp>
        <p:nvSpPr>
          <p:cNvPr id="640" name="—"/>
          <p:cNvSpPr txBox="1"/>
          <p:nvPr/>
        </p:nvSpPr>
        <p:spPr>
          <a:xfrm>
            <a:off x="85979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41" name="Custom block with InnerBlocks"/>
          <p:cNvSpPr txBox="1"/>
          <p:nvPr/>
        </p:nvSpPr>
        <p:spPr>
          <a:xfrm>
            <a:off x="91821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a:ea typeface="Geist"/>
                <a:cs typeface="Geist"/>
                <a:sym typeface="Geist"/>
              </a:defRPr>
            </a:pPr>
            <a:r>
              <a:t>Custom block with </a:t>
            </a:r>
            <a:r>
              <a:rPr sz="2700">
                <a:solidFill>
                  <a:srgbClr val="6033A6"/>
                </a:solidFill>
                <a:latin typeface="Geist Mono"/>
                <a:ea typeface="Geist Mono"/>
                <a:cs typeface="Geist Mono"/>
                <a:sym typeface="Geist Mono"/>
              </a:rPr>
              <a:t>InnerBlocks</a:t>
            </a:r>
          </a:p>
        </p:txBody>
      </p:sp>
      <p:sp>
        <p:nvSpPr>
          <p:cNvPr id="642" name="—"/>
          <p:cNvSpPr txBox="1"/>
          <p:nvPr/>
        </p:nvSpPr>
        <p:spPr>
          <a:xfrm>
            <a:off x="163957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43" name="acf_register_block_type"/>
          <p:cNvSpPr txBox="1"/>
          <p:nvPr/>
        </p:nvSpPr>
        <p:spPr>
          <a:xfrm>
            <a:off x="16979900" y="4902199"/>
            <a:ext cx="64135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033A6"/>
                </a:solidFill>
                <a:latin typeface="Geist Mono"/>
                <a:ea typeface="Geist Mono"/>
                <a:cs typeface="Geist Mono"/>
                <a:sym typeface="Geist Mono"/>
              </a:defRPr>
            </a:lvl1pPr>
          </a:lstStyle>
          <a:p>
            <a:pPr>
              <a:defRPr sz="3000">
                <a:solidFill>
                  <a:srgbClr val="3D2644"/>
                </a:solidFill>
                <a:latin typeface="Geist"/>
                <a:ea typeface="Geist"/>
                <a:cs typeface="Geist"/>
                <a:sym typeface="Geist"/>
              </a:defRPr>
            </a:pPr>
            <a:r>
              <a:rPr sz="2700">
                <a:solidFill>
                  <a:srgbClr val="6033A6"/>
                </a:solidFill>
                <a:latin typeface="Geist Mono"/>
                <a:ea typeface="Geist Mono"/>
                <a:cs typeface="Geist Mono"/>
                <a:sym typeface="Geist Mono"/>
              </a:rPr>
              <a:t>acf_register_block_type</a:t>
            </a:r>
          </a:p>
        </p:txBody>
      </p:sp>
      <p:sp>
        <p:nvSpPr>
          <p:cNvPr id="644" name="—"/>
          <p:cNvSpPr txBox="1"/>
          <p:nvPr/>
        </p:nvSpPr>
        <p:spPr>
          <a:xfrm>
            <a:off x="163957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45" name="ACF blocks via block.json"/>
          <p:cNvSpPr txBox="1"/>
          <p:nvPr/>
        </p:nvSpPr>
        <p:spPr>
          <a:xfrm>
            <a:off x="169799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a:ea typeface="Geist"/>
                <a:cs typeface="Geist"/>
                <a:sym typeface="Geist"/>
              </a:defRPr>
            </a:pPr>
            <a:r>
              <a:t>ACF blocks via </a:t>
            </a:r>
            <a:r>
              <a:rPr sz="2700">
                <a:solidFill>
                  <a:srgbClr val="6033A6"/>
                </a:solidFill>
                <a:latin typeface="Geist Mono"/>
                <a:ea typeface="Geist Mono"/>
                <a:cs typeface="Geist Mono"/>
                <a:sym typeface="Geist Mono"/>
              </a:rPr>
              <a:t>block.json</a:t>
            </a:r>
          </a:p>
        </p:txBody>
      </p:sp>
      <p:sp>
        <p:nvSpPr>
          <p:cNvPr id="646" name="—"/>
          <p:cNvSpPr txBox="1"/>
          <p:nvPr/>
        </p:nvSpPr>
        <p:spPr>
          <a:xfrm>
            <a:off x="163957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47" name="Hybrid ACF and native"/>
          <p:cNvSpPr txBox="1"/>
          <p:nvPr/>
        </p:nvSpPr>
        <p:spPr>
          <a:xfrm>
            <a:off x="169799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Hybrid ACF and native</a:t>
            </a:r>
          </a:p>
        </p:txBody>
      </p:sp>
      <p:sp>
        <p:nvSpPr>
          <p:cNvPr id="648" name="—"/>
          <p:cNvSpPr txBox="1"/>
          <p:nvPr/>
        </p:nvSpPr>
        <p:spPr>
          <a:xfrm>
            <a:off x="163957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49" name="Classic theme, core blocks"/>
          <p:cNvSpPr txBox="1"/>
          <p:nvPr/>
        </p:nvSpPr>
        <p:spPr>
          <a:xfrm>
            <a:off x="169799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Classic theme, core blocks</a:t>
            </a:r>
          </a:p>
        </p:txBody>
      </p:sp>
      <p:sp>
        <p:nvSpPr>
          <p:cNvPr id="650" name="—"/>
          <p:cNvSpPr txBox="1"/>
          <p:nvPr/>
        </p:nvSpPr>
        <p:spPr>
          <a:xfrm>
            <a:off x="163957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51" name="Block theme, full site editing"/>
          <p:cNvSpPr txBox="1"/>
          <p:nvPr/>
        </p:nvSpPr>
        <p:spPr>
          <a:xfrm>
            <a:off x="169799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Block theme, full site editing</a:t>
            </a:r>
          </a:p>
        </p:txBody>
      </p:sp>
      <p:sp>
        <p:nvSpPr>
          <p:cNvPr id="652" name="—"/>
          <p:cNvSpPr txBox="1"/>
          <p:nvPr/>
        </p:nvSpPr>
        <p:spPr>
          <a:xfrm>
            <a:off x="163957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53" name="Block Bindings"/>
          <p:cNvSpPr txBox="1"/>
          <p:nvPr/>
        </p:nvSpPr>
        <p:spPr>
          <a:xfrm>
            <a:off x="169799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Block Bindings</a:t>
            </a:r>
          </a:p>
        </p:txBody>
      </p:sp>
      <p:sp>
        <p:nvSpPr>
          <p:cNvPr id="65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655" name="—"/>
          <p:cNvSpPr txBox="1"/>
          <p:nvPr/>
        </p:nvSpPr>
        <p:spPr>
          <a:xfrm>
            <a:off x="13208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56" name="Synced patterns"/>
          <p:cNvSpPr txBox="1"/>
          <p:nvPr/>
        </p:nvSpPr>
        <p:spPr>
          <a:xfrm>
            <a:off x="19050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Synced patterns</a:t>
            </a:r>
          </a:p>
        </p:txBody>
      </p:sp>
      <p:sp>
        <p:nvSpPr>
          <p:cNvPr id="657" name="—"/>
          <p:cNvSpPr txBox="1"/>
          <p:nvPr/>
        </p:nvSpPr>
        <p:spPr>
          <a:xfrm>
            <a:off x="85979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58" name="Interactive block, Interactivity API"/>
          <p:cNvSpPr txBox="1"/>
          <p:nvPr/>
        </p:nvSpPr>
        <p:spPr>
          <a:xfrm>
            <a:off x="91821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Interactive block, Interactivity API</a:t>
            </a:r>
          </a:p>
        </p:txBody>
      </p:sp>
      <p:sp>
        <p:nvSpPr>
          <p:cNvPr id="659" name="—"/>
          <p:cNvSpPr txBox="1"/>
          <p:nvPr/>
        </p:nvSpPr>
        <p:spPr>
          <a:xfrm>
            <a:off x="163957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a:ea typeface="Geist"/>
                <a:cs typeface="Geist"/>
                <a:sym typeface="Geist"/>
              </a:defRPr>
            </a:lvl1pPr>
          </a:lstStyle>
          <a:p>
            <a:pPr/>
            <a:r>
              <a:t>—</a:t>
            </a:r>
          </a:p>
        </p:txBody>
      </p:sp>
      <p:sp>
        <p:nvSpPr>
          <p:cNvPr id="660" name="3rd party page builders"/>
          <p:cNvSpPr txBox="1"/>
          <p:nvPr/>
        </p:nvSpPr>
        <p:spPr>
          <a:xfrm>
            <a:off x="169799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a:ea typeface="Geist"/>
                <a:cs typeface="Geist"/>
                <a:sym typeface="Geist"/>
              </a:defRPr>
            </a:lvl1pPr>
          </a:lstStyle>
          <a:p>
            <a:pPr/>
            <a:r>
              <a:t>3rd party page builders</a:t>
            </a:r>
          </a:p>
        </p:txBody>
      </p:sp>
      <p:pic>
        <p:nvPicPr>
          <p:cNvPr id="661" name="prog-28.png" descr="prog-28.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6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66" name="From core to custom, prioritize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From core </a:t>
            </a:r>
            <a:r>
              <a:rPr i="1" sz="9800">
                <a:solidFill>
                  <a:srgbClr val="6033A6"/>
                </a:solidFill>
                <a:latin typeface="Instrument Serif"/>
                <a:ea typeface="Instrument Serif"/>
                <a:cs typeface="Instrument Serif"/>
                <a:sym typeface="Instrument Serif"/>
              </a:rPr>
              <a:t>to custom, prioritized</a:t>
            </a:r>
          </a:p>
        </p:txBody>
      </p:sp>
      <p:sp>
        <p:nvSpPr>
          <p:cNvPr id="667" name="1. Core block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1. Core blocks</a:t>
            </a:r>
          </a:p>
        </p:txBody>
      </p:sp>
      <p:sp>
        <p:nvSpPr>
          <p:cNvPr id="668" name="WordPress 7.1 ships 115 of them, including accordion, tabs and details."/>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WordPress 7.1 ships 115 of them, including accordion, tabs and details.</a:t>
            </a:r>
          </a:p>
        </p:txBody>
      </p:sp>
      <p:sp>
        <p:nvSpPr>
          <p:cNvPr id="669" name="2. Patter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2. Patterns</a:t>
            </a:r>
          </a:p>
        </p:txBody>
      </p:sp>
      <p:sp>
        <p:nvSpPr>
          <p:cNvPr id="670" name="Core blocks arranged into a layout that editors insert and edit freely."/>
          <p:cNvSpPr txBox="1"/>
          <p:nvPr/>
        </p:nvSpPr>
        <p:spPr>
          <a:xfrm>
            <a:off x="128270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Core blocks arranged into a layout that editors insert and edit freely.</a:t>
            </a:r>
          </a:p>
        </p:txBody>
      </p:sp>
      <p:sp>
        <p:nvSpPr>
          <p:cNvPr id="671" name="3. Variations and styles"/>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3. Variations and styles</a:t>
            </a:r>
          </a:p>
        </p:txBody>
      </p:sp>
      <p:sp>
        <p:nvSpPr>
          <p:cNvPr id="672" name="A core block with your own defaults or look, in a few lines of code."/>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A core block with your own defaults or look, in a few lines of code.</a:t>
            </a:r>
          </a:p>
        </p:txBody>
      </p:sp>
      <p:sp>
        <p:nvSpPr>
          <p:cNvPr id="673" name="4. Custom blocks"/>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4. Custom blocks</a:t>
            </a:r>
          </a:p>
        </p:txBody>
      </p:sp>
      <p:sp>
        <p:nvSpPr>
          <p:cNvPr id="674" name="block.json and render.php when nothing in core fits, with InnerBlocks inside."/>
          <p:cNvSpPr txBox="1"/>
          <p:nvPr/>
        </p:nvSpPr>
        <p:spPr>
          <a:xfrm>
            <a:off x="12827000" y="855979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a:ea typeface="Geist"/>
                <a:cs typeface="Geist"/>
                <a:sym typeface="Geist"/>
              </a:defRPr>
            </a:pPr>
            <a:r>
              <a:rPr sz="3100">
                <a:solidFill>
                  <a:srgbClr val="6033A6"/>
                </a:solidFill>
                <a:latin typeface="Geist Mono"/>
                <a:ea typeface="Geist Mono"/>
                <a:cs typeface="Geist Mono"/>
                <a:sym typeface="Geist Mono"/>
              </a:rPr>
              <a:t>block.json</a:t>
            </a:r>
            <a:r>
              <a:t> and </a:t>
            </a:r>
            <a:r>
              <a:rPr sz="3100">
                <a:solidFill>
                  <a:srgbClr val="6033A6"/>
                </a:solidFill>
                <a:latin typeface="Geist Mono"/>
                <a:ea typeface="Geist Mono"/>
                <a:cs typeface="Geist Mono"/>
                <a:sym typeface="Geist Mono"/>
              </a:rPr>
              <a:t>render.php</a:t>
            </a:r>
            <a:r>
              <a:t> when nothing in core fits, with </a:t>
            </a:r>
            <a:r>
              <a:rPr sz="3100">
                <a:solidFill>
                  <a:srgbClr val="6033A6"/>
                </a:solidFill>
                <a:latin typeface="Geist Mono"/>
                <a:ea typeface="Geist Mono"/>
                <a:cs typeface="Geist Mono"/>
                <a:sym typeface="Geist Mono"/>
              </a:rPr>
              <a:t>InnerBlocks</a:t>
            </a:r>
            <a:r>
              <a:t> inside.</a:t>
            </a:r>
          </a:p>
        </p:txBody>
      </p:sp>
      <p:sp>
        <p:nvSpPr>
          <p:cNvPr id="67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676" name="prog-29.png" descr="prog-29.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8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81" name="Block example: Media and text"/>
          <p:cNvSpPr txBox="1"/>
          <p:nvPr/>
        </p:nvSpPr>
        <p:spPr>
          <a:xfrm>
            <a:off x="1308100" y="22987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ExtraBold"/>
                <a:ea typeface="Unbounded ExtraBold"/>
                <a:cs typeface="Unbounded ExtraBold"/>
                <a:sym typeface="Unbounded ExtraBold"/>
              </a:defRPr>
            </a:lvl1pPr>
          </a:lstStyle>
          <a:p>
            <a:pPr/>
            <a:r>
              <a:t>Block example: Media and text</a:t>
            </a:r>
          </a:p>
        </p:txBody>
      </p:sp>
      <p:sp>
        <p:nvSpPr>
          <p:cNvPr id="682" name="With ACF"/>
          <p:cNvSpPr txBox="1"/>
          <p:nvPr/>
        </p:nvSpPr>
        <p:spPr>
          <a:xfrm>
            <a:off x="1308100" y="4330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a:ea typeface="Instrument Serif"/>
                <a:cs typeface="Instrument Serif"/>
                <a:sym typeface="Instrument Serif"/>
              </a:defRPr>
            </a:lvl1pPr>
          </a:lstStyle>
          <a:p>
            <a:pPr/>
            <a:r>
              <a:t>With ACF</a:t>
            </a:r>
          </a:p>
        </p:txBody>
      </p:sp>
      <p:sp>
        <p:nvSpPr>
          <p:cNvPr id="683" name="With the core Media &amp; Text block"/>
          <p:cNvSpPr txBox="1"/>
          <p:nvPr/>
        </p:nvSpPr>
        <p:spPr>
          <a:xfrm>
            <a:off x="12382500" y="4330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a:ea typeface="Instrument Serif"/>
                <a:cs typeface="Instrument Serif"/>
                <a:sym typeface="Instrument Serif"/>
              </a:defRPr>
            </a:lvl1pPr>
          </a:lstStyle>
          <a:p>
            <a:pPr/>
            <a:r>
              <a:t>With the core Media &amp; Text block</a:t>
            </a:r>
          </a:p>
        </p:txBody>
      </p:sp>
      <p:sp>
        <p:nvSpPr>
          <p:cNvPr id="68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685" name="panel-852x536.png" descr="panel-852x536.png"/>
          <p:cNvPicPr>
            <a:picLocks noChangeAspect="1"/>
          </p:cNvPicPr>
          <p:nvPr/>
        </p:nvPicPr>
        <p:blipFill>
          <a:blip r:embed="rId4">
            <a:extLst/>
          </a:blip>
          <a:stretch>
            <a:fillRect/>
          </a:stretch>
        </p:blipFill>
        <p:spPr>
          <a:xfrm>
            <a:off x="1371600" y="5245100"/>
            <a:ext cx="10820400" cy="6807200"/>
          </a:xfrm>
          <a:prstGeom prst="rect">
            <a:avLst/>
          </a:prstGeom>
          <a:ln w="12700">
            <a:miter lim="400000"/>
          </a:ln>
        </p:spPr>
      </p:pic>
      <p:sp>
        <p:nvSpPr>
          <p:cNvPr id="686" name="$title   = get_field( 'title' ); $content = get_field( 'content' ); $image   = get_field( 'image' ); $link    = get_field( 'link' ); ?&gt; &lt;section class=“block block-content-image&quot;&gt;   &lt;h2&gt;&lt;?php echo esc_html( $title ); ?&gt;&lt;/h2&gt;   &lt;?php echo wp_kses_post( $c"/>
          <p:cNvSpPr txBox="1"/>
          <p:nvPr/>
        </p:nvSpPr>
        <p:spPr>
          <a:xfrm>
            <a:off x="1612900" y="5640069"/>
            <a:ext cx="11023600" cy="63627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a:ea typeface="Geist Mono"/>
                <a:cs typeface="Geist Mono"/>
                <a:sym typeface="Geist Mono"/>
              </a:defRPr>
            </a:pPr>
            <a:r>
              <a:t>$title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'title'</a:t>
            </a:r>
            <a:r>
              <a:t> </a:t>
            </a:r>
            <a:r>
              <a:rPr>
                <a:solidFill>
                  <a:srgbClr val="C4B7E9"/>
                </a:solidFill>
              </a:rPr>
              <a:t>);</a:t>
            </a:r>
            <a:br/>
            <a:r>
              <a:t>$content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'content'</a:t>
            </a:r>
            <a:r>
              <a:t> </a:t>
            </a:r>
            <a:r>
              <a:rPr>
                <a:solidFill>
                  <a:srgbClr val="C4B7E9"/>
                </a:solidFill>
              </a:rPr>
              <a:t>);</a:t>
            </a:r>
            <a:br/>
            <a:r>
              <a:t>$image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'image'</a:t>
            </a:r>
            <a:r>
              <a:t> </a:t>
            </a:r>
            <a:r>
              <a:rPr>
                <a:solidFill>
                  <a:srgbClr val="C4B7E9"/>
                </a:solidFill>
              </a:rPr>
              <a:t>);</a:t>
            </a:r>
            <a:br/>
            <a:r>
              <a:t>$link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'link'</a:t>
            </a:r>
            <a:r>
              <a:t> </a:t>
            </a:r>
            <a:r>
              <a:rPr>
                <a:solidFill>
                  <a:srgbClr val="C4B7E9"/>
                </a:solidFill>
              </a:rPr>
              <a:t>);</a:t>
            </a:r>
            <a:br/>
            <a:r>
              <a:t>?</a:t>
            </a:r>
            <a:r>
              <a:rPr>
                <a:solidFill>
                  <a:srgbClr val="C4B7E9"/>
                </a:solidFill>
              </a:rPr>
              <a:t>&gt;</a:t>
            </a:r>
            <a:br/>
            <a:r>
              <a:rPr>
                <a:solidFill>
                  <a:srgbClr val="C4B7E9"/>
                </a:solidFill>
              </a:rPr>
              <a:t>&lt;</a:t>
            </a:r>
            <a:r>
              <a:t>section class</a:t>
            </a:r>
            <a:r>
              <a:rPr>
                <a:solidFill>
                  <a:srgbClr val="C4B7E9"/>
                </a:solidFill>
              </a:rPr>
              <a:t>=</a:t>
            </a:r>
            <a:r>
              <a:rPr>
                <a:solidFill>
                  <a:srgbClr val="FFC3E7"/>
                </a:solidFill>
              </a:rPr>
              <a:t>“block block-content-image"</a:t>
            </a:r>
            <a:r>
              <a:rPr>
                <a:solidFill>
                  <a:srgbClr val="C4B7E9"/>
                </a:solidFill>
              </a:rPr>
              <a:t>&gt;</a:t>
            </a:r>
            <a:br/>
            <a:r>
              <a:t>  </a:t>
            </a:r>
            <a:r>
              <a:rPr>
                <a:solidFill>
                  <a:srgbClr val="C4B7E9"/>
                </a:solidFill>
              </a:rPr>
              <a:t>&lt;</a:t>
            </a:r>
            <a:r>
              <a:t>h2</a:t>
            </a:r>
            <a:r>
              <a:rPr>
                <a:solidFill>
                  <a:srgbClr val="C4B7E9"/>
                </a:solidFill>
              </a:rPr>
              <a:t>&gt;&lt;</a:t>
            </a:r>
            <a:r>
              <a:t>?php </a:t>
            </a:r>
            <a:r>
              <a:rPr>
                <a:solidFill>
                  <a:srgbClr val="FF97E2"/>
                </a:solidFill>
              </a:rPr>
              <a:t>echo</a:t>
            </a:r>
            <a:r>
              <a:t> </a:t>
            </a:r>
            <a:r>
              <a:rPr>
                <a:solidFill>
                  <a:srgbClr val="FF97E2"/>
                </a:solidFill>
              </a:rPr>
              <a:t>esc_html</a:t>
            </a:r>
            <a:r>
              <a:rPr>
                <a:solidFill>
                  <a:srgbClr val="C4B7E9"/>
                </a:solidFill>
              </a:rPr>
              <a:t>(</a:t>
            </a:r>
            <a:r>
              <a:t> $title </a:t>
            </a:r>
            <a:r>
              <a:rPr>
                <a:solidFill>
                  <a:srgbClr val="C4B7E9"/>
                </a:solidFill>
              </a:rPr>
              <a:t>);</a:t>
            </a:r>
            <a:r>
              <a:t> ?</a:t>
            </a:r>
            <a:r>
              <a:rPr>
                <a:solidFill>
                  <a:srgbClr val="C4B7E9"/>
                </a:solidFill>
              </a:rPr>
              <a:t>&gt;&lt;</a:t>
            </a:r>
            <a:r>
              <a:t>/h2</a:t>
            </a:r>
            <a:r>
              <a:rPr>
                <a:solidFill>
                  <a:srgbClr val="C4B7E9"/>
                </a:solidFill>
              </a:rPr>
              <a:t>&gt;</a:t>
            </a:r>
            <a:br/>
            <a:r>
              <a:t>  </a:t>
            </a:r>
            <a:r>
              <a:rPr>
                <a:solidFill>
                  <a:srgbClr val="C4B7E9"/>
                </a:solidFill>
              </a:rPr>
              <a:t>&lt;</a:t>
            </a:r>
            <a:r>
              <a:t>?php </a:t>
            </a:r>
            <a:r>
              <a:rPr>
                <a:solidFill>
                  <a:srgbClr val="FF97E2"/>
                </a:solidFill>
              </a:rPr>
              <a:t>echo</a:t>
            </a:r>
            <a:r>
              <a:t> </a:t>
            </a:r>
            <a:r>
              <a:rPr>
                <a:solidFill>
                  <a:srgbClr val="D2B0FF"/>
                </a:solidFill>
              </a:rPr>
              <a:t>wp_kses_post</a:t>
            </a:r>
            <a:r>
              <a:rPr>
                <a:solidFill>
                  <a:srgbClr val="C4B7E9"/>
                </a:solidFill>
              </a:rPr>
              <a:t>(</a:t>
            </a:r>
            <a:r>
              <a:t> $content </a:t>
            </a:r>
            <a:r>
              <a:rPr>
                <a:solidFill>
                  <a:srgbClr val="C4B7E9"/>
                </a:solidFill>
              </a:rPr>
              <a:t>);</a:t>
            </a:r>
            <a:r>
              <a:t> ?</a:t>
            </a:r>
            <a:r>
              <a:rPr>
                <a:solidFill>
                  <a:srgbClr val="C4B7E9"/>
                </a:solidFill>
              </a:rPr>
              <a:t>&gt;</a:t>
            </a:r>
            <a:br/>
            <a:r>
              <a:t>  &lt;p&gt;</a:t>
            </a:r>
            <a:br/>
            <a:r>
              <a:t>    </a:t>
            </a:r>
            <a:r>
              <a:rPr>
                <a:solidFill>
                  <a:srgbClr val="C4B7E9"/>
                </a:solidFill>
              </a:rPr>
              <a:t>&lt;</a:t>
            </a:r>
            <a:r>
              <a:t>a href</a:t>
            </a:r>
            <a:r>
              <a:rPr>
                <a:solidFill>
                  <a:srgbClr val="C4B7E9"/>
                </a:solidFill>
              </a:rPr>
              <a:t>=</a:t>
            </a:r>
            <a:r>
              <a:rPr>
                <a:solidFill>
                  <a:srgbClr val="FFC3E7"/>
                </a:solidFill>
              </a:rPr>
              <a:t>"&lt;?php echo esc_url( $link['url'] ); ?&gt;”</a:t>
            </a:r>
            <a:r>
              <a:rPr>
                <a:solidFill>
                  <a:srgbClr val="C4B7E9"/>
                </a:solidFill>
              </a:rPr>
              <a:t>&gt;</a:t>
            </a:r>
            <a:br>
              <a:rPr>
                <a:solidFill>
                  <a:srgbClr val="C4B7E9"/>
                </a:solidFill>
              </a:rPr>
            </a:br>
            <a:r>
              <a:rPr>
                <a:solidFill>
                  <a:srgbClr val="C4B7E9"/>
                </a:solidFill>
              </a:rPr>
              <a:t>      &lt;</a:t>
            </a:r>
            <a:r>
              <a:t>?php </a:t>
            </a:r>
            <a:r>
              <a:rPr>
                <a:solidFill>
                  <a:srgbClr val="FF97E2"/>
                </a:solidFill>
              </a:rPr>
              <a:t>echo</a:t>
            </a:r>
            <a:r>
              <a:t> </a:t>
            </a:r>
            <a:r>
              <a:rPr>
                <a:solidFill>
                  <a:srgbClr val="FF97E2"/>
                </a:solidFill>
              </a:rPr>
              <a:t>esc_html</a:t>
            </a:r>
            <a:r>
              <a:rPr>
                <a:solidFill>
                  <a:srgbClr val="C4B7E9"/>
                </a:solidFill>
              </a:rPr>
              <a:t>(</a:t>
            </a:r>
            <a:r>
              <a:t> $link</a:t>
            </a:r>
            <a:r>
              <a:rPr>
                <a:solidFill>
                  <a:srgbClr val="C4B7E9"/>
                </a:solidFill>
              </a:rPr>
              <a:t>[</a:t>
            </a:r>
            <a:r>
              <a:rPr>
                <a:solidFill>
                  <a:srgbClr val="FFC3E7"/>
                </a:solidFill>
              </a:rPr>
              <a:t>'title'</a:t>
            </a:r>
            <a:r>
              <a:rPr>
                <a:solidFill>
                  <a:srgbClr val="C4B7E9"/>
                </a:solidFill>
              </a:rPr>
              <a:t>]</a:t>
            </a:r>
            <a:r>
              <a:t> </a:t>
            </a:r>
            <a:r>
              <a:rPr>
                <a:solidFill>
                  <a:srgbClr val="C4B7E9"/>
                </a:solidFill>
              </a:rPr>
              <a:t>);</a:t>
            </a:r>
            <a:r>
              <a:t> ?</a:t>
            </a:r>
            <a:r>
              <a:rPr>
                <a:solidFill>
                  <a:srgbClr val="C4B7E9"/>
                </a:solidFill>
              </a:rPr>
              <a:t>&gt;</a:t>
            </a:r>
            <a:br>
              <a:rPr>
                <a:solidFill>
                  <a:srgbClr val="C4B7E9"/>
                </a:solidFill>
              </a:rPr>
            </a:br>
            <a:r>
              <a:rPr>
                <a:solidFill>
                  <a:srgbClr val="C4B7E9"/>
                </a:solidFill>
              </a:rPr>
              <a:t>    &lt;</a:t>
            </a:r>
            <a:r>
              <a:t>/a</a:t>
            </a:r>
            <a:r>
              <a:rPr>
                <a:solidFill>
                  <a:srgbClr val="C4B7E9"/>
                </a:solidFill>
              </a:rPr>
              <a:t>&gt;</a:t>
            </a:r>
            <a:br>
              <a:rPr>
                <a:solidFill>
                  <a:srgbClr val="C4B7E9"/>
                </a:solidFill>
              </a:rPr>
            </a:br>
            <a:r>
              <a:rPr>
                <a:solidFill>
                  <a:srgbClr val="C4B7E9"/>
                </a:solidFill>
              </a:rPr>
              <a:t>  &lt;/p&gt;</a:t>
            </a:r>
            <a:br/>
            <a:r>
              <a:t>  </a:t>
            </a:r>
            <a:r>
              <a:rPr>
                <a:solidFill>
                  <a:srgbClr val="C4B7E9"/>
                </a:solidFill>
              </a:rPr>
              <a:t>&lt;</a:t>
            </a:r>
            <a:r>
              <a:t>?php </a:t>
            </a:r>
            <a:r>
              <a:rPr>
                <a:solidFill>
                  <a:srgbClr val="D2B0FF"/>
                </a:solidFill>
              </a:rPr>
              <a:t>native_lazyload_tag</a:t>
            </a:r>
            <a:r>
              <a:rPr>
                <a:solidFill>
                  <a:srgbClr val="C4B7E9"/>
                </a:solidFill>
              </a:rPr>
              <a:t>(</a:t>
            </a:r>
            <a:r>
              <a:t> $image </a:t>
            </a:r>
            <a:r>
              <a:rPr>
                <a:solidFill>
                  <a:srgbClr val="C4B7E9"/>
                </a:solidFill>
              </a:rPr>
              <a:t>);</a:t>
            </a:r>
            <a:r>
              <a:t> ?</a:t>
            </a:r>
            <a:r>
              <a:rPr>
                <a:solidFill>
                  <a:srgbClr val="C4B7E9"/>
                </a:solidFill>
              </a:rPr>
              <a:t>&gt;</a:t>
            </a:r>
            <a:br/>
            <a:r>
              <a:rPr>
                <a:solidFill>
                  <a:srgbClr val="C4B7E9"/>
                </a:solidFill>
              </a:rPr>
              <a:t>&lt;</a:t>
            </a:r>
            <a:r>
              <a:t>/section</a:t>
            </a:r>
            <a:r>
              <a:rPr>
                <a:solidFill>
                  <a:srgbClr val="C4B7E9"/>
                </a:solidFill>
              </a:rPr>
              <a:t>&gt;</a:t>
            </a:r>
            <a:br>
              <a:rPr>
                <a:solidFill>
                  <a:srgbClr val="C4B7E9"/>
                </a:solidFill>
              </a:rPr>
            </a:br>
          </a:p>
        </p:txBody>
      </p:sp>
      <p:pic>
        <p:nvPicPr>
          <p:cNvPr id="687" name="media-text-inserter.png" descr="media-text-inserter.png"/>
          <p:cNvPicPr>
            <a:picLocks noChangeAspect="1"/>
          </p:cNvPicPr>
          <p:nvPr/>
        </p:nvPicPr>
        <p:blipFill>
          <a:blip r:embed="rId5">
            <a:extLst/>
          </a:blip>
          <a:stretch>
            <a:fillRect/>
          </a:stretch>
        </p:blipFill>
        <p:spPr>
          <a:xfrm>
            <a:off x="12395200" y="5245100"/>
            <a:ext cx="10620458" cy="6807200"/>
          </a:xfrm>
          <a:prstGeom prst="rect">
            <a:avLst/>
          </a:prstGeom>
          <a:ln w="12700">
            <a:miter lim="400000"/>
          </a:ln>
        </p:spPr>
      </p:pic>
      <p:pic>
        <p:nvPicPr>
          <p:cNvPr id="688" name="prog-30.png" descr="prog-30.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92"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93" name="Most of the time"/>
          <p:cNvSpPr txBox="1"/>
          <p:nvPr/>
        </p:nvSpPr>
        <p:spPr>
          <a:xfrm>
            <a:off x="1308100" y="33781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Most of the time</a:t>
            </a:r>
          </a:p>
        </p:txBody>
      </p:sp>
      <p:sp>
        <p:nvSpPr>
          <p:cNvPr id="694" name="you don’t need to code a block"/>
          <p:cNvSpPr txBox="1"/>
          <p:nvPr/>
        </p:nvSpPr>
        <p:spPr>
          <a:xfrm>
            <a:off x="1308100" y="4584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a:ea typeface="Instrument Serif"/>
                <a:cs typeface="Instrument Serif"/>
                <a:sym typeface="Instrument Serif"/>
              </a:defRPr>
            </a:lvl1pPr>
          </a:lstStyle>
          <a:p>
            <a:pPr/>
            <a:r>
              <a:t>you don’t need to code a block</a:t>
            </a:r>
          </a:p>
        </p:txBody>
      </p:sp>
      <p:sp>
        <p:nvSpPr>
          <p:cNvPr id="695" name="WordPress 7.1 ships 115 core blocks,"/>
          <p:cNvSpPr txBox="1"/>
          <p:nvPr/>
        </p:nvSpPr>
        <p:spPr>
          <a:xfrm>
            <a:off x="1320800" y="70910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WordPress 7.1 ships 115 core blocks,</a:t>
            </a:r>
          </a:p>
        </p:txBody>
      </p:sp>
      <p:sp>
        <p:nvSpPr>
          <p:cNvPr id="696" name="and most layouts are a core block, a pattern or a block style,"/>
          <p:cNvSpPr txBox="1"/>
          <p:nvPr/>
        </p:nvSpPr>
        <p:spPr>
          <a:xfrm>
            <a:off x="1320800" y="77514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and most layouts are a core block, a pattern or a block style,</a:t>
            </a:r>
          </a:p>
        </p:txBody>
      </p:sp>
      <p:sp>
        <p:nvSpPr>
          <p:cNvPr id="69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698" name="set up in the editor and in theme.json."/>
          <p:cNvSpPr txBox="1"/>
          <p:nvPr/>
        </p:nvSpPr>
        <p:spPr>
          <a:xfrm>
            <a:off x="1320800" y="83864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600">
                <a:solidFill>
                  <a:srgbClr val="4B3051"/>
                </a:solidFill>
                <a:latin typeface="Geist"/>
                <a:ea typeface="Geist"/>
                <a:cs typeface="Geist"/>
                <a:sym typeface="Geist"/>
              </a:defRPr>
            </a:pPr>
            <a:r>
              <a:t>set up in the editor and in </a:t>
            </a:r>
            <a:r>
              <a:rPr sz="3300">
                <a:solidFill>
                  <a:srgbClr val="6033A6"/>
                </a:solidFill>
                <a:latin typeface="Geist Mono"/>
                <a:ea typeface="Geist Mono"/>
                <a:cs typeface="Geist Mono"/>
                <a:sym typeface="Geist Mono"/>
              </a:rPr>
              <a:t>theme.json</a:t>
            </a:r>
            <a:r>
              <a:t>.</a:t>
            </a:r>
          </a:p>
        </p:txBody>
      </p:sp>
      <p:pic>
        <p:nvPicPr>
          <p:cNvPr id="699" name="prog-31.png" descr="prog-31.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0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04" name="When you do code: the Dude House Way"/>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When you do code: </a:t>
            </a:r>
            <a:r>
              <a:rPr i="1" sz="9800">
                <a:solidFill>
                  <a:srgbClr val="6033A6"/>
                </a:solidFill>
                <a:latin typeface="Instrument Serif"/>
                <a:ea typeface="Instrument Serif"/>
                <a:cs typeface="Instrument Serif"/>
                <a:sym typeface="Instrument Serif"/>
              </a:rPr>
              <a:t>the Dude House Way</a:t>
            </a:r>
          </a:p>
        </p:txBody>
      </p:sp>
      <p:sp>
        <p:nvSpPr>
          <p:cNvPr id="70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706" name="1"/>
          <p:cNvSpPr txBox="1"/>
          <p:nvPr/>
        </p:nvSpPr>
        <p:spPr>
          <a:xfrm>
            <a:off x="1320800" y="5003800"/>
            <a:ext cx="372086"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SemiBold"/>
                <a:ea typeface="Unbounded SemiBold"/>
                <a:cs typeface="Unbounded SemiBold"/>
                <a:sym typeface="Unbounded SemiBold"/>
              </a:defRPr>
            </a:lvl1pPr>
          </a:lstStyle>
          <a:p>
            <a:pPr/>
            <a:r>
              <a:t>1</a:t>
            </a:r>
          </a:p>
        </p:txBody>
      </p:sp>
      <p:sp>
        <p:nvSpPr>
          <p:cNvPr id="707" name="Lock theme.json first: palette, type scale, spacing…"/>
          <p:cNvSpPr txBox="1"/>
          <p:nvPr/>
        </p:nvSpPr>
        <p:spPr>
          <a:xfrm>
            <a:off x="2159000" y="5079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a:ea typeface="Geist"/>
                <a:cs typeface="Geist"/>
                <a:sym typeface="Geist"/>
              </a:defRPr>
            </a:pPr>
            <a:r>
              <a:t>Lock </a:t>
            </a:r>
            <a:r>
              <a:rPr sz="2900">
                <a:solidFill>
                  <a:srgbClr val="6033A6"/>
                </a:solidFill>
                <a:latin typeface="Geist Mono"/>
                <a:ea typeface="Geist Mono"/>
                <a:cs typeface="Geist Mono"/>
                <a:sym typeface="Geist Mono"/>
              </a:rPr>
              <a:t>theme.json</a:t>
            </a:r>
            <a:r>
              <a:t> first: palette, type scale, spacing…</a:t>
            </a:r>
          </a:p>
        </p:txBody>
      </p:sp>
      <p:sp>
        <p:nvSpPr>
          <p:cNvPr id="708" name="2"/>
          <p:cNvSpPr txBox="1"/>
          <p:nvPr/>
        </p:nvSpPr>
        <p:spPr>
          <a:xfrm>
            <a:off x="1320800" y="6019800"/>
            <a:ext cx="53248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SemiBold"/>
                <a:ea typeface="Unbounded SemiBold"/>
                <a:cs typeface="Unbounded SemiBold"/>
                <a:sym typeface="Unbounded SemiBold"/>
              </a:defRPr>
            </a:lvl1pPr>
          </a:lstStyle>
          <a:p>
            <a:pPr/>
            <a:r>
              <a:t>2</a:t>
            </a:r>
          </a:p>
        </p:txBody>
      </p:sp>
      <p:sp>
        <p:nvSpPr>
          <p:cNvPr id="709" name="Core blocks, curated per post type."/>
          <p:cNvSpPr txBox="1"/>
          <p:nvPr/>
        </p:nvSpPr>
        <p:spPr>
          <a:xfrm>
            <a:off x="2159000" y="6095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Core blocks, curated per post type.</a:t>
            </a:r>
          </a:p>
        </p:txBody>
      </p:sp>
      <p:sp>
        <p:nvSpPr>
          <p:cNvPr id="710" name="3"/>
          <p:cNvSpPr txBox="1"/>
          <p:nvPr/>
        </p:nvSpPr>
        <p:spPr>
          <a:xfrm>
            <a:off x="1320800" y="7035800"/>
            <a:ext cx="535992"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SemiBold"/>
                <a:ea typeface="Unbounded SemiBold"/>
                <a:cs typeface="Unbounded SemiBold"/>
                <a:sym typeface="Unbounded SemiBold"/>
              </a:defRPr>
            </a:lvl1pPr>
          </a:lstStyle>
          <a:p>
            <a:pPr/>
            <a:r>
              <a:t>3</a:t>
            </a:r>
          </a:p>
        </p:txBody>
      </p:sp>
      <p:sp>
        <p:nvSpPr>
          <p:cNvPr id="711" name="Style core blocks and their variations in theme.json"/>
          <p:cNvSpPr txBox="1"/>
          <p:nvPr/>
        </p:nvSpPr>
        <p:spPr>
          <a:xfrm>
            <a:off x="2159000" y="7111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a:ea typeface="Geist"/>
                <a:cs typeface="Geist"/>
                <a:sym typeface="Geist"/>
              </a:defRPr>
            </a:pPr>
            <a:r>
              <a:t>Style core blocks and their variations in </a:t>
            </a:r>
            <a:r>
              <a:rPr sz="2900">
                <a:solidFill>
                  <a:srgbClr val="6033A6"/>
                </a:solidFill>
                <a:latin typeface="Geist Mono"/>
                <a:ea typeface="Geist Mono"/>
                <a:cs typeface="Geist Mono"/>
                <a:sym typeface="Geist Mono"/>
              </a:rPr>
              <a:t>theme.json</a:t>
            </a:r>
          </a:p>
        </p:txBody>
      </p:sp>
      <p:sp>
        <p:nvSpPr>
          <p:cNvPr id="712" name="4"/>
          <p:cNvSpPr txBox="1"/>
          <p:nvPr/>
        </p:nvSpPr>
        <p:spPr>
          <a:xfrm>
            <a:off x="1320800" y="8051800"/>
            <a:ext cx="544171"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SemiBold"/>
                <a:ea typeface="Unbounded SemiBold"/>
                <a:cs typeface="Unbounded SemiBold"/>
                <a:sym typeface="Unbounded SemiBold"/>
              </a:defRPr>
            </a:lvl1pPr>
          </a:lstStyle>
          <a:p>
            <a:pPr/>
            <a:r>
              <a:t>4</a:t>
            </a:r>
          </a:p>
        </p:txBody>
      </p:sp>
      <p:sp>
        <p:nvSpPr>
          <p:cNvPr id="713" name="Layouts as patterns, built from core blocks."/>
          <p:cNvSpPr txBox="1"/>
          <p:nvPr/>
        </p:nvSpPr>
        <p:spPr>
          <a:xfrm>
            <a:off x="2159000" y="8127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Layouts as patterns, built from core blocks.</a:t>
            </a:r>
          </a:p>
        </p:txBody>
      </p:sp>
      <p:sp>
        <p:nvSpPr>
          <p:cNvPr id="714" name="5"/>
          <p:cNvSpPr txBox="1"/>
          <p:nvPr/>
        </p:nvSpPr>
        <p:spPr>
          <a:xfrm>
            <a:off x="1320800" y="9067800"/>
            <a:ext cx="52011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SemiBold"/>
                <a:ea typeface="Unbounded SemiBold"/>
                <a:cs typeface="Unbounded SemiBold"/>
                <a:sym typeface="Unbounded SemiBold"/>
              </a:defRPr>
            </a:lvl1pPr>
          </a:lstStyle>
          <a:p>
            <a:pPr/>
            <a:r>
              <a:t>5</a:t>
            </a:r>
          </a:p>
        </p:txBody>
      </p:sp>
      <p:sp>
        <p:nvSpPr>
          <p:cNvPr id="715" name="Public data from the WP REST API, rendered in the browser."/>
          <p:cNvSpPr txBox="1"/>
          <p:nvPr/>
        </p:nvSpPr>
        <p:spPr>
          <a:xfrm>
            <a:off x="2159000" y="9143999"/>
            <a:ext cx="1136779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Public data from the WP REST API, rendered in the browser.</a:t>
            </a:r>
          </a:p>
        </p:txBody>
      </p:sp>
      <p:sp>
        <p:nvSpPr>
          <p:cNvPr id="716" name="6"/>
          <p:cNvSpPr txBox="1"/>
          <p:nvPr/>
        </p:nvSpPr>
        <p:spPr>
          <a:xfrm>
            <a:off x="1320800" y="10083800"/>
            <a:ext cx="54551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SemiBold"/>
                <a:ea typeface="Unbounded SemiBold"/>
                <a:cs typeface="Unbounded SemiBold"/>
                <a:sym typeface="Unbounded SemiBold"/>
              </a:defRPr>
            </a:lvl1pPr>
          </a:lstStyle>
          <a:p>
            <a:pPr/>
            <a:r>
              <a:t>6</a:t>
            </a:r>
          </a:p>
        </p:txBody>
      </p:sp>
      <p:sp>
        <p:nvSpPr>
          <p:cNvPr id="717" name="Interactivity API for filters and paging."/>
          <p:cNvSpPr txBox="1"/>
          <p:nvPr/>
        </p:nvSpPr>
        <p:spPr>
          <a:xfrm>
            <a:off x="2159000" y="10159999"/>
            <a:ext cx="12372534"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Interactivity API for filters and paging.</a:t>
            </a:r>
          </a:p>
        </p:txBody>
      </p:sp>
      <p:pic>
        <p:nvPicPr>
          <p:cNvPr id="718" name="panel-662x376.png" descr="panel-662x376.png"/>
          <p:cNvPicPr>
            <a:picLocks noChangeAspect="1"/>
          </p:cNvPicPr>
          <p:nvPr/>
        </p:nvPicPr>
        <p:blipFill>
          <a:blip r:embed="rId4">
            <a:extLst/>
          </a:blip>
          <a:stretch>
            <a:fillRect/>
          </a:stretch>
        </p:blipFill>
        <p:spPr>
          <a:xfrm>
            <a:off x="14605000" y="5080000"/>
            <a:ext cx="8407400" cy="4775200"/>
          </a:xfrm>
          <a:prstGeom prst="rect">
            <a:avLst/>
          </a:prstGeom>
          <a:ln w="12700">
            <a:miter lim="400000"/>
          </a:ln>
        </p:spPr>
      </p:pic>
      <p:sp>
        <p:nvSpPr>
          <p:cNvPr id="719" name="blocks/events/ ├── block.json ├── build/ └── src/     ├── index.js     ├── edit.js     ├── view.js     └── style.scss"/>
          <p:cNvSpPr txBox="1"/>
          <p:nvPr/>
        </p:nvSpPr>
        <p:spPr>
          <a:xfrm>
            <a:off x="14909800" y="5334000"/>
            <a:ext cx="7899400" cy="46837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a:ea typeface="Geist Mono"/>
                <a:cs typeface="Geist Mono"/>
                <a:sym typeface="Geist Mono"/>
              </a:defRPr>
            </a:pPr>
            <a:r>
              <a:t>blocks/events/</a:t>
            </a:r>
            <a:br>
              <a:rPr sz="3400"/>
            </a:br>
            <a:r>
              <a:t>├── block</a:t>
            </a:r>
            <a:r>
              <a:rPr>
                <a:solidFill>
                  <a:srgbClr val="C4B7E9"/>
                </a:solidFill>
              </a:rPr>
              <a:t>.</a:t>
            </a:r>
            <a:r>
              <a:t>json</a:t>
            </a:r>
            <a:br>
              <a:rPr sz="3400"/>
            </a:br>
            <a:r>
              <a:t>├── build/</a:t>
            </a:r>
            <a:br>
              <a:rPr sz="3400"/>
            </a:br>
            <a:r>
              <a:t>└── src/</a:t>
            </a:r>
            <a:br>
              <a:rPr sz="3400"/>
            </a:br>
            <a:r>
              <a:t>    ├── index</a:t>
            </a:r>
            <a:r>
              <a:rPr>
                <a:solidFill>
                  <a:srgbClr val="C4B7E9"/>
                </a:solidFill>
              </a:rPr>
              <a:t>.</a:t>
            </a:r>
            <a:r>
              <a:t>js</a:t>
            </a:r>
            <a:br>
              <a:rPr sz="3400"/>
            </a:br>
            <a:r>
              <a:t>    ├── edit</a:t>
            </a:r>
            <a:r>
              <a:rPr>
                <a:solidFill>
                  <a:srgbClr val="C4B7E9"/>
                </a:solidFill>
              </a:rPr>
              <a:t>.</a:t>
            </a:r>
            <a:r>
              <a:t>js</a:t>
            </a:r>
            <a:br>
              <a:rPr sz="3400"/>
            </a:br>
            <a:r>
              <a:t>    ├── view</a:t>
            </a:r>
            <a:r>
              <a:rPr>
                <a:solidFill>
                  <a:srgbClr val="C4B7E9"/>
                </a:solidFill>
              </a:rPr>
              <a:t>.</a:t>
            </a:r>
            <a:r>
              <a:t>js</a:t>
            </a:r>
            <a:br>
              <a:rPr sz="3400"/>
            </a:br>
            <a:r>
              <a:t>    └── style</a:t>
            </a:r>
            <a:r>
              <a:rPr>
                <a:solidFill>
                  <a:srgbClr val="C4B7E9"/>
                </a:solidFill>
              </a:rPr>
              <a:t>.</a:t>
            </a:r>
            <a:r>
              <a:t>scss</a:t>
            </a:r>
            <a:br>
              <a:rPr sz="3400"/>
            </a:br>
          </a:p>
        </p:txBody>
      </p:sp>
      <p:sp>
        <p:nvSpPr>
          <p:cNvPr id="720" name="7"/>
          <p:cNvSpPr txBox="1"/>
          <p:nvPr/>
        </p:nvSpPr>
        <p:spPr>
          <a:xfrm>
            <a:off x="1320800" y="11099800"/>
            <a:ext cx="490450"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SemiBold"/>
                <a:ea typeface="Unbounded SemiBold"/>
                <a:cs typeface="Unbounded SemiBold"/>
                <a:sym typeface="Unbounded SemiBold"/>
              </a:defRPr>
            </a:lvl1pPr>
          </a:lstStyle>
          <a:p>
            <a:pPr/>
            <a:r>
              <a:t>7</a:t>
            </a:r>
          </a:p>
        </p:txBody>
      </p:sp>
      <p:sp>
        <p:nvSpPr>
          <p:cNvPr id="721" name="Custom blocks only as the last resort."/>
          <p:cNvSpPr txBox="1"/>
          <p:nvPr/>
        </p:nvSpPr>
        <p:spPr>
          <a:xfrm>
            <a:off x="2159000" y="11175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Custom blocks only as the last resort.</a:t>
            </a:r>
          </a:p>
        </p:txBody>
      </p:sp>
      <p:pic>
        <p:nvPicPr>
          <p:cNvPr id="722" name="prog-32.png" descr="prog-32.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2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27" name="Site Editing/Block theme: our first buil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Site Editing/Block theme: </a:t>
            </a:r>
            <a:r>
              <a:rPr i="1" sz="9800">
                <a:solidFill>
                  <a:srgbClr val="6033A6"/>
                </a:solidFill>
                <a:latin typeface="Instrument Serif"/>
                <a:ea typeface="Instrument Serif"/>
                <a:cs typeface="Instrument Serif"/>
                <a:sym typeface="Instrument Serif"/>
              </a:rPr>
              <a:t>our first build</a:t>
            </a:r>
          </a:p>
        </p:txBody>
      </p:sp>
      <p:sp>
        <p:nvSpPr>
          <p:cNvPr id="728" name="Templates and part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Templates and parts</a:t>
            </a:r>
          </a:p>
        </p:txBody>
      </p:sp>
      <p:sp>
        <p:nvSpPr>
          <p:cNvPr id="729" name="Page templates, header and footer as HTML files, declared in theme.json."/>
          <p:cNvSpPr txBox="1"/>
          <p:nvPr/>
        </p:nvSpPr>
        <p:spPr>
          <a:xfrm>
            <a:off x="13208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a:ea typeface="Geist"/>
                <a:cs typeface="Geist"/>
                <a:sym typeface="Geist"/>
              </a:defRPr>
            </a:pPr>
            <a:r>
              <a:t>Page templates, header and footer as HTML files, declared in </a:t>
            </a:r>
            <a:r>
              <a:rPr sz="3100">
                <a:solidFill>
                  <a:srgbClr val="6033A6"/>
                </a:solidFill>
                <a:latin typeface="Geist Mono"/>
                <a:ea typeface="Geist Mono"/>
                <a:cs typeface="Geist Mono"/>
                <a:sym typeface="Geist Mono"/>
              </a:rPr>
              <a:t>theme.json</a:t>
            </a:r>
            <a:r>
              <a:t>.</a:t>
            </a:r>
          </a:p>
        </p:txBody>
      </p:sp>
      <p:sp>
        <p:nvSpPr>
          <p:cNvPr id="730" name="Patterns in file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Patterns in files</a:t>
            </a:r>
          </a:p>
        </p:txBody>
      </p:sp>
      <p:sp>
        <p:nvSpPr>
          <p:cNvPr id="731" name="Reusable sections as pattern files, versioned in git with the theme."/>
          <p:cNvSpPr txBox="1"/>
          <p:nvPr/>
        </p:nvSpPr>
        <p:spPr>
          <a:xfrm>
            <a:off x="12827000" y="5638799"/>
            <a:ext cx="9105825"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Reusable sections as pattern files, versioned in git with the theme.</a:t>
            </a:r>
          </a:p>
        </p:txBody>
      </p:sp>
      <p:sp>
        <p:nvSpPr>
          <p:cNvPr id="732" name="The catch"/>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The catch</a:t>
            </a:r>
          </a:p>
        </p:txBody>
      </p:sp>
      <p:sp>
        <p:nvSpPr>
          <p:cNvPr id="733" name="Site Editor changes are saved to the database and quietly override the files."/>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Site Editor changes are saved to the database and quietly override the files.</a:t>
            </a:r>
          </a:p>
        </p:txBody>
      </p:sp>
      <p:sp>
        <p:nvSpPr>
          <p:cNvPr id="734" name="Where core ran out"/>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Where core ran out</a:t>
            </a:r>
          </a:p>
        </p:txBody>
      </p:sp>
      <p:sp>
        <p:nvSpPr>
          <p:cNvPr id="735" name="Core Navigation as a sidebar menu needed custom JavaScript."/>
          <p:cNvSpPr txBox="1"/>
          <p:nvPr/>
        </p:nvSpPr>
        <p:spPr>
          <a:xfrm>
            <a:off x="12827000" y="8559799"/>
            <a:ext cx="938741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Core Navigation as a sidebar menu needed custom JavaScript.</a:t>
            </a:r>
          </a:p>
        </p:txBody>
      </p:sp>
      <p:sp>
        <p:nvSpPr>
          <p:cNvPr id="73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737" name="prog-33.png" descr="prog-33.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41"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42" name="Fields outside blocks, without ACF"/>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Fields outside blocks, </a:t>
            </a:r>
            <a:r>
              <a:rPr i="1" sz="9800">
                <a:solidFill>
                  <a:srgbClr val="6033A6"/>
                </a:solidFill>
                <a:latin typeface="Instrument Serif"/>
                <a:ea typeface="Instrument Serif"/>
                <a:cs typeface="Instrument Serif"/>
                <a:sym typeface="Instrument Serif"/>
              </a:rPr>
              <a:t>without ACF</a:t>
            </a:r>
          </a:p>
        </p:txBody>
      </p:sp>
      <p:sp>
        <p:nvSpPr>
          <p:cNvPr id="743" name="Custom post type"/>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Custom post type</a:t>
            </a:r>
          </a:p>
        </p:txBody>
      </p:sp>
      <p:sp>
        <p:nvSpPr>
          <p:cNvPr id="744" name="register_post_type(), in the theme. CPTs never needed plugins or dependencies. As a dev, please do not use CPT UI or similar."/>
          <p:cNvSpPr txBox="1"/>
          <p:nvPr/>
        </p:nvSpPr>
        <p:spPr>
          <a:xfrm>
            <a:off x="1320800" y="5650229"/>
            <a:ext cx="10358498"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220D44"/>
                </a:solidFill>
                <a:latin typeface="Geist"/>
                <a:ea typeface="Geist"/>
                <a:cs typeface="Geist"/>
                <a:sym typeface="Geist"/>
              </a:defRPr>
            </a:pPr>
            <a:r>
              <a:rPr sz="3100">
                <a:solidFill>
                  <a:srgbClr val="6033A6"/>
                </a:solidFill>
                <a:latin typeface="Geist Mono"/>
                <a:ea typeface="Geist Mono"/>
                <a:cs typeface="Geist Mono"/>
                <a:sym typeface="Geist Mono"/>
              </a:rPr>
              <a:t>register_post_type()</a:t>
            </a:r>
            <a:r>
              <a:t>, in the theme. CPTs never needed plugins or dependencies. As a dev, please do not use CPT UI or similar.</a:t>
            </a:r>
          </a:p>
        </p:txBody>
      </p:sp>
      <p:sp>
        <p:nvSpPr>
          <p:cNvPr id="745" name="Field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Fields</a:t>
            </a:r>
          </a:p>
        </p:txBody>
      </p:sp>
      <p:sp>
        <p:nvSpPr>
          <p:cNvPr id="746" name="register_post_meta() with the Block Bindings API to connect a core block to a field."/>
          <p:cNvSpPr txBox="1"/>
          <p:nvPr/>
        </p:nvSpPr>
        <p:spPr>
          <a:xfrm>
            <a:off x="12827000" y="5650230"/>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220D44"/>
                </a:solidFill>
                <a:latin typeface="Geist"/>
                <a:ea typeface="Geist"/>
                <a:cs typeface="Geist"/>
                <a:sym typeface="Geist"/>
              </a:defRPr>
            </a:pPr>
            <a:r>
              <a:rPr sz="3100">
                <a:solidFill>
                  <a:srgbClr val="6033A6"/>
                </a:solidFill>
                <a:latin typeface="Geist Mono"/>
                <a:ea typeface="Geist Mono"/>
                <a:cs typeface="Geist Mono"/>
                <a:sym typeface="Geist Mono"/>
              </a:rPr>
              <a:t>register_post_meta()</a:t>
            </a:r>
            <a:r>
              <a:t> with the Block Bindings API to connect a core block to a field.</a:t>
            </a:r>
          </a:p>
        </p:txBody>
      </p:sp>
      <p:sp>
        <p:nvSpPr>
          <p:cNvPr id="747" name="Custom plugin, API or MCP"/>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Custom plugin, API or MCP</a:t>
            </a:r>
          </a:p>
        </p:txBody>
      </p:sp>
      <p:sp>
        <p:nvSpPr>
          <p:cNvPr id="748" name="Replacing a dependency with a better one? It's often worth it."/>
          <p:cNvSpPr txBox="1"/>
          <p:nvPr/>
        </p:nvSpPr>
        <p:spPr>
          <a:xfrm>
            <a:off x="1320800" y="8559799"/>
            <a:ext cx="891986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a:ea typeface="Geist"/>
                <a:cs typeface="Geist"/>
                <a:sym typeface="Geist"/>
              </a:defRPr>
            </a:lvl1pPr>
          </a:lstStyle>
          <a:p>
            <a:pPr/>
            <a:r>
              <a:t>Replacing a dependency with a better one? It's often worth it.</a:t>
            </a:r>
          </a:p>
        </p:txBody>
      </p:sp>
      <p:sp>
        <p:nvSpPr>
          <p:cNvPr id="749" name="Full Site Editing / Block theme"/>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Full Site Editing / Block theme</a:t>
            </a:r>
          </a:p>
        </p:txBody>
      </p:sp>
      <p:sp>
        <p:nvSpPr>
          <p:cNvPr id="750" name="Works great, especially for static marketing sites."/>
          <p:cNvSpPr txBox="1"/>
          <p:nvPr/>
        </p:nvSpPr>
        <p:spPr>
          <a:xfrm>
            <a:off x="12827000" y="8559799"/>
            <a:ext cx="822658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a:ea typeface="Geist"/>
                <a:cs typeface="Geist"/>
                <a:sym typeface="Geist"/>
              </a:defRPr>
            </a:lvl1pPr>
          </a:lstStyle>
          <a:p>
            <a:pPr/>
            <a:r>
              <a:t>Works great, especially for static marketing sites.</a:t>
            </a:r>
          </a:p>
        </p:txBody>
      </p:sp>
      <p:sp>
        <p:nvSpPr>
          <p:cNvPr id="75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752" name="prog-34.png" descr="prog-3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5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57" name="This is a lot,"/>
          <p:cNvSpPr txBox="1"/>
          <p:nvPr/>
        </p:nvSpPr>
        <p:spPr>
          <a:xfrm>
            <a:off x="1271868" y="5245099"/>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This is a lot,</a:t>
            </a:r>
          </a:p>
        </p:txBody>
      </p:sp>
      <p:sp>
        <p:nvSpPr>
          <p:cNvPr id="758" name="where to start, going 100% ACF-free?"/>
          <p:cNvSpPr txBox="1"/>
          <p:nvPr/>
        </p:nvSpPr>
        <p:spPr>
          <a:xfrm>
            <a:off x="1271868" y="6413499"/>
            <a:ext cx="22707601"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a:ea typeface="Instrument Serif"/>
                <a:cs typeface="Instrument Serif"/>
                <a:sym typeface="Instrument Serif"/>
              </a:defRPr>
            </a:lvl1pPr>
          </a:lstStyle>
          <a:p>
            <a:pPr/>
            <a:r>
              <a:t>where to start, going 100% ACF-free?</a:t>
            </a:r>
          </a:p>
        </p:txBody>
      </p:sp>
      <p:sp>
        <p:nvSpPr>
          <p:cNvPr id="759"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760" name="prog-35.png" descr="prog-3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6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65" name="It has always been a patt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It has always been </a:t>
            </a:r>
            <a:r>
              <a:rPr i="1" sz="9800">
                <a:solidFill>
                  <a:srgbClr val="6033A6"/>
                </a:solidFill>
                <a:latin typeface="Instrument Serif"/>
                <a:ea typeface="Instrument Serif"/>
                <a:cs typeface="Instrument Serif"/>
                <a:sym typeface="Instrument Serif"/>
              </a:rPr>
              <a:t>a pattern</a:t>
            </a:r>
          </a:p>
        </p:txBody>
      </p:sp>
      <p:sp>
        <p:nvSpPr>
          <p:cNvPr id="766" name="Most blocks could be pattern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Most blocks could be patterns</a:t>
            </a:r>
          </a:p>
        </p:txBody>
      </p:sp>
      <p:sp>
        <p:nvSpPr>
          <p:cNvPr id="767" name="If an element only consists of static text, images and buttons, it can be a pattern."/>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If an element only consists of static text, images and buttons, it can be a pattern.</a:t>
            </a:r>
          </a:p>
        </p:txBody>
      </p:sp>
      <p:sp>
        <p:nvSpPr>
          <p:cNvPr id="768" name="Nothing to build"/>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Nothing to build</a:t>
            </a:r>
          </a:p>
        </p:txBody>
      </p:sp>
      <p:sp>
        <p:nvSpPr>
          <p:cNvPr id="769" name="Arrange core blocks once, then save them as a pattern."/>
          <p:cNvSpPr txBox="1"/>
          <p:nvPr/>
        </p:nvSpPr>
        <p:spPr>
          <a:xfrm>
            <a:off x="12827000" y="5638799"/>
            <a:ext cx="864904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Arrange core blocks once, then save them as a pattern.</a:t>
            </a:r>
          </a:p>
        </p:txBody>
      </p:sp>
      <p:sp>
        <p:nvSpPr>
          <p:cNvPr id="770" name="Change once, everywhere"/>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Change once, everywhere</a:t>
            </a:r>
          </a:p>
        </p:txBody>
      </p:sp>
      <p:sp>
        <p:nvSpPr>
          <p:cNvPr id="771" name="Edit a synced pattern and every page that uses it updates."/>
          <p:cNvSpPr txBox="1"/>
          <p:nvPr/>
        </p:nvSpPr>
        <p:spPr>
          <a:xfrm>
            <a:off x="1320800" y="8559799"/>
            <a:ext cx="795879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Edit a synced pattern and every page that uses it updates.</a:t>
            </a:r>
          </a:p>
        </p:txBody>
      </p:sp>
      <p:sp>
        <p:nvSpPr>
          <p:cNvPr id="772" name="In core since 2020"/>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In core since 2020</a:t>
            </a:r>
          </a:p>
        </p:txBody>
      </p:sp>
      <p:sp>
        <p:nvSpPr>
          <p:cNvPr id="773" name="Patterns since WordPress 5.5, synced patterns since 6.3."/>
          <p:cNvSpPr txBox="1"/>
          <p:nvPr/>
        </p:nvSpPr>
        <p:spPr>
          <a:xfrm>
            <a:off x="12827000" y="8559799"/>
            <a:ext cx="726311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Patterns since WordPress 5.5, synced patterns since 6.3.</a:t>
            </a:r>
          </a:p>
        </p:txBody>
      </p:sp>
      <p:sp>
        <p:nvSpPr>
          <p:cNvPr id="77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775" name="prog-36.png" descr="prog-36.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7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80" name="Start every page from a patt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Start every page </a:t>
            </a:r>
            <a:r>
              <a:rPr i="1" sz="9800">
                <a:solidFill>
                  <a:srgbClr val="6033A6"/>
                </a:solidFill>
                <a:latin typeface="Instrument Serif"/>
                <a:ea typeface="Instrument Serif"/>
                <a:cs typeface="Instrument Serif"/>
                <a:sym typeface="Instrument Serif"/>
              </a:rPr>
              <a:t>from a pattern</a:t>
            </a:r>
          </a:p>
        </p:txBody>
      </p:sp>
      <p:sp>
        <p:nvSpPr>
          <p:cNvPr id="78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782" name="With patterns in theme files"/>
          <p:cNvSpPr txBox="1"/>
          <p:nvPr/>
        </p:nvSpPr>
        <p:spPr>
          <a:xfrm>
            <a:off x="1270000" y="4660900"/>
            <a:ext cx="104140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a:ea typeface="Instrument Serif"/>
                <a:cs typeface="Instrument Serif"/>
                <a:sym typeface="Instrument Serif"/>
              </a:defRPr>
            </a:lvl1pPr>
          </a:lstStyle>
          <a:p>
            <a:pPr/>
            <a:r>
              <a:t>With patterns in theme files</a:t>
            </a:r>
          </a:p>
        </p:txBody>
      </p:sp>
      <p:sp>
        <p:nvSpPr>
          <p:cNvPr id="783" name="With patterns saved in the editor"/>
          <p:cNvSpPr txBox="1"/>
          <p:nvPr/>
        </p:nvSpPr>
        <p:spPr>
          <a:xfrm>
            <a:off x="12547600" y="4660900"/>
            <a:ext cx="104140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a:ea typeface="Instrument Serif"/>
                <a:cs typeface="Instrument Serif"/>
                <a:sym typeface="Instrument Serif"/>
              </a:defRPr>
            </a:lvl1pPr>
          </a:lstStyle>
          <a:p>
            <a:pPr/>
            <a:r>
              <a:t>With patterns saved in the editor</a:t>
            </a:r>
          </a:p>
        </p:txBody>
      </p:sp>
      <p:pic>
        <p:nvPicPr>
          <p:cNvPr id="784" name="panel-852x256.png" descr="panel-852x256.png"/>
          <p:cNvPicPr>
            <a:picLocks noChangeAspect="1"/>
          </p:cNvPicPr>
          <p:nvPr/>
        </p:nvPicPr>
        <p:blipFill>
          <a:blip r:embed="rId4">
            <a:extLst/>
          </a:blip>
          <a:stretch>
            <a:fillRect/>
          </a:stretch>
        </p:blipFill>
        <p:spPr>
          <a:xfrm>
            <a:off x="1371600" y="5588000"/>
            <a:ext cx="10820400" cy="3251200"/>
          </a:xfrm>
          <a:prstGeom prst="rect">
            <a:avLst/>
          </a:prstGeom>
          <a:ln w="12700">
            <a:miter lim="400000"/>
          </a:ln>
        </p:spPr>
      </p:pic>
      <p:sp>
        <p:nvSpPr>
          <p:cNvPr id="785" name="register_block_pattern( ‘mytheme/landing', [   'title'      =&gt; 'Landing page',   'blockTypes' =&gt; [ 'core/post-content' ],   'content'    =&gt; $markup, ] );"/>
          <p:cNvSpPr txBox="1"/>
          <p:nvPr/>
        </p:nvSpPr>
        <p:spPr>
          <a:xfrm>
            <a:off x="1676400" y="5842000"/>
            <a:ext cx="10312400" cy="317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a:ea typeface="Geist Mono"/>
                <a:cs typeface="Geist Mono"/>
                <a:sym typeface="Geist Mono"/>
              </a:defRPr>
            </a:pPr>
            <a:r>
              <a:rPr>
                <a:solidFill>
                  <a:srgbClr val="D2B0FF"/>
                </a:solidFill>
              </a:rPr>
              <a:t>register_block_pattern</a:t>
            </a:r>
            <a:r>
              <a:rPr>
                <a:solidFill>
                  <a:srgbClr val="C4B7E9"/>
                </a:solidFill>
              </a:rPr>
              <a:t>(</a:t>
            </a:r>
            <a:r>
              <a:t> </a:t>
            </a:r>
            <a:r>
              <a:rPr>
                <a:solidFill>
                  <a:srgbClr val="FFC3E7"/>
                </a:solidFill>
              </a:rPr>
              <a:t>‘mytheme/landing'</a:t>
            </a:r>
            <a:r>
              <a:rPr>
                <a:solidFill>
                  <a:srgbClr val="C4B7E9"/>
                </a:solidFill>
              </a:rPr>
              <a:t>,</a:t>
            </a:r>
            <a:r>
              <a:t> </a:t>
            </a:r>
            <a:r>
              <a:rPr>
                <a:solidFill>
                  <a:srgbClr val="C4B7E9"/>
                </a:solidFill>
              </a:rPr>
              <a:t>[</a:t>
            </a:r>
            <a:br>
              <a:rPr sz="3400"/>
            </a:br>
            <a:r>
              <a:t>  </a:t>
            </a:r>
            <a:r>
              <a:rPr>
                <a:solidFill>
                  <a:srgbClr val="FFC3E7"/>
                </a:solidFill>
              </a:rPr>
              <a:t>'title'</a:t>
            </a:r>
            <a:r>
              <a:t>      </a:t>
            </a:r>
            <a:r>
              <a:rPr>
                <a:solidFill>
                  <a:srgbClr val="FF97E2"/>
                </a:solidFill>
              </a:rPr>
              <a:t>=&gt;</a:t>
            </a:r>
            <a:r>
              <a:t> </a:t>
            </a:r>
            <a:r>
              <a:rPr>
                <a:solidFill>
                  <a:srgbClr val="FFC3E7"/>
                </a:solidFill>
              </a:rPr>
              <a:t>'Landing page'</a:t>
            </a:r>
            <a:r>
              <a:rPr>
                <a:solidFill>
                  <a:srgbClr val="C4B7E9"/>
                </a:solidFill>
              </a:rPr>
              <a:t>,</a:t>
            </a:r>
            <a:br>
              <a:rPr sz="3400"/>
            </a:br>
            <a:r>
              <a:t>  </a:t>
            </a:r>
            <a:r>
              <a:rPr>
                <a:solidFill>
                  <a:srgbClr val="FFC3E7"/>
                </a:solidFill>
              </a:rPr>
              <a:t>'blockTypes'</a:t>
            </a:r>
            <a:r>
              <a:t> </a:t>
            </a:r>
            <a:r>
              <a:rPr>
                <a:solidFill>
                  <a:srgbClr val="FF97E2"/>
                </a:solidFill>
              </a:rPr>
              <a:t>=&gt;</a:t>
            </a:r>
            <a:r>
              <a:t> </a:t>
            </a:r>
            <a:r>
              <a:rPr>
                <a:solidFill>
                  <a:srgbClr val="C4B7E9"/>
                </a:solidFill>
              </a:rPr>
              <a:t>[</a:t>
            </a:r>
            <a:r>
              <a:t> </a:t>
            </a:r>
            <a:r>
              <a:rPr>
                <a:solidFill>
                  <a:srgbClr val="FFC3E7"/>
                </a:solidFill>
              </a:rPr>
              <a:t>'core/post-content'</a:t>
            </a:r>
            <a:r>
              <a:t> </a:t>
            </a:r>
            <a:r>
              <a:rPr>
                <a:solidFill>
                  <a:srgbClr val="C4B7E9"/>
                </a:solidFill>
              </a:rPr>
              <a:t>],</a:t>
            </a:r>
            <a:br>
              <a:rPr sz="3400"/>
            </a:br>
            <a:r>
              <a:t>  </a:t>
            </a:r>
            <a:r>
              <a:rPr>
                <a:solidFill>
                  <a:srgbClr val="FFC3E7"/>
                </a:solidFill>
              </a:rPr>
              <a:t>'content'</a:t>
            </a:r>
            <a:r>
              <a:t>    </a:t>
            </a:r>
            <a:r>
              <a:rPr>
                <a:solidFill>
                  <a:srgbClr val="FF97E2"/>
                </a:solidFill>
              </a:rPr>
              <a:t>=&gt;</a:t>
            </a:r>
            <a:r>
              <a:t> $markup</a:t>
            </a:r>
            <a:r>
              <a:rPr>
                <a:solidFill>
                  <a:srgbClr val="C4B7E9"/>
                </a:solidFill>
              </a:rPr>
              <a:t>,</a:t>
            </a:r>
            <a:br>
              <a:rPr sz="3400"/>
            </a:br>
            <a:r>
              <a:rPr>
                <a:solidFill>
                  <a:srgbClr val="C4B7E9"/>
                </a:solidFill>
              </a:rPr>
              <a:t>]</a:t>
            </a:r>
            <a:r>
              <a:t> </a:t>
            </a:r>
            <a:r>
              <a:rPr>
                <a:solidFill>
                  <a:srgbClr val="C4B7E9"/>
                </a:solidFill>
              </a:rPr>
              <a:t>);</a:t>
            </a:r>
            <a:br>
              <a:rPr sz="3400"/>
            </a:br>
          </a:p>
        </p:txBody>
      </p:sp>
      <p:pic>
        <p:nvPicPr>
          <p:cNvPr id="786" name="panel-820x336.png" descr="panel-820x336.png"/>
          <p:cNvPicPr>
            <a:picLocks noChangeAspect="1"/>
          </p:cNvPicPr>
          <p:nvPr/>
        </p:nvPicPr>
        <p:blipFill>
          <a:blip r:embed="rId5">
            <a:extLst/>
          </a:blip>
          <a:stretch>
            <a:fillRect/>
          </a:stretch>
        </p:blipFill>
        <p:spPr>
          <a:xfrm>
            <a:off x="12598400" y="5588000"/>
            <a:ext cx="10414000" cy="4267200"/>
          </a:xfrm>
          <a:prstGeom prst="rect">
            <a:avLst/>
          </a:prstGeom>
          <a:ln w="12700">
            <a:miter lim="400000"/>
          </a:ln>
        </p:spPr>
      </p:pic>
      <p:sp>
        <p:nvSpPr>
          <p:cNvPr id="787" name="dispatch( 'core/editor' ).setIsInserterOpened( {   tab: 'patterns',   category: {     name: 'allPatterns',     label: _x( 'All', 'patterns' ),   }, } );"/>
          <p:cNvSpPr txBox="1"/>
          <p:nvPr/>
        </p:nvSpPr>
        <p:spPr>
          <a:xfrm>
            <a:off x="12903200" y="5841999"/>
            <a:ext cx="9906000" cy="41808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a:ea typeface="Geist Mono"/>
                <a:cs typeface="Geist Mono"/>
                <a:sym typeface="Geist Mono"/>
              </a:defRPr>
            </a:pPr>
            <a:r>
              <a:rPr>
                <a:solidFill>
                  <a:srgbClr val="D2B0FF"/>
                </a:solidFill>
              </a:rPr>
              <a:t>dispatch</a:t>
            </a:r>
            <a:r>
              <a:rPr>
                <a:solidFill>
                  <a:srgbClr val="C4B7E9"/>
                </a:solidFill>
              </a:rPr>
              <a:t>(</a:t>
            </a:r>
            <a:r>
              <a:t> </a:t>
            </a:r>
            <a:r>
              <a:rPr>
                <a:solidFill>
                  <a:srgbClr val="FFC3E7"/>
                </a:solidFill>
              </a:rPr>
              <a:t>'core/editor'</a:t>
            </a:r>
            <a:r>
              <a:t> </a:t>
            </a:r>
            <a:r>
              <a:rPr>
                <a:solidFill>
                  <a:srgbClr val="C4B7E9"/>
                </a:solidFill>
              </a:rPr>
              <a:t>).</a:t>
            </a:r>
            <a:r>
              <a:rPr>
                <a:solidFill>
                  <a:srgbClr val="D2B0FF"/>
                </a:solidFill>
              </a:rPr>
              <a:t>setIsInserterOpened</a:t>
            </a:r>
            <a:r>
              <a:rPr>
                <a:solidFill>
                  <a:srgbClr val="C4B7E9"/>
                </a:solidFill>
              </a:rPr>
              <a:t>(</a:t>
            </a:r>
            <a:r>
              <a:t> </a:t>
            </a:r>
            <a:r>
              <a:rPr>
                <a:solidFill>
                  <a:srgbClr val="C4B7E9"/>
                </a:solidFill>
              </a:rPr>
              <a:t>{</a:t>
            </a:r>
            <a:br>
              <a:rPr sz="3400"/>
            </a:br>
            <a:r>
              <a:t>  tab</a:t>
            </a:r>
            <a:r>
              <a:rPr>
                <a:solidFill>
                  <a:srgbClr val="C4B7E9"/>
                </a:solidFill>
              </a:rPr>
              <a:t>:</a:t>
            </a:r>
            <a:r>
              <a:t> </a:t>
            </a:r>
            <a:r>
              <a:rPr>
                <a:solidFill>
                  <a:srgbClr val="FFC3E7"/>
                </a:solidFill>
              </a:rPr>
              <a:t>'patterns'</a:t>
            </a:r>
            <a:r>
              <a:rPr>
                <a:solidFill>
                  <a:srgbClr val="C4B7E9"/>
                </a:solidFill>
              </a:rPr>
              <a:t>,</a:t>
            </a:r>
            <a:br>
              <a:rPr sz="3400"/>
            </a:br>
            <a:r>
              <a:t>  category</a:t>
            </a:r>
            <a:r>
              <a:rPr>
                <a:solidFill>
                  <a:srgbClr val="C4B7E9"/>
                </a:solidFill>
              </a:rPr>
              <a:t>:</a:t>
            </a:r>
            <a:r>
              <a:t> </a:t>
            </a:r>
            <a:r>
              <a:rPr>
                <a:solidFill>
                  <a:srgbClr val="C4B7E9"/>
                </a:solidFill>
              </a:rPr>
              <a:t>{</a:t>
            </a:r>
            <a:br>
              <a:rPr sz="3400"/>
            </a:br>
            <a:r>
              <a:t>    name</a:t>
            </a:r>
            <a:r>
              <a:rPr>
                <a:solidFill>
                  <a:srgbClr val="C4B7E9"/>
                </a:solidFill>
              </a:rPr>
              <a:t>:</a:t>
            </a:r>
            <a:r>
              <a:t> </a:t>
            </a:r>
            <a:r>
              <a:rPr>
                <a:solidFill>
                  <a:srgbClr val="FFC3E7"/>
                </a:solidFill>
              </a:rPr>
              <a:t>'allPatterns'</a:t>
            </a:r>
            <a:r>
              <a:rPr>
                <a:solidFill>
                  <a:srgbClr val="C4B7E9"/>
                </a:solidFill>
              </a:rPr>
              <a:t>,</a:t>
            </a:r>
            <a:br>
              <a:rPr sz="3400"/>
            </a:br>
            <a:r>
              <a:t>    label</a:t>
            </a:r>
            <a:r>
              <a:rPr>
                <a:solidFill>
                  <a:srgbClr val="C4B7E9"/>
                </a:solidFill>
              </a:rPr>
              <a:t>:</a:t>
            </a:r>
            <a:r>
              <a:t> </a:t>
            </a:r>
            <a:r>
              <a:rPr>
                <a:solidFill>
                  <a:srgbClr val="D2B0FF"/>
                </a:solidFill>
              </a:rPr>
              <a:t>_x</a:t>
            </a:r>
            <a:r>
              <a:rPr>
                <a:solidFill>
                  <a:srgbClr val="C4B7E9"/>
                </a:solidFill>
              </a:rPr>
              <a:t>(</a:t>
            </a:r>
            <a:r>
              <a:t> </a:t>
            </a:r>
            <a:r>
              <a:rPr>
                <a:solidFill>
                  <a:srgbClr val="FFC3E7"/>
                </a:solidFill>
              </a:rPr>
              <a:t>'All'</a:t>
            </a:r>
            <a:r>
              <a:rPr>
                <a:solidFill>
                  <a:srgbClr val="C4B7E9"/>
                </a:solidFill>
              </a:rPr>
              <a:t>,</a:t>
            </a:r>
            <a:r>
              <a:t> </a:t>
            </a:r>
            <a:r>
              <a:rPr>
                <a:solidFill>
                  <a:srgbClr val="FFC3E7"/>
                </a:solidFill>
              </a:rPr>
              <a:t>'patterns'</a:t>
            </a:r>
            <a:r>
              <a:t> </a:t>
            </a:r>
            <a:r>
              <a:rPr>
                <a:solidFill>
                  <a:srgbClr val="C4B7E9"/>
                </a:solidFill>
              </a:rPr>
              <a:t>),</a:t>
            </a:r>
            <a:br>
              <a:rPr sz="3400"/>
            </a:br>
            <a:r>
              <a:t>  </a:t>
            </a:r>
            <a:r>
              <a:rPr>
                <a:solidFill>
                  <a:srgbClr val="C4B7E9"/>
                </a:solidFill>
              </a:rPr>
              <a:t>},</a:t>
            </a:r>
            <a:br>
              <a:rPr sz="3400"/>
            </a:br>
            <a:r>
              <a:rPr>
                <a:solidFill>
                  <a:srgbClr val="C4B7E9"/>
                </a:solidFill>
              </a:rPr>
              <a:t>}</a:t>
            </a:r>
            <a:r>
              <a:t> </a:t>
            </a:r>
            <a:r>
              <a:rPr>
                <a:solidFill>
                  <a:srgbClr val="C4B7E9"/>
                </a:solidFill>
              </a:rPr>
              <a:t>);</a:t>
            </a:r>
            <a:br>
              <a:rPr sz="3400"/>
            </a:br>
          </a:p>
        </p:txBody>
      </p:sp>
      <p:sp>
        <p:nvSpPr>
          <p:cNvPr id="788" name="On a new empty page, the editor opens straight on the pattern library."/>
          <p:cNvSpPr txBox="1"/>
          <p:nvPr/>
        </p:nvSpPr>
        <p:spPr>
          <a:xfrm>
            <a:off x="1270000" y="10883899"/>
            <a:ext cx="2159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On a new empty page, the editor opens straight on the pattern library.</a:t>
            </a:r>
          </a:p>
        </p:txBody>
      </p:sp>
      <p:pic>
        <p:nvPicPr>
          <p:cNvPr id="789" name="prog-37.png" descr="prog-37.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9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94" name="What does it look like?"/>
          <p:cNvSpPr txBox="1"/>
          <p:nvPr/>
        </p:nvSpPr>
        <p:spPr>
          <a:xfrm>
            <a:off x="1257300" y="1524000"/>
            <a:ext cx="5969000" cy="38862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What does it </a:t>
            </a:r>
            <a:r>
              <a:rPr i="1" sz="9800">
                <a:solidFill>
                  <a:srgbClr val="6033A6"/>
                </a:solidFill>
                <a:latin typeface="Instrument Serif"/>
                <a:ea typeface="Instrument Serif"/>
                <a:cs typeface="Instrument Serif"/>
                <a:sym typeface="Instrument Serif"/>
              </a:rPr>
              <a:t>look like?</a:t>
            </a:r>
          </a:p>
        </p:txBody>
      </p:sp>
      <p:sp>
        <p:nvSpPr>
          <p:cNvPr id="79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796" name="patterns-onboarding.png" descr="patterns-onboarding.png"/>
          <p:cNvPicPr>
            <a:picLocks noChangeAspect="1"/>
          </p:cNvPicPr>
          <p:nvPr/>
        </p:nvPicPr>
        <p:blipFill>
          <a:blip r:embed="rId4">
            <a:extLst/>
          </a:blip>
          <a:stretch>
            <a:fillRect/>
          </a:stretch>
        </p:blipFill>
        <p:spPr>
          <a:xfrm>
            <a:off x="7467600" y="1397000"/>
            <a:ext cx="15600089" cy="10312400"/>
          </a:xfrm>
          <a:prstGeom prst="rect">
            <a:avLst/>
          </a:prstGeom>
          <a:ln w="12700">
            <a:miter lim="400000"/>
          </a:ln>
        </p:spPr>
      </p:pic>
      <p:pic>
        <p:nvPicPr>
          <p:cNvPr id="797" name="prog-38.png" descr="prog-38.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01"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02" name="Learning this with your AI"/>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Learning this </a:t>
            </a:r>
            <a:r>
              <a:rPr i="1" sz="9800">
                <a:solidFill>
                  <a:srgbClr val="6033A6"/>
                </a:solidFill>
                <a:latin typeface="Instrument Serif"/>
                <a:ea typeface="Instrument Serif"/>
                <a:cs typeface="Instrument Serif"/>
                <a:sym typeface="Instrument Serif"/>
              </a:rPr>
              <a:t>with your AI</a:t>
            </a:r>
          </a:p>
        </p:txBody>
      </p:sp>
      <p:sp>
        <p:nvSpPr>
          <p:cNvPr id="803" name="—"/>
          <p:cNvSpPr txBox="1"/>
          <p:nvPr/>
        </p:nvSpPr>
        <p:spPr>
          <a:xfrm>
            <a:off x="1320800" y="52070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a:ea typeface="Geist"/>
                <a:cs typeface="Geist"/>
                <a:sym typeface="Geist"/>
              </a:defRPr>
            </a:lvl1pPr>
          </a:lstStyle>
          <a:p>
            <a:pPr/>
            <a:r>
              <a:t>—</a:t>
            </a:r>
          </a:p>
        </p:txBody>
      </p:sp>
      <p:sp>
        <p:nvSpPr>
          <p:cNvPr id="804" name="There are many ways to build a block and the docs are scattered, so AI gets it wrong too."/>
          <p:cNvSpPr txBox="1"/>
          <p:nvPr/>
        </p:nvSpPr>
        <p:spPr>
          <a:xfrm>
            <a:off x="2082800" y="5207000"/>
            <a:ext cx="21031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a:ea typeface="Geist"/>
                <a:cs typeface="Geist"/>
                <a:sym typeface="Geist"/>
              </a:defRPr>
            </a:lvl1pPr>
          </a:lstStyle>
          <a:p>
            <a:pPr/>
            <a:r>
              <a:t>There are many ways to build a block and the docs are scattered, so AI gets it wrong too.</a:t>
            </a:r>
          </a:p>
        </p:txBody>
      </p:sp>
      <p:sp>
        <p:nvSpPr>
          <p:cNvPr id="805" name="—"/>
          <p:cNvSpPr txBox="1"/>
          <p:nvPr/>
        </p:nvSpPr>
        <p:spPr>
          <a:xfrm>
            <a:off x="1320800" y="64897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a:ea typeface="Geist"/>
                <a:cs typeface="Geist"/>
                <a:sym typeface="Geist"/>
              </a:defRPr>
            </a:lvl1pPr>
          </a:lstStyle>
          <a:p>
            <a:pPr/>
            <a:r>
              <a:t>—</a:t>
            </a:r>
          </a:p>
        </p:txBody>
      </p:sp>
      <p:sp>
        <p:nvSpPr>
          <p:cNvPr id="806" name="AI makes mistakes. It often writes a React.js block, because that is what the official Block Editor Handbook “Build your first block” tutorial with @wordpress/create-block teaches."/>
          <p:cNvSpPr txBox="1"/>
          <p:nvPr/>
        </p:nvSpPr>
        <p:spPr>
          <a:xfrm>
            <a:off x="2082800" y="6489699"/>
            <a:ext cx="21031200"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800">
                <a:solidFill>
                  <a:srgbClr val="3D2644"/>
                </a:solidFill>
                <a:latin typeface="Geist"/>
                <a:ea typeface="Geist"/>
                <a:cs typeface="Geist"/>
                <a:sym typeface="Geist"/>
              </a:defRPr>
            </a:pPr>
            <a:r>
              <a:t>AI makes mistakes. It often writes a React.js block, because that is what the official Block Editor Handbook “Build your first block” tutorial with </a:t>
            </a:r>
            <a:r>
              <a:rPr sz="3400">
                <a:solidFill>
                  <a:srgbClr val="6033A6"/>
                </a:solidFill>
                <a:latin typeface="Geist Mono"/>
                <a:ea typeface="Geist Mono"/>
                <a:cs typeface="Geist Mono"/>
                <a:sym typeface="Geist Mono"/>
              </a:rPr>
              <a:t>@wordpress/create-block</a:t>
            </a:r>
            <a:r>
              <a:t> teaches.</a:t>
            </a:r>
          </a:p>
        </p:txBody>
      </p:sp>
      <p:sp>
        <p:nvSpPr>
          <p:cNvPr id="807" name="—"/>
          <p:cNvSpPr txBox="1"/>
          <p:nvPr/>
        </p:nvSpPr>
        <p:spPr>
          <a:xfrm>
            <a:off x="1320800" y="83312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a:ea typeface="Geist"/>
                <a:cs typeface="Geist"/>
                <a:sym typeface="Geist"/>
              </a:defRPr>
            </a:lvl1pPr>
          </a:lstStyle>
          <a:p>
            <a:pPr/>
            <a:r>
              <a:t>—</a:t>
            </a:r>
          </a:p>
        </p:txBody>
      </p:sp>
      <p:sp>
        <p:nvSpPr>
          <p:cNvPr id="808" name="Tell it the order: core blocks, patterns, styles, and a custom block last."/>
          <p:cNvSpPr txBox="1"/>
          <p:nvPr/>
        </p:nvSpPr>
        <p:spPr>
          <a:xfrm>
            <a:off x="2082800" y="8331200"/>
            <a:ext cx="21031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a:ea typeface="Geist"/>
                <a:cs typeface="Geist"/>
                <a:sym typeface="Geist"/>
              </a:defRPr>
            </a:lvl1pPr>
          </a:lstStyle>
          <a:p>
            <a:pPr/>
            <a:r>
              <a:t>Tell it the order: core blocks, patterns, styles, and a custom block last.</a:t>
            </a:r>
          </a:p>
        </p:txBody>
      </p:sp>
      <p:sp>
        <p:nvSpPr>
          <p:cNvPr id="809" name="—"/>
          <p:cNvSpPr txBox="1"/>
          <p:nvPr/>
        </p:nvSpPr>
        <p:spPr>
          <a:xfrm>
            <a:off x="1320800" y="96139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a:ea typeface="Geist"/>
                <a:cs typeface="Geist"/>
                <a:sym typeface="Geist"/>
              </a:defRPr>
            </a:lvl1pPr>
          </a:lstStyle>
          <a:p>
            <a:pPr/>
            <a:r>
              <a:t>—</a:t>
            </a:r>
          </a:p>
        </p:txBody>
      </p:sp>
      <p:sp>
        <p:nvSpPr>
          <p:cNvPr id="810" name="Make it show the handbook page it used, learn, review, check the code before you ship it."/>
          <p:cNvSpPr txBox="1"/>
          <p:nvPr/>
        </p:nvSpPr>
        <p:spPr>
          <a:xfrm>
            <a:off x="2082800" y="9613900"/>
            <a:ext cx="21031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a:ea typeface="Geist"/>
                <a:cs typeface="Geist"/>
                <a:sym typeface="Geist"/>
              </a:defRPr>
            </a:lvl1pPr>
          </a:lstStyle>
          <a:p>
            <a:pPr/>
            <a:r>
              <a:t>Make it show the handbook page it used, learn, review, check the code before you ship it.</a:t>
            </a:r>
          </a:p>
        </p:txBody>
      </p:sp>
      <p:sp>
        <p:nvSpPr>
          <p:cNvPr id="81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812" name="pasted-movie.png" descr="pasted-movie.png"/>
          <p:cNvPicPr>
            <a:picLocks noChangeAspect="1"/>
          </p:cNvPicPr>
          <p:nvPr/>
        </p:nvPicPr>
        <p:blipFill>
          <a:blip r:embed="rId4">
            <a:extLst/>
          </a:blip>
          <a:stretch>
            <a:fillRect/>
          </a:stretch>
        </p:blipFill>
        <p:spPr>
          <a:xfrm rot="19080428">
            <a:off x="19871380" y="-1938493"/>
            <a:ext cx="5306588" cy="5306587"/>
          </a:xfrm>
          <a:prstGeom prst="rect">
            <a:avLst/>
          </a:prstGeom>
          <a:ln w="12700">
            <a:miter lim="400000"/>
          </a:ln>
        </p:spPr>
      </p:pic>
      <p:pic>
        <p:nvPicPr>
          <p:cNvPr id="813" name="prog-39.png" descr="prog-39.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1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18" name="When ACF still makes sens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When ACF still </a:t>
            </a:r>
            <a:r>
              <a:rPr i="1" sz="9800">
                <a:solidFill>
                  <a:srgbClr val="6033A6"/>
                </a:solidFill>
                <a:latin typeface="Instrument Serif"/>
                <a:ea typeface="Instrument Serif"/>
                <a:cs typeface="Instrument Serif"/>
                <a:sym typeface="Instrument Serif"/>
              </a:rPr>
              <a:t>makes sense</a:t>
            </a:r>
          </a:p>
        </p:txBody>
      </p:sp>
      <p:sp>
        <p:nvSpPr>
          <p:cNvPr id="819" name="Settings pages"/>
          <p:cNvSpPr txBox="1"/>
          <p:nvPr/>
        </p:nvSpPr>
        <p:spPr>
          <a:xfrm>
            <a:off x="1295400" y="5079999"/>
            <a:ext cx="6731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Settings pages</a:t>
            </a:r>
          </a:p>
        </p:txBody>
      </p:sp>
      <p:sp>
        <p:nvSpPr>
          <p:cNvPr id="820" name="With ACF, a page for site-wide settings takes a few lines. Without it, you code the whole page."/>
          <p:cNvSpPr txBox="1"/>
          <p:nvPr/>
        </p:nvSpPr>
        <p:spPr>
          <a:xfrm>
            <a:off x="1295400" y="5943600"/>
            <a:ext cx="6731000"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With ACF, a page for site-wide settings takes a few lines. Without it, you code the whole page.</a:t>
            </a:r>
          </a:p>
        </p:txBody>
      </p:sp>
      <p:sp>
        <p:nvSpPr>
          <p:cNvPr id="821" name="Relations"/>
          <p:cNvSpPr txBox="1"/>
          <p:nvPr/>
        </p:nvSpPr>
        <p:spPr>
          <a:xfrm>
            <a:off x="8610600" y="5079999"/>
            <a:ext cx="6731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Relations</a:t>
            </a:r>
          </a:p>
        </p:txBody>
      </p:sp>
      <p:sp>
        <p:nvSpPr>
          <p:cNvPr id="822" name="Linking posts together: ACF has a ready-made picker. With core it means coding it by hand."/>
          <p:cNvSpPr txBox="1"/>
          <p:nvPr/>
        </p:nvSpPr>
        <p:spPr>
          <a:xfrm>
            <a:off x="8610600" y="5943599"/>
            <a:ext cx="6731000"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Linking posts together: ACF has a ready-made picker. With core it means coding it by hand.</a:t>
            </a:r>
          </a:p>
        </p:txBody>
      </p:sp>
      <p:sp>
        <p:nvSpPr>
          <p:cNvPr id="823" name="Advanced fields"/>
          <p:cNvSpPr txBox="1"/>
          <p:nvPr/>
        </p:nvSpPr>
        <p:spPr>
          <a:xfrm>
            <a:off x="15925800" y="5079999"/>
            <a:ext cx="6731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SemiBold"/>
                <a:ea typeface="Unbounded SemiBold"/>
                <a:cs typeface="Unbounded SemiBold"/>
                <a:sym typeface="Unbounded SemiBold"/>
              </a:defRPr>
            </a:lvl1pPr>
          </a:lstStyle>
          <a:p>
            <a:pPr/>
            <a:r>
              <a:t>Advanced fields</a:t>
            </a:r>
          </a:p>
        </p:txBody>
      </p:sp>
      <p:sp>
        <p:nvSpPr>
          <p:cNvPr id="824" name="Literally what the plugin was made for. If you need a field fast, ACF provides that for you."/>
          <p:cNvSpPr txBox="1"/>
          <p:nvPr/>
        </p:nvSpPr>
        <p:spPr>
          <a:xfrm>
            <a:off x="15925800" y="5943599"/>
            <a:ext cx="6731000"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a:ea typeface="Geist"/>
                <a:cs typeface="Geist"/>
                <a:sym typeface="Geist"/>
              </a:defRPr>
            </a:lvl1pPr>
          </a:lstStyle>
          <a:p>
            <a:pPr/>
            <a:r>
              <a:t>Literally what the plugin was made for. If you need a field fast, ACF provides that for you.</a:t>
            </a:r>
          </a:p>
        </p:txBody>
      </p:sp>
      <p:sp>
        <p:nvSpPr>
          <p:cNvPr id="82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826" name="prog-40.png" descr="prog-4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30"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831" name="Where to read next"/>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ExtraBold"/>
                <a:ea typeface="Unbounded ExtraBold"/>
                <a:cs typeface="Unbounded ExtraBold"/>
                <a:sym typeface="Unbounded ExtraBold"/>
              </a:defRPr>
            </a:pPr>
            <a:r>
              <a:t>Where to </a:t>
            </a:r>
            <a:r>
              <a:rPr i="1" sz="9800">
                <a:solidFill>
                  <a:srgbClr val="6033A6"/>
                </a:solidFill>
                <a:latin typeface="Instrument Serif"/>
                <a:ea typeface="Instrument Serif"/>
                <a:cs typeface="Instrument Serif"/>
                <a:sym typeface="Instrument Serif"/>
              </a:rPr>
              <a:t>read next</a:t>
            </a:r>
          </a:p>
        </p:txBody>
      </p:sp>
      <p:sp>
        <p:nvSpPr>
          <p:cNvPr id="832"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sp>
        <p:nvSpPr>
          <p:cNvPr id="833" name="fullsiteediting.com"/>
          <p:cNvSpPr txBox="1"/>
          <p:nvPr/>
        </p:nvSpPr>
        <p:spPr>
          <a:xfrm>
            <a:off x="1270000" y="45085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a:ea typeface="Geist Mono"/>
                <a:cs typeface="Geist Mono"/>
                <a:sym typeface="Geist Mono"/>
              </a:defRPr>
            </a:lvl1pPr>
          </a:lstStyle>
          <a:p>
            <a:pPr/>
            <a:r>
              <a:t>fullsiteediting.com</a:t>
            </a:r>
          </a:p>
        </p:txBody>
      </p:sp>
      <p:sp>
        <p:nvSpPr>
          <p:cNvPr id="834" name="Carolina Nymark’s lessons on blocks and block themes."/>
          <p:cNvSpPr txBox="1"/>
          <p:nvPr/>
        </p:nvSpPr>
        <p:spPr>
          <a:xfrm>
            <a:off x="1270000" y="5206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Carolina Nymark’s lessons on blocks and block themes.</a:t>
            </a:r>
          </a:p>
        </p:txBody>
      </p:sp>
      <p:sp>
        <p:nvSpPr>
          <p:cNvPr id="835" name="gutenberg.10up.com"/>
          <p:cNvSpPr txBox="1"/>
          <p:nvPr/>
        </p:nvSpPr>
        <p:spPr>
          <a:xfrm>
            <a:off x="12750800" y="45085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a:ea typeface="Geist Mono"/>
                <a:cs typeface="Geist Mono"/>
                <a:sym typeface="Geist Mono"/>
              </a:defRPr>
            </a:lvl1pPr>
          </a:lstStyle>
          <a:p>
            <a:pPr/>
            <a:r>
              <a:t>gutenberg.10up.com</a:t>
            </a:r>
          </a:p>
        </p:txBody>
      </p:sp>
      <p:sp>
        <p:nvSpPr>
          <p:cNvPr id="836" name="10up’s Block Editor Best Practices."/>
          <p:cNvSpPr txBox="1"/>
          <p:nvPr/>
        </p:nvSpPr>
        <p:spPr>
          <a:xfrm>
            <a:off x="12750800" y="5206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10up’s Block Editor Best Practices.</a:t>
            </a:r>
          </a:p>
        </p:txBody>
      </p:sp>
      <p:sp>
        <p:nvSpPr>
          <p:cNvPr id="837" name="developer.wordpress.org/news"/>
          <p:cNvSpPr txBox="1"/>
          <p:nvPr/>
        </p:nvSpPr>
        <p:spPr>
          <a:xfrm>
            <a:off x="1270000" y="67310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a:ea typeface="Geist Mono"/>
                <a:cs typeface="Geist Mono"/>
                <a:sym typeface="Geist Mono"/>
              </a:defRPr>
            </a:lvl1pPr>
          </a:lstStyle>
          <a:p>
            <a:pPr/>
            <a:r>
              <a:t>developer.wordpress.org/news</a:t>
            </a:r>
          </a:p>
        </p:txBody>
      </p:sp>
      <p:sp>
        <p:nvSpPr>
          <p:cNvPr id="838" name="The WordPress Developer Blog."/>
          <p:cNvSpPr txBox="1"/>
          <p:nvPr/>
        </p:nvSpPr>
        <p:spPr>
          <a:xfrm>
            <a:off x="1270000" y="74294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The WordPress Developer Blog.</a:t>
            </a:r>
          </a:p>
        </p:txBody>
      </p:sp>
      <p:sp>
        <p:nvSpPr>
          <p:cNvPr id="839" name="developer.wordpress.org/block-editor"/>
          <p:cNvSpPr txBox="1"/>
          <p:nvPr/>
        </p:nvSpPr>
        <p:spPr>
          <a:xfrm>
            <a:off x="12750800" y="67310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a:ea typeface="Geist Mono"/>
                <a:cs typeface="Geist Mono"/>
                <a:sym typeface="Geist Mono"/>
              </a:defRPr>
            </a:lvl1pPr>
          </a:lstStyle>
          <a:p>
            <a:pPr/>
            <a:r>
              <a:t>developer.wordpress.org/block-editor</a:t>
            </a:r>
          </a:p>
        </p:txBody>
      </p:sp>
      <p:sp>
        <p:nvSpPr>
          <p:cNvPr id="840" name="The Block Editor Handbook."/>
          <p:cNvSpPr txBox="1"/>
          <p:nvPr/>
        </p:nvSpPr>
        <p:spPr>
          <a:xfrm>
            <a:off x="12750800" y="74294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The Block Editor Handbook.</a:t>
            </a:r>
          </a:p>
        </p:txBody>
      </p:sp>
      <p:sp>
        <p:nvSpPr>
          <p:cNvPr id="841" name="learn.wordpress.org"/>
          <p:cNvSpPr txBox="1"/>
          <p:nvPr/>
        </p:nvSpPr>
        <p:spPr>
          <a:xfrm>
            <a:off x="1270000" y="89535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a:ea typeface="Geist Mono"/>
                <a:cs typeface="Geist Mono"/>
                <a:sym typeface="Geist Mono"/>
              </a:defRPr>
            </a:lvl1pPr>
          </a:lstStyle>
          <a:p>
            <a:pPr/>
            <a:r>
              <a:t>learn.wordpress.org</a:t>
            </a:r>
          </a:p>
        </p:txBody>
      </p:sp>
      <p:sp>
        <p:nvSpPr>
          <p:cNvPr id="842" name="Free courses and lessons."/>
          <p:cNvSpPr txBox="1"/>
          <p:nvPr/>
        </p:nvSpPr>
        <p:spPr>
          <a:xfrm>
            <a:off x="1270000" y="9651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Free courses and lessons.</a:t>
            </a:r>
          </a:p>
        </p:txBody>
      </p:sp>
      <p:sp>
        <p:nvSpPr>
          <p:cNvPr id="843" name="github.com/digitoimistodude/air-light"/>
          <p:cNvSpPr txBox="1"/>
          <p:nvPr/>
        </p:nvSpPr>
        <p:spPr>
          <a:xfrm>
            <a:off x="12750800" y="89535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a:ea typeface="Geist Mono"/>
                <a:cs typeface="Geist Mono"/>
                <a:sym typeface="Geist Mono"/>
              </a:defRPr>
            </a:lvl1pPr>
          </a:lstStyle>
          <a:p>
            <a:pPr/>
            <a:r>
              <a:t>github.com/digitoimistodude/air-light</a:t>
            </a:r>
          </a:p>
        </p:txBody>
      </p:sp>
      <p:sp>
        <p:nvSpPr>
          <p:cNvPr id="844" name="Our ACF-free WordPress starter theme for devs."/>
          <p:cNvSpPr txBox="1"/>
          <p:nvPr/>
        </p:nvSpPr>
        <p:spPr>
          <a:xfrm>
            <a:off x="12750800" y="9651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a:ea typeface="Geist"/>
                <a:cs typeface="Geist"/>
                <a:sym typeface="Geist"/>
              </a:defRPr>
            </a:lvl1pPr>
          </a:lstStyle>
          <a:p>
            <a:pPr/>
            <a:r>
              <a:t>Our ACF-free WordPress starter theme for devs.</a:t>
            </a:r>
          </a:p>
        </p:txBody>
      </p:sp>
      <p:pic>
        <p:nvPicPr>
          <p:cNvPr id="845" name="prog-45.png" descr="prog-45.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47"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848" name="Kiitos."/>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ExtraBold"/>
                <a:ea typeface="Unbounded ExtraBold"/>
                <a:cs typeface="Unbounded ExtraBold"/>
                <a:sym typeface="Unbounded ExtraBold"/>
              </a:defRPr>
            </a:lvl1pPr>
          </a:lstStyle>
          <a:p>
            <a:pPr/>
            <a:r>
              <a:t>Kiitos.</a:t>
            </a:r>
          </a:p>
        </p:txBody>
      </p:sp>
      <p:sp>
        <p:nvSpPr>
          <p:cNvPr id="849" name="Questions?"/>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a:ea typeface="Instrument Serif"/>
                <a:cs typeface="Instrument Serif"/>
                <a:sym typeface="Instrument Serif"/>
              </a:defRPr>
            </a:lvl1pPr>
          </a:lstStyle>
          <a:p>
            <a:pPr/>
            <a:r>
              <a:t>Questions?</a:t>
            </a:r>
          </a:p>
        </p:txBody>
      </p:sp>
      <p:sp>
        <p:nvSpPr>
          <p:cNvPr id="850" name="Rolle Laukkarinen"/>
          <p:cNvSpPr txBox="1"/>
          <p:nvPr/>
        </p:nvSpPr>
        <p:spPr>
          <a:xfrm>
            <a:off x="1320800" y="75056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Rolle Laukkarinen</a:t>
            </a:r>
          </a:p>
        </p:txBody>
      </p:sp>
      <p:sp>
        <p:nvSpPr>
          <p:cNvPr id="851" name="rolle.social · dude.fi · github.com/rollecode"/>
          <p:cNvSpPr txBox="1"/>
          <p:nvPr/>
        </p:nvSpPr>
        <p:spPr>
          <a:xfrm>
            <a:off x="1320800" y="81279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a:ea typeface="Geist"/>
                <a:cs typeface="Geist"/>
                <a:sym typeface="Geist"/>
              </a:defRPr>
            </a:lvl1pPr>
          </a:lstStyle>
          <a:p>
            <a:pPr/>
            <a:r>
              <a:t>rolle.social · dude.fi · github.com/rollecode</a:t>
            </a:r>
          </a:p>
        </p:txBody>
      </p:sp>
      <p:sp>
        <p:nvSpPr>
          <p:cNvPr id="852"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a:ea typeface="Geist"/>
                <a:cs typeface="Geist"/>
                <a:sym typeface="Geist"/>
              </a:defRPr>
            </a:lvl1pPr>
          </a:lstStyle>
          <a:p>
            <a:pPr/>
            <a:r>
              <a:t>Going ACF-free</a:t>
            </a:r>
          </a:p>
        </p:txBody>
      </p:sp>
      <p:pic>
        <p:nvPicPr>
          <p:cNvPr id="853" name="prog-45.png" descr="prog-45.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
        <p:nvSpPr>
          <p:cNvPr id="854" name="Slides: github.com/rollecode/wpsuomi2026-talk-slides"/>
          <p:cNvSpPr txBox="1"/>
          <p:nvPr/>
        </p:nvSpPr>
        <p:spPr>
          <a:xfrm>
            <a:off x="1320799" y="8750299"/>
            <a:ext cx="11692891" cy="6985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defRPr sz="3600">
                <a:solidFill>
                  <a:srgbClr val="4B3051"/>
                </a:solidFill>
                <a:latin typeface="Geist"/>
                <a:ea typeface="Geist"/>
                <a:cs typeface="Geist"/>
                <a:sym typeface="Geist"/>
              </a:defRPr>
            </a:pPr>
            <a:r>
              <a:t>Slides: </a:t>
            </a:r>
            <a:r>
              <a:rPr u="sng">
                <a:hlinkClick r:id="rId4" invalidUrl="" action="" tgtFrame="" tooltip="" history="1" highlightClick="0" endSnd="0"/>
              </a:rPr>
              <a:t>github.com/rollecode/wpsuomi2026-talk-slides</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